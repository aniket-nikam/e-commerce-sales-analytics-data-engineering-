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6cb41406c4883" /><Relationship Type="http://schemas.openxmlformats.org/officeDocument/2006/relationships/extended-properties" Target="/docProps/app.xml" Id="R2d9ee834453a40ca" /><Relationship Type="http://schemas.openxmlformats.org/officeDocument/2006/relationships/officeDocument" Target="/ppt/presentation.xml" Id="Reb65cc115491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1b980cc3b43b6"/>
  </p:sldMasterIdLst>
  <p:notesMasterIdLst>
    <p:notesMasterId xmlns:r="http://schemas.openxmlformats.org/officeDocument/2006/relationships" r:id="Re985eb4aba16480a"/>
  </p:notesMasterIdLst>
  <p:sldIdLst>
    <p:sldId xmlns:r="http://schemas.openxmlformats.org/officeDocument/2006/relationships" id="256" r:id="R0cc5cd5cb722405c"/>
    <p:sldId xmlns:r="http://schemas.openxmlformats.org/officeDocument/2006/relationships" id="257" r:id="R935814957c684948"/>
    <p:sldId xmlns:r="http://schemas.openxmlformats.org/officeDocument/2006/relationships" id="258" r:id="Rc3ef6fb9d8fb4484"/>
    <p:sldId xmlns:r="http://schemas.openxmlformats.org/officeDocument/2006/relationships" id="259" r:id="R8ac8c5f5ef0b4717"/>
    <p:sldId xmlns:r="http://schemas.openxmlformats.org/officeDocument/2006/relationships" id="260" r:id="R81e04d316e724668"/>
    <p:sldId xmlns:r="http://schemas.openxmlformats.org/officeDocument/2006/relationships" id="261" r:id="Rcc3116fbc2ab4af1"/>
    <p:sldId xmlns:r="http://schemas.openxmlformats.org/officeDocument/2006/relationships" id="262" r:id="Re3d59da7476a44e3"/>
    <p:sldId xmlns:r="http://schemas.openxmlformats.org/officeDocument/2006/relationships" id="263" r:id="R024ff67a7d38411f"/>
    <p:sldId xmlns:r="http://schemas.openxmlformats.org/officeDocument/2006/relationships" id="264" r:id="R781f2f0bc3544f89"/>
    <p:sldId xmlns:r="http://schemas.openxmlformats.org/officeDocument/2006/relationships" id="265" r:id="R88e05110d0074c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35a007d3924fa8" /><Relationship Type="http://schemas.openxmlformats.org/officeDocument/2006/relationships/slideMaster" Target="/ppt/slideMasters/slideMaster1.xml" Id="Re4a1b980cc3b43b6" /><Relationship Type="http://schemas.openxmlformats.org/officeDocument/2006/relationships/notesMaster" Target="/ppt/notesMasters/notesMaster1.xml" Id="Re985eb4aba16480a" /><Relationship Type="http://schemas.openxmlformats.org/officeDocument/2006/relationships/presProps" Target="/ppt/presProps.xml" Id="R4144eda74cd54f45" /><Relationship Type="http://schemas.openxmlformats.org/officeDocument/2006/relationships/tableStyles" Target="/ppt/tableStyles.xml" Id="Re96ec5e35cb34034" /><Relationship Type="http://schemas.openxmlformats.org/officeDocument/2006/relationships/slide" Target="/ppt/slides/slide1.xml" Id="R0cc5cd5cb722405c" /><Relationship Type="http://schemas.openxmlformats.org/officeDocument/2006/relationships/slide" Target="/ppt/slides/slide2.xml" Id="R935814957c684948" /><Relationship Type="http://schemas.openxmlformats.org/officeDocument/2006/relationships/slide" Target="/ppt/slides/slide3.xml" Id="Rc3ef6fb9d8fb4484" /><Relationship Type="http://schemas.openxmlformats.org/officeDocument/2006/relationships/slide" Target="/ppt/slides/slide4.xml" Id="R8ac8c5f5ef0b4717" /><Relationship Type="http://schemas.openxmlformats.org/officeDocument/2006/relationships/slide" Target="/ppt/slides/slide5.xml" Id="R81e04d316e724668" /><Relationship Type="http://schemas.openxmlformats.org/officeDocument/2006/relationships/slide" Target="/ppt/slides/slide6.xml" Id="Rcc3116fbc2ab4af1" /><Relationship Type="http://schemas.openxmlformats.org/officeDocument/2006/relationships/slide" Target="/ppt/slides/slide7.xml" Id="Re3d59da7476a44e3" /><Relationship Type="http://schemas.openxmlformats.org/officeDocument/2006/relationships/slide" Target="/ppt/slides/slide8.xml" Id="R024ff67a7d38411f" /><Relationship Type="http://schemas.openxmlformats.org/officeDocument/2006/relationships/slide" Target="/ppt/slides/slide9.xml" Id="R781f2f0bc3544f89" /><Relationship Type="http://schemas.openxmlformats.org/officeDocument/2006/relationships/slide" Target="/ppt/slides/slide10.xml" Id="R88e05110d0074c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33533a7ea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edc678c914238" /><Relationship Type="http://schemas.openxmlformats.org/officeDocument/2006/relationships/notesMaster" Target="/ppt/notesMasters/notesMaster1.xml" Id="R07f0653308dd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05c6ff1f964f05" /><Relationship Type="http://schemas.openxmlformats.org/officeDocument/2006/relationships/notesMaster" Target="/ppt/notesMasters/notesMaster1.xml" Id="R3284f5a73a0e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12710016044ae4" /><Relationship Type="http://schemas.openxmlformats.org/officeDocument/2006/relationships/notesMaster" Target="/ppt/notesMasters/notesMaster1.xml" Id="Raffa98963507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ff3640cc14c81" /><Relationship Type="http://schemas.openxmlformats.org/officeDocument/2006/relationships/notesMaster" Target="/ppt/notesMasters/notesMaster1.xml" Id="R405cd4d60dae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ad3899dd54be2" /><Relationship Type="http://schemas.openxmlformats.org/officeDocument/2006/relationships/notesMaster" Target="/ppt/notesMasters/notesMaster1.xml" Id="Rd8053bf5136c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5080d74ac4f5c" /><Relationship Type="http://schemas.openxmlformats.org/officeDocument/2006/relationships/notesMaster" Target="/ppt/notesMasters/notesMaster1.xml" Id="R8d7bcf049cc84a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43bfe06364112" /><Relationship Type="http://schemas.openxmlformats.org/officeDocument/2006/relationships/notesMaster" Target="/ppt/notesMasters/notesMaster1.xml" Id="R551a97fd89cc4c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099aa690394ab0" /><Relationship Type="http://schemas.openxmlformats.org/officeDocument/2006/relationships/notesMaster" Target="/ppt/notesMasters/notesMaster1.xml" Id="Rea0389efd03341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76f160c41b40ac" /><Relationship Type="http://schemas.openxmlformats.org/officeDocument/2006/relationships/notesMaster" Target="/ppt/notesMasters/notesMaster1.xml" Id="R479e4ee7e84a4a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6d03821caf41af" /><Relationship Type="http://schemas.openxmlformats.org/officeDocument/2006/relationships/notesMaster" Target="/ppt/notesMasters/notesMaster1.xml" Id="R46f6cc4001a1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practical topic and explain that every displayed number comes from the reproducible 250,000-row evidence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business need and the practical coverage. The project focuses on implementation, not a theory-only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Point out that the architecture is local and reproducible, while the container and Kubernetes files make the presentation layer deployable.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fact grain first. Then explain why customer, product and date attributes sit in dimensions. Rejected rows remain available for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SQL features to the syllabus. Emphasize that KPI views avoid rewriting business logic for every dashboard query.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realized revenue includes Delivered and Shipped orders. The generated dataset is illustrative, so the decisions demonstrate the analytical method rather than a real company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live application if time allows. The screenshot documents the verified local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these are DuckDB execution modes on one machine, not a distributed cluster. The benchmark is reproducible and machine-specific.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https://duckdb.org/docs/current/guides/performance/how_to_tune_workloads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https://duckdb.org/docs/current/guides/meta/explain_analyze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every bonus criterion to implemented evidence. The API is a public test service and the Kubernetes files are deployment assets for Minikube, kind or another cluster.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https://dummyjson.com/docs/products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https://dummyjson.com/docs/carts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https://kubernetes.io/docs/concepts/workloads/autoscaling/horizontal-pod-autoscale/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practical flow. Keep the demo sequence ready for questions from the evaluator.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31446cbdd4b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720bba87847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9ffe4ceca40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ab81e06b646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e128066b742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f547b5f15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6BEF29-6624-4E84-B9E3-81AFA7205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3FBC3A-FA9B-425A-8D5E-D5234CE233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B40819-F270-4120-AAD4-D6BDD1CDC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9677EE-F45E-4D77-B2CE-5294E07B9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86BCED-271E-4533-946C-9BE691E8B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7B3720-84E9-47C5-8ADD-F51A51442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30F01C-895C-45F0-AA7D-4B964B0AC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88D048-E8D4-4BA5-85FD-52C81C5BFC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4CD6D-5166-48B7-A990-975C81FE1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E02E55-E87D-432D-98A5-91439A0A6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93e3fd80dc456c" /><Relationship Type="http://schemas.openxmlformats.org/officeDocument/2006/relationships/slideLayout" Target="/ppt/slideLayouts/slideLayout1.xml" Id="R188cd5d12b1b4140" /><Relationship Type="http://schemas.openxmlformats.org/officeDocument/2006/relationships/slideLayout" Target="/ppt/slideLayouts/slideLayout2.xml" Id="R81164f2c49c44498" /><Relationship Type="http://schemas.openxmlformats.org/officeDocument/2006/relationships/slideLayout" Target="/ppt/slideLayouts/slideLayout3.xml" Id="Rc72b469cf98142fe" /><Relationship Type="http://schemas.openxmlformats.org/officeDocument/2006/relationships/slideLayout" Target="/ppt/slideLayouts/slideLayout4.xml" Id="R8613f988af41436c" /><Relationship Type="http://schemas.openxmlformats.org/officeDocument/2006/relationships/slideLayout" Target="/ppt/slideLayouts/slideLayout5.xml" Id="R4744cd215fee40fa" /><Relationship Type="http://schemas.openxmlformats.org/officeDocument/2006/relationships/slideLayout" Target="/ppt/slideLayouts/slideLayout6.xml" Id="R5e085591bc70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cd5d12b1b4140"/>
    <p:sldLayoutId xmlns:r="http://schemas.openxmlformats.org/officeDocument/2006/relationships" id="2147483650" r:id="R81164f2c49c44498"/>
    <p:sldLayoutId xmlns:r="http://schemas.openxmlformats.org/officeDocument/2006/relationships" id="2147483651" r:id="Rc72b469cf98142fe"/>
    <p:sldLayoutId xmlns:r="http://schemas.openxmlformats.org/officeDocument/2006/relationships" id="2147483652" r:id="R8613f988af41436c"/>
    <p:sldLayoutId xmlns:r="http://schemas.openxmlformats.org/officeDocument/2006/relationships" id="2147483653" r:id="R4744cd215fee40fa"/>
    <p:sldLayoutId xmlns:r="http://schemas.openxmlformats.org/officeDocument/2006/relationships" id="2147483654" r:id="R5e085591bc70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47e101f3844b4" /><Relationship Type="http://schemas.openxmlformats.org/officeDocument/2006/relationships/notesSlide" Target="/ppt/notesSlides/notesSlide1.xml" Id="Rd20f0f25b2b3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c22c8a9fe4128" /><Relationship Type="http://schemas.openxmlformats.org/officeDocument/2006/relationships/notesSlide" Target="/ppt/notesSlides/notesSlide2.xml" Id="R8e96f35b9ed6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971a628144e4c" /><Relationship Type="http://schemas.openxmlformats.org/officeDocument/2006/relationships/notesSlide" Target="/ppt/notesSlides/notesSlide3.xml" Id="Ra4d971ac16b94b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8ffd28a284209" /><Relationship Type="http://schemas.openxmlformats.org/officeDocument/2006/relationships/notesSlide" Target="/ppt/notesSlides/notesSlide4.xml" Id="Re3627fe8f1bb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8dcf5d23345d8" /><Relationship Type="http://schemas.openxmlformats.org/officeDocument/2006/relationships/notesSlide" Target="/ppt/notesSlides/notesSlide5.xml" Id="R7e3e138bd29443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6d635fae44320" /><Relationship Type="http://schemas.openxmlformats.org/officeDocument/2006/relationships/chart" Target="/ppt/slides/charts/chart1.xml" Id="R31079c9c75d64e43" /><Relationship Type="http://schemas.openxmlformats.org/officeDocument/2006/relationships/notesSlide" Target="/ppt/notesSlides/notesSlide6.xml" Id="R1561bed6a2274b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12567a7a545f5" /><Relationship Type="http://schemas.openxmlformats.org/officeDocument/2006/relationships/image" Target="/ppt/media/image.jpeg" Id="Rc0330e9acb5e4136" /><Relationship Type="http://schemas.openxmlformats.org/officeDocument/2006/relationships/notesSlide" Target="/ppt/notesSlides/notesSlide7.xml" Id="R93464131e317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b442f712c49ef" /><Relationship Type="http://schemas.openxmlformats.org/officeDocument/2006/relationships/chart" Target="/ppt/slides/charts/chart2.xml" Id="Re7dc7294b26b4e06" /><Relationship Type="http://schemas.openxmlformats.org/officeDocument/2006/relationships/notesSlide" Target="/ppt/notesSlides/notesSlide8.xml" Id="Reded30936c9745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e3d4ddb9340e4" /><Relationship Type="http://schemas.openxmlformats.org/officeDocument/2006/relationships/notesSlide" Target="/ppt/notesSlides/notesSlide9.xml" Id="R4d8d35712165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109359b8843b8" /><Relationship Type="http://schemas.openxmlformats.org/officeDocument/2006/relationships/notesSlide" Target="/ppt/notesSlides/notesSlide10.xml" Id="R51bb1cb4c2f543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Revenue ($M)</c:v>
          </c:tx>
          <c:spPr>
            <a:solidFill xmlns:a="http://schemas.openxmlformats.org/drawingml/2006/main">
              <a:srgbClr val="16B8A6"/>
            </a:solidFill>
          </c:spPr>
          <c:cat>
            <c:strLit>
              <c:ptCount val="6"/>
              <c:pt idx="0">
                <c:v>Electronics</c:v>
              </c:pt>
              <c:pt idx="1">
                <c:v>Home</c:v>
              </c:pt>
              <c:pt idx="2">
                <c:v>Fashion</c:v>
              </c:pt>
              <c:pt idx="3">
                <c:v>Sports</c:v>
              </c:pt>
              <c:pt idx="4">
                <c:v>Beauty</c:v>
              </c:pt>
              <c:pt idx="5">
                <c:v>Books</c:v>
              </c:pt>
            </c:strLit>
          </c:cat>
          <c:val>
            <c:numLit>
              <c:formatCode>General</c:formatCode>
              <c:ptCount val="6"/>
              <c:pt idx="0">
                <c:v>7.691</c:v>
              </c:pt>
              <c:pt idx="1">
                <c:v>7.414</c:v>
              </c:pt>
              <c:pt idx="2">
                <c:v>4.777</c:v>
              </c:pt>
              <c:pt idx="3">
                <c:v>3.653</c:v>
              </c:pt>
              <c:pt idx="4">
                <c:v>2.821</c:v>
              </c:pt>
              <c:pt idx="5">
                <c:v>2.421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131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C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Realized revenue ($M)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C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1 thread</c:v>
          </c:tx>
          <c:spPr>
            <a:solidFill xmlns:a="http://schemas.openxmlformats.org/drawingml/2006/main">
              <a:srgbClr val="5267D7"/>
            </a:solidFill>
          </c:spPr>
          <c:cat>
            <c:strLit>
              <c:ptCount val="3"/>
              <c:pt idx="0">
                <c:v>CSV</c:v>
              </c:pt>
              <c:pt idx="1">
                <c:v>Parquet</c:v>
              </c:pt>
              <c:pt idx="2">
                <c:v>DuckDB</c:v>
              </c:pt>
            </c:strLit>
          </c:cat>
          <c:val>
            <c:numLit>
              <c:formatCode>General</c:formatCode>
              <c:ptCount val="3"/>
              <c:pt idx="0">
                <c:v>674.031</c:v>
              </c:pt>
              <c:pt idx="1">
                <c:v>104.65</c:v>
              </c:pt>
              <c:pt idx="2">
                <c:v>44.775</c:v>
              </c:pt>
            </c:numLit>
          </c:val>
        </c:ser>
        <c:ser>
          <c:idx val="1"/>
          <c:order val="1"/>
          <c:tx>
            <c:v>4 threads</c:v>
          </c:tx>
          <c:spPr>
            <a:solidFill xmlns:a="http://schemas.openxmlformats.org/drawingml/2006/main">
              <a:srgbClr val="16B8A6"/>
            </a:solidFill>
          </c:spPr>
          <c:cat>
            <c:strLit>
              <c:ptCount val="3"/>
              <c:pt idx="0">
                <c:v>CSV</c:v>
              </c:pt>
              <c:pt idx="1">
                <c:v>Parquet</c:v>
              </c:pt>
              <c:pt idx="2">
                <c:v>DuckDB</c:v>
              </c:pt>
            </c:strLit>
          </c:cat>
          <c:val>
            <c:numLit>
              <c:formatCode>General</c:formatCode>
              <c:ptCount val="3"/>
              <c:pt idx="0">
                <c:v>330.05</c:v>
              </c:pt>
              <c:pt idx="1">
                <c:v>57.009</c:v>
              </c:pt>
              <c:pt idx="2">
                <c:v>29.319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31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C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C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Median query 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6718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D25D1-AE41-4FFA-BBD5-246999B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PRACTICAL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C0547-4935-49F3-BB4D-A312061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E-Commerce Sales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Analytics using DuckDB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D16EF-369F-4E3B-8F73-3D00741F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7DE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7DE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DEE7"/>
                </a:solidFill>
                <a:latin typeface="Arial"/>
                <a:ea typeface="Arial"/>
                <a:cs typeface="Arial"/>
              </a:rPr>
              <a:t>A reproducible analytics platform built with Python, SQL, Parquet and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E1041-2124-4189-8AB2-EC936C5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85800"/>
            <a:ext cx="47625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solidFill>
              <a:srgbClr val="16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97E74-7CF7-43B4-A5F1-3B066BDC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161C4-31AD-4781-AD51-322354A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954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0">
                <a:solidFill>
                  <a:srgbClr val="B9C3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9C3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C3CF"/>
                </a:solidFill>
                <a:latin typeface="Arial"/>
                <a:ea typeface="Arial"/>
                <a:cs typeface="Arial"/>
              </a:rPr>
              <a:t>generated source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EA15F-64B1-420A-B723-4F42DF13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23.0x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AF358-7FA9-4580-93EC-B527369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0">
                <a:solidFill>
                  <a:srgbClr val="B9C3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9C3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C3CF"/>
                </a:solidFill>
                <a:latin typeface="Arial"/>
                <a:ea typeface="Arial"/>
                <a:cs typeface="Arial"/>
              </a:rPr>
              <a:t>CSV 1-thread to DuckDB 4-thread speedup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DBE9C-7786-4772-A1FB-414CB7D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Bonus: API ingestion  |  Kubernetes  |  execution-mode benchmark</a:t>
            </a:r>
          </a:p>
        </p:txBody>
      </p:sp>
    </p:spTree>
    <p:extLst>
      <p:ext uri="{BB962C8B-B14F-4D97-AF65-F5344CB8AC3E}">
        <p14:creationId xmlns:p14="http://schemas.microsoft.com/office/powerpoint/2010/main" val="885927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0C0A8-CAC3-45DD-9AD6-D0D340F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F8120-03B4-4C81-9871-551B3260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Problem statement and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A63E8-784F-48CD-921E-C1827BB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35D27-4E42-4E29-8373-49C7B0E3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Raw transaction files slow repeated analysis and hide quality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BAF6-BA7F-4C05-9E4E-0D7F3A68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The implementation converts an imperfect CSV into governed analytical tables, reusable metrics and a live dashboard. Every stage leaves evidence that can be inspected during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159DB-757A-4CDF-A4EE-43E1D25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7637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50E8B-A2BA-4A27-A8D8-D257C5B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9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F6C8A-810B-43FE-9A19-12314FF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430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Type safely, standardize values, remove duplicates and quarantine invalid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036C8-5D60-40ED-8755-073094C2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E3B84-F04F-439B-A31E-DDD6A11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0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Model and analyze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49E99-7193-4BD9-BB70-054CA2D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337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Build a star schema, views, window functions and OLAP grouping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3EB49-50BB-4046-9BF2-625B8FC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9CF24-2030-42F5-BFDA-358D62F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Communicate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016E1-4958-48F4-A6B2-ACF157B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243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Measure performance and present decision-focused KPIs in Streamlit.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22585-977F-471F-998C-0622B13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905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119,044 orders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10CA8-07A8-4E6F-A9C5-DCB965D0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EBFA"/>
          </a:solidFill>
          <a:ln xmlns:a="http://schemas.openxmlformats.org/drawingml/2006/main" w="0">
            <a:solidFill>
              <a:srgbClr val="E8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37,114 customers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B6D3B-1DAF-4973-A9D3-F932BA6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1638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solidFill>
              <a:srgbClr val="FFF0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48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9B273-BD15-40B6-8A8F-FDD7BB47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4825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BE5E8"/>
          </a:solidFill>
          <a:ln xmlns:a="http://schemas.openxmlformats.org/drawingml/2006/main" w="0">
            <a:solidFill>
              <a:srgbClr val="FBE5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2-year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10538-A0B5-4E52-9FCE-CC7C37E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1C898-1EAB-4E27-9546-DD47D275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D4A8E-3B2B-4B7A-A23B-F7BB28F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874306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7E524-A8CD-49AC-8A2B-40F8F1D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5A87B-805C-43C3-89DE-503ABDA2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Pipeline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5E516-A199-45FA-B6A6-5B64EA85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640C0-DAE5-4EDE-91C8-96393D30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230AF-0596-42D0-ACE3-02B31FF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FBABF-F3FE-42F3-9992-19FF0B6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44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Generated CSV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DummyJSON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C1D93-FE54-4BC7-A0F9-81B1F17B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47950"/>
            <a:ext cx="42862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DF25B-AAC5-4EA2-88B9-CAB6760C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9050">
            <a:solidFill>
              <a:srgbClr val="F2A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7FAA4-B92F-4D5E-99AC-38779298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0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AFB4E-A3CC-4360-89A9-27673A4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44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read_csv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raw JSON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81ECA-7146-409E-BF2B-0E30BFC8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47950"/>
            <a:ext cx="42862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D5192-9733-41A5-8675-0B04DA9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EBFA"/>
          </a:solidFill>
          <a:ln xmlns:a="http://schemas.openxmlformats.org/drawingml/2006/main" w="19050">
            <a:solidFill>
              <a:srgbClr val="5267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B0608-5E05-40B4-96F8-CB46241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E0E22-6293-4F0D-AAD6-1359CF43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144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TRY_CAST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deduplicate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81BE6-DF41-4649-BC10-F20AA8C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47950"/>
            <a:ext cx="42862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F50F6-B322-421E-BAF5-F574ED7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4F075-107D-4D8A-8F7A-D2E82BA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Warehouse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C5F87-DBDC-4567-9D7A-234D088C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144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fact_sales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3 dimensions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KPI 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C1712-44CD-4337-A302-92EA896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47950"/>
            <a:ext cx="42862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83B89-10E6-40C9-92AA-554B6A7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BE5E8"/>
          </a:solidFill>
          <a:ln xmlns:a="http://schemas.openxmlformats.org/drawingml/2006/main" w="19050">
            <a:solidFill>
              <a:srgbClr val="E65B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B38EF-CA2A-4C18-8FAD-9533AE4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28EA4-4264-4EB4-BE41-EB39CB5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44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Parquet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Streamlit</a:t>
            </a:r>
          </a:p>
          <a:p xmlns:a="http://schemas.openxmlformats.org/drawingml/2006/main">
            <a:pPr algn="ctr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EC668-906A-4F21-8AFE-B3B73360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Persistent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8973D-6CBA-4C6A-87FC-E2FE0EF3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data_quality.json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BD5DE-0353-46E9-B35C-1971A23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EXPLAIN ANALYZE plans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C802F-2EB1-44D3-AFAA-3228FCCB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benchmark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B0762-2732-4BBA-8744-4070B2F6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dashboard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F9CCC-2CE8-4699-81B5-2D032D3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API metadata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5DFA5-5A78-4D04-AC9A-457AB289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DDEB8-F9FC-4159-BB44-6E2C4F4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C2939-335F-4494-A672-4DA26458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1765294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5388A-A1DE-43B8-BAC7-3BE542A4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9B6C5-9F6C-4854-96A6-3473D8F3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Data quality and star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B6768-F25F-46C6-BD57-9F62303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2640D-D5FC-4E4A-904A-D858BC1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250,250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C0CB7-C986-4EB8-9E88-036E5BC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raw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1B2E9-95FD-4AC3-AC8F-E654F31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1,445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C0FA0-715C-4246-AF3D-175338E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rejected with reasons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A77EA-83B5-43DF-9329-9D0C993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76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248,555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32B32-5D70-44F7-A74F-1EE34CF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clean fact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C0538-F3A3-4F78-8E59-CD005204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76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0.578%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76398-083B-460C-BAFD-A0B4CFF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rejection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6EBBF-2B49-41B9-839D-E926B85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42FA1-D43D-4FA2-939F-50547A7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fact_sales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13832-7015-445F-845F-E38387D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order and line IDs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date, customer, product keys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quantity, price, discount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gross amount, net revenue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status, channel, shipping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62FC4-12D4-42BC-BC6F-4F68D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EBFA"/>
          </a:solidFill>
          <a:ln xmlns:a="http://schemas.openxmlformats.org/drawingml/2006/main" w="19050">
            <a:solidFill>
              <a:srgbClr val="5267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8EE36-047C-4443-8FF5-229E0A1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dim_customer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82A0B-7899-440E-9138-7CFD2D10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segment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A5865-5074-4A7E-A93D-C2EB90E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9050">
            <a:solidFill>
              <a:srgbClr val="F2A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A53DF-09EC-4E1D-8D36-EE8E7D6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dim_product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591D8-1854-4C62-ACF1-105251BF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product name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A7A57-C3FE-4121-9A41-CBA9496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5E8"/>
          </a:solidFill>
          <a:ln xmlns:a="http://schemas.openxmlformats.org/drawingml/2006/main" w="19050">
            <a:solidFill>
              <a:srgbClr val="E65B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D4020-77DB-4EC5-A31F-35A6DE0A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dim_date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43382-95AC-442B-824D-648122D0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year, quarter</a:t>
            </a:r>
          </a:p>
          <a:p xmlns:a="http://schemas.openxmlformats.org/drawingml/2006/main">
            <a:pPr algn="ctr">
              <a:defRPr sz="120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month, week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21B5F-0615-4807-BB7D-7802B03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Cleaning rules: TRY_CAST  |  canonical text  |  range checks  |  duplicate removal  |  rejected-row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B4BB0-79C6-4163-B5B5-11B10E3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DAED6-E2B5-401D-BA6B-D58FD7CA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E5FFC-C5DC-4AE2-92D3-94FF8193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41009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C21F4-308A-49C9-B550-43E23D38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28E63-247D-4048-A2AE-ACB770C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SQL analytics and OLAP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2CC40-E637-4CDE-9CAA-8F7B8EC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7055C-67CA-4FED-9F48-CB921293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Reusable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D70FF-595E-4F34-BC36-381BD3E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Daily revenue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Monthly growth with LAG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Repeat-customer percentage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Enriched fact-to-dimension 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4E6C-4792-4EA2-A991-53F3572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47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Window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9F2D4-6A75-461D-AD51-4783A6C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DENSE_RANK for customer leaders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LAG for prior-period revenue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LEAD for next-day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3F650-2AED-43D6-9A03-BA33A4C4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478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Multidimensional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4676A-4AD8-4CFE-B09E-A06E015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ROLLUP for subtotals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CUBE for all dimension combinations</a:t>
            </a:r>
          </a:p>
          <a:p xmlns:a="http://schemas.openxmlformats.org/drawingml/2006/main">
            <a:pPr algn="l">
              <a:defRPr sz="1425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GROUPING SETS for selected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38966-3E91-47BC-9D93-BCC2D09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One query can return detail, regional totals, category totals and a grand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5A260-53E0-4DF7-BF84-8D985D9E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00575"/>
            <a:ext cx="8953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5DC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1606E-1600-43A8-88F8-6D4B93D6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72025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SELECT region, category, SUM(net_revenue)</a:t>
            </a:r>
          </a:p>
          <a:p xmlns:a="http://schemas.openxmlformats.org/drawingml/2006/main">
            <a:pPr algn="l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FROM warehouse.vw_sales_enriched</a:t>
            </a:r>
          </a:p>
          <a:p xmlns:a="http://schemas.openxmlformats.org/drawingml/2006/main">
            <a:pPr algn="l">
              <a:defRPr sz="1350" b="0">
                <a:solidFill>
                  <a:srgbClr val="1B24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430"/>
                </a:solidFill>
                <a:latin typeface="Arial"/>
                <a:ea typeface="Arial"/>
                <a:cs typeface="Arial"/>
              </a:rPr>
              <a:t>GROUP BY GROUPING SETS ((region, category), (region), (category), ());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DB93C-E13A-4F62-8FFF-3C36D6FB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73114-EAAA-49DB-A4AA-D87AE66F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2F48E-C6E0-469D-8E04-891B435B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59478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34695-0C86-4483-B06C-DA3A042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E4AE9-E711-411C-8541-2FE70DF1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Business KPI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8F83-909C-4855-809C-2C527993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9C9BA-3263-453E-8674-73039A3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$28.78M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C3A4F-9C2A-4AA8-A16E-6A81B5B2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realized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F5E0-8EF9-44F5-A66B-E9F4F2D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77.51%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E581F-017E-455E-98B3-F58AC42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repeat 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C36AD-A29B-4EDC-9F37-65BA152F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7.11%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CD3CF-2DB5-47E5-8E9A-2C404B93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return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27C1-88CB-4C27-8723-D00DC44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0E019-E475-4C72-B3DF-93D33A3D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top region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FE816803-03EE-4646-A646-EDEDBD75E4BF}"/>
              </a:ext>
            </a:extLst>
          </p:cNvPr>
          <p:cNvGraphicFramePr/>
          <p:nvPr/>
        </p:nvGraphicFramePr>
        <p:xfrm>
          <a:off xmlns:a="http://schemas.openxmlformats.org/drawingml/2006/main" x="3238500" y="142875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079c9c75d64e43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15EDF-4DB5-4011-B7F4-A4ED6B24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911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Electronics leads revenue; Sports has the highest category return rate at 7.38%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EBE26-0ED2-48B9-823A-CEA82846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51A91-ED9C-4C8D-83AF-8DB4365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D708A-A588-4C26-B1D6-FB070DA3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51104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1706F-DC3D-4BC3-B513-B12A6B6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LIVE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772DD-39A0-440B-B9CA-D468017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38FD-193D-4B10-8464-56E9D30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Date, region and category filters update four KPIs, four charts and a top-products table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1024C-7C48-440D-B32F-8D229005E7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30e9acb5e4136"/>
          <a:stretch xmlns:a="http://schemas.openxmlformats.org/drawingml/2006/main"/>
        </p:blipFill>
        <p:spPr>
          <a:xfrm xmlns:a="http://schemas.openxmlformats.org/drawingml/2006/main">
            <a:off x="3305412" y="1676400"/>
            <a:ext cx="5581176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71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1CBE6-FD0C-4A55-99F4-37280BF7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49BFC-7B96-4D1E-9009-8BA3E23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Performance across storage and thread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17477-D3B0-4EB2-B105-6527FE2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7184D5A-9B6F-43A2-B238-184DDC3A06E0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477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dc7294b26b4e06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5BFE4-707F-4E3C-9E11-A4509D446445}"/>
              </a:ext>
            </a:extLst>
          </p:cNvPr>
          <p:cNvGraphicFramePr/>
          <p:nvPr/>
        </p:nvGraphicFramePr>
        <p:xfrm>
          <a:off xmlns:a="http://schemas.openxmlformats.org/drawingml/2006/main" x="7572375" y="1562100"/>
          <a:ext xmlns:a="http://schemas.openxmlformats.org/drawingml/2006/main" cx="3667125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81125"/>
                <a:gridCol w="857250"/>
                <a:gridCol w="1428750"/>
              </a:tblGrid>
              <a:tr h="4490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Threads</a:t>
                      </a:r>
                    </a:p>
                  </a:txBody>
                  <a:tcPr marL="91440" marR="91440" marT="45720" marB="45720"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ms</a:t>
                      </a:r>
                    </a:p>
                  </a:txBody>
                  <a:tcPr marL="91440" marR="91440" marT="45720" marB="45720">
                    <a:solidFill>
                      <a:srgbClr val="10131B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674.031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330.050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Parquet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104.650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Parquet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57.009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DuckDB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44.775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DuckDB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B2430"/>
                          </a:solidFill>
                          <a:latin typeface="Arial"/>
                          <a:ea typeface="Arial"/>
                          <a:cs typeface="Arial"/>
                        </a:rPr>
                        <a:t>29.319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B649C-8EA9-48CA-800B-48A55675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482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23.0x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3D140-5612-4BE8-A889-FC757190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48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faster: CSV 1-thread to DuckDB 4-thread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ECC4D-90BD-43C5-848D-ECE4B64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Five timed repetitions after a warm-up; lower is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86C21-B6F3-4E1E-9718-DC00B05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559A1-B4C1-47CF-80D0-751A9AF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D0F34-8613-41FF-BFEB-2CC2C99D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1986489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19E0A-3C8D-4279-8C17-09ED2B07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7A17B-E2B2-4309-9BF7-1C5A1EE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Bonus-mark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055B9-FFFB-46CB-BABF-0084D21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9DB9D-CE07-4F3A-935B-FBFB15F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A2BB9-8687-4947-8D0C-FB7D64E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solidFill>
              <a:srgbClr val="16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05A0C-487B-444D-9BE2-85DF48BA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Public API 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C0BC7-A2CF-4CE2-9855-05D1E8F9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194 products, 208 carts and 800 flattened cart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B10D7-456C-45AE-919D-CDC62E5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002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Raw JSON, CSV snapshot and DuckDB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2197-9820-43B7-AF83-2ED72AC8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74849-26D1-409A-AE52-4B0F162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solidFill>
              <a:srgbClr val="526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C4BD1-987F-4F4D-B8B6-985AC91C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Kubernetes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135BF-831E-4C96-8C2D-735166A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Deployment, Service, PVC, health probes and HPA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36E6B-1A74-43EA-985B-96670C35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5267D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7D7"/>
                </a:solidFill>
                <a:latin typeface="Arial"/>
                <a:ea typeface="Arial"/>
                <a:cs typeface="Arial"/>
              </a:rPr>
              <a:t>One Kustomize command applies all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D187E-DCB3-443C-92C2-364E340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1B7FF-59FF-4826-8B30-84243EFF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00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solidFill>
              <a:srgbClr val="F2A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1185F-D444-40BD-A5B0-C2E81C1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B"/>
                </a:solidFill>
                <a:latin typeface="Arial"/>
                <a:ea typeface="Arial"/>
                <a:cs typeface="Arial"/>
              </a:rPr>
              <a:t>Execution-mode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0C475-E5D0-4F38-9485-04DB5319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CSV, Parquet and DuckDB under 1 and 4 threads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7F11-C0B0-4719-8856-281AEF4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339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Six measured modes with plans and timing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E9A3F-B5AC-43D2-9EA2-21C946E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65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65B65"/>
                </a:solidFill>
                <a:latin typeface="Arial"/>
                <a:ea typeface="Arial"/>
                <a:cs typeface="Arial"/>
              </a:rPr>
              <a:t>Kubernetes caution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B41C2-550D-4F3C-8691-21D702D7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86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The HPA scales dashboard pods. A writable DuckDB file still needs single-writer discipline.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47F3A-2598-416A-A7A4-17D7E18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4"/>
          </a:solidFill>
          <a:ln xmlns:a="http://schemas.openxmlformats.org/drawingml/2006/main" w="0">
            <a:solidFill>
              <a:srgbClr val="D5DC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A7A45-4BB7-4445-9929-5985F43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E-Commerce Sales Analytics using DuckDB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BCEFA-DEF5-4406-878D-D420EE9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24625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80"/>
                </a:solidFill>
                <a:latin typeface="Arial"/>
                <a:ea typeface="Arial"/>
                <a:cs typeface="Arial"/>
              </a:rPr>
              <a:t>Python  |  SQL  |  DuckDB  |  Streamlit</a:t>
            </a:r>
          </a:p>
        </p:txBody>
      </p:sp>
    </p:spTree>
    <p:extLst>
      <p:ext uri="{BB962C8B-B14F-4D97-AF65-F5344CB8AC3E}">
        <p14:creationId xmlns:p14="http://schemas.microsoft.com/office/powerpoint/2010/main" val="316401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AB80B-FF48-40B9-BB51-0C0601C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0AAEF-BD15-4331-BA1D-EF45525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practical covers the full analytical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ADAB-DA98-4CE6-849B-C8E220CC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Imperfect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35A1-C4D7-4974-AA7D-72E9A3B8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 warehouse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DEAC-1B8D-4B4E-8A44-6C4A3D9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52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Reusable OLAP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66BFF-8240-466C-B0E1-3A1BC1F3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52216-4D15-4325-9AB9-35F2A24A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4572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solidFill>
              <a:srgbClr val="16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E6B94-9F04-4240-A84E-28AF3613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4572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solidFill>
              <a:srgbClr val="16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FC07F-871C-4D7B-86B7-4EA995C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4572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solidFill>
              <a:srgbClr val="16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B875-22E6-44F1-A0A9-8230467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248,555 clean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05BDD-FF73-4EBF-94B5-FCE4555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4 KPI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FE5FC-9CB8-4888-92BB-2570AA6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42 grouping-set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266DB-0F6C-4525-859A-9EB51D0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4 interactive charts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2F874-A3C7-4E51-9BC4-1CDB2507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2A0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A03D"/>
                </a:solidFill>
                <a:latin typeface="Arial"/>
                <a:ea typeface="Arial"/>
                <a:cs typeface="Arial"/>
              </a:rPr>
              <a:t>Demo 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5C7AC-42F1-4517-B808-A08531D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Run the CLI pipeline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Open the generated quality and benchmark evidence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Start Streamlit and filter the KPIs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Show the API snapshot and Kubernetes manifests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E8511-4A29-4BEC-9CC3-7632AEB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000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6B8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B8A6"/>
                </a:solidFill>
                <a:latin typeface="Arial"/>
                <a:ea typeface="Arial"/>
                <a:cs typeface="Arial"/>
              </a:rPr>
              <a:t>Ready for GitHub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2C851-1836-4A96-A82D-B92B2411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C9D2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2DE"/>
                </a:solidFill>
                <a:latin typeface="Arial"/>
                <a:ea typeface="Arial"/>
                <a:cs typeface="Arial"/>
              </a:rPr>
              <a:t>Code  |  Report  |  PPT  |  Results</a:t>
            </a:r>
          </a:p>
        </p:txBody>
      </p:sp>
    </p:spTree>
    <p:extLst>
      <p:ext uri="{BB962C8B-B14F-4D97-AF65-F5344CB8AC3E}">
        <p14:creationId xmlns:p14="http://schemas.microsoft.com/office/powerpoint/2010/main" val="39480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2026-10-09T01:56:06.9090000Z</dcterms:created>
  <dcterms:modified xsi:type="dcterms:W3CDTF">2026-10-09T01:56:06.9100000Z</dcterms:modified>
</coreProperties>
</file>