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b83474ad28496c" /><Relationship Type="http://schemas.openxmlformats.org/officeDocument/2006/relationships/extended-properties" Target="/docProps/app.xml" Id="R1e18a5ebdee14ded" /><Relationship Type="http://schemas.openxmlformats.org/officeDocument/2006/relationships/officeDocument" Target="/ppt/presentation.xml" Id="R8493411c4b7b4ea9" /></Relationships>
</file>

<file path=ppt/presentation.xml><?xml version="1.0" encoding="utf-8"?>
<p:presentation xmlns:p="http://schemas.openxmlformats.org/presentationml/2006/main">
  <p:sldMasterIdLst>
    <p:sldMasterId xmlns:r="http://schemas.openxmlformats.org/officeDocument/2006/relationships" id="2147483648" r:id="R2dc70bf3da0e4b65"/>
  </p:sldMasterIdLst>
  <p:notesMasterIdLst>
    <p:notesMasterId xmlns:r="http://schemas.openxmlformats.org/officeDocument/2006/relationships" r:id="R126287f21fd3419b"/>
  </p:notesMasterIdLst>
  <p:sldIdLst>
    <p:sldId xmlns:r="http://schemas.openxmlformats.org/officeDocument/2006/relationships" id="256" r:id="R70a81f466096446e"/>
    <p:sldId xmlns:r="http://schemas.openxmlformats.org/officeDocument/2006/relationships" id="257" r:id="R91599353ca114ced"/>
    <p:sldId xmlns:r="http://schemas.openxmlformats.org/officeDocument/2006/relationships" id="258" r:id="Rd49a3db29a434bdb"/>
    <p:sldId xmlns:r="http://schemas.openxmlformats.org/officeDocument/2006/relationships" id="259" r:id="R67e65ceb492347fc"/>
    <p:sldId xmlns:r="http://schemas.openxmlformats.org/officeDocument/2006/relationships" id="260" r:id="R128ba636bb8f4908"/>
    <p:sldId xmlns:r="http://schemas.openxmlformats.org/officeDocument/2006/relationships" id="261" r:id="Rabd4d08b8a24492a"/>
    <p:sldId xmlns:r="http://schemas.openxmlformats.org/officeDocument/2006/relationships" id="262" r:id="R684c7f27674d4794"/>
    <p:sldId xmlns:r="http://schemas.openxmlformats.org/officeDocument/2006/relationships" id="263" r:id="Rf24d7a02f6cc4366"/>
    <p:sldId xmlns:r="http://schemas.openxmlformats.org/officeDocument/2006/relationships" id="264" r:id="R93e142d9d9184487"/>
    <p:sldId xmlns:r="http://schemas.openxmlformats.org/officeDocument/2006/relationships" id="265" r:id="Raf6eb91ffb574a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91cac08565e4f9e" /><Relationship Type="http://schemas.openxmlformats.org/officeDocument/2006/relationships/slideMaster" Target="/ppt/slideMasters/slideMaster1.xml" Id="R2dc70bf3da0e4b65" /><Relationship Type="http://schemas.openxmlformats.org/officeDocument/2006/relationships/notesMaster" Target="/ppt/notesMasters/notesMaster1.xml" Id="R126287f21fd3419b" /><Relationship Type="http://schemas.openxmlformats.org/officeDocument/2006/relationships/presProps" Target="/ppt/presProps.xml" Id="R23ed70c87dea4408" /><Relationship Type="http://schemas.openxmlformats.org/officeDocument/2006/relationships/tableStyles" Target="/ppt/tableStyles.xml" Id="R20b0420cb00a4d6d" /><Relationship Type="http://schemas.openxmlformats.org/officeDocument/2006/relationships/slide" Target="/ppt/slides/slide1.xml" Id="R70a81f466096446e" /><Relationship Type="http://schemas.openxmlformats.org/officeDocument/2006/relationships/slide" Target="/ppt/slides/slide2.xml" Id="R91599353ca114ced" /><Relationship Type="http://schemas.openxmlformats.org/officeDocument/2006/relationships/slide" Target="/ppt/slides/slide3.xml" Id="Rd49a3db29a434bdb" /><Relationship Type="http://schemas.openxmlformats.org/officeDocument/2006/relationships/slide" Target="/ppt/slides/slide4.xml" Id="R67e65ceb492347fc" /><Relationship Type="http://schemas.openxmlformats.org/officeDocument/2006/relationships/slide" Target="/ppt/slides/slide5.xml" Id="R128ba636bb8f4908" /><Relationship Type="http://schemas.openxmlformats.org/officeDocument/2006/relationships/slide" Target="/ppt/slides/slide6.xml" Id="Rabd4d08b8a24492a" /><Relationship Type="http://schemas.openxmlformats.org/officeDocument/2006/relationships/slide" Target="/ppt/slides/slide7.xml" Id="R684c7f27674d4794" /><Relationship Type="http://schemas.openxmlformats.org/officeDocument/2006/relationships/slide" Target="/ppt/slides/slide8.xml" Id="Rf24d7a02f6cc4366" /><Relationship Type="http://schemas.openxmlformats.org/officeDocument/2006/relationships/slide" Target="/ppt/slides/slide9.xml" Id="R93e142d9d9184487" /><Relationship Type="http://schemas.openxmlformats.org/officeDocument/2006/relationships/slide" Target="/ppt/slides/slide10.xml" Id="Raf6eb91ffb574a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9bb0bf43c14b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0896a9bcef1461d" /><Relationship Type="http://schemas.openxmlformats.org/officeDocument/2006/relationships/notesMaster" Target="/ppt/notesMasters/notesMaster1.xml" Id="R80882064f4d34e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008e3f9a6c184c2e" /><Relationship Type="http://schemas.openxmlformats.org/officeDocument/2006/relationships/notesMaster" Target="/ppt/notesMasters/notesMaster1.xml" Id="R426f7dfa731b4dd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054bd348514ad6" /><Relationship Type="http://schemas.openxmlformats.org/officeDocument/2006/relationships/notesMaster" Target="/ppt/notesMasters/notesMaster1.xml" Id="R7e6502fceb9842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67e0235b2b4a6e" /><Relationship Type="http://schemas.openxmlformats.org/officeDocument/2006/relationships/notesMaster" Target="/ppt/notesMasters/notesMaster1.xml" Id="Rae4212bdab3a4c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94d5ca5c674f33" /><Relationship Type="http://schemas.openxmlformats.org/officeDocument/2006/relationships/notesMaster" Target="/ppt/notesMasters/notesMaster1.xml" Id="R121c7df966404ff8" /></Relationships>
</file>

<file path=ppt/notesSlides/_rels/notesSlide6.xml.rels>&#65279;<?xml version="1.0" encoding="utf-8"?><Relationships xmlns="http://schemas.openxmlformats.org/package/2006/relationships"><Relationship Type="http://schemas.openxmlformats.org/officeDocument/2006/relationships/slide" Target="/ppt/slides/slide6.xml" Id="R0f09b5e811394168" /><Relationship Type="http://schemas.openxmlformats.org/officeDocument/2006/relationships/notesMaster" Target="/ppt/notesMasters/notesMaster1.xml" Id="Rdcacbaf1f7934a1e" /></Relationships>
</file>

<file path=ppt/notesSlides/_rels/notesSlide7.xml.rels>&#65279;<?xml version="1.0" encoding="utf-8"?><Relationships xmlns="http://schemas.openxmlformats.org/package/2006/relationships"><Relationship Type="http://schemas.openxmlformats.org/officeDocument/2006/relationships/slide" Target="/ppt/slides/slide7.xml" Id="Ra1bfed65aa924ffd" /><Relationship Type="http://schemas.openxmlformats.org/officeDocument/2006/relationships/notesMaster" Target="/ppt/notesMasters/notesMaster1.xml" Id="R6902e10efd2f4540" /></Relationships>
</file>

<file path=ppt/notesSlides/_rels/notesSlide8.xml.rels>&#65279;<?xml version="1.0" encoding="utf-8"?><Relationships xmlns="http://schemas.openxmlformats.org/package/2006/relationships"><Relationship Type="http://schemas.openxmlformats.org/officeDocument/2006/relationships/slide" Target="/ppt/slides/slide8.xml" Id="R4fa3e8ff88ac4909" /><Relationship Type="http://schemas.openxmlformats.org/officeDocument/2006/relationships/notesMaster" Target="/ppt/notesMasters/notesMaster1.xml" Id="Re50c884b33e8496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1ac3c94f8a4713" /><Relationship Type="http://schemas.openxmlformats.org/officeDocument/2006/relationships/notesMaster" Target="/ppt/notesMasters/notesMaster1.xml" Id="Rd7c096ddccf347e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6760010142e4870" /><Relationship Type="http://schemas.openxmlformats.org/officeDocument/2006/relationships/notesMaster" Target="/ppt/notesMasters/notesMaster1.xml" Id="R7d5f0aafdf8f45c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batch case study first, then state that the bonus path captures new orders through FastAPI and RabbitMQ.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explain the business need and the practical coverage. The project focuses on implementation, not a theory-only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The historical path and live path converge in DuckDB, while the API owns the writable real-time file in one process.</a:t>
            </a:r>
          </a:p>
          <a:p xmlns:a="http://schemas.openxmlformats.org/drawingml/2006/main">
            <a:r>
              <a:t/>
            </a:r>
          </a:p>
          <a:p xmlns:a="http://schemas.openxmlformats.org/drawingml/2006/main">
            <a:r>
              <a:t>Source: https://duckdb.org/docs/current/connect/concurrency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fact grain first. Then explain why customer, product and date attributes sit in dimensions. Rejected rows remain available for 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the SQL features to the syllabus. Emphasize that KPI views avoid rewriting business logic for every dashboard 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realized revenue includes Delivered and Shipped orders. The generated dataset is illustrative, so the decisions demonstrate the analytical method rather than a real company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the historical filters, then scroll to the live panel. The live panel requests API metrics every five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clearly that these are DuckDB execution modes on one machine, not a distributed cluster. The benchmark is reproducible and machine-specific.</a:t>
            </a:r>
          </a:p>
          <a:p xmlns:a="http://schemas.openxmlformats.org/drawingml/2006/main">
            <a:r>
              <a:t/>
            </a:r>
          </a:p>
          <a:p xmlns:a="http://schemas.openxmlformats.org/drawingml/2006/main">
            <a:r>
              <a:t>Source: https://duckdb.org/docs/current/guides/performance/how_to_tune_workloads</a:t>
            </a:r>
          </a:p>
          <a:p xmlns:a="http://schemas.openxmlformats.org/drawingml/2006/main">
            <a:r>
              <a:t/>
            </a:r>
          </a:p>
          <a:p xmlns:a="http://schemas.openxmlformats.org/drawingml/2006/main">
            <a:r>
              <a:t>Source: https://duckdb.org/docs/current/guides/meta/explain_analyze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maps every bonus criterion to evidence. Unit tests, API metrics, Compose parsing and Kustomize rendering passed. Docker Desktop crashed before its Linux engine started, so the report does not claim a successful RabbitMQ container run on the authoring host.</a:t>
            </a:r>
          </a:p>
          <a:p xmlns:a="http://schemas.openxmlformats.org/drawingml/2006/main">
            <a:r>
              <a:t/>
            </a:r>
          </a:p>
          <a:p xmlns:a="http://schemas.openxmlformats.org/drawingml/2006/main">
            <a:r>
              <a:t>Source: https://www.rabbitmq.com/docs/confirms</a:t>
            </a:r>
          </a:p>
          <a:p xmlns:a="http://schemas.openxmlformats.org/drawingml/2006/main">
            <a:r>
              <a:t/>
            </a:r>
          </a:p>
          <a:p xmlns:a="http://schemas.openxmlformats.org/drawingml/2006/main">
            <a:r>
              <a:t>Source: https://fastapi.tiangolo.com/tutorial/body/</a:t>
            </a:r>
          </a:p>
          <a:p xmlns:a="http://schemas.openxmlformats.org/drawingml/2006/main">
            <a:r>
              <a:t/>
            </a:r>
          </a:p>
          <a:p xmlns:a="http://schemas.openxmlformats.org/drawingml/2006/main">
            <a:r>
              <a:t>Source: https://kubernetes.io/docs/concepts/workloads/autoscaling/horizontal-pod-autoscale/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practical flow. Keep the demo sequence ready for questions from the evaluator.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815ca6bc74c0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fcd8cfeebe24da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c3ed36b00614b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2620f70c71841d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d1f78fc307a461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4f5dec9e01d44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406AF69-FC72-4883-B5EF-54C72122F2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77AE873-94CB-4864-968B-C9713F28CF6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3642908-2ACF-4A05-851D-AABAC009F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C28D22-0A0C-440E-9D02-D630334592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8958065-D902-4E52-B5B3-C7B7C73EEB8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A40BC77-B056-4047-B111-71543FCCD2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B535B7-5543-4378-850D-EF1A178958B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C3FD372-C710-4988-8277-DB19AE89624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C8DE5B5-A8C8-42E1-B0FF-05E1320A217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99DC38-95FE-473F-81B2-4BA491ECA51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f5dc7805e4b4295" /><Relationship Type="http://schemas.openxmlformats.org/officeDocument/2006/relationships/slideLayout" Target="/ppt/slideLayouts/slideLayout1.xml" Id="Ra46e3b0b96f941a3" /><Relationship Type="http://schemas.openxmlformats.org/officeDocument/2006/relationships/slideLayout" Target="/ppt/slideLayouts/slideLayout2.xml" Id="R93af4c6c79cc4e64" /><Relationship Type="http://schemas.openxmlformats.org/officeDocument/2006/relationships/slideLayout" Target="/ppt/slideLayouts/slideLayout3.xml" Id="Rd5ae57b1cfee4b22" /><Relationship Type="http://schemas.openxmlformats.org/officeDocument/2006/relationships/slideLayout" Target="/ppt/slideLayouts/slideLayout4.xml" Id="R14c93ddadcab4a47" /><Relationship Type="http://schemas.openxmlformats.org/officeDocument/2006/relationships/slideLayout" Target="/ppt/slideLayouts/slideLayout5.xml" Id="Raee54a2981ed4009" /><Relationship Type="http://schemas.openxmlformats.org/officeDocument/2006/relationships/slideLayout" Target="/ppt/slideLayouts/slideLayout6.xml" Id="R8b0fbbac28ee447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46e3b0b96f941a3"/>
    <p:sldLayoutId xmlns:r="http://schemas.openxmlformats.org/officeDocument/2006/relationships" id="2147483650" r:id="R93af4c6c79cc4e64"/>
    <p:sldLayoutId xmlns:r="http://schemas.openxmlformats.org/officeDocument/2006/relationships" id="2147483651" r:id="Rd5ae57b1cfee4b22"/>
    <p:sldLayoutId xmlns:r="http://schemas.openxmlformats.org/officeDocument/2006/relationships" id="2147483652" r:id="R14c93ddadcab4a47"/>
    <p:sldLayoutId xmlns:r="http://schemas.openxmlformats.org/officeDocument/2006/relationships" id="2147483653" r:id="Raee54a2981ed4009"/>
    <p:sldLayoutId xmlns:r="http://schemas.openxmlformats.org/officeDocument/2006/relationships" id="2147483654" r:id="R8b0fbbac28ee44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fe5ab5313b4e96" /><Relationship Type="http://schemas.openxmlformats.org/officeDocument/2006/relationships/notesSlide" Target="/ppt/notesSlides/notesSlide1.xml" Id="R3d8202c7ea9d48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8b5e5942ea74869" /><Relationship Type="http://schemas.openxmlformats.org/officeDocument/2006/relationships/notesSlide" Target="/ppt/notesSlides/notesSlide2.xml" Id="Rb9a47e5a54cc40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5d592a38f1e40a5" /><Relationship Type="http://schemas.openxmlformats.org/officeDocument/2006/relationships/notesSlide" Target="/ppt/notesSlides/notesSlide3.xml" Id="Re919f29026e94e4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9368f67f2e24b37" /><Relationship Type="http://schemas.openxmlformats.org/officeDocument/2006/relationships/notesSlide" Target="/ppt/notesSlides/notesSlide4.xml" Id="Re38f7198729e4ed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7f8c90a7f2642ee" /><Relationship Type="http://schemas.openxmlformats.org/officeDocument/2006/relationships/notesSlide" Target="/ppt/notesSlides/notesSlide5.xml" Id="R4b48a2d6fe764f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6f200a388d244e5" /><Relationship Type="http://schemas.openxmlformats.org/officeDocument/2006/relationships/chart" Target="/ppt/slides/charts/chart1.xml" Id="Ref5fe100ba004be1" /><Relationship Type="http://schemas.openxmlformats.org/officeDocument/2006/relationships/notesSlide" Target="/ppt/notesSlides/notesSlide6.xml" Id="R401a75cc44034ca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818725856294584" /><Relationship Type="http://schemas.openxmlformats.org/officeDocument/2006/relationships/image" Target="/ppt/media/image.jpeg" Id="R4dc72023fa284b2c" /><Relationship Type="http://schemas.openxmlformats.org/officeDocument/2006/relationships/notesSlide" Target="/ppt/notesSlides/notesSlide7.xml" Id="Ra82b28682a8544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7239e733c944b36" /><Relationship Type="http://schemas.openxmlformats.org/officeDocument/2006/relationships/chart" Target="/ppt/slides/charts/chart2.xml" Id="R93f0f097049f439f" /><Relationship Type="http://schemas.openxmlformats.org/officeDocument/2006/relationships/notesSlide" Target="/ppt/notesSlides/notesSlide8.xml" Id="R563d497960b04b1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76c33c51d0d4421" /><Relationship Type="http://schemas.openxmlformats.org/officeDocument/2006/relationships/notesSlide" Target="/ppt/notesSlides/notesSlide9.xml" Id="R52b8d1fefe3f448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ffe0ecd9fbe4e97" /><Relationship Type="http://schemas.openxmlformats.org/officeDocument/2006/relationships/notesSlide" Target="/ppt/notesSlides/notesSlide10.xml" Id="R67f4ddc8ee024aa6" /></Relationships>
</file>

<file path=ppt/slides/charts/chart1.xml><?xml version="1.0" encoding="utf-8"?>
<c:chartSpace xmlns:c="http://schemas.openxmlformats.org/drawingml/2006/chart">
  <c:lang val="en-US"/>
  <c:chart>
    <c:plotArea>
      <c:barChart>
        <c:barDir val="bar"/>
        <c:grouping val="clustered"/>
        <c:varyColors val="0"/>
        <c:ser>
          <c:idx val="0"/>
          <c:order val="0"/>
          <c:tx>
            <c:v>Revenue ($M)</c:v>
          </c:tx>
          <c:spPr>
            <a:solidFill xmlns:a="http://schemas.openxmlformats.org/drawingml/2006/main">
              <a:srgbClr val="16B8A6"/>
            </a:solidFill>
          </c:spPr>
          <c:cat>
            <c:strLit>
              <c:ptCount val="6"/>
              <c:pt idx="0">
                <c:v>Electronics</c:v>
              </c:pt>
              <c:pt idx="1">
                <c:v>Home</c:v>
              </c:pt>
              <c:pt idx="2">
                <c:v>Fashion</c:v>
              </c:pt>
              <c:pt idx="3">
                <c:v>Sports</c:v>
              </c:pt>
              <c:pt idx="4">
                <c:v>Beauty</c:v>
              </c:pt>
              <c:pt idx="5">
                <c:v>Books</c:v>
              </c:pt>
            </c:strLit>
          </c:cat>
          <c:val>
            <c:numLit>
              <c:formatCode>General</c:formatCode>
              <c:ptCount val="6"/>
              <c:pt idx="0">
                <c:v>7.691</c:v>
              </c:pt>
              <c:pt idx="1">
                <c:v>7.414</c:v>
              </c:pt>
              <c:pt idx="2">
                <c:v>4.777</c:v>
              </c:pt>
              <c:pt idx="3">
                <c:v>3.653</c:v>
              </c:pt>
              <c:pt idx="4">
                <c:v>2.821</c:v>
              </c:pt>
              <c:pt idx="5">
                <c:v>2.421</c:v>
              </c:pt>
            </c:numLit>
          </c:val>
        </c:ser>
        <c:dLbls>
          <c:numFmt formatCode="0.00" sourceLinked="0"/>
          <c:txPr>
            <a:bodyPr xmlns:a="http://schemas.openxmlformats.org/drawingml/2006/main" anchorCtr="1"/>
            <a:lstStyle xmlns:a="http://schemas.openxmlformats.org/drawingml/2006/main"/>
            <a:p xmlns:a="http://schemas.openxmlformats.org/drawingml/2006/main">
              <a:pPr>
                <a:defRPr sz="1050" b="1">
                  <a:solidFill>
                    <a:srgbClr val="10131B"/>
                  </a:solidFill>
                  <a:latin typeface="Arial"/>
                  <a:ea typeface="Arial"/>
                  <a:cs typeface="Arial"/>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l"/>
        <c:majorGridlines>
          <c:spPr>
            <a:ln xmlns:a="http://schemas.openxmlformats.org/drawingml/2006/main" w="9525">
              <a:solidFill>
                <a:srgbClr val="D5DCE4"/>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Realized revenue ($M)</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quot;M&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7180"/>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5DCE4"/>
            </a:solidFill>
            <a:prstDash val="solid"/>
          </a:ln>
        </c:spPr>
        <c:txPr>
          <a:bodyPr xmlns:a="http://schemas.openxmlformats.org/drawingml/2006/main" anchorCtr="1"/>
          <a:lstStyle xmlns:a="http://schemas.openxmlformats.org/drawingml/2006/main"/>
          <a:p xmlns:a="http://schemas.openxmlformats.org/drawingml/2006/main">
            <a:pPr>
              <a:defRPr sz="1125">
                <a:solidFill>
                  <a:srgbClr val="1B2430"/>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barChart>
        <c:barDir val="col"/>
        <c:grouping val="clustered"/>
        <c:varyColors val="0"/>
        <c:ser>
          <c:idx val="0"/>
          <c:order val="0"/>
          <c:tx>
            <c:v>1 thread</c:v>
          </c:tx>
          <c:spPr>
            <a:solidFill xmlns:a="http://schemas.openxmlformats.org/drawingml/2006/main">
              <a:srgbClr val="5267D7"/>
            </a:solidFill>
          </c:spPr>
          <c:cat>
            <c:strLit>
              <c:ptCount val="3"/>
              <c:pt idx="0">
                <c:v>CSV</c:v>
              </c:pt>
              <c:pt idx="1">
                <c:v>Parquet</c:v>
              </c:pt>
              <c:pt idx="2">
                <c:v>DuckDB</c:v>
              </c:pt>
            </c:strLit>
          </c:cat>
          <c:val>
            <c:numLit>
              <c:formatCode>General</c:formatCode>
              <c:ptCount val="3"/>
              <c:pt idx="0">
                <c:v>674.031</c:v>
              </c:pt>
              <c:pt idx="1">
                <c:v>104.65</c:v>
              </c:pt>
              <c:pt idx="2">
                <c:v>44.775</c:v>
              </c:pt>
            </c:numLit>
          </c:val>
        </c:ser>
        <c:ser>
          <c:idx val="1"/>
          <c:order val="1"/>
          <c:tx>
            <c:v>4 threads</c:v>
          </c:tx>
          <c:spPr>
            <a:solidFill xmlns:a="http://schemas.openxmlformats.org/drawingml/2006/main">
              <a:srgbClr val="16B8A6"/>
            </a:solidFill>
          </c:spPr>
          <c:cat>
            <c:strLit>
              <c:ptCount val="3"/>
              <c:pt idx="0">
                <c:v>CSV</c:v>
              </c:pt>
              <c:pt idx="1">
                <c:v>Parquet</c:v>
              </c:pt>
              <c:pt idx="2">
                <c:v>DuckDB</c:v>
              </c:pt>
            </c:strLit>
          </c:cat>
          <c:val>
            <c:numLit>
              <c:formatCode>General</c:formatCode>
              <c:ptCount val="3"/>
              <c:pt idx="0">
                <c:v>330.05</c:v>
              </c:pt>
              <c:pt idx="1">
                <c:v>57.009</c:v>
              </c:pt>
              <c:pt idx="2">
                <c:v>29.319</c:v>
              </c:pt>
            </c:numLit>
          </c:val>
        </c:ser>
        <c:dLbls>
          <c:numFmt formatCode="0.0" sourceLinked="0"/>
          <c:txPr>
            <a:bodyPr xmlns:a="http://schemas.openxmlformats.org/drawingml/2006/main" anchorCtr="1"/>
            <a:lstStyle xmlns:a="http://schemas.openxmlformats.org/drawingml/2006/main"/>
            <a:p xmlns:a="http://schemas.openxmlformats.org/drawingml/2006/main">
              <a:pPr>
                <a:defRPr sz="900" b="1">
                  <a:solidFill>
                    <a:srgbClr val="10131B"/>
                  </a:solidFill>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5DCE4"/>
            </a:solidFill>
            <a:prstDash val="solid"/>
          </a:ln>
        </c:spPr>
        <c:txPr>
          <a:bodyPr xmlns:a="http://schemas.openxmlformats.org/drawingml/2006/main" anchorCtr="1"/>
          <a:lstStyle xmlns:a="http://schemas.openxmlformats.org/drawingml/2006/main"/>
          <a:p xmlns:a="http://schemas.openxmlformats.org/drawingml/2006/main">
            <a:pPr>
              <a:defRPr sz="1125">
                <a:solidFill>
                  <a:srgbClr val="1B2430"/>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5DCE4"/>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Median query time (ms)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667180"/>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667180"/>
              </a:solidFill>
              <a:latin typeface="Arial"/>
              <a:ea typeface="Arial"/>
              <a:cs typeface="Arial"/>
            </a:defRPr>
          </a:pPr>
        </a:p>
      </c:txPr>
    </c:legend>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10131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2232773-85A5-4368-83B1-4FCC91211B96}"/>
              </a:ext>
            </a:extLst>
          </p:cNvPr>
          <p:cNvSpPr>
            <a:spLocks xmlns:a="http://schemas.openxmlformats.org/drawingml/2006/main" noGrp="1"/>
          </p:cNvSpPr>
          <p:nvPr/>
        </p:nvSpPr>
        <p:spPr>
          <a:xfrm xmlns:a="http://schemas.openxmlformats.org/drawingml/2006/main">
            <a:off x="723900" y="5905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125" b="1">
                <a:solidFill>
                  <a:srgbClr val="16B8A6"/>
                </a:solidFill>
                <a:latin typeface="Arial"/>
                <a:ea typeface="Arial"/>
                <a:cs typeface="Arial"/>
              </a:defRPr>
            </a:defPPr>
          </a:lstStyle>
          <a:p xmlns:a="http://schemas.openxmlformats.org/drawingml/2006/main">
            <a:pPr algn="l">
              <a:defRPr sz="1125" b="1">
                <a:solidFill>
                  <a:srgbClr val="16B8A6"/>
                </a:solidFill>
                <a:latin typeface="Arial"/>
                <a:ea typeface="Arial"/>
                <a:cs typeface="Arial"/>
              </a:defRPr>
            </a:pPr>
            <a:r>
              <a:rPr sz="1125" b="1">
                <a:solidFill>
                  <a:srgbClr val="16B8A6"/>
                </a:solidFill>
                <a:latin typeface="Arial"/>
                <a:ea typeface="Arial"/>
                <a:cs typeface="Arial"/>
              </a:rPr>
              <a:t>PRACTICAL CASE STUDY</a:t>
            </a:r>
          </a:p>
        </p:txBody>
      </p:sp>
      <p:sp>
        <p:nvSpPr>
          <p:cNvPr id="2" name="">
            <a:extLst xmlns:a="http://schemas.openxmlformats.org/drawingml/2006/main">
              <a:ext uri="{FF2B5EF4-FFF2-40B4-BE49-F238E27FC236}">
                <a16:creationId xmlns:a16="http://schemas.microsoft.com/office/drawing/2014/main" id="{38F138FB-E017-4BCD-8DD2-29A710241096}"/>
              </a:ext>
            </a:extLst>
          </p:cNvPr>
          <p:cNvSpPr>
            <a:spLocks xmlns:a="http://schemas.openxmlformats.org/drawingml/2006/main" noGrp="1"/>
          </p:cNvSpPr>
          <p:nvPr/>
        </p:nvSpPr>
        <p:spPr>
          <a:xfrm xmlns:a="http://schemas.openxmlformats.org/drawingml/2006/main">
            <a:off x="723900" y="1409700"/>
            <a:ext cx="6667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4350" b="1">
                <a:solidFill>
                  <a:srgbClr val="FFFFFF"/>
                </a:solidFill>
                <a:latin typeface="Arial"/>
                <a:ea typeface="Arial"/>
                <a:cs typeface="Arial"/>
              </a:defRPr>
            </a:defPPr>
          </a:lstStyle>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E-Commerce Sales</a:t>
            </a:r>
          </a:p>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Analytics using DuckDB</a:t>
            </a:r>
          </a:p>
        </p:txBody>
      </p:sp>
      <p:sp>
        <p:nvSpPr>
          <p:cNvPr id="3" name="">
            <a:extLst xmlns:a="http://schemas.openxmlformats.org/drawingml/2006/main">
              <a:ext uri="{FF2B5EF4-FFF2-40B4-BE49-F238E27FC236}">
                <a16:creationId xmlns:a16="http://schemas.microsoft.com/office/drawing/2014/main" id="{3932E36D-D72E-4943-95A7-6A02457F741A}"/>
              </a:ext>
            </a:extLst>
          </p:cNvPr>
          <p:cNvSpPr>
            <a:spLocks xmlns:a="http://schemas.openxmlformats.org/drawingml/2006/main" noGrp="1"/>
          </p:cNvSpPr>
          <p:nvPr/>
        </p:nvSpPr>
        <p:spPr>
          <a:xfrm xmlns:a="http://schemas.openxmlformats.org/drawingml/2006/main">
            <a:off x="742950" y="3219450"/>
            <a:ext cx="6286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725" b="0">
                <a:solidFill>
                  <a:srgbClr val="D7DEE7"/>
                </a:solidFill>
                <a:latin typeface="Arial"/>
                <a:ea typeface="Arial"/>
                <a:cs typeface="Arial"/>
              </a:defRPr>
            </a:defPPr>
          </a:lstStyle>
          <a:p xmlns:a="http://schemas.openxmlformats.org/drawingml/2006/main">
            <a:pPr algn="l">
              <a:defRPr sz="1725" b="0">
                <a:solidFill>
                  <a:srgbClr val="D7DEE7"/>
                </a:solidFill>
                <a:latin typeface="Arial"/>
                <a:ea typeface="Arial"/>
                <a:cs typeface="Arial"/>
              </a:defRPr>
            </a:pPr>
            <a:r>
              <a:rPr sz="1725" b="0">
                <a:solidFill>
                  <a:srgbClr val="D7DEE7"/>
                </a:solidFill>
                <a:latin typeface="Arial"/>
                <a:ea typeface="Arial"/>
                <a:cs typeface="Arial"/>
              </a:rPr>
              <a:t>Batch analytics plus validated real-time order ingestion</a:t>
            </a:r>
          </a:p>
        </p:txBody>
      </p:sp>
      <p:sp>
        <p:nvSpPr>
          <p:cNvPr id="4" name="">
            <a:extLst xmlns:a="http://schemas.openxmlformats.org/drawingml/2006/main">
              <a:ext uri="{FF2B5EF4-FFF2-40B4-BE49-F238E27FC236}">
                <a16:creationId xmlns:a16="http://schemas.microsoft.com/office/drawing/2014/main" id="{1D135CF7-1322-4E3F-9058-49300504BFAE}"/>
              </a:ext>
            </a:extLst>
          </p:cNvPr>
          <p:cNvSpPr>
            <a:spLocks xmlns:a="http://schemas.openxmlformats.org/drawingml/2006/main" noGrp="1"/>
          </p:cNvSpPr>
          <p:nvPr/>
        </p:nvSpPr>
        <p:spPr>
          <a:xfrm xmlns:a="http://schemas.openxmlformats.org/drawingml/2006/main">
            <a:off x="8267700" y="685800"/>
            <a:ext cx="47625" cy="5181600"/>
          </a:xfrm>
          <a:prstGeom xmlns:a="http://schemas.openxmlformats.org/drawingml/2006/main" prst="rect">
            <a:avLst/>
          </a:prstGeom>
          <a:solidFill xmlns:a="http://schemas.openxmlformats.org/drawingml/2006/main">
            <a:srgbClr val="16B8A6"/>
          </a:solidFill>
          <a:ln xmlns:a="http://schemas.openxmlformats.org/drawingml/2006/main" w="0">
            <a:solidFill>
              <a:srgbClr val="16B8A6"/>
            </a:solidFill>
            <a:prstDash val="solid"/>
          </a:ln>
        </p:spPr>
      </p:sp>
      <p:sp>
        <p:nvSpPr>
          <p:cNvPr id="5" name="">
            <a:extLst xmlns:a="http://schemas.openxmlformats.org/drawingml/2006/main">
              <a:ext uri="{FF2B5EF4-FFF2-40B4-BE49-F238E27FC236}">
                <a16:creationId xmlns:a16="http://schemas.microsoft.com/office/drawing/2014/main" id="{2C32B62A-8A0B-4629-BAA1-3BFF9CBF5CBD}"/>
              </a:ext>
            </a:extLst>
          </p:cNvPr>
          <p:cNvSpPr>
            <a:spLocks xmlns:a="http://schemas.openxmlformats.org/drawingml/2006/main" noGrp="1"/>
          </p:cNvSpPr>
          <p:nvPr/>
        </p:nvSpPr>
        <p:spPr>
          <a:xfrm xmlns:a="http://schemas.openxmlformats.org/drawingml/2006/main">
            <a:off x="8763000" y="1352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3150" b="1">
                <a:solidFill>
                  <a:srgbClr val="FFFFFF"/>
                </a:solidFill>
                <a:latin typeface="Arial"/>
                <a:ea typeface="Arial"/>
                <a:cs typeface="Arial"/>
              </a:defRPr>
            </a:defPPr>
          </a:lstStyle>
          <a:p xmlns:a="http://schemas.openxmlformats.org/drawingml/2006/main">
            <a:pPr algn="r">
              <a:defRPr sz="3150" b="1">
                <a:solidFill>
                  <a:srgbClr val="FFFFFF"/>
                </a:solidFill>
                <a:latin typeface="Arial"/>
                <a:ea typeface="Arial"/>
                <a:cs typeface="Arial"/>
              </a:defRPr>
            </a:pPr>
            <a:r>
              <a:rPr sz="3150" b="1">
                <a:solidFill>
                  <a:srgbClr val="FFFFFF"/>
                </a:solidFill>
                <a:latin typeface="Arial"/>
                <a:ea typeface="Arial"/>
                <a:cs typeface="Arial"/>
              </a:rPr>
              <a:t>250,000</a:t>
            </a:r>
          </a:p>
        </p:txBody>
      </p:sp>
      <p:sp>
        <p:nvSpPr>
          <p:cNvPr id="6" name="">
            <a:extLst xmlns:a="http://schemas.openxmlformats.org/drawingml/2006/main">
              <a:ext uri="{FF2B5EF4-FFF2-40B4-BE49-F238E27FC236}">
                <a16:creationId xmlns:a16="http://schemas.microsoft.com/office/drawing/2014/main" id="{7F505BAE-F996-46B0-AAA4-D4C58F5C3579}"/>
              </a:ext>
            </a:extLst>
          </p:cNvPr>
          <p:cNvSpPr>
            <a:spLocks xmlns:a="http://schemas.openxmlformats.org/drawingml/2006/main" noGrp="1"/>
          </p:cNvSpPr>
          <p:nvPr/>
        </p:nvSpPr>
        <p:spPr>
          <a:xfrm xmlns:a="http://schemas.openxmlformats.org/drawingml/2006/main">
            <a:off x="8572500" y="1895475"/>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75" b="0">
                <a:solidFill>
                  <a:srgbClr val="B9C3CF"/>
                </a:solidFill>
                <a:latin typeface="Arial"/>
                <a:ea typeface="Arial"/>
                <a:cs typeface="Arial"/>
              </a:defRPr>
            </a:defPPr>
          </a:lstStyle>
          <a:p xmlns:a="http://schemas.openxmlformats.org/drawingml/2006/main">
            <a:pPr algn="r">
              <a:defRPr sz="1275" b="0">
                <a:solidFill>
                  <a:srgbClr val="B9C3CF"/>
                </a:solidFill>
                <a:latin typeface="Arial"/>
                <a:ea typeface="Arial"/>
                <a:cs typeface="Arial"/>
              </a:defRPr>
            </a:pPr>
            <a:r>
              <a:rPr sz="1275" b="0">
                <a:solidFill>
                  <a:srgbClr val="B9C3CF"/>
                </a:solidFill>
                <a:latin typeface="Arial"/>
                <a:ea typeface="Arial"/>
                <a:cs typeface="Arial"/>
              </a:rPr>
              <a:t>generated source rows</a:t>
            </a:r>
          </a:p>
        </p:txBody>
      </p:sp>
      <p:sp>
        <p:nvSpPr>
          <p:cNvPr id="7" name="">
            <a:extLst xmlns:a="http://schemas.openxmlformats.org/drawingml/2006/main">
              <a:ext uri="{FF2B5EF4-FFF2-40B4-BE49-F238E27FC236}">
                <a16:creationId xmlns:a16="http://schemas.microsoft.com/office/drawing/2014/main" id="{21786C3A-6354-4D37-A4E5-29199EF1D687}"/>
              </a:ext>
            </a:extLst>
          </p:cNvPr>
          <p:cNvSpPr>
            <a:spLocks xmlns:a="http://schemas.openxmlformats.org/drawingml/2006/main" noGrp="1"/>
          </p:cNvSpPr>
          <p:nvPr/>
        </p:nvSpPr>
        <p:spPr>
          <a:xfrm xmlns:a="http://schemas.openxmlformats.org/drawingml/2006/main">
            <a:off x="8763000" y="2800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3150" b="1">
                <a:solidFill>
                  <a:srgbClr val="FFFFFF"/>
                </a:solidFill>
                <a:latin typeface="Arial"/>
                <a:ea typeface="Arial"/>
                <a:cs typeface="Arial"/>
              </a:defRPr>
            </a:defPPr>
          </a:lstStyle>
          <a:p xmlns:a="http://schemas.openxmlformats.org/drawingml/2006/main">
            <a:pPr algn="r">
              <a:defRPr sz="3150" b="1">
                <a:solidFill>
                  <a:srgbClr val="FFFFFF"/>
                </a:solidFill>
                <a:latin typeface="Arial"/>
                <a:ea typeface="Arial"/>
                <a:cs typeface="Arial"/>
              </a:defRPr>
            </a:pPr>
            <a:r>
              <a:rPr sz="3150" b="1">
                <a:solidFill>
                  <a:srgbClr val="FFFFFF"/>
                </a:solidFill>
                <a:latin typeface="Arial"/>
                <a:ea typeface="Arial"/>
                <a:cs typeface="Arial"/>
              </a:rPr>
              <a:t>23.0x</a:t>
            </a:r>
          </a:p>
        </p:txBody>
      </p:sp>
      <p:sp>
        <p:nvSpPr>
          <p:cNvPr id="8" name="">
            <a:extLst xmlns:a="http://schemas.openxmlformats.org/drawingml/2006/main">
              <a:ext uri="{FF2B5EF4-FFF2-40B4-BE49-F238E27FC236}">
                <a16:creationId xmlns:a16="http://schemas.microsoft.com/office/drawing/2014/main" id="{087A4AC7-AB9F-4741-B55F-D20F5CF2D156}"/>
              </a:ext>
            </a:extLst>
          </p:cNvPr>
          <p:cNvSpPr>
            <a:spLocks xmlns:a="http://schemas.openxmlformats.org/drawingml/2006/main" noGrp="1"/>
          </p:cNvSpPr>
          <p:nvPr/>
        </p:nvSpPr>
        <p:spPr>
          <a:xfrm xmlns:a="http://schemas.openxmlformats.org/drawingml/2006/main">
            <a:off x="8477250" y="33337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275" b="0">
                <a:solidFill>
                  <a:srgbClr val="B9C3CF"/>
                </a:solidFill>
                <a:latin typeface="Arial"/>
                <a:ea typeface="Arial"/>
                <a:cs typeface="Arial"/>
              </a:defRPr>
            </a:defPPr>
          </a:lstStyle>
          <a:p xmlns:a="http://schemas.openxmlformats.org/drawingml/2006/main">
            <a:pPr algn="r">
              <a:defRPr sz="1275" b="0">
                <a:solidFill>
                  <a:srgbClr val="B9C3CF"/>
                </a:solidFill>
                <a:latin typeface="Arial"/>
                <a:ea typeface="Arial"/>
                <a:cs typeface="Arial"/>
              </a:defRPr>
            </a:pPr>
            <a:r>
              <a:rPr sz="1275" b="0">
                <a:solidFill>
                  <a:srgbClr val="B9C3CF"/>
                </a:solidFill>
                <a:latin typeface="Arial"/>
                <a:ea typeface="Arial"/>
                <a:cs typeface="Arial"/>
              </a:rPr>
              <a:t>CSV 1-thread to DuckDB 4-thread speedup</a:t>
            </a:r>
          </a:p>
        </p:txBody>
      </p:sp>
      <p:sp>
        <p:nvSpPr>
          <p:cNvPr id="9" name="">
            <a:extLst xmlns:a="http://schemas.openxmlformats.org/drawingml/2006/main">
              <a:ext uri="{FF2B5EF4-FFF2-40B4-BE49-F238E27FC236}">
                <a16:creationId xmlns:a16="http://schemas.microsoft.com/office/drawing/2014/main" id="{D0C4CFAC-729D-42E4-80B9-4358DDEC1E1B}"/>
              </a:ext>
            </a:extLst>
          </p:cNvPr>
          <p:cNvSpPr>
            <a:spLocks xmlns:a="http://schemas.openxmlformats.org/drawingml/2006/main" noGrp="1"/>
          </p:cNvSpPr>
          <p:nvPr/>
        </p:nvSpPr>
        <p:spPr>
          <a:xfrm xmlns:a="http://schemas.openxmlformats.org/drawingml/2006/main">
            <a:off x="742950" y="5924550"/>
            <a:ext cx="933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1">
                <a:solidFill>
                  <a:srgbClr val="F2A03D"/>
                </a:solidFill>
                <a:latin typeface="Arial"/>
                <a:ea typeface="Arial"/>
                <a:cs typeface="Arial"/>
              </a:defRPr>
            </a:defPPr>
          </a:lstStyle>
          <a:p xmlns:a="http://schemas.openxmlformats.org/drawingml/2006/main">
            <a:pPr algn="l">
              <a:defRPr sz="1200" b="1">
                <a:solidFill>
                  <a:srgbClr val="F2A03D"/>
                </a:solidFill>
                <a:latin typeface="Arial"/>
                <a:ea typeface="Arial"/>
                <a:cs typeface="Arial"/>
              </a:defRPr>
            </a:pPr>
            <a:r>
              <a:rPr sz="1200" b="1">
                <a:solidFill>
                  <a:srgbClr val="F2A03D"/>
                </a:solidFill>
                <a:latin typeface="Arial"/>
                <a:ea typeface="Arial"/>
                <a:cs typeface="Arial"/>
              </a:rPr>
              <a:t>Bonus: RabbitMQ streaming  |  Kubernetes  |  execution-mode benchmark</a:t>
            </a:r>
          </a:p>
        </p:txBody>
      </p:sp>
    </p:spTree>
    <p:extLst>
      <p:ext uri="{BB962C8B-B14F-4D97-AF65-F5344CB8AC3E}">
        <p14:creationId xmlns:p14="http://schemas.microsoft.com/office/powerpoint/2010/main" val="15968551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A793859-1DB8-4B7C-B915-3320D38A328F}"/>
              </a:ext>
            </a:extLst>
          </p:cNvPr>
          <p:cNvSpPr>
            <a:spLocks xmlns:a="http://schemas.openxmlformats.org/drawingml/2006/main" noGrp="1"/>
          </p:cNvSpPr>
          <p:nvPr/>
        </p:nvSpPr>
        <p:spPr>
          <a:xfrm xmlns:a="http://schemas.openxmlformats.org/drawingml/2006/main">
            <a:off x="68580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16B8A6"/>
                </a:solidFill>
                <a:latin typeface="Arial"/>
                <a:ea typeface="Arial"/>
                <a:cs typeface="Arial"/>
              </a:defRPr>
            </a:defPPr>
          </a:lstStyle>
          <a:p xmlns:a="http://schemas.openxmlformats.org/drawingml/2006/main">
            <a:pPr algn="l">
              <a:defRPr sz="975" b="1">
                <a:solidFill>
                  <a:srgbClr val="16B8A6"/>
                </a:solidFill>
                <a:latin typeface="Arial"/>
                <a:ea typeface="Arial"/>
                <a:cs typeface="Arial"/>
              </a:defRPr>
            </a:pPr>
            <a:r>
              <a:rPr sz="975" b="1">
                <a:solidFill>
                  <a:srgbClr val="16B8A6"/>
                </a:solidFill>
                <a:latin typeface="Arial"/>
                <a:ea typeface="Arial"/>
                <a:cs typeface="Arial"/>
              </a:rPr>
              <a:t>FOUNDATION</a:t>
            </a:r>
          </a:p>
        </p:txBody>
      </p:sp>
      <p:sp>
        <p:nvSpPr>
          <p:cNvPr id="2" name="">
            <a:extLst xmlns:a="http://schemas.openxmlformats.org/drawingml/2006/main">
              <a:ext uri="{FF2B5EF4-FFF2-40B4-BE49-F238E27FC236}">
                <a16:creationId xmlns:a16="http://schemas.microsoft.com/office/drawing/2014/main" id="{979A3564-C56A-4F3F-9D33-187E0B0DB879}"/>
              </a:ext>
            </a:extLst>
          </p:cNvPr>
          <p:cNvSpPr>
            <a:spLocks xmlns:a="http://schemas.openxmlformats.org/drawingml/2006/main" noGrp="1"/>
          </p:cNvSpPr>
          <p:nvPr/>
        </p:nvSpPr>
        <p:spPr>
          <a:xfrm xmlns:a="http://schemas.openxmlformats.org/drawingml/2006/main">
            <a:off x="685800" y="6096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0131B"/>
                </a:solidFill>
                <a:latin typeface="Arial"/>
                <a:ea typeface="Arial"/>
                <a:cs typeface="Arial"/>
              </a:defRPr>
            </a:defPPr>
          </a:lstStyle>
          <a:p xmlns:a="http://schemas.openxmlformats.org/drawingml/2006/main">
            <a:pPr algn="l">
              <a:defRPr sz="2700" b="1">
                <a:solidFill>
                  <a:srgbClr val="10131B"/>
                </a:solidFill>
                <a:latin typeface="Arial"/>
                <a:ea typeface="Arial"/>
                <a:cs typeface="Arial"/>
              </a:defRPr>
            </a:pPr>
            <a:r>
              <a:rPr sz="2700" b="1">
                <a:solidFill>
                  <a:srgbClr val="10131B"/>
                </a:solidFill>
                <a:latin typeface="Arial"/>
                <a:ea typeface="Arial"/>
                <a:cs typeface="Arial"/>
              </a:rPr>
              <a:t>Problem statement and project scope</a:t>
            </a:r>
          </a:p>
        </p:txBody>
      </p:sp>
      <p:sp>
        <p:nvSpPr>
          <p:cNvPr id="3" name="">
            <a:extLst xmlns:a="http://schemas.openxmlformats.org/drawingml/2006/main">
              <a:ext uri="{FF2B5EF4-FFF2-40B4-BE49-F238E27FC236}">
                <a16:creationId xmlns:a16="http://schemas.microsoft.com/office/drawing/2014/main" id="{48E51F4C-C75B-4AEB-9876-3BF60C9EA333}"/>
              </a:ext>
            </a:extLst>
          </p:cNvPr>
          <p:cNvSpPr>
            <a:spLocks xmlns:a="http://schemas.openxmlformats.org/drawingml/2006/main" noGrp="1"/>
          </p:cNvSpPr>
          <p:nvPr/>
        </p:nvSpPr>
        <p:spPr>
          <a:xfrm xmlns:a="http://schemas.openxmlformats.org/drawingml/2006/main">
            <a:off x="11068050" y="4191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125" b="1">
                <a:solidFill>
                  <a:srgbClr val="667180"/>
                </a:solidFill>
                <a:latin typeface="Arial"/>
                <a:ea typeface="Arial"/>
                <a:cs typeface="Arial"/>
              </a:defRPr>
            </a:defPPr>
          </a:lstStyle>
          <a:p xmlns:a="http://schemas.openxmlformats.org/drawingml/2006/main">
            <a:pPr algn="r">
              <a:defRPr sz="1125" b="1">
                <a:solidFill>
                  <a:srgbClr val="667180"/>
                </a:solidFill>
                <a:latin typeface="Arial"/>
                <a:ea typeface="Arial"/>
                <a:cs typeface="Arial"/>
              </a:defRPr>
            </a:pPr>
            <a:r>
              <a:rPr sz="1125" b="1">
                <a:solidFill>
                  <a:srgbClr val="667180"/>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C15F79-DA5C-460A-A9E9-5E6D5B333D27}"/>
              </a:ext>
            </a:extLst>
          </p:cNvPr>
          <p:cNvSpPr>
            <a:spLocks xmlns:a="http://schemas.openxmlformats.org/drawingml/2006/main" noGrp="1"/>
          </p:cNvSpPr>
          <p:nvPr/>
        </p:nvSpPr>
        <p:spPr>
          <a:xfrm xmlns:a="http://schemas.openxmlformats.org/drawingml/2006/main">
            <a:off x="685800" y="1381125"/>
            <a:ext cx="647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025" b="1">
                <a:solidFill>
                  <a:srgbClr val="10131B"/>
                </a:solidFill>
                <a:latin typeface="Arial"/>
                <a:ea typeface="Arial"/>
                <a:cs typeface="Arial"/>
              </a:defRPr>
            </a:defPPr>
          </a:lstStyle>
          <a:p xmlns:a="http://schemas.openxmlformats.org/drawingml/2006/main">
            <a:pPr algn="l">
              <a:defRPr sz="2025" b="1">
                <a:solidFill>
                  <a:srgbClr val="10131B"/>
                </a:solidFill>
                <a:latin typeface="Arial"/>
                <a:ea typeface="Arial"/>
                <a:cs typeface="Arial"/>
              </a:defRPr>
            </a:pPr>
            <a:r>
              <a:rPr sz="2025" b="1">
                <a:solidFill>
                  <a:srgbClr val="10131B"/>
                </a:solidFill>
                <a:latin typeface="Arial"/>
                <a:ea typeface="Arial"/>
                <a:cs typeface="Arial"/>
              </a:rPr>
              <a:t>Raw transaction files slow repeated analysis and hide quality failures</a:t>
            </a:r>
          </a:p>
        </p:txBody>
      </p:sp>
      <p:sp>
        <p:nvSpPr>
          <p:cNvPr id="5" name="">
            <a:extLst xmlns:a="http://schemas.openxmlformats.org/drawingml/2006/main">
              <a:ext uri="{FF2B5EF4-FFF2-40B4-BE49-F238E27FC236}">
                <a16:creationId xmlns:a16="http://schemas.microsoft.com/office/drawing/2014/main" id="{69FB8810-01A6-486A-B832-DA991F638CC7}"/>
              </a:ext>
            </a:extLst>
          </p:cNvPr>
          <p:cNvSpPr>
            <a:spLocks xmlns:a="http://schemas.openxmlformats.org/drawingml/2006/main" noGrp="1"/>
          </p:cNvSpPr>
          <p:nvPr/>
        </p:nvSpPr>
        <p:spPr>
          <a:xfrm xmlns:a="http://schemas.openxmlformats.org/drawingml/2006/main">
            <a:off x="685800" y="2095500"/>
            <a:ext cx="65722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667180"/>
                </a:solidFill>
                <a:latin typeface="Arial"/>
                <a:ea typeface="Arial"/>
                <a:cs typeface="Arial"/>
              </a:defRPr>
            </a:defPPr>
          </a:lstStyle>
          <a:p xmlns:a="http://schemas.openxmlformats.org/drawingml/2006/main">
            <a:pPr algn="l">
              <a:defRPr sz="1500" b="0">
                <a:solidFill>
                  <a:srgbClr val="667180"/>
                </a:solidFill>
                <a:latin typeface="Arial"/>
                <a:ea typeface="Arial"/>
                <a:cs typeface="Arial"/>
              </a:defRPr>
            </a:pPr>
            <a:r>
              <a:rPr sz="1500" b="0">
                <a:solidFill>
                  <a:srgbClr val="667180"/>
                </a:solidFill>
                <a:latin typeface="Arial"/>
                <a:ea typeface="Arial"/>
                <a:cs typeface="Arial"/>
              </a:rPr>
              <a:t>The implementation converts an imperfect CSV into governed analytical tables, reusable metrics and a live dashboard. Every stage leaves evidence that can be inspected during evaluation.</a:t>
            </a:r>
          </a:p>
        </p:txBody>
      </p:sp>
      <p:sp>
        <p:nvSpPr>
          <p:cNvPr id="6" name="">
            <a:extLst xmlns:a="http://schemas.openxmlformats.org/drawingml/2006/main">
              <a:ext uri="{FF2B5EF4-FFF2-40B4-BE49-F238E27FC236}">
                <a16:creationId xmlns:a16="http://schemas.microsoft.com/office/drawing/2014/main" id="{FB8E1506-8BDA-4971-975D-C277F8CEE15F}"/>
              </a:ext>
            </a:extLst>
          </p:cNvPr>
          <p:cNvSpPr>
            <a:spLocks xmlns:a="http://schemas.openxmlformats.org/drawingml/2006/main" noGrp="1"/>
          </p:cNvSpPr>
          <p:nvPr/>
        </p:nvSpPr>
        <p:spPr>
          <a:xfrm xmlns:a="http://schemas.openxmlformats.org/drawingml/2006/main">
            <a:off x="7762875" y="1476375"/>
            <a:ext cx="6191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1">
                <a:solidFill>
                  <a:srgbClr val="16B8A6"/>
                </a:solidFill>
                <a:latin typeface="Arial"/>
                <a:ea typeface="Arial"/>
                <a:cs typeface="Arial"/>
              </a:defRPr>
            </a:defPPr>
          </a:lstStyle>
          <a:p xmlns:a="http://schemas.openxmlformats.org/drawingml/2006/main">
            <a:pPr algn="l">
              <a:defRPr sz="1875" b="1">
                <a:solidFill>
                  <a:srgbClr val="16B8A6"/>
                </a:solidFill>
                <a:latin typeface="Arial"/>
                <a:ea typeface="Arial"/>
                <a:cs typeface="Arial"/>
              </a:defRPr>
            </a:pPr>
            <a:r>
              <a:rPr sz="1875" b="1">
                <a:solidFill>
                  <a:srgbClr val="16B8A6"/>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28F31DD5-7D3E-42D7-822D-31FD2B5C9F2C}"/>
              </a:ext>
            </a:extLst>
          </p:cNvPr>
          <p:cNvSpPr>
            <a:spLocks xmlns:a="http://schemas.openxmlformats.org/drawingml/2006/main" noGrp="1"/>
          </p:cNvSpPr>
          <p:nvPr/>
        </p:nvSpPr>
        <p:spPr>
          <a:xfrm xmlns:a="http://schemas.openxmlformats.org/drawingml/2006/main">
            <a:off x="8524875" y="14097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10131B"/>
                </a:solidFill>
                <a:latin typeface="Arial"/>
                <a:ea typeface="Arial"/>
                <a:cs typeface="Arial"/>
              </a:defRPr>
            </a:defPPr>
          </a:lstStyle>
          <a:p xmlns:a="http://schemas.openxmlformats.org/drawingml/2006/main">
            <a:pPr algn="l">
              <a:defRPr sz="1650" b="1">
                <a:solidFill>
                  <a:srgbClr val="10131B"/>
                </a:solidFill>
                <a:latin typeface="Arial"/>
                <a:ea typeface="Arial"/>
                <a:cs typeface="Arial"/>
              </a:defRPr>
            </a:pPr>
            <a:r>
              <a:rPr sz="1650" b="1">
                <a:solidFill>
                  <a:srgbClr val="10131B"/>
                </a:solidFill>
                <a:latin typeface="Arial"/>
                <a:ea typeface="Arial"/>
                <a:cs typeface="Arial"/>
              </a:rPr>
              <a:t>Clean</a:t>
            </a:r>
          </a:p>
        </p:txBody>
      </p:sp>
      <p:sp>
        <p:nvSpPr>
          <p:cNvPr id="8" name="">
            <a:extLst xmlns:a="http://schemas.openxmlformats.org/drawingml/2006/main">
              <a:ext uri="{FF2B5EF4-FFF2-40B4-BE49-F238E27FC236}">
                <a16:creationId xmlns:a16="http://schemas.microsoft.com/office/drawing/2014/main" id="{AFA75531-A65B-4F55-A981-6E7C4B0943A6}"/>
              </a:ext>
            </a:extLst>
          </p:cNvPr>
          <p:cNvSpPr>
            <a:spLocks xmlns:a="http://schemas.openxmlformats.org/drawingml/2006/main" noGrp="1"/>
          </p:cNvSpPr>
          <p:nvPr/>
        </p:nvSpPr>
        <p:spPr>
          <a:xfrm xmlns:a="http://schemas.openxmlformats.org/drawingml/2006/main">
            <a:off x="8524875" y="1743075"/>
            <a:ext cx="266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Type safely, standardize values, remove duplicates and quarantine invalid rows.</a:t>
            </a:r>
          </a:p>
        </p:txBody>
      </p:sp>
      <p:sp>
        <p:nvSpPr>
          <p:cNvPr id="9" name="">
            <a:extLst xmlns:a="http://schemas.openxmlformats.org/drawingml/2006/main">
              <a:ext uri="{FF2B5EF4-FFF2-40B4-BE49-F238E27FC236}">
                <a16:creationId xmlns:a16="http://schemas.microsoft.com/office/drawing/2014/main" id="{81DC1369-35FB-4722-911E-50589EB25852}"/>
              </a:ext>
            </a:extLst>
          </p:cNvPr>
          <p:cNvSpPr>
            <a:spLocks xmlns:a="http://schemas.openxmlformats.org/drawingml/2006/main" noGrp="1"/>
          </p:cNvSpPr>
          <p:nvPr/>
        </p:nvSpPr>
        <p:spPr>
          <a:xfrm xmlns:a="http://schemas.openxmlformats.org/drawingml/2006/main">
            <a:off x="7762875" y="2667000"/>
            <a:ext cx="6191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1">
                <a:solidFill>
                  <a:srgbClr val="F2A03D"/>
                </a:solidFill>
                <a:latin typeface="Arial"/>
                <a:ea typeface="Arial"/>
                <a:cs typeface="Arial"/>
              </a:defRPr>
            </a:defPPr>
          </a:lstStyle>
          <a:p xmlns:a="http://schemas.openxmlformats.org/drawingml/2006/main">
            <a:pPr algn="l">
              <a:defRPr sz="1875" b="1">
                <a:solidFill>
                  <a:srgbClr val="F2A03D"/>
                </a:solidFill>
                <a:latin typeface="Arial"/>
                <a:ea typeface="Arial"/>
                <a:cs typeface="Arial"/>
              </a:defRPr>
            </a:pPr>
            <a:r>
              <a:rPr sz="1875" b="1">
                <a:solidFill>
                  <a:srgbClr val="F2A03D"/>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C16B542D-F229-49C7-8FDE-D04314DF3F95}"/>
              </a:ext>
            </a:extLst>
          </p:cNvPr>
          <p:cNvSpPr>
            <a:spLocks xmlns:a="http://schemas.openxmlformats.org/drawingml/2006/main" noGrp="1"/>
          </p:cNvSpPr>
          <p:nvPr/>
        </p:nvSpPr>
        <p:spPr>
          <a:xfrm xmlns:a="http://schemas.openxmlformats.org/drawingml/2006/main">
            <a:off x="8524875" y="26003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10131B"/>
                </a:solidFill>
                <a:latin typeface="Arial"/>
                <a:ea typeface="Arial"/>
                <a:cs typeface="Arial"/>
              </a:defRPr>
            </a:defPPr>
          </a:lstStyle>
          <a:p xmlns:a="http://schemas.openxmlformats.org/drawingml/2006/main">
            <a:pPr algn="l">
              <a:defRPr sz="1650" b="1">
                <a:solidFill>
                  <a:srgbClr val="10131B"/>
                </a:solidFill>
                <a:latin typeface="Arial"/>
                <a:ea typeface="Arial"/>
                <a:cs typeface="Arial"/>
              </a:defRPr>
            </a:pPr>
            <a:r>
              <a:rPr sz="1650" b="1">
                <a:solidFill>
                  <a:srgbClr val="10131B"/>
                </a:solidFill>
                <a:latin typeface="Arial"/>
                <a:ea typeface="Arial"/>
                <a:cs typeface="Arial"/>
              </a:rPr>
              <a:t>Model and analyze</a:t>
            </a:r>
          </a:p>
        </p:txBody>
      </p:sp>
      <p:sp>
        <p:nvSpPr>
          <p:cNvPr id="11" name="">
            <a:extLst xmlns:a="http://schemas.openxmlformats.org/drawingml/2006/main">
              <a:ext uri="{FF2B5EF4-FFF2-40B4-BE49-F238E27FC236}">
                <a16:creationId xmlns:a16="http://schemas.microsoft.com/office/drawing/2014/main" id="{AF3E87DF-569A-4850-9EFE-84973A38D6D6}"/>
              </a:ext>
            </a:extLst>
          </p:cNvPr>
          <p:cNvSpPr>
            <a:spLocks xmlns:a="http://schemas.openxmlformats.org/drawingml/2006/main" noGrp="1"/>
          </p:cNvSpPr>
          <p:nvPr/>
        </p:nvSpPr>
        <p:spPr>
          <a:xfrm xmlns:a="http://schemas.openxmlformats.org/drawingml/2006/main">
            <a:off x="8524875" y="2933700"/>
            <a:ext cx="266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Build a star schema, views, window functions and OLAP grouping patterns.</a:t>
            </a:r>
          </a:p>
        </p:txBody>
      </p:sp>
      <p:sp>
        <p:nvSpPr>
          <p:cNvPr id="12" name="">
            <a:extLst xmlns:a="http://schemas.openxmlformats.org/drawingml/2006/main">
              <a:ext uri="{FF2B5EF4-FFF2-40B4-BE49-F238E27FC236}">
                <a16:creationId xmlns:a16="http://schemas.microsoft.com/office/drawing/2014/main" id="{BCAFD044-8103-47CF-BDE7-1B5738BDD691}"/>
              </a:ext>
            </a:extLst>
          </p:cNvPr>
          <p:cNvSpPr>
            <a:spLocks xmlns:a="http://schemas.openxmlformats.org/drawingml/2006/main" noGrp="1"/>
          </p:cNvSpPr>
          <p:nvPr/>
        </p:nvSpPr>
        <p:spPr>
          <a:xfrm xmlns:a="http://schemas.openxmlformats.org/drawingml/2006/main">
            <a:off x="7762875" y="3857625"/>
            <a:ext cx="6191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75" b="1">
                <a:solidFill>
                  <a:srgbClr val="5267D7"/>
                </a:solidFill>
                <a:latin typeface="Arial"/>
                <a:ea typeface="Arial"/>
                <a:cs typeface="Arial"/>
              </a:defRPr>
            </a:defPPr>
          </a:lstStyle>
          <a:p xmlns:a="http://schemas.openxmlformats.org/drawingml/2006/main">
            <a:pPr algn="l">
              <a:defRPr sz="1875" b="1">
                <a:solidFill>
                  <a:srgbClr val="5267D7"/>
                </a:solidFill>
                <a:latin typeface="Arial"/>
                <a:ea typeface="Arial"/>
                <a:cs typeface="Arial"/>
              </a:defRPr>
            </a:pPr>
            <a:r>
              <a:rPr sz="1875" b="1">
                <a:solidFill>
                  <a:srgbClr val="5267D7"/>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58CE7BAF-D3A7-4E46-9786-1DE859B08D53}"/>
              </a:ext>
            </a:extLst>
          </p:cNvPr>
          <p:cNvSpPr>
            <a:spLocks xmlns:a="http://schemas.openxmlformats.org/drawingml/2006/main" noGrp="1"/>
          </p:cNvSpPr>
          <p:nvPr/>
        </p:nvSpPr>
        <p:spPr>
          <a:xfrm xmlns:a="http://schemas.openxmlformats.org/drawingml/2006/main">
            <a:off x="8524875" y="37909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10131B"/>
                </a:solidFill>
                <a:latin typeface="Arial"/>
                <a:ea typeface="Arial"/>
                <a:cs typeface="Arial"/>
              </a:defRPr>
            </a:defPPr>
          </a:lstStyle>
          <a:p xmlns:a="http://schemas.openxmlformats.org/drawingml/2006/main">
            <a:pPr algn="l">
              <a:defRPr sz="1650" b="1">
                <a:solidFill>
                  <a:srgbClr val="10131B"/>
                </a:solidFill>
                <a:latin typeface="Arial"/>
                <a:ea typeface="Arial"/>
                <a:cs typeface="Arial"/>
              </a:defRPr>
            </a:pPr>
            <a:r>
              <a:rPr sz="1650" b="1">
                <a:solidFill>
                  <a:srgbClr val="10131B"/>
                </a:solidFill>
                <a:latin typeface="Arial"/>
                <a:ea typeface="Arial"/>
                <a:cs typeface="Arial"/>
              </a:rPr>
              <a:t>Communicate</a:t>
            </a:r>
          </a:p>
        </p:txBody>
      </p:sp>
      <p:sp>
        <p:nvSpPr>
          <p:cNvPr id="14" name="">
            <a:extLst xmlns:a="http://schemas.openxmlformats.org/drawingml/2006/main">
              <a:ext uri="{FF2B5EF4-FFF2-40B4-BE49-F238E27FC236}">
                <a16:creationId xmlns:a16="http://schemas.microsoft.com/office/drawing/2014/main" id="{6F9ED1E6-A303-4332-A2BD-6408E2E9D6C5}"/>
              </a:ext>
            </a:extLst>
          </p:cNvPr>
          <p:cNvSpPr>
            <a:spLocks xmlns:a="http://schemas.openxmlformats.org/drawingml/2006/main" noGrp="1"/>
          </p:cNvSpPr>
          <p:nvPr/>
        </p:nvSpPr>
        <p:spPr>
          <a:xfrm xmlns:a="http://schemas.openxmlformats.org/drawingml/2006/main">
            <a:off x="8524875" y="4124325"/>
            <a:ext cx="266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Measure performance and present decision-focused KPIs in Streamlit.</a:t>
            </a:r>
          </a:p>
        </p:txBody>
      </p:sp>
      <p:sp>
        <p:nvSpPr>
          <p:cNvPr id="15" name="">
            <a:extLst xmlns:a="http://schemas.openxmlformats.org/drawingml/2006/main">
              <a:ext uri="{FF2B5EF4-FFF2-40B4-BE49-F238E27FC236}">
                <a16:creationId xmlns:a16="http://schemas.microsoft.com/office/drawing/2014/main" id="{DE404BF9-E0EB-4FD3-BC9F-8BF97B38607B}"/>
              </a:ext>
            </a:extLst>
          </p:cNvPr>
          <p:cNvSpPr>
            <a:spLocks xmlns:a="http://schemas.openxmlformats.org/drawingml/2006/main" noGrp="1"/>
          </p:cNvSpPr>
          <p:nvPr/>
        </p:nvSpPr>
        <p:spPr>
          <a:xfrm xmlns:a="http://schemas.openxmlformats.org/drawingml/2006/main">
            <a:off x="685800" y="5048250"/>
            <a:ext cx="1905000" cy="304800"/>
          </a:xfrm>
          <a:prstGeom xmlns:a="http://schemas.openxmlformats.org/drawingml/2006/main" prst="roundRect">
            <a:avLst>
              <a:gd name="adj" fmla="val 37500"/>
            </a:avLst>
          </a:prstGeom>
          <a:solidFill xmlns:a="http://schemas.openxmlformats.org/drawingml/2006/main">
            <a:srgbClr val="DDF6F2"/>
          </a:solidFill>
          <a:ln xmlns:a="http://schemas.openxmlformats.org/drawingml/2006/main" w="0">
            <a:solidFill>
              <a:srgbClr val="DDF6F2"/>
            </a:solidFill>
            <a:prstDash val="solid"/>
          </a:ln>
        </p:spPr>
        <p:txBody>
          <a:bodyPr xmlns:a="http://schemas.openxmlformats.org/drawingml/2006/main" anchor="ctr"/>
          <a:lstStyle xmlns:a="http://schemas.openxmlformats.org/drawingml/2006/main">
            <a:defPPr algn="ctr">
              <a:defRPr sz="1050" b="1">
                <a:solidFill>
                  <a:srgbClr val="16B8A6"/>
                </a:solidFill>
                <a:latin typeface="Arial"/>
                <a:ea typeface="Arial"/>
                <a:cs typeface="Arial"/>
              </a:defRPr>
            </a:defPPr>
          </a:lstStyle>
          <a:p xmlns:a="http://schemas.openxmlformats.org/drawingml/2006/main">
            <a:pPr algn="ctr">
              <a:defRPr sz="1050" b="1">
                <a:solidFill>
                  <a:srgbClr val="16B8A6"/>
                </a:solidFill>
                <a:latin typeface="Arial"/>
                <a:ea typeface="Arial"/>
                <a:cs typeface="Arial"/>
              </a:defRPr>
            </a:pPr>
            <a:r>
              <a:rPr sz="1050" b="1">
                <a:solidFill>
                  <a:srgbClr val="16B8A6"/>
                </a:solidFill>
                <a:latin typeface="Arial"/>
                <a:ea typeface="Arial"/>
                <a:cs typeface="Arial"/>
              </a:rPr>
              <a:t>119,044 orders</a:t>
            </a:r>
          </a:p>
        </p:txBody>
      </p:sp>
      <p:sp>
        <p:nvSpPr>
          <p:cNvPr id="16" name="">
            <a:extLst xmlns:a="http://schemas.openxmlformats.org/drawingml/2006/main">
              <a:ext uri="{FF2B5EF4-FFF2-40B4-BE49-F238E27FC236}">
                <a16:creationId xmlns:a16="http://schemas.microsoft.com/office/drawing/2014/main" id="{FBBE7328-6715-49A0-BE3D-477FF7CFE491}"/>
              </a:ext>
            </a:extLst>
          </p:cNvPr>
          <p:cNvSpPr>
            <a:spLocks xmlns:a="http://schemas.openxmlformats.org/drawingml/2006/main" noGrp="1"/>
          </p:cNvSpPr>
          <p:nvPr/>
        </p:nvSpPr>
        <p:spPr>
          <a:xfrm xmlns:a="http://schemas.openxmlformats.org/drawingml/2006/main">
            <a:off x="2762250" y="5048250"/>
            <a:ext cx="2095500" cy="304800"/>
          </a:xfrm>
          <a:prstGeom xmlns:a="http://schemas.openxmlformats.org/drawingml/2006/main" prst="roundRect">
            <a:avLst>
              <a:gd name="adj" fmla="val 37500"/>
            </a:avLst>
          </a:prstGeom>
          <a:solidFill xmlns:a="http://schemas.openxmlformats.org/drawingml/2006/main">
            <a:srgbClr val="E8EBFA"/>
          </a:solidFill>
          <a:ln xmlns:a="http://schemas.openxmlformats.org/drawingml/2006/main" w="0">
            <a:solidFill>
              <a:srgbClr val="E8EBFA"/>
            </a:solidFill>
            <a:prstDash val="solid"/>
          </a:ln>
        </p:spPr>
        <p:txBody>
          <a:bodyPr xmlns:a="http://schemas.openxmlformats.org/drawingml/2006/main" anchor="ctr"/>
          <a:lstStyle xmlns:a="http://schemas.openxmlformats.org/drawingml/2006/main">
            <a:defPPr algn="ctr">
              <a:defRPr sz="1050" b="1">
                <a:solidFill>
                  <a:srgbClr val="5267D7"/>
                </a:solidFill>
                <a:latin typeface="Arial"/>
                <a:ea typeface="Arial"/>
                <a:cs typeface="Arial"/>
              </a:defRPr>
            </a:defPPr>
          </a:lstStyle>
          <a:p xmlns:a="http://schemas.openxmlformats.org/drawingml/2006/main">
            <a:pPr algn="ctr">
              <a:defRPr sz="1050" b="1">
                <a:solidFill>
                  <a:srgbClr val="5267D7"/>
                </a:solidFill>
                <a:latin typeface="Arial"/>
                <a:ea typeface="Arial"/>
                <a:cs typeface="Arial"/>
              </a:defRPr>
            </a:pPr>
            <a:r>
              <a:rPr sz="1050" b="1">
                <a:solidFill>
                  <a:srgbClr val="5267D7"/>
                </a:solidFill>
                <a:latin typeface="Arial"/>
                <a:ea typeface="Arial"/>
                <a:cs typeface="Arial"/>
              </a:rPr>
              <a:t>37,114 customers</a:t>
            </a:r>
          </a:p>
        </p:txBody>
      </p:sp>
      <p:sp>
        <p:nvSpPr>
          <p:cNvPr id="17" name="">
            <a:extLst xmlns:a="http://schemas.openxmlformats.org/drawingml/2006/main">
              <a:ext uri="{FF2B5EF4-FFF2-40B4-BE49-F238E27FC236}">
                <a16:creationId xmlns:a16="http://schemas.microsoft.com/office/drawing/2014/main" id="{1CC01435-1B59-49EE-93F6-F68FC6528489}"/>
              </a:ext>
            </a:extLst>
          </p:cNvPr>
          <p:cNvSpPr>
            <a:spLocks xmlns:a="http://schemas.openxmlformats.org/drawingml/2006/main" noGrp="1"/>
          </p:cNvSpPr>
          <p:nvPr/>
        </p:nvSpPr>
        <p:spPr>
          <a:xfrm xmlns:a="http://schemas.openxmlformats.org/drawingml/2006/main">
            <a:off x="5029200" y="5048250"/>
            <a:ext cx="1638300" cy="304800"/>
          </a:xfrm>
          <a:prstGeom xmlns:a="http://schemas.openxmlformats.org/drawingml/2006/main" prst="roundRect">
            <a:avLst>
              <a:gd name="adj" fmla="val 37500"/>
            </a:avLst>
          </a:prstGeom>
          <a:solidFill xmlns:a="http://schemas.openxmlformats.org/drawingml/2006/main">
            <a:srgbClr val="FFF0DB"/>
          </a:solidFill>
          <a:ln xmlns:a="http://schemas.openxmlformats.org/drawingml/2006/main" w="0">
            <a:solidFill>
              <a:srgbClr val="FFF0DB"/>
            </a:solidFill>
            <a:prstDash val="solid"/>
          </a:ln>
        </p:spPr>
        <p:txBody>
          <a:bodyPr xmlns:a="http://schemas.openxmlformats.org/drawingml/2006/main" anchor="ctr"/>
          <a:lstStyle xmlns:a="http://schemas.openxmlformats.org/drawingml/2006/main">
            <a:defPPr algn="ctr">
              <a:defRPr sz="1050" b="1">
                <a:solidFill>
                  <a:srgbClr val="F2A03D"/>
                </a:solidFill>
                <a:latin typeface="Arial"/>
                <a:ea typeface="Arial"/>
                <a:cs typeface="Arial"/>
              </a:defRPr>
            </a:defPPr>
          </a:lstStyle>
          <a:p xmlns:a="http://schemas.openxmlformats.org/drawingml/2006/main">
            <a:pPr algn="ctr">
              <a:defRPr sz="1050" b="1">
                <a:solidFill>
                  <a:srgbClr val="F2A03D"/>
                </a:solidFill>
                <a:latin typeface="Arial"/>
                <a:ea typeface="Arial"/>
                <a:cs typeface="Arial"/>
              </a:defRPr>
            </a:pPr>
            <a:r>
              <a:rPr sz="1050" b="1">
                <a:solidFill>
                  <a:srgbClr val="F2A03D"/>
                </a:solidFill>
                <a:latin typeface="Arial"/>
                <a:ea typeface="Arial"/>
                <a:cs typeface="Arial"/>
              </a:rPr>
              <a:t>48 products</a:t>
            </a:r>
          </a:p>
        </p:txBody>
      </p:sp>
      <p:sp>
        <p:nvSpPr>
          <p:cNvPr id="18" name="">
            <a:extLst xmlns:a="http://schemas.openxmlformats.org/drawingml/2006/main">
              <a:ext uri="{FF2B5EF4-FFF2-40B4-BE49-F238E27FC236}">
                <a16:creationId xmlns:a16="http://schemas.microsoft.com/office/drawing/2014/main" id="{F17F6E06-1FCA-4087-A109-FB4448296723}"/>
              </a:ext>
            </a:extLst>
          </p:cNvPr>
          <p:cNvSpPr>
            <a:spLocks xmlns:a="http://schemas.openxmlformats.org/drawingml/2006/main" noGrp="1"/>
          </p:cNvSpPr>
          <p:nvPr/>
        </p:nvSpPr>
        <p:spPr>
          <a:xfrm xmlns:a="http://schemas.openxmlformats.org/drawingml/2006/main">
            <a:off x="6838950" y="5048250"/>
            <a:ext cx="1809750" cy="304800"/>
          </a:xfrm>
          <a:prstGeom xmlns:a="http://schemas.openxmlformats.org/drawingml/2006/main" prst="roundRect">
            <a:avLst>
              <a:gd name="adj" fmla="val 37500"/>
            </a:avLst>
          </a:prstGeom>
          <a:solidFill xmlns:a="http://schemas.openxmlformats.org/drawingml/2006/main">
            <a:srgbClr val="FBE5E8"/>
          </a:solidFill>
          <a:ln xmlns:a="http://schemas.openxmlformats.org/drawingml/2006/main" w="0">
            <a:solidFill>
              <a:srgbClr val="FBE5E8"/>
            </a:solidFill>
            <a:prstDash val="solid"/>
          </a:ln>
        </p:spPr>
        <p:txBody>
          <a:bodyPr xmlns:a="http://schemas.openxmlformats.org/drawingml/2006/main" anchor="ctr"/>
          <a:lstStyle xmlns:a="http://schemas.openxmlformats.org/drawingml/2006/main">
            <a:defPPr algn="ctr">
              <a:defRPr sz="1050" b="1">
                <a:solidFill>
                  <a:srgbClr val="E65B65"/>
                </a:solidFill>
                <a:latin typeface="Arial"/>
                <a:ea typeface="Arial"/>
                <a:cs typeface="Arial"/>
              </a:defRPr>
            </a:defPPr>
          </a:lstStyle>
          <a:p xmlns:a="http://schemas.openxmlformats.org/drawingml/2006/main">
            <a:pPr algn="ctr">
              <a:defRPr sz="1050" b="1">
                <a:solidFill>
                  <a:srgbClr val="E65B65"/>
                </a:solidFill>
                <a:latin typeface="Arial"/>
                <a:ea typeface="Arial"/>
                <a:cs typeface="Arial"/>
              </a:defRPr>
            </a:pPr>
            <a:r>
              <a:rPr sz="1050" b="1">
                <a:solidFill>
                  <a:srgbClr val="E65B65"/>
                </a:solidFill>
                <a:latin typeface="Arial"/>
                <a:ea typeface="Arial"/>
                <a:cs typeface="Arial"/>
              </a:rPr>
              <a:t>2-year coverage</a:t>
            </a:r>
          </a:p>
        </p:txBody>
      </p:sp>
      <p:sp>
        <p:nvSpPr>
          <p:cNvPr id="19" name="">
            <a:extLst xmlns:a="http://schemas.openxmlformats.org/drawingml/2006/main">
              <a:ext uri="{FF2B5EF4-FFF2-40B4-BE49-F238E27FC236}">
                <a16:creationId xmlns:a16="http://schemas.microsoft.com/office/drawing/2014/main" id="{9B6B105C-F687-4680-9057-1392CDDB161F}"/>
              </a:ext>
            </a:extLst>
          </p:cNvPr>
          <p:cNvSpPr>
            <a:spLocks xmlns:a="http://schemas.openxmlformats.org/drawingml/2006/main" noGrp="1"/>
          </p:cNvSpPr>
          <p:nvPr/>
        </p:nvSpPr>
        <p:spPr>
          <a:xfrm xmlns:a="http://schemas.openxmlformats.org/drawingml/2006/main">
            <a:off x="685800" y="6457950"/>
            <a:ext cx="10820400" cy="9525"/>
          </a:xfrm>
          <a:prstGeom xmlns:a="http://schemas.openxmlformats.org/drawingml/2006/main" prst="rect">
            <a:avLst/>
          </a:prstGeom>
          <a:solidFill xmlns:a="http://schemas.openxmlformats.org/drawingml/2006/main">
            <a:srgbClr val="D5DCE4"/>
          </a:solidFill>
          <a:ln xmlns:a="http://schemas.openxmlformats.org/drawingml/2006/main" w="0">
            <a:solidFill>
              <a:srgbClr val="D5DCE4"/>
            </a:solidFill>
            <a:prstDash val="solid"/>
          </a:ln>
        </p:spPr>
      </p:sp>
      <p:sp>
        <p:nvSpPr>
          <p:cNvPr id="20" name="">
            <a:extLst xmlns:a="http://schemas.openxmlformats.org/drawingml/2006/main">
              <a:ext uri="{FF2B5EF4-FFF2-40B4-BE49-F238E27FC236}">
                <a16:creationId xmlns:a16="http://schemas.microsoft.com/office/drawing/2014/main" id="{FB572A1C-9A34-411D-B6D3-D1FC76203011}"/>
              </a:ext>
            </a:extLst>
          </p:cNvPr>
          <p:cNvSpPr>
            <a:spLocks xmlns:a="http://schemas.openxmlformats.org/drawingml/2006/main" noGrp="1"/>
          </p:cNvSpPr>
          <p:nvPr/>
        </p:nvSpPr>
        <p:spPr>
          <a:xfrm xmlns:a="http://schemas.openxmlformats.org/drawingml/2006/main">
            <a:off x="685800" y="6524625"/>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825" b="0">
                <a:solidFill>
                  <a:srgbClr val="667180"/>
                </a:solidFill>
                <a:latin typeface="Arial"/>
                <a:ea typeface="Arial"/>
                <a:cs typeface="Arial"/>
              </a:defRPr>
            </a:defPPr>
          </a:lstStyle>
          <a:p xmlns:a="http://schemas.openxmlformats.org/drawingml/2006/main">
            <a:pPr algn="l">
              <a:defRPr sz="825" b="0">
                <a:solidFill>
                  <a:srgbClr val="667180"/>
                </a:solidFill>
                <a:latin typeface="Arial"/>
                <a:ea typeface="Arial"/>
                <a:cs typeface="Arial"/>
              </a:defRPr>
            </a:pPr>
            <a:r>
              <a:rPr sz="825" b="0">
                <a:solidFill>
                  <a:srgbClr val="667180"/>
                </a:solidFill>
                <a:latin typeface="Arial"/>
                <a:ea typeface="Arial"/>
                <a:cs typeface="Arial"/>
              </a:rPr>
              <a:t>E-Commerce Sales Analytics using DuckDB</a:t>
            </a:r>
          </a:p>
        </p:txBody>
      </p:sp>
      <p:sp>
        <p:nvSpPr>
          <p:cNvPr id="21" name="">
            <a:extLst xmlns:a="http://schemas.openxmlformats.org/drawingml/2006/main">
              <a:ext uri="{FF2B5EF4-FFF2-40B4-BE49-F238E27FC236}">
                <a16:creationId xmlns:a16="http://schemas.microsoft.com/office/drawing/2014/main" id="{A5796AC3-9D56-4448-80E2-AFB965EE4A73}"/>
              </a:ext>
            </a:extLst>
          </p:cNvPr>
          <p:cNvSpPr>
            <a:spLocks xmlns:a="http://schemas.openxmlformats.org/drawingml/2006/main" noGrp="1"/>
          </p:cNvSpPr>
          <p:nvPr/>
        </p:nvSpPr>
        <p:spPr>
          <a:xfrm xmlns:a="http://schemas.openxmlformats.org/drawingml/2006/main">
            <a:off x="7143750" y="6524625"/>
            <a:ext cx="436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825" b="0">
                <a:solidFill>
                  <a:srgbClr val="667180"/>
                </a:solidFill>
                <a:latin typeface="Arial"/>
                <a:ea typeface="Arial"/>
                <a:cs typeface="Arial"/>
              </a:defRPr>
            </a:defPPr>
          </a:lstStyle>
          <a:p xmlns:a="http://schemas.openxmlformats.org/drawingml/2006/main">
            <a:pPr algn="r">
              <a:defRPr sz="825" b="0">
                <a:solidFill>
                  <a:srgbClr val="667180"/>
                </a:solidFill>
                <a:latin typeface="Arial"/>
                <a:ea typeface="Arial"/>
                <a:cs typeface="Arial"/>
              </a:defRPr>
            </a:pPr>
            <a:r>
              <a:rPr sz="825" b="0">
                <a:solidFill>
                  <a:srgbClr val="667180"/>
                </a:solidFill>
                <a:latin typeface="Arial"/>
                <a:ea typeface="Arial"/>
                <a:cs typeface="Arial"/>
              </a:rPr>
              <a:t>DuckDB  |  FastAPI  |  RabbitMQ  |  Streamlit</a:t>
            </a:r>
          </a:p>
        </p:txBody>
      </p:sp>
    </p:spTree>
    <p:extLst>
      <p:ext uri="{BB962C8B-B14F-4D97-AF65-F5344CB8AC3E}">
        <p14:creationId xmlns:p14="http://schemas.microsoft.com/office/powerpoint/2010/main" val="95172056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49E894A-BA3D-4E1A-9353-4E23DD2AC68A}"/>
              </a:ext>
            </a:extLst>
          </p:cNvPr>
          <p:cNvSpPr>
            <a:spLocks xmlns:a="http://schemas.openxmlformats.org/drawingml/2006/main" noGrp="1"/>
          </p:cNvSpPr>
          <p:nvPr/>
        </p:nvSpPr>
        <p:spPr>
          <a:xfrm xmlns:a="http://schemas.openxmlformats.org/drawingml/2006/main">
            <a:off x="68580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16B8A6"/>
                </a:solidFill>
                <a:latin typeface="Arial"/>
                <a:ea typeface="Arial"/>
                <a:cs typeface="Arial"/>
              </a:defRPr>
            </a:defPPr>
          </a:lstStyle>
          <a:p xmlns:a="http://schemas.openxmlformats.org/drawingml/2006/main">
            <a:pPr algn="l">
              <a:defRPr sz="975" b="1">
                <a:solidFill>
                  <a:srgbClr val="16B8A6"/>
                </a:solidFill>
                <a:latin typeface="Arial"/>
                <a:ea typeface="Arial"/>
                <a:cs typeface="Arial"/>
              </a:defRPr>
            </a:pPr>
            <a:r>
              <a:rPr sz="975" b="1">
                <a:solidFill>
                  <a:srgbClr val="16B8A6"/>
                </a:solidFill>
                <a:latin typeface="Arial"/>
                <a:ea typeface="Arial"/>
                <a:cs typeface="Arial"/>
              </a:rPr>
              <a:t>IMPLEMENTATION</a:t>
            </a:r>
          </a:p>
        </p:txBody>
      </p:sp>
      <p:sp>
        <p:nvSpPr>
          <p:cNvPr id="2" name="">
            <a:extLst xmlns:a="http://schemas.openxmlformats.org/drawingml/2006/main">
              <a:ext uri="{FF2B5EF4-FFF2-40B4-BE49-F238E27FC236}">
                <a16:creationId xmlns:a16="http://schemas.microsoft.com/office/drawing/2014/main" id="{06CAC7A7-4A79-4732-8EF8-AB912D63C63E}"/>
              </a:ext>
            </a:extLst>
          </p:cNvPr>
          <p:cNvSpPr>
            <a:spLocks xmlns:a="http://schemas.openxmlformats.org/drawingml/2006/main" noGrp="1"/>
          </p:cNvSpPr>
          <p:nvPr/>
        </p:nvSpPr>
        <p:spPr>
          <a:xfrm xmlns:a="http://schemas.openxmlformats.org/drawingml/2006/main">
            <a:off x="685800" y="6096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0131B"/>
                </a:solidFill>
                <a:latin typeface="Arial"/>
                <a:ea typeface="Arial"/>
                <a:cs typeface="Arial"/>
              </a:defRPr>
            </a:defPPr>
          </a:lstStyle>
          <a:p xmlns:a="http://schemas.openxmlformats.org/drawingml/2006/main">
            <a:pPr algn="l">
              <a:defRPr sz="2700" b="1">
                <a:solidFill>
                  <a:srgbClr val="10131B"/>
                </a:solidFill>
                <a:latin typeface="Arial"/>
                <a:ea typeface="Arial"/>
                <a:cs typeface="Arial"/>
              </a:defRPr>
            </a:pPr>
            <a:r>
              <a:rPr sz="2700" b="1">
                <a:solidFill>
                  <a:srgbClr val="10131B"/>
                </a:solidFill>
                <a:latin typeface="Arial"/>
                <a:ea typeface="Arial"/>
                <a:cs typeface="Arial"/>
              </a:rPr>
              <a:t>Pipeline architecture</a:t>
            </a:r>
          </a:p>
        </p:txBody>
      </p:sp>
      <p:sp>
        <p:nvSpPr>
          <p:cNvPr id="3" name="">
            <a:extLst xmlns:a="http://schemas.openxmlformats.org/drawingml/2006/main">
              <a:ext uri="{FF2B5EF4-FFF2-40B4-BE49-F238E27FC236}">
                <a16:creationId xmlns:a16="http://schemas.microsoft.com/office/drawing/2014/main" id="{6177E9D9-9D5E-478C-90D5-62B1314CDC50}"/>
              </a:ext>
            </a:extLst>
          </p:cNvPr>
          <p:cNvSpPr>
            <a:spLocks xmlns:a="http://schemas.openxmlformats.org/drawingml/2006/main" noGrp="1"/>
          </p:cNvSpPr>
          <p:nvPr/>
        </p:nvSpPr>
        <p:spPr>
          <a:xfrm xmlns:a="http://schemas.openxmlformats.org/drawingml/2006/main">
            <a:off x="11068050" y="4191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125" b="1">
                <a:solidFill>
                  <a:srgbClr val="667180"/>
                </a:solidFill>
                <a:latin typeface="Arial"/>
                <a:ea typeface="Arial"/>
                <a:cs typeface="Arial"/>
              </a:defRPr>
            </a:defPPr>
          </a:lstStyle>
          <a:p xmlns:a="http://schemas.openxmlformats.org/drawingml/2006/main">
            <a:pPr algn="r">
              <a:defRPr sz="1125" b="1">
                <a:solidFill>
                  <a:srgbClr val="667180"/>
                </a:solidFill>
                <a:latin typeface="Arial"/>
                <a:ea typeface="Arial"/>
                <a:cs typeface="Arial"/>
              </a:defRPr>
            </a:pPr>
            <a:r>
              <a:rPr sz="1125" b="1">
                <a:solidFill>
                  <a:srgbClr val="667180"/>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7D68D93-8ECB-441F-ADCD-122F0A0FF1D5}"/>
              </a:ext>
            </a:extLst>
          </p:cNvPr>
          <p:cNvSpPr>
            <a:spLocks xmlns:a="http://schemas.openxmlformats.org/drawingml/2006/main" noGrp="1"/>
          </p:cNvSpPr>
          <p:nvPr/>
        </p:nvSpPr>
        <p:spPr>
          <a:xfrm xmlns:a="http://schemas.openxmlformats.org/drawingml/2006/main">
            <a:off x="666750" y="1809750"/>
            <a:ext cx="1790700" cy="2095500"/>
          </a:xfrm>
          <a:prstGeom xmlns:a="http://schemas.openxmlformats.org/drawingml/2006/main" prst="roundRect">
            <a:avLst>
              <a:gd name="adj" fmla="val 6383"/>
            </a:avLst>
          </a:prstGeom>
          <a:solidFill xmlns:a="http://schemas.openxmlformats.org/drawingml/2006/main">
            <a:srgbClr val="DDF6F2"/>
          </a:solidFill>
          <a:ln xmlns:a="http://schemas.openxmlformats.org/drawingml/2006/main" w="19050">
            <a:solidFill>
              <a:srgbClr val="16B8A6"/>
            </a:solidFill>
            <a:prstDash val="solid"/>
          </a:ln>
        </p:spPr>
      </p:sp>
      <p:sp>
        <p:nvSpPr>
          <p:cNvPr id="5" name="">
            <a:extLst xmlns:a="http://schemas.openxmlformats.org/drawingml/2006/main">
              <a:ext uri="{FF2B5EF4-FFF2-40B4-BE49-F238E27FC236}">
                <a16:creationId xmlns:a16="http://schemas.microsoft.com/office/drawing/2014/main" id="{41E2BA3C-C06C-4E57-A35E-17FF2C08F23E}"/>
              </a:ext>
            </a:extLst>
          </p:cNvPr>
          <p:cNvSpPr>
            <a:spLocks xmlns:a="http://schemas.openxmlformats.org/drawingml/2006/main" noGrp="1"/>
          </p:cNvSpPr>
          <p:nvPr/>
        </p:nvSpPr>
        <p:spPr>
          <a:xfrm xmlns:a="http://schemas.openxmlformats.org/drawingml/2006/main">
            <a:off x="838200" y="2000250"/>
            <a:ext cx="1447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1">
                <a:solidFill>
                  <a:srgbClr val="16B8A6"/>
                </a:solidFill>
                <a:latin typeface="Arial"/>
                <a:ea typeface="Arial"/>
                <a:cs typeface="Arial"/>
              </a:defRPr>
            </a:defPPr>
          </a:lstStyle>
          <a:p xmlns:a="http://schemas.openxmlformats.org/drawingml/2006/main">
            <a:pPr algn="l">
              <a:defRPr sz="1575" b="1">
                <a:solidFill>
                  <a:srgbClr val="16B8A6"/>
                </a:solidFill>
                <a:latin typeface="Arial"/>
                <a:ea typeface="Arial"/>
                <a:cs typeface="Arial"/>
              </a:defRPr>
            </a:pPr>
            <a:r>
              <a:rPr sz="1575" b="1">
                <a:solidFill>
                  <a:srgbClr val="16B8A6"/>
                </a:solidFill>
                <a:latin typeface="Arial"/>
                <a:ea typeface="Arial"/>
                <a:cs typeface="Arial"/>
              </a:rPr>
              <a:t>Sources</a:t>
            </a:r>
          </a:p>
        </p:txBody>
      </p:sp>
      <p:sp>
        <p:nvSpPr>
          <p:cNvPr id="6" name="">
            <a:extLst xmlns:a="http://schemas.openxmlformats.org/drawingml/2006/main">
              <a:ext uri="{FF2B5EF4-FFF2-40B4-BE49-F238E27FC236}">
                <a16:creationId xmlns:a16="http://schemas.microsoft.com/office/drawing/2014/main" id="{EBE8D9A9-C5DD-4744-8B7C-C6EB7B81AC21}"/>
              </a:ext>
            </a:extLst>
          </p:cNvPr>
          <p:cNvSpPr>
            <a:spLocks xmlns:a="http://schemas.openxmlformats.org/drawingml/2006/main" noGrp="1"/>
          </p:cNvSpPr>
          <p:nvPr/>
        </p:nvSpPr>
        <p:spPr>
          <a:xfrm xmlns:a="http://schemas.openxmlformats.org/drawingml/2006/main">
            <a:off x="838200" y="2457450"/>
            <a:ext cx="1447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0">
                <a:solidFill>
                  <a:srgbClr val="1B2430"/>
                </a:solidFill>
                <a:latin typeface="Arial"/>
                <a:ea typeface="Arial"/>
                <a:cs typeface="Arial"/>
              </a:defRPr>
            </a:defPPr>
          </a:lstStyle>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Generated CSV</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API snapshots</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live orders</a:t>
            </a:r>
          </a:p>
        </p:txBody>
      </p:sp>
      <p:sp>
        <p:nvSpPr>
          <p:cNvPr id="7" name="">
            <a:extLst xmlns:a="http://schemas.openxmlformats.org/drawingml/2006/main">
              <a:ext uri="{FF2B5EF4-FFF2-40B4-BE49-F238E27FC236}">
                <a16:creationId xmlns:a16="http://schemas.microsoft.com/office/drawing/2014/main" id="{B1D6DE24-5098-4A30-B965-0AE05626EEB4}"/>
              </a:ext>
            </a:extLst>
          </p:cNvPr>
          <p:cNvSpPr>
            <a:spLocks xmlns:a="http://schemas.openxmlformats.org/drawingml/2006/main" noGrp="1"/>
          </p:cNvSpPr>
          <p:nvPr/>
        </p:nvSpPr>
        <p:spPr>
          <a:xfrm xmlns:a="http://schemas.openxmlformats.org/drawingml/2006/main">
            <a:off x="2505075" y="2647950"/>
            <a:ext cx="428625" cy="381000"/>
          </a:xfrm>
          <a:prstGeom xmlns:a="http://schemas.openxmlformats.org/drawingml/2006/main" prst="rightArrow">
            <a:avLst/>
          </a:prstGeom>
          <a:solidFill xmlns:a="http://schemas.openxmlformats.org/drawingml/2006/main">
            <a:srgbClr val="D5DCE4"/>
          </a:solidFill>
          <a:ln xmlns:a="http://schemas.openxmlformats.org/drawingml/2006/main" w="0">
            <a:solidFill>
              <a:srgbClr val="D5DCE4"/>
            </a:solidFill>
            <a:prstDash val="solid"/>
          </a:ln>
        </p:spPr>
      </p:sp>
      <p:sp>
        <p:nvSpPr>
          <p:cNvPr id="8" name="">
            <a:extLst xmlns:a="http://schemas.openxmlformats.org/drawingml/2006/main">
              <a:ext uri="{FF2B5EF4-FFF2-40B4-BE49-F238E27FC236}">
                <a16:creationId xmlns:a16="http://schemas.microsoft.com/office/drawing/2014/main" id="{5C0AF512-8243-4F2E-9414-96EEA83866EE}"/>
              </a:ext>
            </a:extLst>
          </p:cNvPr>
          <p:cNvSpPr>
            <a:spLocks xmlns:a="http://schemas.openxmlformats.org/drawingml/2006/main" noGrp="1"/>
          </p:cNvSpPr>
          <p:nvPr/>
        </p:nvSpPr>
        <p:spPr>
          <a:xfrm xmlns:a="http://schemas.openxmlformats.org/drawingml/2006/main">
            <a:off x="2838450" y="1809750"/>
            <a:ext cx="1790700" cy="2095500"/>
          </a:xfrm>
          <a:prstGeom xmlns:a="http://schemas.openxmlformats.org/drawingml/2006/main" prst="roundRect">
            <a:avLst>
              <a:gd name="adj" fmla="val 6383"/>
            </a:avLst>
          </a:prstGeom>
          <a:solidFill xmlns:a="http://schemas.openxmlformats.org/drawingml/2006/main">
            <a:srgbClr val="FFF0DB"/>
          </a:solidFill>
          <a:ln xmlns:a="http://schemas.openxmlformats.org/drawingml/2006/main" w="19050">
            <a:solidFill>
              <a:srgbClr val="F2A03D"/>
            </a:solidFill>
            <a:prstDash val="solid"/>
          </a:ln>
        </p:spPr>
      </p:sp>
      <p:sp>
        <p:nvSpPr>
          <p:cNvPr id="9" name="">
            <a:extLst xmlns:a="http://schemas.openxmlformats.org/drawingml/2006/main">
              <a:ext uri="{FF2B5EF4-FFF2-40B4-BE49-F238E27FC236}">
                <a16:creationId xmlns:a16="http://schemas.microsoft.com/office/drawing/2014/main" id="{93A71CA6-C120-462C-B5B7-3ABB45FF18A5}"/>
              </a:ext>
            </a:extLst>
          </p:cNvPr>
          <p:cNvSpPr>
            <a:spLocks xmlns:a="http://schemas.openxmlformats.org/drawingml/2006/main" noGrp="1"/>
          </p:cNvSpPr>
          <p:nvPr/>
        </p:nvSpPr>
        <p:spPr>
          <a:xfrm xmlns:a="http://schemas.openxmlformats.org/drawingml/2006/main">
            <a:off x="3009900" y="2000250"/>
            <a:ext cx="1447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1">
                <a:solidFill>
                  <a:srgbClr val="F2A03D"/>
                </a:solidFill>
                <a:latin typeface="Arial"/>
                <a:ea typeface="Arial"/>
                <a:cs typeface="Arial"/>
              </a:defRPr>
            </a:defPPr>
          </a:lstStyle>
          <a:p xmlns:a="http://schemas.openxmlformats.org/drawingml/2006/main">
            <a:pPr algn="l">
              <a:defRPr sz="1575" b="1">
                <a:solidFill>
                  <a:srgbClr val="F2A03D"/>
                </a:solidFill>
                <a:latin typeface="Arial"/>
                <a:ea typeface="Arial"/>
                <a:cs typeface="Arial"/>
              </a:defRPr>
            </a:pPr>
            <a:r>
              <a:rPr sz="1575" b="1">
                <a:solidFill>
                  <a:srgbClr val="F2A03D"/>
                </a:solidFill>
                <a:latin typeface="Arial"/>
                <a:ea typeface="Arial"/>
                <a:cs typeface="Arial"/>
              </a:rPr>
              <a:t>Capture</a:t>
            </a:r>
          </a:p>
        </p:txBody>
      </p:sp>
      <p:sp>
        <p:nvSpPr>
          <p:cNvPr id="10" name="">
            <a:extLst xmlns:a="http://schemas.openxmlformats.org/drawingml/2006/main">
              <a:ext uri="{FF2B5EF4-FFF2-40B4-BE49-F238E27FC236}">
                <a16:creationId xmlns:a16="http://schemas.microsoft.com/office/drawing/2014/main" id="{5DE5BA83-5F78-4E60-A612-B2F0EC829CD1}"/>
              </a:ext>
            </a:extLst>
          </p:cNvPr>
          <p:cNvSpPr>
            <a:spLocks xmlns:a="http://schemas.openxmlformats.org/drawingml/2006/main" noGrp="1"/>
          </p:cNvSpPr>
          <p:nvPr/>
        </p:nvSpPr>
        <p:spPr>
          <a:xfrm xmlns:a="http://schemas.openxmlformats.org/drawingml/2006/main">
            <a:off x="3009900" y="2457450"/>
            <a:ext cx="1447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0">
                <a:solidFill>
                  <a:srgbClr val="1B2430"/>
                </a:solidFill>
                <a:latin typeface="Arial"/>
                <a:ea typeface="Arial"/>
                <a:cs typeface="Arial"/>
              </a:defRPr>
            </a:defPPr>
          </a:lstStyle>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Python ETL</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FastAPI validation</a:t>
            </a:r>
          </a:p>
        </p:txBody>
      </p:sp>
      <p:sp>
        <p:nvSpPr>
          <p:cNvPr id="11" name="">
            <a:extLst xmlns:a="http://schemas.openxmlformats.org/drawingml/2006/main">
              <a:ext uri="{FF2B5EF4-FFF2-40B4-BE49-F238E27FC236}">
                <a16:creationId xmlns:a16="http://schemas.microsoft.com/office/drawing/2014/main" id="{4D036496-AD98-429A-A3A8-7D69D8A2443D}"/>
              </a:ext>
            </a:extLst>
          </p:cNvPr>
          <p:cNvSpPr>
            <a:spLocks xmlns:a="http://schemas.openxmlformats.org/drawingml/2006/main" noGrp="1"/>
          </p:cNvSpPr>
          <p:nvPr/>
        </p:nvSpPr>
        <p:spPr>
          <a:xfrm xmlns:a="http://schemas.openxmlformats.org/drawingml/2006/main">
            <a:off x="4676775" y="2647950"/>
            <a:ext cx="428625" cy="381000"/>
          </a:xfrm>
          <a:prstGeom xmlns:a="http://schemas.openxmlformats.org/drawingml/2006/main" prst="rightArrow">
            <a:avLst/>
          </a:prstGeom>
          <a:solidFill xmlns:a="http://schemas.openxmlformats.org/drawingml/2006/main">
            <a:srgbClr val="D5DCE4"/>
          </a:solidFill>
          <a:ln xmlns:a="http://schemas.openxmlformats.org/drawingml/2006/main" w="0">
            <a:solidFill>
              <a:srgbClr val="D5DCE4"/>
            </a:solidFill>
            <a:prstDash val="solid"/>
          </a:ln>
        </p:spPr>
      </p:sp>
      <p:sp>
        <p:nvSpPr>
          <p:cNvPr id="12" name="">
            <a:extLst xmlns:a="http://schemas.openxmlformats.org/drawingml/2006/main">
              <a:ext uri="{FF2B5EF4-FFF2-40B4-BE49-F238E27FC236}">
                <a16:creationId xmlns:a16="http://schemas.microsoft.com/office/drawing/2014/main" id="{FC36CCAD-2A3F-4229-A305-06FA16B669CA}"/>
              </a:ext>
            </a:extLst>
          </p:cNvPr>
          <p:cNvSpPr>
            <a:spLocks xmlns:a="http://schemas.openxmlformats.org/drawingml/2006/main" noGrp="1"/>
          </p:cNvSpPr>
          <p:nvPr/>
        </p:nvSpPr>
        <p:spPr>
          <a:xfrm xmlns:a="http://schemas.openxmlformats.org/drawingml/2006/main">
            <a:off x="5010150" y="1809750"/>
            <a:ext cx="1790700" cy="2095500"/>
          </a:xfrm>
          <a:prstGeom xmlns:a="http://schemas.openxmlformats.org/drawingml/2006/main" prst="roundRect">
            <a:avLst>
              <a:gd name="adj" fmla="val 6383"/>
            </a:avLst>
          </a:prstGeom>
          <a:solidFill xmlns:a="http://schemas.openxmlformats.org/drawingml/2006/main">
            <a:srgbClr val="E8EBFA"/>
          </a:solidFill>
          <a:ln xmlns:a="http://schemas.openxmlformats.org/drawingml/2006/main" w="19050">
            <a:solidFill>
              <a:srgbClr val="5267D7"/>
            </a:solidFill>
            <a:prstDash val="solid"/>
          </a:ln>
        </p:spPr>
      </p:sp>
      <p:sp>
        <p:nvSpPr>
          <p:cNvPr id="13" name="">
            <a:extLst xmlns:a="http://schemas.openxmlformats.org/drawingml/2006/main">
              <a:ext uri="{FF2B5EF4-FFF2-40B4-BE49-F238E27FC236}">
                <a16:creationId xmlns:a16="http://schemas.microsoft.com/office/drawing/2014/main" id="{EAE5B098-E77D-4B64-B13D-95E22EFA0710}"/>
              </a:ext>
            </a:extLst>
          </p:cNvPr>
          <p:cNvSpPr>
            <a:spLocks xmlns:a="http://schemas.openxmlformats.org/drawingml/2006/main" noGrp="1"/>
          </p:cNvSpPr>
          <p:nvPr/>
        </p:nvSpPr>
        <p:spPr>
          <a:xfrm xmlns:a="http://schemas.openxmlformats.org/drawingml/2006/main">
            <a:off x="5181600" y="2000250"/>
            <a:ext cx="1447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1">
                <a:solidFill>
                  <a:srgbClr val="5267D7"/>
                </a:solidFill>
                <a:latin typeface="Arial"/>
                <a:ea typeface="Arial"/>
                <a:cs typeface="Arial"/>
              </a:defRPr>
            </a:defPPr>
          </a:lstStyle>
          <a:p xmlns:a="http://schemas.openxmlformats.org/drawingml/2006/main">
            <a:pPr algn="l">
              <a:defRPr sz="1575" b="1">
                <a:solidFill>
                  <a:srgbClr val="5267D7"/>
                </a:solidFill>
                <a:latin typeface="Arial"/>
                <a:ea typeface="Arial"/>
                <a:cs typeface="Arial"/>
              </a:defRPr>
            </a:pPr>
            <a:r>
              <a:rPr sz="1575" b="1">
                <a:solidFill>
                  <a:srgbClr val="5267D7"/>
                </a:solidFill>
                <a:latin typeface="Arial"/>
                <a:ea typeface="Arial"/>
                <a:cs typeface="Arial"/>
              </a:rPr>
              <a:t>Transport</a:t>
            </a:r>
          </a:p>
        </p:txBody>
      </p:sp>
      <p:sp>
        <p:nvSpPr>
          <p:cNvPr id="14" name="">
            <a:extLst xmlns:a="http://schemas.openxmlformats.org/drawingml/2006/main">
              <a:ext uri="{FF2B5EF4-FFF2-40B4-BE49-F238E27FC236}">
                <a16:creationId xmlns:a16="http://schemas.microsoft.com/office/drawing/2014/main" id="{8CD33742-DF5C-4E0F-ACD2-AB4397075173}"/>
              </a:ext>
            </a:extLst>
          </p:cNvPr>
          <p:cNvSpPr>
            <a:spLocks xmlns:a="http://schemas.openxmlformats.org/drawingml/2006/main" noGrp="1"/>
          </p:cNvSpPr>
          <p:nvPr/>
        </p:nvSpPr>
        <p:spPr>
          <a:xfrm xmlns:a="http://schemas.openxmlformats.org/drawingml/2006/main">
            <a:off x="5181600" y="2457450"/>
            <a:ext cx="1447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0">
                <a:solidFill>
                  <a:srgbClr val="1B2430"/>
                </a:solidFill>
                <a:latin typeface="Arial"/>
                <a:ea typeface="Arial"/>
                <a:cs typeface="Arial"/>
              </a:defRPr>
            </a:defPPr>
          </a:lstStyle>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RabbitMQ</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durable queue</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manual ack</a:t>
            </a:r>
          </a:p>
        </p:txBody>
      </p:sp>
      <p:sp>
        <p:nvSpPr>
          <p:cNvPr id="15" name="">
            <a:extLst xmlns:a="http://schemas.openxmlformats.org/drawingml/2006/main">
              <a:ext uri="{FF2B5EF4-FFF2-40B4-BE49-F238E27FC236}">
                <a16:creationId xmlns:a16="http://schemas.microsoft.com/office/drawing/2014/main" id="{F7DC439E-EFAA-4CD2-8009-252AA2B5AF35}"/>
              </a:ext>
            </a:extLst>
          </p:cNvPr>
          <p:cNvSpPr>
            <a:spLocks xmlns:a="http://schemas.openxmlformats.org/drawingml/2006/main" noGrp="1"/>
          </p:cNvSpPr>
          <p:nvPr/>
        </p:nvSpPr>
        <p:spPr>
          <a:xfrm xmlns:a="http://schemas.openxmlformats.org/drawingml/2006/main">
            <a:off x="6848475" y="2647950"/>
            <a:ext cx="428625" cy="381000"/>
          </a:xfrm>
          <a:prstGeom xmlns:a="http://schemas.openxmlformats.org/drawingml/2006/main" prst="rightArrow">
            <a:avLst/>
          </a:prstGeom>
          <a:solidFill xmlns:a="http://schemas.openxmlformats.org/drawingml/2006/main">
            <a:srgbClr val="D5DCE4"/>
          </a:solidFill>
          <a:ln xmlns:a="http://schemas.openxmlformats.org/drawingml/2006/main" w="0">
            <a:solidFill>
              <a:srgbClr val="D5DCE4"/>
            </a:solidFill>
            <a:prstDash val="solid"/>
          </a:ln>
        </p:spPr>
      </p:sp>
      <p:sp>
        <p:nvSpPr>
          <p:cNvPr id="16" name="">
            <a:extLst xmlns:a="http://schemas.openxmlformats.org/drawingml/2006/main">
              <a:ext uri="{FF2B5EF4-FFF2-40B4-BE49-F238E27FC236}">
                <a16:creationId xmlns:a16="http://schemas.microsoft.com/office/drawing/2014/main" id="{26FB6017-FDA9-418A-856A-82DC61B69F95}"/>
              </a:ext>
            </a:extLst>
          </p:cNvPr>
          <p:cNvSpPr>
            <a:spLocks xmlns:a="http://schemas.openxmlformats.org/drawingml/2006/main" noGrp="1"/>
          </p:cNvSpPr>
          <p:nvPr/>
        </p:nvSpPr>
        <p:spPr>
          <a:xfrm xmlns:a="http://schemas.openxmlformats.org/drawingml/2006/main">
            <a:off x="7181850" y="1809750"/>
            <a:ext cx="1790700" cy="2095500"/>
          </a:xfrm>
          <a:prstGeom xmlns:a="http://schemas.openxmlformats.org/drawingml/2006/main" prst="roundRect">
            <a:avLst>
              <a:gd name="adj" fmla="val 6383"/>
            </a:avLst>
          </a:prstGeom>
          <a:solidFill xmlns:a="http://schemas.openxmlformats.org/drawingml/2006/main">
            <a:srgbClr val="DDF6F2"/>
          </a:solidFill>
          <a:ln xmlns:a="http://schemas.openxmlformats.org/drawingml/2006/main" w="19050">
            <a:solidFill>
              <a:srgbClr val="16B8A6"/>
            </a:solidFill>
            <a:prstDash val="solid"/>
          </a:ln>
        </p:spPr>
      </p:sp>
      <p:sp>
        <p:nvSpPr>
          <p:cNvPr id="17" name="">
            <a:extLst xmlns:a="http://schemas.openxmlformats.org/drawingml/2006/main">
              <a:ext uri="{FF2B5EF4-FFF2-40B4-BE49-F238E27FC236}">
                <a16:creationId xmlns:a16="http://schemas.microsoft.com/office/drawing/2014/main" id="{CEA2D9FC-1C57-43B2-972C-4EDF2EF9ED5B}"/>
              </a:ext>
            </a:extLst>
          </p:cNvPr>
          <p:cNvSpPr>
            <a:spLocks xmlns:a="http://schemas.openxmlformats.org/drawingml/2006/main" noGrp="1"/>
          </p:cNvSpPr>
          <p:nvPr/>
        </p:nvSpPr>
        <p:spPr>
          <a:xfrm xmlns:a="http://schemas.openxmlformats.org/drawingml/2006/main">
            <a:off x="7353300" y="2000250"/>
            <a:ext cx="1447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1">
                <a:solidFill>
                  <a:srgbClr val="16B8A6"/>
                </a:solidFill>
                <a:latin typeface="Arial"/>
                <a:ea typeface="Arial"/>
                <a:cs typeface="Arial"/>
              </a:defRPr>
            </a:defPPr>
          </a:lstStyle>
          <a:p xmlns:a="http://schemas.openxmlformats.org/drawingml/2006/main">
            <a:pPr algn="l">
              <a:defRPr sz="1575" b="1">
                <a:solidFill>
                  <a:srgbClr val="16B8A6"/>
                </a:solidFill>
                <a:latin typeface="Arial"/>
                <a:ea typeface="Arial"/>
                <a:cs typeface="Arial"/>
              </a:defRPr>
            </a:pPr>
            <a:r>
              <a:rPr sz="1575" b="1">
                <a:solidFill>
                  <a:srgbClr val="16B8A6"/>
                </a:solidFill>
                <a:latin typeface="Arial"/>
                <a:ea typeface="Arial"/>
                <a:cs typeface="Arial"/>
              </a:rPr>
              <a:t>Model</a:t>
            </a:r>
          </a:p>
        </p:txBody>
      </p:sp>
      <p:sp>
        <p:nvSpPr>
          <p:cNvPr id="18" name="">
            <a:extLst xmlns:a="http://schemas.openxmlformats.org/drawingml/2006/main">
              <a:ext uri="{FF2B5EF4-FFF2-40B4-BE49-F238E27FC236}">
                <a16:creationId xmlns:a16="http://schemas.microsoft.com/office/drawing/2014/main" id="{C4B4C0DA-CFCF-4278-BEB5-DAE9290C1153}"/>
              </a:ext>
            </a:extLst>
          </p:cNvPr>
          <p:cNvSpPr>
            <a:spLocks xmlns:a="http://schemas.openxmlformats.org/drawingml/2006/main" noGrp="1"/>
          </p:cNvSpPr>
          <p:nvPr/>
        </p:nvSpPr>
        <p:spPr>
          <a:xfrm xmlns:a="http://schemas.openxmlformats.org/drawingml/2006/main">
            <a:off x="7353300" y="2457450"/>
            <a:ext cx="1447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0">
                <a:solidFill>
                  <a:srgbClr val="1B2430"/>
                </a:solidFill>
                <a:latin typeface="Arial"/>
                <a:ea typeface="Arial"/>
                <a:cs typeface="Arial"/>
              </a:defRPr>
            </a:defPPr>
          </a:lstStyle>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DuckDB star schema</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stream staging</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KPI views</a:t>
            </a:r>
          </a:p>
        </p:txBody>
      </p:sp>
      <p:sp>
        <p:nvSpPr>
          <p:cNvPr id="19" name="">
            <a:extLst xmlns:a="http://schemas.openxmlformats.org/drawingml/2006/main">
              <a:ext uri="{FF2B5EF4-FFF2-40B4-BE49-F238E27FC236}">
                <a16:creationId xmlns:a16="http://schemas.microsoft.com/office/drawing/2014/main" id="{28965F68-3099-4C18-806D-8FA0455DB462}"/>
              </a:ext>
            </a:extLst>
          </p:cNvPr>
          <p:cNvSpPr>
            <a:spLocks xmlns:a="http://schemas.openxmlformats.org/drawingml/2006/main" noGrp="1"/>
          </p:cNvSpPr>
          <p:nvPr/>
        </p:nvSpPr>
        <p:spPr>
          <a:xfrm xmlns:a="http://schemas.openxmlformats.org/drawingml/2006/main">
            <a:off x="9020175" y="2647950"/>
            <a:ext cx="428625" cy="381000"/>
          </a:xfrm>
          <a:prstGeom xmlns:a="http://schemas.openxmlformats.org/drawingml/2006/main" prst="rightArrow">
            <a:avLst/>
          </a:prstGeom>
          <a:solidFill xmlns:a="http://schemas.openxmlformats.org/drawingml/2006/main">
            <a:srgbClr val="D5DCE4"/>
          </a:solidFill>
          <a:ln xmlns:a="http://schemas.openxmlformats.org/drawingml/2006/main" w="0">
            <a:solidFill>
              <a:srgbClr val="D5DCE4"/>
            </a:solidFill>
            <a:prstDash val="solid"/>
          </a:ln>
        </p:spPr>
      </p:sp>
      <p:sp>
        <p:nvSpPr>
          <p:cNvPr id="20" name="">
            <a:extLst xmlns:a="http://schemas.openxmlformats.org/drawingml/2006/main">
              <a:ext uri="{FF2B5EF4-FFF2-40B4-BE49-F238E27FC236}">
                <a16:creationId xmlns:a16="http://schemas.microsoft.com/office/drawing/2014/main" id="{04990C3B-CA75-4AFB-ACC7-F89515F1F6D1}"/>
              </a:ext>
            </a:extLst>
          </p:cNvPr>
          <p:cNvSpPr>
            <a:spLocks xmlns:a="http://schemas.openxmlformats.org/drawingml/2006/main" noGrp="1"/>
          </p:cNvSpPr>
          <p:nvPr/>
        </p:nvSpPr>
        <p:spPr>
          <a:xfrm xmlns:a="http://schemas.openxmlformats.org/drawingml/2006/main">
            <a:off x="9353550" y="1809750"/>
            <a:ext cx="1790700" cy="2095500"/>
          </a:xfrm>
          <a:prstGeom xmlns:a="http://schemas.openxmlformats.org/drawingml/2006/main" prst="roundRect">
            <a:avLst>
              <a:gd name="adj" fmla="val 6383"/>
            </a:avLst>
          </a:prstGeom>
          <a:solidFill xmlns:a="http://schemas.openxmlformats.org/drawingml/2006/main">
            <a:srgbClr val="FBE5E8"/>
          </a:solidFill>
          <a:ln xmlns:a="http://schemas.openxmlformats.org/drawingml/2006/main" w="19050">
            <a:solidFill>
              <a:srgbClr val="E65B65"/>
            </a:solidFill>
            <a:prstDash val="solid"/>
          </a:ln>
        </p:spPr>
      </p:sp>
      <p:sp>
        <p:nvSpPr>
          <p:cNvPr id="21" name="">
            <a:extLst xmlns:a="http://schemas.openxmlformats.org/drawingml/2006/main">
              <a:ext uri="{FF2B5EF4-FFF2-40B4-BE49-F238E27FC236}">
                <a16:creationId xmlns:a16="http://schemas.microsoft.com/office/drawing/2014/main" id="{A092CD8C-0DF3-460F-99EF-F587CE9E4015}"/>
              </a:ext>
            </a:extLst>
          </p:cNvPr>
          <p:cNvSpPr>
            <a:spLocks xmlns:a="http://schemas.openxmlformats.org/drawingml/2006/main" noGrp="1"/>
          </p:cNvSpPr>
          <p:nvPr/>
        </p:nvSpPr>
        <p:spPr>
          <a:xfrm xmlns:a="http://schemas.openxmlformats.org/drawingml/2006/main">
            <a:off x="9525000" y="2000250"/>
            <a:ext cx="1447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75" b="1">
                <a:solidFill>
                  <a:srgbClr val="E65B65"/>
                </a:solidFill>
                <a:latin typeface="Arial"/>
                <a:ea typeface="Arial"/>
                <a:cs typeface="Arial"/>
              </a:defRPr>
            </a:defPPr>
          </a:lstStyle>
          <a:p xmlns:a="http://schemas.openxmlformats.org/drawingml/2006/main">
            <a:pPr algn="l">
              <a:defRPr sz="1575" b="1">
                <a:solidFill>
                  <a:srgbClr val="E65B65"/>
                </a:solidFill>
                <a:latin typeface="Arial"/>
                <a:ea typeface="Arial"/>
                <a:cs typeface="Arial"/>
              </a:defRPr>
            </a:pPr>
            <a:r>
              <a:rPr sz="1575" b="1">
                <a:solidFill>
                  <a:srgbClr val="E65B65"/>
                </a:solidFill>
                <a:latin typeface="Arial"/>
                <a:ea typeface="Arial"/>
                <a:cs typeface="Arial"/>
              </a:rPr>
              <a:t>Serve</a:t>
            </a:r>
          </a:p>
        </p:txBody>
      </p:sp>
      <p:sp>
        <p:nvSpPr>
          <p:cNvPr id="22" name="">
            <a:extLst xmlns:a="http://schemas.openxmlformats.org/drawingml/2006/main">
              <a:ext uri="{FF2B5EF4-FFF2-40B4-BE49-F238E27FC236}">
                <a16:creationId xmlns:a16="http://schemas.microsoft.com/office/drawing/2014/main" id="{BF98FA7B-3814-4B2E-850E-3E9DB82D3C25}"/>
              </a:ext>
            </a:extLst>
          </p:cNvPr>
          <p:cNvSpPr>
            <a:spLocks xmlns:a="http://schemas.openxmlformats.org/drawingml/2006/main" noGrp="1"/>
          </p:cNvSpPr>
          <p:nvPr/>
        </p:nvSpPr>
        <p:spPr>
          <a:xfrm xmlns:a="http://schemas.openxmlformats.org/drawingml/2006/main">
            <a:off x="9525000" y="2457450"/>
            <a:ext cx="14478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0">
                <a:solidFill>
                  <a:srgbClr val="1B2430"/>
                </a:solidFill>
                <a:latin typeface="Arial"/>
                <a:ea typeface="Arial"/>
                <a:cs typeface="Arial"/>
              </a:defRPr>
            </a:defPPr>
          </a:lstStyle>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Parquet</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Streamlit</a:t>
            </a:r>
          </a:p>
          <a:p xmlns:a="http://schemas.openxmlformats.org/drawingml/2006/main">
            <a:pPr algn="ctr">
              <a:defRPr sz="1350" b="0">
                <a:solidFill>
                  <a:srgbClr val="1B2430"/>
                </a:solidFill>
                <a:latin typeface="Arial"/>
                <a:ea typeface="Arial"/>
                <a:cs typeface="Arial"/>
              </a:defRPr>
            </a:pPr>
            <a:r>
              <a:rPr sz="1350" b="0">
                <a:solidFill>
                  <a:srgbClr val="1B2430"/>
                </a:solidFill>
                <a:latin typeface="Arial"/>
                <a:ea typeface="Arial"/>
                <a:cs typeface="Arial"/>
              </a:rPr>
              <a:t>Kubernetes</a:t>
            </a:r>
          </a:p>
        </p:txBody>
      </p:sp>
      <p:sp>
        <p:nvSpPr>
          <p:cNvPr id="23" name="">
            <a:extLst xmlns:a="http://schemas.openxmlformats.org/drawingml/2006/main">
              <a:ext uri="{FF2B5EF4-FFF2-40B4-BE49-F238E27FC236}">
                <a16:creationId xmlns:a16="http://schemas.microsoft.com/office/drawing/2014/main" id="{8447D273-CF1D-469E-871F-A5A4C1555F3E}"/>
              </a:ext>
            </a:extLst>
          </p:cNvPr>
          <p:cNvSpPr>
            <a:spLocks xmlns:a="http://schemas.openxmlformats.org/drawingml/2006/main" noGrp="1"/>
          </p:cNvSpPr>
          <p:nvPr/>
        </p:nvSpPr>
        <p:spPr>
          <a:xfrm xmlns:a="http://schemas.openxmlformats.org/drawingml/2006/main">
            <a:off x="685800" y="44958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650" b="1">
                <a:solidFill>
                  <a:srgbClr val="10131B"/>
                </a:solidFill>
                <a:latin typeface="Arial"/>
                <a:ea typeface="Arial"/>
                <a:cs typeface="Arial"/>
              </a:defRPr>
            </a:defPPr>
          </a:lstStyle>
          <a:p xmlns:a="http://schemas.openxmlformats.org/drawingml/2006/main">
            <a:pPr algn="l">
              <a:defRPr sz="1650" b="1">
                <a:solidFill>
                  <a:srgbClr val="10131B"/>
                </a:solidFill>
                <a:latin typeface="Arial"/>
                <a:ea typeface="Arial"/>
                <a:cs typeface="Arial"/>
              </a:defRPr>
            </a:pPr>
            <a:r>
              <a:rPr sz="1650" b="1">
                <a:solidFill>
                  <a:srgbClr val="10131B"/>
                </a:solidFill>
                <a:latin typeface="Arial"/>
                <a:ea typeface="Arial"/>
                <a:cs typeface="Arial"/>
              </a:rPr>
              <a:t>Persistent evidence</a:t>
            </a:r>
          </a:p>
        </p:txBody>
      </p:sp>
      <p:sp>
        <p:nvSpPr>
          <p:cNvPr id="24" name="">
            <a:extLst xmlns:a="http://schemas.openxmlformats.org/drawingml/2006/main">
              <a:ext uri="{FF2B5EF4-FFF2-40B4-BE49-F238E27FC236}">
                <a16:creationId xmlns:a16="http://schemas.microsoft.com/office/drawing/2014/main" id="{E81F59DD-1F0D-4963-9FBC-B4BD9EBCDFFE}"/>
              </a:ext>
            </a:extLst>
          </p:cNvPr>
          <p:cNvSpPr>
            <a:spLocks xmlns:a="http://schemas.openxmlformats.org/drawingml/2006/main" noGrp="1"/>
          </p:cNvSpPr>
          <p:nvPr/>
        </p:nvSpPr>
        <p:spPr>
          <a:xfrm xmlns:a="http://schemas.openxmlformats.org/drawingml/2006/main">
            <a:off x="685800" y="4953000"/>
            <a:ext cx="2238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data_quality.json</a:t>
            </a:r>
          </a:p>
        </p:txBody>
      </p:sp>
      <p:sp>
        <p:nvSpPr>
          <p:cNvPr id="25" name="">
            <a:extLst xmlns:a="http://schemas.openxmlformats.org/drawingml/2006/main">
              <a:ext uri="{FF2B5EF4-FFF2-40B4-BE49-F238E27FC236}">
                <a16:creationId xmlns:a16="http://schemas.microsoft.com/office/drawing/2014/main" id="{DBB5B48C-927E-4606-8598-EBCC1090B332}"/>
              </a:ext>
            </a:extLst>
          </p:cNvPr>
          <p:cNvSpPr>
            <a:spLocks xmlns:a="http://schemas.openxmlformats.org/drawingml/2006/main" noGrp="1"/>
          </p:cNvSpPr>
          <p:nvPr/>
        </p:nvSpPr>
        <p:spPr>
          <a:xfrm xmlns:a="http://schemas.openxmlformats.org/drawingml/2006/main">
            <a:off x="3048000" y="4953000"/>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EXPLAIN ANALYZE plans</a:t>
            </a:r>
          </a:p>
        </p:txBody>
      </p:sp>
      <p:sp>
        <p:nvSpPr>
          <p:cNvPr id="26" name="">
            <a:extLst xmlns:a="http://schemas.openxmlformats.org/drawingml/2006/main">
              <a:ext uri="{FF2B5EF4-FFF2-40B4-BE49-F238E27FC236}">
                <a16:creationId xmlns:a16="http://schemas.microsoft.com/office/drawing/2014/main" id="{3D02BCE9-20C5-4FE4-9C92-A597D780D06E}"/>
              </a:ext>
            </a:extLst>
          </p:cNvPr>
          <p:cNvSpPr>
            <a:spLocks xmlns:a="http://schemas.openxmlformats.org/drawingml/2006/main" noGrp="1"/>
          </p:cNvSpPr>
          <p:nvPr/>
        </p:nvSpPr>
        <p:spPr>
          <a:xfrm xmlns:a="http://schemas.openxmlformats.org/drawingml/2006/main">
            <a:off x="5667375" y="495300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benchmark results</a:t>
            </a:r>
          </a:p>
        </p:txBody>
      </p:sp>
      <p:sp>
        <p:nvSpPr>
          <p:cNvPr id="27" name="">
            <a:extLst xmlns:a="http://schemas.openxmlformats.org/drawingml/2006/main">
              <a:ext uri="{FF2B5EF4-FFF2-40B4-BE49-F238E27FC236}">
                <a16:creationId xmlns:a16="http://schemas.microsoft.com/office/drawing/2014/main" id="{D422936B-C316-43C9-980F-3852ACC3F3D0}"/>
              </a:ext>
            </a:extLst>
          </p:cNvPr>
          <p:cNvSpPr>
            <a:spLocks xmlns:a="http://schemas.openxmlformats.org/drawingml/2006/main" noGrp="1"/>
          </p:cNvSpPr>
          <p:nvPr/>
        </p:nvSpPr>
        <p:spPr>
          <a:xfrm xmlns:a="http://schemas.openxmlformats.org/drawingml/2006/main">
            <a:off x="7858125" y="495300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dashboard capture</a:t>
            </a:r>
          </a:p>
        </p:txBody>
      </p:sp>
      <p:sp>
        <p:nvSpPr>
          <p:cNvPr id="28" name="">
            <a:extLst xmlns:a="http://schemas.openxmlformats.org/drawingml/2006/main">
              <a:ext uri="{FF2B5EF4-FFF2-40B4-BE49-F238E27FC236}">
                <a16:creationId xmlns:a16="http://schemas.microsoft.com/office/drawing/2014/main" id="{13B3C52F-DB54-457E-8287-554E795EE176}"/>
              </a:ext>
            </a:extLst>
          </p:cNvPr>
          <p:cNvSpPr>
            <a:spLocks xmlns:a="http://schemas.openxmlformats.org/drawingml/2006/main" noGrp="1"/>
          </p:cNvSpPr>
          <p:nvPr/>
        </p:nvSpPr>
        <p:spPr>
          <a:xfrm xmlns:a="http://schemas.openxmlformats.org/drawingml/2006/main">
            <a:off x="9696450" y="4953000"/>
            <a:ext cx="1733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stream validation</a:t>
            </a:r>
          </a:p>
        </p:txBody>
      </p:sp>
      <p:sp>
        <p:nvSpPr>
          <p:cNvPr id="29" name="">
            <a:extLst xmlns:a="http://schemas.openxmlformats.org/drawingml/2006/main">
              <a:ext uri="{FF2B5EF4-FFF2-40B4-BE49-F238E27FC236}">
                <a16:creationId xmlns:a16="http://schemas.microsoft.com/office/drawing/2014/main" id="{5FDBEDF8-AEA0-4147-8E67-493E823E543D}"/>
              </a:ext>
            </a:extLst>
          </p:cNvPr>
          <p:cNvSpPr>
            <a:spLocks xmlns:a="http://schemas.openxmlformats.org/drawingml/2006/main" noGrp="1"/>
          </p:cNvSpPr>
          <p:nvPr/>
        </p:nvSpPr>
        <p:spPr>
          <a:xfrm xmlns:a="http://schemas.openxmlformats.org/drawingml/2006/main">
            <a:off x="685800" y="6457950"/>
            <a:ext cx="10820400" cy="9525"/>
          </a:xfrm>
          <a:prstGeom xmlns:a="http://schemas.openxmlformats.org/drawingml/2006/main" prst="rect">
            <a:avLst/>
          </a:prstGeom>
          <a:solidFill xmlns:a="http://schemas.openxmlformats.org/drawingml/2006/main">
            <a:srgbClr val="D5DCE4"/>
          </a:solidFill>
          <a:ln xmlns:a="http://schemas.openxmlformats.org/drawingml/2006/main" w="0">
            <a:solidFill>
              <a:srgbClr val="D5DCE4"/>
            </a:solidFill>
            <a:prstDash val="solid"/>
          </a:ln>
        </p:spPr>
      </p:sp>
      <p:sp>
        <p:nvSpPr>
          <p:cNvPr id="30" name="">
            <a:extLst xmlns:a="http://schemas.openxmlformats.org/drawingml/2006/main">
              <a:ext uri="{FF2B5EF4-FFF2-40B4-BE49-F238E27FC236}">
                <a16:creationId xmlns:a16="http://schemas.microsoft.com/office/drawing/2014/main" id="{C9FF781B-7C22-4FD7-821C-AC3EBF11177B}"/>
              </a:ext>
            </a:extLst>
          </p:cNvPr>
          <p:cNvSpPr>
            <a:spLocks xmlns:a="http://schemas.openxmlformats.org/drawingml/2006/main" noGrp="1"/>
          </p:cNvSpPr>
          <p:nvPr/>
        </p:nvSpPr>
        <p:spPr>
          <a:xfrm xmlns:a="http://schemas.openxmlformats.org/drawingml/2006/main">
            <a:off x="685800" y="6524625"/>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825" b="0">
                <a:solidFill>
                  <a:srgbClr val="667180"/>
                </a:solidFill>
                <a:latin typeface="Arial"/>
                <a:ea typeface="Arial"/>
                <a:cs typeface="Arial"/>
              </a:defRPr>
            </a:defPPr>
          </a:lstStyle>
          <a:p xmlns:a="http://schemas.openxmlformats.org/drawingml/2006/main">
            <a:pPr algn="l">
              <a:defRPr sz="825" b="0">
                <a:solidFill>
                  <a:srgbClr val="667180"/>
                </a:solidFill>
                <a:latin typeface="Arial"/>
                <a:ea typeface="Arial"/>
                <a:cs typeface="Arial"/>
              </a:defRPr>
            </a:pPr>
            <a:r>
              <a:rPr sz="825" b="0">
                <a:solidFill>
                  <a:srgbClr val="667180"/>
                </a:solidFill>
                <a:latin typeface="Arial"/>
                <a:ea typeface="Arial"/>
                <a:cs typeface="Arial"/>
              </a:rPr>
              <a:t>E-Commerce Sales Analytics using DuckDB</a:t>
            </a:r>
          </a:p>
        </p:txBody>
      </p:sp>
      <p:sp>
        <p:nvSpPr>
          <p:cNvPr id="31" name="">
            <a:extLst xmlns:a="http://schemas.openxmlformats.org/drawingml/2006/main">
              <a:ext uri="{FF2B5EF4-FFF2-40B4-BE49-F238E27FC236}">
                <a16:creationId xmlns:a16="http://schemas.microsoft.com/office/drawing/2014/main" id="{993F8E9D-869B-4379-88D9-847042F9D413}"/>
              </a:ext>
            </a:extLst>
          </p:cNvPr>
          <p:cNvSpPr>
            <a:spLocks xmlns:a="http://schemas.openxmlformats.org/drawingml/2006/main" noGrp="1"/>
          </p:cNvSpPr>
          <p:nvPr/>
        </p:nvSpPr>
        <p:spPr>
          <a:xfrm xmlns:a="http://schemas.openxmlformats.org/drawingml/2006/main">
            <a:off x="7143750" y="6524625"/>
            <a:ext cx="436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825" b="0">
                <a:solidFill>
                  <a:srgbClr val="667180"/>
                </a:solidFill>
                <a:latin typeface="Arial"/>
                <a:ea typeface="Arial"/>
                <a:cs typeface="Arial"/>
              </a:defRPr>
            </a:defPPr>
          </a:lstStyle>
          <a:p xmlns:a="http://schemas.openxmlformats.org/drawingml/2006/main">
            <a:pPr algn="r">
              <a:defRPr sz="825" b="0">
                <a:solidFill>
                  <a:srgbClr val="667180"/>
                </a:solidFill>
                <a:latin typeface="Arial"/>
                <a:ea typeface="Arial"/>
                <a:cs typeface="Arial"/>
              </a:defRPr>
            </a:pPr>
            <a:r>
              <a:rPr sz="825" b="0">
                <a:solidFill>
                  <a:srgbClr val="667180"/>
                </a:solidFill>
                <a:latin typeface="Arial"/>
                <a:ea typeface="Arial"/>
                <a:cs typeface="Arial"/>
              </a:rPr>
              <a:t>DuckDB  |  FastAPI  |  RabbitMQ  |  Streamlit</a:t>
            </a:r>
          </a:p>
        </p:txBody>
      </p:sp>
    </p:spTree>
    <p:extLst>
      <p:ext uri="{BB962C8B-B14F-4D97-AF65-F5344CB8AC3E}">
        <p14:creationId xmlns:p14="http://schemas.microsoft.com/office/powerpoint/2010/main" val="212588600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24DA86B0-25BB-46B5-8960-172A69A2A785}"/>
              </a:ext>
            </a:extLst>
          </p:cNvPr>
          <p:cNvSpPr>
            <a:spLocks xmlns:a="http://schemas.openxmlformats.org/drawingml/2006/main" noGrp="1"/>
          </p:cNvSpPr>
          <p:nvPr/>
        </p:nvSpPr>
        <p:spPr>
          <a:xfrm xmlns:a="http://schemas.openxmlformats.org/drawingml/2006/main">
            <a:off x="68580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16B8A6"/>
                </a:solidFill>
                <a:latin typeface="Arial"/>
                <a:ea typeface="Arial"/>
                <a:cs typeface="Arial"/>
              </a:defRPr>
            </a:defPPr>
          </a:lstStyle>
          <a:p xmlns:a="http://schemas.openxmlformats.org/drawingml/2006/main">
            <a:pPr algn="l">
              <a:defRPr sz="975" b="1">
                <a:solidFill>
                  <a:srgbClr val="16B8A6"/>
                </a:solidFill>
                <a:latin typeface="Arial"/>
                <a:ea typeface="Arial"/>
                <a:cs typeface="Arial"/>
              </a:defRPr>
            </a:pPr>
            <a:r>
              <a:rPr sz="975" b="1">
                <a:solidFill>
                  <a:srgbClr val="16B8A6"/>
                </a:solidFill>
                <a:latin typeface="Arial"/>
                <a:ea typeface="Arial"/>
                <a:cs typeface="Arial"/>
              </a:rPr>
              <a:t>MODELING</a:t>
            </a:r>
          </a:p>
        </p:txBody>
      </p:sp>
      <p:sp>
        <p:nvSpPr>
          <p:cNvPr id="2" name="">
            <a:extLst xmlns:a="http://schemas.openxmlformats.org/drawingml/2006/main">
              <a:ext uri="{FF2B5EF4-FFF2-40B4-BE49-F238E27FC236}">
                <a16:creationId xmlns:a16="http://schemas.microsoft.com/office/drawing/2014/main" id="{54961C3A-DB5E-45BE-BFA5-201BC9AA5072}"/>
              </a:ext>
            </a:extLst>
          </p:cNvPr>
          <p:cNvSpPr>
            <a:spLocks xmlns:a="http://schemas.openxmlformats.org/drawingml/2006/main" noGrp="1"/>
          </p:cNvSpPr>
          <p:nvPr/>
        </p:nvSpPr>
        <p:spPr>
          <a:xfrm xmlns:a="http://schemas.openxmlformats.org/drawingml/2006/main">
            <a:off x="685800" y="6096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0131B"/>
                </a:solidFill>
                <a:latin typeface="Arial"/>
                <a:ea typeface="Arial"/>
                <a:cs typeface="Arial"/>
              </a:defRPr>
            </a:defPPr>
          </a:lstStyle>
          <a:p xmlns:a="http://schemas.openxmlformats.org/drawingml/2006/main">
            <a:pPr algn="l">
              <a:defRPr sz="2700" b="1">
                <a:solidFill>
                  <a:srgbClr val="10131B"/>
                </a:solidFill>
                <a:latin typeface="Arial"/>
                <a:ea typeface="Arial"/>
                <a:cs typeface="Arial"/>
              </a:defRPr>
            </a:pPr>
            <a:r>
              <a:rPr sz="2700" b="1">
                <a:solidFill>
                  <a:srgbClr val="10131B"/>
                </a:solidFill>
                <a:latin typeface="Arial"/>
                <a:ea typeface="Arial"/>
                <a:cs typeface="Arial"/>
              </a:rPr>
              <a:t>Data quality and star schema</a:t>
            </a:r>
          </a:p>
        </p:txBody>
      </p:sp>
      <p:sp>
        <p:nvSpPr>
          <p:cNvPr id="3" name="">
            <a:extLst xmlns:a="http://schemas.openxmlformats.org/drawingml/2006/main">
              <a:ext uri="{FF2B5EF4-FFF2-40B4-BE49-F238E27FC236}">
                <a16:creationId xmlns:a16="http://schemas.microsoft.com/office/drawing/2014/main" id="{C33B700A-5B6E-4080-ABAD-60C9E99CD48B}"/>
              </a:ext>
            </a:extLst>
          </p:cNvPr>
          <p:cNvSpPr>
            <a:spLocks xmlns:a="http://schemas.openxmlformats.org/drawingml/2006/main" noGrp="1"/>
          </p:cNvSpPr>
          <p:nvPr/>
        </p:nvSpPr>
        <p:spPr>
          <a:xfrm xmlns:a="http://schemas.openxmlformats.org/drawingml/2006/main">
            <a:off x="11068050" y="4191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125" b="1">
                <a:solidFill>
                  <a:srgbClr val="667180"/>
                </a:solidFill>
                <a:latin typeface="Arial"/>
                <a:ea typeface="Arial"/>
                <a:cs typeface="Arial"/>
              </a:defRPr>
            </a:defPPr>
          </a:lstStyle>
          <a:p xmlns:a="http://schemas.openxmlformats.org/drawingml/2006/main">
            <a:pPr algn="r">
              <a:defRPr sz="1125" b="1">
                <a:solidFill>
                  <a:srgbClr val="667180"/>
                </a:solidFill>
                <a:latin typeface="Arial"/>
                <a:ea typeface="Arial"/>
                <a:cs typeface="Arial"/>
              </a:defRPr>
            </a:pPr>
            <a:r>
              <a:rPr sz="1125" b="1">
                <a:solidFill>
                  <a:srgbClr val="667180"/>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710C639C-8542-4F55-A296-8774160C7D4A}"/>
              </a:ext>
            </a:extLst>
          </p:cNvPr>
          <p:cNvSpPr>
            <a:spLocks xmlns:a="http://schemas.openxmlformats.org/drawingml/2006/main" noGrp="1"/>
          </p:cNvSpPr>
          <p:nvPr/>
        </p:nvSpPr>
        <p:spPr>
          <a:xfrm xmlns:a="http://schemas.openxmlformats.org/drawingml/2006/main">
            <a:off x="685800" y="1476375"/>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0131B"/>
                </a:solidFill>
                <a:latin typeface="Arial"/>
                <a:ea typeface="Arial"/>
                <a:cs typeface="Arial"/>
              </a:defRPr>
            </a:defPPr>
          </a:lstStyle>
          <a:p xmlns:a="http://schemas.openxmlformats.org/drawingml/2006/main">
            <a:pPr algn="l">
              <a:defRPr sz="2700" b="1">
                <a:solidFill>
                  <a:srgbClr val="10131B"/>
                </a:solidFill>
                <a:latin typeface="Arial"/>
                <a:ea typeface="Arial"/>
                <a:cs typeface="Arial"/>
              </a:defRPr>
            </a:pPr>
            <a:r>
              <a:rPr sz="2700" b="1">
                <a:solidFill>
                  <a:srgbClr val="10131B"/>
                </a:solidFill>
                <a:latin typeface="Arial"/>
                <a:ea typeface="Arial"/>
                <a:cs typeface="Arial"/>
              </a:rPr>
              <a:t>250,250</a:t>
            </a:r>
          </a:p>
        </p:txBody>
      </p:sp>
      <p:sp>
        <p:nvSpPr>
          <p:cNvPr id="5" name="">
            <a:extLst xmlns:a="http://schemas.openxmlformats.org/drawingml/2006/main">
              <a:ext uri="{FF2B5EF4-FFF2-40B4-BE49-F238E27FC236}">
                <a16:creationId xmlns:a16="http://schemas.microsoft.com/office/drawing/2014/main" id="{BD154850-5B03-43BE-8461-50A8F2443E74}"/>
              </a:ext>
            </a:extLst>
          </p:cNvPr>
          <p:cNvSpPr>
            <a:spLocks xmlns:a="http://schemas.openxmlformats.org/drawingml/2006/main" noGrp="1"/>
          </p:cNvSpPr>
          <p:nvPr/>
        </p:nvSpPr>
        <p:spPr>
          <a:xfrm xmlns:a="http://schemas.openxmlformats.org/drawingml/2006/main">
            <a:off x="685800" y="19240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667180"/>
                </a:solidFill>
                <a:latin typeface="Arial"/>
                <a:ea typeface="Arial"/>
                <a:cs typeface="Arial"/>
              </a:defRPr>
            </a:defPPr>
          </a:lstStyle>
          <a:p xmlns:a="http://schemas.openxmlformats.org/drawingml/2006/main">
            <a:pPr algn="l">
              <a:defRPr sz="1200" b="0">
                <a:solidFill>
                  <a:srgbClr val="667180"/>
                </a:solidFill>
                <a:latin typeface="Arial"/>
                <a:ea typeface="Arial"/>
                <a:cs typeface="Arial"/>
              </a:defRPr>
            </a:pPr>
            <a:r>
              <a:rPr sz="1200" b="0">
                <a:solidFill>
                  <a:srgbClr val="667180"/>
                </a:solidFill>
                <a:latin typeface="Arial"/>
                <a:ea typeface="Arial"/>
                <a:cs typeface="Arial"/>
              </a:rPr>
              <a:t>raw rows</a:t>
            </a:r>
          </a:p>
        </p:txBody>
      </p:sp>
      <p:sp>
        <p:nvSpPr>
          <p:cNvPr id="6" name="">
            <a:extLst xmlns:a="http://schemas.openxmlformats.org/drawingml/2006/main">
              <a:ext uri="{FF2B5EF4-FFF2-40B4-BE49-F238E27FC236}">
                <a16:creationId xmlns:a16="http://schemas.microsoft.com/office/drawing/2014/main" id="{9341B435-4B45-47BA-AC75-7AA8821E011A}"/>
              </a:ext>
            </a:extLst>
          </p:cNvPr>
          <p:cNvSpPr>
            <a:spLocks xmlns:a="http://schemas.openxmlformats.org/drawingml/2006/main" noGrp="1"/>
          </p:cNvSpPr>
          <p:nvPr/>
        </p:nvSpPr>
        <p:spPr>
          <a:xfrm xmlns:a="http://schemas.openxmlformats.org/drawingml/2006/main">
            <a:off x="2762250" y="1476375"/>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E65B65"/>
                </a:solidFill>
                <a:latin typeface="Arial"/>
                <a:ea typeface="Arial"/>
                <a:cs typeface="Arial"/>
              </a:defRPr>
            </a:defPPr>
          </a:lstStyle>
          <a:p xmlns:a="http://schemas.openxmlformats.org/drawingml/2006/main">
            <a:pPr algn="l">
              <a:defRPr sz="2700" b="1">
                <a:solidFill>
                  <a:srgbClr val="E65B65"/>
                </a:solidFill>
                <a:latin typeface="Arial"/>
                <a:ea typeface="Arial"/>
                <a:cs typeface="Arial"/>
              </a:defRPr>
            </a:pPr>
            <a:r>
              <a:rPr sz="2700" b="1">
                <a:solidFill>
                  <a:srgbClr val="E65B65"/>
                </a:solidFill>
                <a:latin typeface="Arial"/>
                <a:ea typeface="Arial"/>
                <a:cs typeface="Arial"/>
              </a:rPr>
              <a:t>1,445</a:t>
            </a:r>
          </a:p>
        </p:txBody>
      </p:sp>
      <p:sp>
        <p:nvSpPr>
          <p:cNvPr id="7" name="">
            <a:extLst xmlns:a="http://schemas.openxmlformats.org/drawingml/2006/main">
              <a:ext uri="{FF2B5EF4-FFF2-40B4-BE49-F238E27FC236}">
                <a16:creationId xmlns:a16="http://schemas.microsoft.com/office/drawing/2014/main" id="{31AEB816-59DC-4CD1-A5B1-28E04D1D68DB}"/>
              </a:ext>
            </a:extLst>
          </p:cNvPr>
          <p:cNvSpPr>
            <a:spLocks xmlns:a="http://schemas.openxmlformats.org/drawingml/2006/main" noGrp="1"/>
          </p:cNvSpPr>
          <p:nvPr/>
        </p:nvSpPr>
        <p:spPr>
          <a:xfrm xmlns:a="http://schemas.openxmlformats.org/drawingml/2006/main">
            <a:off x="2762250" y="19240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667180"/>
                </a:solidFill>
                <a:latin typeface="Arial"/>
                <a:ea typeface="Arial"/>
                <a:cs typeface="Arial"/>
              </a:defRPr>
            </a:defPPr>
          </a:lstStyle>
          <a:p xmlns:a="http://schemas.openxmlformats.org/drawingml/2006/main">
            <a:pPr algn="l">
              <a:defRPr sz="1200" b="0">
                <a:solidFill>
                  <a:srgbClr val="667180"/>
                </a:solidFill>
                <a:latin typeface="Arial"/>
                <a:ea typeface="Arial"/>
                <a:cs typeface="Arial"/>
              </a:defRPr>
            </a:pPr>
            <a:r>
              <a:rPr sz="1200" b="0">
                <a:solidFill>
                  <a:srgbClr val="667180"/>
                </a:solidFill>
                <a:latin typeface="Arial"/>
                <a:ea typeface="Arial"/>
                <a:cs typeface="Arial"/>
              </a:rPr>
              <a:t>rejected with reasons</a:t>
            </a:r>
          </a:p>
        </p:txBody>
      </p:sp>
      <p:sp>
        <p:nvSpPr>
          <p:cNvPr id="8" name="">
            <a:extLst xmlns:a="http://schemas.openxmlformats.org/drawingml/2006/main">
              <a:ext uri="{FF2B5EF4-FFF2-40B4-BE49-F238E27FC236}">
                <a16:creationId xmlns:a16="http://schemas.microsoft.com/office/drawing/2014/main" id="{3C12A756-C9BB-4516-B364-DFA944C859E3}"/>
              </a:ext>
            </a:extLst>
          </p:cNvPr>
          <p:cNvSpPr>
            <a:spLocks xmlns:a="http://schemas.openxmlformats.org/drawingml/2006/main" noGrp="1"/>
          </p:cNvSpPr>
          <p:nvPr/>
        </p:nvSpPr>
        <p:spPr>
          <a:xfrm xmlns:a="http://schemas.openxmlformats.org/drawingml/2006/main">
            <a:off x="4838700" y="1476375"/>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6B8A6"/>
                </a:solidFill>
                <a:latin typeface="Arial"/>
                <a:ea typeface="Arial"/>
                <a:cs typeface="Arial"/>
              </a:defRPr>
            </a:defPPr>
          </a:lstStyle>
          <a:p xmlns:a="http://schemas.openxmlformats.org/drawingml/2006/main">
            <a:pPr algn="l">
              <a:defRPr sz="2700" b="1">
                <a:solidFill>
                  <a:srgbClr val="16B8A6"/>
                </a:solidFill>
                <a:latin typeface="Arial"/>
                <a:ea typeface="Arial"/>
                <a:cs typeface="Arial"/>
              </a:defRPr>
            </a:pPr>
            <a:r>
              <a:rPr sz="2700" b="1">
                <a:solidFill>
                  <a:srgbClr val="16B8A6"/>
                </a:solidFill>
                <a:latin typeface="Arial"/>
                <a:ea typeface="Arial"/>
                <a:cs typeface="Arial"/>
              </a:rPr>
              <a:t>248,555</a:t>
            </a:r>
          </a:p>
        </p:txBody>
      </p:sp>
      <p:sp>
        <p:nvSpPr>
          <p:cNvPr id="9" name="">
            <a:extLst xmlns:a="http://schemas.openxmlformats.org/drawingml/2006/main">
              <a:ext uri="{FF2B5EF4-FFF2-40B4-BE49-F238E27FC236}">
                <a16:creationId xmlns:a16="http://schemas.microsoft.com/office/drawing/2014/main" id="{9D04B538-9155-42D8-A699-2327C1CACEE0}"/>
              </a:ext>
            </a:extLst>
          </p:cNvPr>
          <p:cNvSpPr>
            <a:spLocks xmlns:a="http://schemas.openxmlformats.org/drawingml/2006/main" noGrp="1"/>
          </p:cNvSpPr>
          <p:nvPr/>
        </p:nvSpPr>
        <p:spPr>
          <a:xfrm xmlns:a="http://schemas.openxmlformats.org/drawingml/2006/main">
            <a:off x="4838700" y="19240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667180"/>
                </a:solidFill>
                <a:latin typeface="Arial"/>
                <a:ea typeface="Arial"/>
                <a:cs typeface="Arial"/>
              </a:defRPr>
            </a:defPPr>
          </a:lstStyle>
          <a:p xmlns:a="http://schemas.openxmlformats.org/drawingml/2006/main">
            <a:pPr algn="l">
              <a:defRPr sz="1200" b="0">
                <a:solidFill>
                  <a:srgbClr val="667180"/>
                </a:solidFill>
                <a:latin typeface="Arial"/>
                <a:ea typeface="Arial"/>
                <a:cs typeface="Arial"/>
              </a:defRPr>
            </a:pPr>
            <a:r>
              <a:rPr sz="1200" b="0">
                <a:solidFill>
                  <a:srgbClr val="667180"/>
                </a:solidFill>
                <a:latin typeface="Arial"/>
                <a:ea typeface="Arial"/>
                <a:cs typeface="Arial"/>
              </a:rPr>
              <a:t>clean fact rows</a:t>
            </a:r>
          </a:p>
        </p:txBody>
      </p:sp>
      <p:sp>
        <p:nvSpPr>
          <p:cNvPr id="10" name="">
            <a:extLst xmlns:a="http://schemas.openxmlformats.org/drawingml/2006/main">
              <a:ext uri="{FF2B5EF4-FFF2-40B4-BE49-F238E27FC236}">
                <a16:creationId xmlns:a16="http://schemas.microsoft.com/office/drawing/2014/main" id="{3624DE35-2A78-47F4-B5FE-7E1AF4534F91}"/>
              </a:ext>
            </a:extLst>
          </p:cNvPr>
          <p:cNvSpPr>
            <a:spLocks xmlns:a="http://schemas.openxmlformats.org/drawingml/2006/main" noGrp="1"/>
          </p:cNvSpPr>
          <p:nvPr/>
        </p:nvSpPr>
        <p:spPr>
          <a:xfrm xmlns:a="http://schemas.openxmlformats.org/drawingml/2006/main">
            <a:off x="6915150" y="1476375"/>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F2A03D"/>
                </a:solidFill>
                <a:latin typeface="Arial"/>
                <a:ea typeface="Arial"/>
                <a:cs typeface="Arial"/>
              </a:defRPr>
            </a:defPPr>
          </a:lstStyle>
          <a:p xmlns:a="http://schemas.openxmlformats.org/drawingml/2006/main">
            <a:pPr algn="l">
              <a:defRPr sz="2700" b="1">
                <a:solidFill>
                  <a:srgbClr val="F2A03D"/>
                </a:solidFill>
                <a:latin typeface="Arial"/>
                <a:ea typeface="Arial"/>
                <a:cs typeface="Arial"/>
              </a:defRPr>
            </a:pPr>
            <a:r>
              <a:rPr sz="2700" b="1">
                <a:solidFill>
                  <a:srgbClr val="F2A03D"/>
                </a:solidFill>
                <a:latin typeface="Arial"/>
                <a:ea typeface="Arial"/>
                <a:cs typeface="Arial"/>
              </a:rPr>
              <a:t>0.578%</a:t>
            </a:r>
          </a:p>
        </p:txBody>
      </p:sp>
      <p:sp>
        <p:nvSpPr>
          <p:cNvPr id="11" name="">
            <a:extLst xmlns:a="http://schemas.openxmlformats.org/drawingml/2006/main">
              <a:ext uri="{FF2B5EF4-FFF2-40B4-BE49-F238E27FC236}">
                <a16:creationId xmlns:a16="http://schemas.microsoft.com/office/drawing/2014/main" id="{2DF63FEC-4EC5-4B57-B0C7-7C96ABEBC682}"/>
              </a:ext>
            </a:extLst>
          </p:cNvPr>
          <p:cNvSpPr>
            <a:spLocks xmlns:a="http://schemas.openxmlformats.org/drawingml/2006/main" noGrp="1"/>
          </p:cNvSpPr>
          <p:nvPr/>
        </p:nvSpPr>
        <p:spPr>
          <a:xfrm xmlns:a="http://schemas.openxmlformats.org/drawingml/2006/main">
            <a:off x="6915150" y="19240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667180"/>
                </a:solidFill>
                <a:latin typeface="Arial"/>
                <a:ea typeface="Arial"/>
                <a:cs typeface="Arial"/>
              </a:defRPr>
            </a:defPPr>
          </a:lstStyle>
          <a:p xmlns:a="http://schemas.openxmlformats.org/drawingml/2006/main">
            <a:pPr algn="l">
              <a:defRPr sz="1200" b="0">
                <a:solidFill>
                  <a:srgbClr val="667180"/>
                </a:solidFill>
                <a:latin typeface="Arial"/>
                <a:ea typeface="Arial"/>
                <a:cs typeface="Arial"/>
              </a:defRPr>
            </a:pPr>
            <a:r>
              <a:rPr sz="1200" b="0">
                <a:solidFill>
                  <a:srgbClr val="667180"/>
                </a:solidFill>
                <a:latin typeface="Arial"/>
                <a:ea typeface="Arial"/>
                <a:cs typeface="Arial"/>
              </a:rPr>
              <a:t>rejection rate</a:t>
            </a:r>
          </a:p>
        </p:txBody>
      </p:sp>
      <p:sp>
        <p:nvSpPr>
          <p:cNvPr id="12" name="">
            <a:extLst xmlns:a="http://schemas.openxmlformats.org/drawingml/2006/main">
              <a:ext uri="{FF2B5EF4-FFF2-40B4-BE49-F238E27FC236}">
                <a16:creationId xmlns:a16="http://schemas.microsoft.com/office/drawing/2014/main" id="{154970A2-4430-4254-9074-B0746FBD0B33}"/>
              </a:ext>
            </a:extLst>
          </p:cNvPr>
          <p:cNvSpPr>
            <a:spLocks xmlns:a="http://schemas.openxmlformats.org/drawingml/2006/main" noGrp="1"/>
          </p:cNvSpPr>
          <p:nvPr/>
        </p:nvSpPr>
        <p:spPr>
          <a:xfrm xmlns:a="http://schemas.openxmlformats.org/drawingml/2006/main">
            <a:off x="4533900" y="3048000"/>
            <a:ext cx="3143250" cy="2000250"/>
          </a:xfrm>
          <a:prstGeom xmlns:a="http://schemas.openxmlformats.org/drawingml/2006/main" prst="roundRect">
            <a:avLst>
              <a:gd name="adj" fmla="val 5714"/>
            </a:avLst>
          </a:prstGeom>
          <a:solidFill xmlns:a="http://schemas.openxmlformats.org/drawingml/2006/main">
            <a:srgbClr val="DDF6F2"/>
          </a:solidFill>
          <a:ln xmlns:a="http://schemas.openxmlformats.org/drawingml/2006/main" w="19050">
            <a:solidFill>
              <a:srgbClr val="16B8A6"/>
            </a:solidFill>
            <a:prstDash val="solid"/>
          </a:ln>
        </p:spPr>
      </p:sp>
      <p:sp>
        <p:nvSpPr>
          <p:cNvPr id="13" name="">
            <a:extLst xmlns:a="http://schemas.openxmlformats.org/drawingml/2006/main">
              <a:ext uri="{FF2B5EF4-FFF2-40B4-BE49-F238E27FC236}">
                <a16:creationId xmlns:a16="http://schemas.microsoft.com/office/drawing/2014/main" id="{AD1DD64E-57D8-48BF-AA60-015856DFFC22}"/>
              </a:ext>
            </a:extLst>
          </p:cNvPr>
          <p:cNvSpPr>
            <a:spLocks xmlns:a="http://schemas.openxmlformats.org/drawingml/2006/main" noGrp="1"/>
          </p:cNvSpPr>
          <p:nvPr/>
        </p:nvSpPr>
        <p:spPr>
          <a:xfrm xmlns:a="http://schemas.openxmlformats.org/drawingml/2006/main">
            <a:off x="4819650" y="321945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875" b="1">
                <a:solidFill>
                  <a:srgbClr val="16B8A6"/>
                </a:solidFill>
                <a:latin typeface="Arial"/>
                <a:ea typeface="Arial"/>
                <a:cs typeface="Arial"/>
              </a:defRPr>
            </a:defPPr>
          </a:lstStyle>
          <a:p xmlns:a="http://schemas.openxmlformats.org/drawingml/2006/main">
            <a:pPr algn="ctr">
              <a:defRPr sz="1875" b="1">
                <a:solidFill>
                  <a:srgbClr val="16B8A6"/>
                </a:solidFill>
                <a:latin typeface="Arial"/>
                <a:ea typeface="Arial"/>
                <a:cs typeface="Arial"/>
              </a:defRPr>
            </a:pPr>
            <a:r>
              <a:rPr sz="1875" b="1">
                <a:solidFill>
                  <a:srgbClr val="16B8A6"/>
                </a:solidFill>
                <a:latin typeface="Arial"/>
                <a:ea typeface="Arial"/>
                <a:cs typeface="Arial"/>
              </a:rPr>
              <a:t>fact_sales</a:t>
            </a:r>
          </a:p>
        </p:txBody>
      </p:sp>
      <p:sp>
        <p:nvSpPr>
          <p:cNvPr id="14" name="">
            <a:extLst xmlns:a="http://schemas.openxmlformats.org/drawingml/2006/main">
              <a:ext uri="{FF2B5EF4-FFF2-40B4-BE49-F238E27FC236}">
                <a16:creationId xmlns:a16="http://schemas.microsoft.com/office/drawing/2014/main" id="{18FA5F49-A3C1-4BC3-9E2E-059A0CE55748}"/>
              </a:ext>
            </a:extLst>
          </p:cNvPr>
          <p:cNvSpPr>
            <a:spLocks xmlns:a="http://schemas.openxmlformats.org/drawingml/2006/main" noGrp="1"/>
          </p:cNvSpPr>
          <p:nvPr/>
        </p:nvSpPr>
        <p:spPr>
          <a:xfrm xmlns:a="http://schemas.openxmlformats.org/drawingml/2006/main">
            <a:off x="4819650" y="3638550"/>
            <a:ext cx="2571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0">
                <a:solidFill>
                  <a:srgbClr val="1B2430"/>
                </a:solidFill>
                <a:latin typeface="Arial"/>
                <a:ea typeface="Arial"/>
                <a:cs typeface="Arial"/>
              </a:defRPr>
            </a:defPPr>
          </a:lstStyle>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order and line IDs</a:t>
            </a:r>
          </a:p>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date, customer, product keys</a:t>
            </a:r>
          </a:p>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quantity, price, discount</a:t>
            </a:r>
          </a:p>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gross amount, net revenue</a:t>
            </a:r>
          </a:p>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status, channel, shipping</a:t>
            </a:r>
          </a:p>
        </p:txBody>
      </p:sp>
      <p:sp>
        <p:nvSpPr>
          <p:cNvPr id="15" name="">
            <a:extLst xmlns:a="http://schemas.openxmlformats.org/drawingml/2006/main">
              <a:ext uri="{FF2B5EF4-FFF2-40B4-BE49-F238E27FC236}">
                <a16:creationId xmlns:a16="http://schemas.microsoft.com/office/drawing/2014/main" id="{3FA5CEB5-3857-4CB5-93F6-894D6C872D64}"/>
              </a:ext>
            </a:extLst>
          </p:cNvPr>
          <p:cNvSpPr>
            <a:spLocks xmlns:a="http://schemas.openxmlformats.org/drawingml/2006/main" noGrp="1"/>
          </p:cNvSpPr>
          <p:nvPr/>
        </p:nvSpPr>
        <p:spPr>
          <a:xfrm xmlns:a="http://schemas.openxmlformats.org/drawingml/2006/main">
            <a:off x="704850" y="3124200"/>
            <a:ext cx="2286000" cy="1143000"/>
          </a:xfrm>
          <a:prstGeom xmlns:a="http://schemas.openxmlformats.org/drawingml/2006/main" prst="roundRect">
            <a:avLst>
              <a:gd name="adj" fmla="val 10000"/>
            </a:avLst>
          </a:prstGeom>
          <a:solidFill xmlns:a="http://schemas.openxmlformats.org/drawingml/2006/main">
            <a:srgbClr val="E8EBFA"/>
          </a:solidFill>
          <a:ln xmlns:a="http://schemas.openxmlformats.org/drawingml/2006/main" w="19050">
            <a:solidFill>
              <a:srgbClr val="5267D7"/>
            </a:solidFill>
            <a:prstDash val="solid"/>
          </a:ln>
        </p:spPr>
      </p:sp>
      <p:sp>
        <p:nvSpPr>
          <p:cNvPr id="16" name="">
            <a:extLst xmlns:a="http://schemas.openxmlformats.org/drawingml/2006/main">
              <a:ext uri="{FF2B5EF4-FFF2-40B4-BE49-F238E27FC236}">
                <a16:creationId xmlns:a16="http://schemas.microsoft.com/office/drawing/2014/main" id="{A6A2B517-C8E8-414A-8BFA-74B90ED61409}"/>
              </a:ext>
            </a:extLst>
          </p:cNvPr>
          <p:cNvSpPr>
            <a:spLocks xmlns:a="http://schemas.openxmlformats.org/drawingml/2006/main" noGrp="1"/>
          </p:cNvSpPr>
          <p:nvPr/>
        </p:nvSpPr>
        <p:spPr>
          <a:xfrm xmlns:a="http://schemas.openxmlformats.org/drawingml/2006/main">
            <a:off x="876300" y="325755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5267D7"/>
                </a:solidFill>
                <a:latin typeface="Arial"/>
                <a:ea typeface="Arial"/>
                <a:cs typeface="Arial"/>
              </a:defRPr>
            </a:defPPr>
          </a:lstStyle>
          <a:p xmlns:a="http://schemas.openxmlformats.org/drawingml/2006/main">
            <a:pPr algn="ctr">
              <a:defRPr sz="1500" b="1">
                <a:solidFill>
                  <a:srgbClr val="5267D7"/>
                </a:solidFill>
                <a:latin typeface="Arial"/>
                <a:ea typeface="Arial"/>
                <a:cs typeface="Arial"/>
              </a:defRPr>
            </a:pPr>
            <a:r>
              <a:rPr sz="1500" b="1">
                <a:solidFill>
                  <a:srgbClr val="5267D7"/>
                </a:solidFill>
                <a:latin typeface="Arial"/>
                <a:ea typeface="Arial"/>
                <a:cs typeface="Arial"/>
              </a:rPr>
              <a:t>dim_customer</a:t>
            </a:r>
          </a:p>
        </p:txBody>
      </p:sp>
      <p:sp>
        <p:nvSpPr>
          <p:cNvPr id="17" name="">
            <a:extLst xmlns:a="http://schemas.openxmlformats.org/drawingml/2006/main">
              <a:ext uri="{FF2B5EF4-FFF2-40B4-BE49-F238E27FC236}">
                <a16:creationId xmlns:a16="http://schemas.microsoft.com/office/drawing/2014/main" id="{028492E2-3094-40F7-9A63-B9E46A4AA895}"/>
              </a:ext>
            </a:extLst>
          </p:cNvPr>
          <p:cNvSpPr>
            <a:spLocks xmlns:a="http://schemas.openxmlformats.org/drawingml/2006/main" noGrp="1"/>
          </p:cNvSpPr>
          <p:nvPr/>
        </p:nvSpPr>
        <p:spPr>
          <a:xfrm xmlns:a="http://schemas.openxmlformats.org/drawingml/2006/main">
            <a:off x="876300" y="3600450"/>
            <a:ext cx="1943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0">
                <a:solidFill>
                  <a:srgbClr val="1B2430"/>
                </a:solidFill>
                <a:latin typeface="Arial"/>
                <a:ea typeface="Arial"/>
                <a:cs typeface="Arial"/>
              </a:defRPr>
            </a:defPPr>
          </a:lstStyle>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segment</a:t>
            </a:r>
          </a:p>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region</a:t>
            </a:r>
          </a:p>
        </p:txBody>
      </p:sp>
      <p:sp>
        <p:nvSpPr>
          <p:cNvPr id="18" name="">
            <a:extLst xmlns:a="http://schemas.openxmlformats.org/drawingml/2006/main">
              <a:ext uri="{FF2B5EF4-FFF2-40B4-BE49-F238E27FC236}">
                <a16:creationId xmlns:a16="http://schemas.microsoft.com/office/drawing/2014/main" id="{17653D71-89BB-47DE-A071-72F48D8DAA3B}"/>
              </a:ext>
            </a:extLst>
          </p:cNvPr>
          <p:cNvSpPr>
            <a:spLocks xmlns:a="http://schemas.openxmlformats.org/drawingml/2006/main" noGrp="1"/>
          </p:cNvSpPr>
          <p:nvPr/>
        </p:nvSpPr>
        <p:spPr>
          <a:xfrm xmlns:a="http://schemas.openxmlformats.org/drawingml/2006/main">
            <a:off x="8877300" y="3124200"/>
            <a:ext cx="2286000" cy="1143000"/>
          </a:xfrm>
          <a:prstGeom xmlns:a="http://schemas.openxmlformats.org/drawingml/2006/main" prst="roundRect">
            <a:avLst>
              <a:gd name="adj" fmla="val 10000"/>
            </a:avLst>
          </a:prstGeom>
          <a:solidFill xmlns:a="http://schemas.openxmlformats.org/drawingml/2006/main">
            <a:srgbClr val="FFF0DB"/>
          </a:solidFill>
          <a:ln xmlns:a="http://schemas.openxmlformats.org/drawingml/2006/main" w="19050">
            <a:solidFill>
              <a:srgbClr val="F2A03D"/>
            </a:solidFill>
            <a:prstDash val="solid"/>
          </a:ln>
        </p:spPr>
      </p:sp>
      <p:sp>
        <p:nvSpPr>
          <p:cNvPr id="19" name="">
            <a:extLst xmlns:a="http://schemas.openxmlformats.org/drawingml/2006/main">
              <a:ext uri="{FF2B5EF4-FFF2-40B4-BE49-F238E27FC236}">
                <a16:creationId xmlns:a16="http://schemas.microsoft.com/office/drawing/2014/main" id="{98ABC462-6D13-441F-9328-00590859EF76}"/>
              </a:ext>
            </a:extLst>
          </p:cNvPr>
          <p:cNvSpPr>
            <a:spLocks xmlns:a="http://schemas.openxmlformats.org/drawingml/2006/main" noGrp="1"/>
          </p:cNvSpPr>
          <p:nvPr/>
        </p:nvSpPr>
        <p:spPr>
          <a:xfrm xmlns:a="http://schemas.openxmlformats.org/drawingml/2006/main">
            <a:off x="9048750" y="325755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F2A03D"/>
                </a:solidFill>
                <a:latin typeface="Arial"/>
                <a:ea typeface="Arial"/>
                <a:cs typeface="Arial"/>
              </a:defRPr>
            </a:defPPr>
          </a:lstStyle>
          <a:p xmlns:a="http://schemas.openxmlformats.org/drawingml/2006/main">
            <a:pPr algn="ctr">
              <a:defRPr sz="1500" b="1">
                <a:solidFill>
                  <a:srgbClr val="F2A03D"/>
                </a:solidFill>
                <a:latin typeface="Arial"/>
                <a:ea typeface="Arial"/>
                <a:cs typeface="Arial"/>
              </a:defRPr>
            </a:pPr>
            <a:r>
              <a:rPr sz="1500" b="1">
                <a:solidFill>
                  <a:srgbClr val="F2A03D"/>
                </a:solidFill>
                <a:latin typeface="Arial"/>
                <a:ea typeface="Arial"/>
                <a:cs typeface="Arial"/>
              </a:rPr>
              <a:t>dim_product</a:t>
            </a:r>
          </a:p>
        </p:txBody>
      </p:sp>
      <p:sp>
        <p:nvSpPr>
          <p:cNvPr id="20" name="">
            <a:extLst xmlns:a="http://schemas.openxmlformats.org/drawingml/2006/main">
              <a:ext uri="{FF2B5EF4-FFF2-40B4-BE49-F238E27FC236}">
                <a16:creationId xmlns:a16="http://schemas.microsoft.com/office/drawing/2014/main" id="{E44A824C-E363-4771-B510-59BBE60A774E}"/>
              </a:ext>
            </a:extLst>
          </p:cNvPr>
          <p:cNvSpPr>
            <a:spLocks xmlns:a="http://schemas.openxmlformats.org/drawingml/2006/main" noGrp="1"/>
          </p:cNvSpPr>
          <p:nvPr/>
        </p:nvSpPr>
        <p:spPr>
          <a:xfrm xmlns:a="http://schemas.openxmlformats.org/drawingml/2006/main">
            <a:off x="9048750" y="3600450"/>
            <a:ext cx="1943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0">
                <a:solidFill>
                  <a:srgbClr val="1B2430"/>
                </a:solidFill>
                <a:latin typeface="Arial"/>
                <a:ea typeface="Arial"/>
                <a:cs typeface="Arial"/>
              </a:defRPr>
            </a:defPPr>
          </a:lstStyle>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product name</a:t>
            </a:r>
          </a:p>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category</a:t>
            </a:r>
          </a:p>
        </p:txBody>
      </p:sp>
      <p:sp>
        <p:nvSpPr>
          <p:cNvPr id="21" name="">
            <a:extLst xmlns:a="http://schemas.openxmlformats.org/drawingml/2006/main">
              <a:ext uri="{FF2B5EF4-FFF2-40B4-BE49-F238E27FC236}">
                <a16:creationId xmlns:a16="http://schemas.microsoft.com/office/drawing/2014/main" id="{F4FFA045-6FAB-48A1-A5EF-7B5BFBC1AD6C}"/>
              </a:ext>
            </a:extLst>
          </p:cNvPr>
          <p:cNvSpPr>
            <a:spLocks xmlns:a="http://schemas.openxmlformats.org/drawingml/2006/main" noGrp="1"/>
          </p:cNvSpPr>
          <p:nvPr/>
        </p:nvSpPr>
        <p:spPr>
          <a:xfrm xmlns:a="http://schemas.openxmlformats.org/drawingml/2006/main">
            <a:off x="704850" y="4762500"/>
            <a:ext cx="2286000" cy="1143000"/>
          </a:xfrm>
          <a:prstGeom xmlns:a="http://schemas.openxmlformats.org/drawingml/2006/main" prst="roundRect">
            <a:avLst>
              <a:gd name="adj" fmla="val 10000"/>
            </a:avLst>
          </a:prstGeom>
          <a:solidFill xmlns:a="http://schemas.openxmlformats.org/drawingml/2006/main">
            <a:srgbClr val="FBE5E8"/>
          </a:solidFill>
          <a:ln xmlns:a="http://schemas.openxmlformats.org/drawingml/2006/main" w="19050">
            <a:solidFill>
              <a:srgbClr val="E65B65"/>
            </a:solidFill>
            <a:prstDash val="solid"/>
          </a:ln>
        </p:spPr>
      </p:sp>
      <p:sp>
        <p:nvSpPr>
          <p:cNvPr id="22" name="">
            <a:extLst xmlns:a="http://schemas.openxmlformats.org/drawingml/2006/main">
              <a:ext uri="{FF2B5EF4-FFF2-40B4-BE49-F238E27FC236}">
                <a16:creationId xmlns:a16="http://schemas.microsoft.com/office/drawing/2014/main" id="{7A728178-EFB5-419F-92E8-1979B99896B7}"/>
              </a:ext>
            </a:extLst>
          </p:cNvPr>
          <p:cNvSpPr>
            <a:spLocks xmlns:a="http://schemas.openxmlformats.org/drawingml/2006/main" noGrp="1"/>
          </p:cNvSpPr>
          <p:nvPr/>
        </p:nvSpPr>
        <p:spPr>
          <a:xfrm xmlns:a="http://schemas.openxmlformats.org/drawingml/2006/main">
            <a:off x="876300" y="4895850"/>
            <a:ext cx="194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1">
                <a:solidFill>
                  <a:srgbClr val="E65B65"/>
                </a:solidFill>
                <a:latin typeface="Arial"/>
                <a:ea typeface="Arial"/>
                <a:cs typeface="Arial"/>
              </a:defRPr>
            </a:defPPr>
          </a:lstStyle>
          <a:p xmlns:a="http://schemas.openxmlformats.org/drawingml/2006/main">
            <a:pPr algn="ctr">
              <a:defRPr sz="1500" b="1">
                <a:solidFill>
                  <a:srgbClr val="E65B65"/>
                </a:solidFill>
                <a:latin typeface="Arial"/>
                <a:ea typeface="Arial"/>
                <a:cs typeface="Arial"/>
              </a:defRPr>
            </a:pPr>
            <a:r>
              <a:rPr sz="1500" b="1">
                <a:solidFill>
                  <a:srgbClr val="E65B65"/>
                </a:solidFill>
                <a:latin typeface="Arial"/>
                <a:ea typeface="Arial"/>
                <a:cs typeface="Arial"/>
              </a:rPr>
              <a:t>dim_date</a:t>
            </a:r>
          </a:p>
        </p:txBody>
      </p:sp>
      <p:sp>
        <p:nvSpPr>
          <p:cNvPr id="23" name="">
            <a:extLst xmlns:a="http://schemas.openxmlformats.org/drawingml/2006/main">
              <a:ext uri="{FF2B5EF4-FFF2-40B4-BE49-F238E27FC236}">
                <a16:creationId xmlns:a16="http://schemas.microsoft.com/office/drawing/2014/main" id="{1B420406-1419-43F9-996D-98B10F1B872C}"/>
              </a:ext>
            </a:extLst>
          </p:cNvPr>
          <p:cNvSpPr>
            <a:spLocks xmlns:a="http://schemas.openxmlformats.org/drawingml/2006/main" noGrp="1"/>
          </p:cNvSpPr>
          <p:nvPr/>
        </p:nvSpPr>
        <p:spPr>
          <a:xfrm xmlns:a="http://schemas.openxmlformats.org/drawingml/2006/main">
            <a:off x="876300" y="5238750"/>
            <a:ext cx="1943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0">
                <a:solidFill>
                  <a:srgbClr val="1B2430"/>
                </a:solidFill>
                <a:latin typeface="Arial"/>
                <a:ea typeface="Arial"/>
                <a:cs typeface="Arial"/>
              </a:defRPr>
            </a:defPPr>
          </a:lstStyle>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year, quarter</a:t>
            </a:r>
          </a:p>
          <a:p xmlns:a="http://schemas.openxmlformats.org/drawingml/2006/main">
            <a:pPr algn="ctr">
              <a:defRPr sz="1200" b="0">
                <a:solidFill>
                  <a:srgbClr val="1B2430"/>
                </a:solidFill>
                <a:latin typeface="Arial"/>
                <a:ea typeface="Arial"/>
                <a:cs typeface="Arial"/>
              </a:defRPr>
            </a:pPr>
            <a:r>
              <a:rPr sz="1200" b="0">
                <a:solidFill>
                  <a:srgbClr val="1B2430"/>
                </a:solidFill>
                <a:latin typeface="Arial"/>
                <a:ea typeface="Arial"/>
                <a:cs typeface="Arial"/>
              </a:rPr>
              <a:t>month, week</a:t>
            </a:r>
          </a:p>
        </p:txBody>
      </p:sp>
      <p:sp>
        <p:nvSpPr>
          <p:cNvPr id="24" name="">
            <a:extLst xmlns:a="http://schemas.openxmlformats.org/drawingml/2006/main">
              <a:ext uri="{FF2B5EF4-FFF2-40B4-BE49-F238E27FC236}">
                <a16:creationId xmlns:a16="http://schemas.microsoft.com/office/drawing/2014/main" id="{12C48F39-4ED1-4BA1-8554-F0DE3308910C}"/>
              </a:ext>
            </a:extLst>
          </p:cNvPr>
          <p:cNvSpPr>
            <a:spLocks xmlns:a="http://schemas.openxmlformats.org/drawingml/2006/main" noGrp="1"/>
          </p:cNvSpPr>
          <p:nvPr/>
        </p:nvSpPr>
        <p:spPr>
          <a:xfrm xmlns:a="http://schemas.openxmlformats.org/drawingml/2006/main">
            <a:off x="685800" y="5962650"/>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00" b="1">
                <a:solidFill>
                  <a:srgbClr val="10131B"/>
                </a:solidFill>
                <a:latin typeface="Arial"/>
                <a:ea typeface="Arial"/>
                <a:cs typeface="Arial"/>
              </a:defRPr>
            </a:defPPr>
          </a:lstStyle>
          <a:p xmlns:a="http://schemas.openxmlformats.org/drawingml/2006/main">
            <a:pPr algn="ctr">
              <a:defRPr sz="1200" b="1">
                <a:solidFill>
                  <a:srgbClr val="10131B"/>
                </a:solidFill>
                <a:latin typeface="Arial"/>
                <a:ea typeface="Arial"/>
                <a:cs typeface="Arial"/>
              </a:defRPr>
            </a:pPr>
            <a:r>
              <a:rPr sz="1200" b="1">
                <a:solidFill>
                  <a:srgbClr val="10131B"/>
                </a:solidFill>
                <a:latin typeface="Arial"/>
                <a:ea typeface="Arial"/>
                <a:cs typeface="Arial"/>
              </a:rPr>
              <a:t>Cleaning rules: TRY_CAST  |  canonical text  |  range checks  |  duplicate removal  |  rejected-row audit</a:t>
            </a:r>
          </a:p>
        </p:txBody>
      </p:sp>
      <p:sp>
        <p:nvSpPr>
          <p:cNvPr id="25" name="">
            <a:extLst xmlns:a="http://schemas.openxmlformats.org/drawingml/2006/main">
              <a:ext uri="{FF2B5EF4-FFF2-40B4-BE49-F238E27FC236}">
                <a16:creationId xmlns:a16="http://schemas.microsoft.com/office/drawing/2014/main" id="{620286C0-D2EE-4D78-93CF-6A5D550231A3}"/>
              </a:ext>
            </a:extLst>
          </p:cNvPr>
          <p:cNvSpPr>
            <a:spLocks xmlns:a="http://schemas.openxmlformats.org/drawingml/2006/main" noGrp="1"/>
          </p:cNvSpPr>
          <p:nvPr/>
        </p:nvSpPr>
        <p:spPr>
          <a:xfrm xmlns:a="http://schemas.openxmlformats.org/drawingml/2006/main">
            <a:off x="685800" y="6457950"/>
            <a:ext cx="10820400" cy="9525"/>
          </a:xfrm>
          <a:prstGeom xmlns:a="http://schemas.openxmlformats.org/drawingml/2006/main" prst="rect">
            <a:avLst/>
          </a:prstGeom>
          <a:solidFill xmlns:a="http://schemas.openxmlformats.org/drawingml/2006/main">
            <a:srgbClr val="D5DCE4"/>
          </a:solidFill>
          <a:ln xmlns:a="http://schemas.openxmlformats.org/drawingml/2006/main" w="0">
            <a:solidFill>
              <a:srgbClr val="D5DCE4"/>
            </a:solidFill>
            <a:prstDash val="solid"/>
          </a:ln>
        </p:spPr>
      </p:sp>
      <p:sp>
        <p:nvSpPr>
          <p:cNvPr id="26" name="">
            <a:extLst xmlns:a="http://schemas.openxmlformats.org/drawingml/2006/main">
              <a:ext uri="{FF2B5EF4-FFF2-40B4-BE49-F238E27FC236}">
                <a16:creationId xmlns:a16="http://schemas.microsoft.com/office/drawing/2014/main" id="{0CD2F16E-92F3-4EA6-B00D-76D6E79147E7}"/>
              </a:ext>
            </a:extLst>
          </p:cNvPr>
          <p:cNvSpPr>
            <a:spLocks xmlns:a="http://schemas.openxmlformats.org/drawingml/2006/main" noGrp="1"/>
          </p:cNvSpPr>
          <p:nvPr/>
        </p:nvSpPr>
        <p:spPr>
          <a:xfrm xmlns:a="http://schemas.openxmlformats.org/drawingml/2006/main">
            <a:off x="685800" y="6524625"/>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825" b="0">
                <a:solidFill>
                  <a:srgbClr val="667180"/>
                </a:solidFill>
                <a:latin typeface="Arial"/>
                <a:ea typeface="Arial"/>
                <a:cs typeface="Arial"/>
              </a:defRPr>
            </a:defPPr>
          </a:lstStyle>
          <a:p xmlns:a="http://schemas.openxmlformats.org/drawingml/2006/main">
            <a:pPr algn="l">
              <a:defRPr sz="825" b="0">
                <a:solidFill>
                  <a:srgbClr val="667180"/>
                </a:solidFill>
                <a:latin typeface="Arial"/>
                <a:ea typeface="Arial"/>
                <a:cs typeface="Arial"/>
              </a:defRPr>
            </a:pPr>
            <a:r>
              <a:rPr sz="825" b="0">
                <a:solidFill>
                  <a:srgbClr val="667180"/>
                </a:solidFill>
                <a:latin typeface="Arial"/>
                <a:ea typeface="Arial"/>
                <a:cs typeface="Arial"/>
              </a:rPr>
              <a:t>E-Commerce Sales Analytics using DuckDB</a:t>
            </a:r>
          </a:p>
        </p:txBody>
      </p:sp>
      <p:sp>
        <p:nvSpPr>
          <p:cNvPr id="27" name="">
            <a:extLst xmlns:a="http://schemas.openxmlformats.org/drawingml/2006/main">
              <a:ext uri="{FF2B5EF4-FFF2-40B4-BE49-F238E27FC236}">
                <a16:creationId xmlns:a16="http://schemas.microsoft.com/office/drawing/2014/main" id="{E6556D30-3F7D-4E0D-AF00-CFEE883D81D9}"/>
              </a:ext>
            </a:extLst>
          </p:cNvPr>
          <p:cNvSpPr>
            <a:spLocks xmlns:a="http://schemas.openxmlformats.org/drawingml/2006/main" noGrp="1"/>
          </p:cNvSpPr>
          <p:nvPr/>
        </p:nvSpPr>
        <p:spPr>
          <a:xfrm xmlns:a="http://schemas.openxmlformats.org/drawingml/2006/main">
            <a:off x="7143750" y="6524625"/>
            <a:ext cx="436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825" b="0">
                <a:solidFill>
                  <a:srgbClr val="667180"/>
                </a:solidFill>
                <a:latin typeface="Arial"/>
                <a:ea typeface="Arial"/>
                <a:cs typeface="Arial"/>
              </a:defRPr>
            </a:defPPr>
          </a:lstStyle>
          <a:p xmlns:a="http://schemas.openxmlformats.org/drawingml/2006/main">
            <a:pPr algn="r">
              <a:defRPr sz="825" b="0">
                <a:solidFill>
                  <a:srgbClr val="667180"/>
                </a:solidFill>
                <a:latin typeface="Arial"/>
                <a:ea typeface="Arial"/>
                <a:cs typeface="Arial"/>
              </a:defRPr>
            </a:pPr>
            <a:r>
              <a:rPr sz="825" b="0">
                <a:solidFill>
                  <a:srgbClr val="667180"/>
                </a:solidFill>
                <a:latin typeface="Arial"/>
                <a:ea typeface="Arial"/>
                <a:cs typeface="Arial"/>
              </a:rPr>
              <a:t>DuckDB  |  FastAPI  |  RabbitMQ  |  Streamlit</a:t>
            </a:r>
          </a:p>
        </p:txBody>
      </p:sp>
    </p:spTree>
    <p:extLst>
      <p:ext uri="{BB962C8B-B14F-4D97-AF65-F5344CB8AC3E}">
        <p14:creationId xmlns:p14="http://schemas.microsoft.com/office/powerpoint/2010/main" val="3384723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3C97236-9406-4094-AEB0-29BADC1BD096}"/>
              </a:ext>
            </a:extLst>
          </p:cNvPr>
          <p:cNvSpPr>
            <a:spLocks xmlns:a="http://schemas.openxmlformats.org/drawingml/2006/main" noGrp="1"/>
          </p:cNvSpPr>
          <p:nvPr/>
        </p:nvSpPr>
        <p:spPr>
          <a:xfrm xmlns:a="http://schemas.openxmlformats.org/drawingml/2006/main">
            <a:off x="68580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16B8A6"/>
                </a:solidFill>
                <a:latin typeface="Arial"/>
                <a:ea typeface="Arial"/>
                <a:cs typeface="Arial"/>
              </a:defRPr>
            </a:defPPr>
          </a:lstStyle>
          <a:p xmlns:a="http://schemas.openxmlformats.org/drawingml/2006/main">
            <a:pPr algn="l">
              <a:defRPr sz="975" b="1">
                <a:solidFill>
                  <a:srgbClr val="16B8A6"/>
                </a:solidFill>
                <a:latin typeface="Arial"/>
                <a:ea typeface="Arial"/>
                <a:cs typeface="Arial"/>
              </a:defRPr>
            </a:pPr>
            <a:r>
              <a:rPr sz="975" b="1">
                <a:solidFill>
                  <a:srgbClr val="16B8A6"/>
                </a:solidFill>
                <a:latin typeface="Arial"/>
                <a:ea typeface="Arial"/>
                <a:cs typeface="Arial"/>
              </a:rPr>
              <a:t>ANALYSIS</a:t>
            </a:r>
          </a:p>
        </p:txBody>
      </p:sp>
      <p:sp>
        <p:nvSpPr>
          <p:cNvPr id="2" name="">
            <a:extLst xmlns:a="http://schemas.openxmlformats.org/drawingml/2006/main">
              <a:ext uri="{FF2B5EF4-FFF2-40B4-BE49-F238E27FC236}">
                <a16:creationId xmlns:a16="http://schemas.microsoft.com/office/drawing/2014/main" id="{C3F0606C-A53D-4346-8946-0E211DC8F82A}"/>
              </a:ext>
            </a:extLst>
          </p:cNvPr>
          <p:cNvSpPr>
            <a:spLocks xmlns:a="http://schemas.openxmlformats.org/drawingml/2006/main" noGrp="1"/>
          </p:cNvSpPr>
          <p:nvPr/>
        </p:nvSpPr>
        <p:spPr>
          <a:xfrm xmlns:a="http://schemas.openxmlformats.org/drawingml/2006/main">
            <a:off x="685800" y="6096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0131B"/>
                </a:solidFill>
                <a:latin typeface="Arial"/>
                <a:ea typeface="Arial"/>
                <a:cs typeface="Arial"/>
              </a:defRPr>
            </a:defPPr>
          </a:lstStyle>
          <a:p xmlns:a="http://schemas.openxmlformats.org/drawingml/2006/main">
            <a:pPr algn="l">
              <a:defRPr sz="2700" b="1">
                <a:solidFill>
                  <a:srgbClr val="10131B"/>
                </a:solidFill>
                <a:latin typeface="Arial"/>
                <a:ea typeface="Arial"/>
                <a:cs typeface="Arial"/>
              </a:defRPr>
            </a:pPr>
            <a:r>
              <a:rPr sz="2700" b="1">
                <a:solidFill>
                  <a:srgbClr val="10131B"/>
                </a:solidFill>
                <a:latin typeface="Arial"/>
                <a:ea typeface="Arial"/>
                <a:cs typeface="Arial"/>
              </a:rPr>
              <a:t>SQL analytics and OLAP patterns</a:t>
            </a:r>
          </a:p>
        </p:txBody>
      </p:sp>
      <p:sp>
        <p:nvSpPr>
          <p:cNvPr id="3" name="">
            <a:extLst xmlns:a="http://schemas.openxmlformats.org/drawingml/2006/main">
              <a:ext uri="{FF2B5EF4-FFF2-40B4-BE49-F238E27FC236}">
                <a16:creationId xmlns:a16="http://schemas.microsoft.com/office/drawing/2014/main" id="{AD2C7403-88C0-4621-9612-A02CB424C61E}"/>
              </a:ext>
            </a:extLst>
          </p:cNvPr>
          <p:cNvSpPr>
            <a:spLocks xmlns:a="http://schemas.openxmlformats.org/drawingml/2006/main" noGrp="1"/>
          </p:cNvSpPr>
          <p:nvPr/>
        </p:nvSpPr>
        <p:spPr>
          <a:xfrm xmlns:a="http://schemas.openxmlformats.org/drawingml/2006/main">
            <a:off x="11068050" y="4191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125" b="1">
                <a:solidFill>
                  <a:srgbClr val="667180"/>
                </a:solidFill>
                <a:latin typeface="Arial"/>
                <a:ea typeface="Arial"/>
                <a:cs typeface="Arial"/>
              </a:defRPr>
            </a:defPPr>
          </a:lstStyle>
          <a:p xmlns:a="http://schemas.openxmlformats.org/drawingml/2006/main">
            <a:pPr algn="r">
              <a:defRPr sz="1125" b="1">
                <a:solidFill>
                  <a:srgbClr val="667180"/>
                </a:solidFill>
                <a:latin typeface="Arial"/>
                <a:ea typeface="Arial"/>
                <a:cs typeface="Arial"/>
              </a:defRPr>
            </a:pPr>
            <a:r>
              <a:rPr sz="1125" b="1">
                <a:solidFill>
                  <a:srgbClr val="667180"/>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EF108063-A5F6-4B2E-BF1C-82D0CA7CF810}"/>
              </a:ext>
            </a:extLst>
          </p:cNvPr>
          <p:cNvSpPr>
            <a:spLocks xmlns:a="http://schemas.openxmlformats.org/drawingml/2006/main" noGrp="1"/>
          </p:cNvSpPr>
          <p:nvPr/>
        </p:nvSpPr>
        <p:spPr>
          <a:xfrm xmlns:a="http://schemas.openxmlformats.org/drawingml/2006/main">
            <a:off x="685800" y="1447800"/>
            <a:ext cx="2667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0131B"/>
                </a:solidFill>
                <a:latin typeface="Arial"/>
                <a:ea typeface="Arial"/>
                <a:cs typeface="Arial"/>
              </a:defRPr>
            </a:defPPr>
          </a:lstStyle>
          <a:p xmlns:a="http://schemas.openxmlformats.org/drawingml/2006/main">
            <a:pPr algn="l">
              <a:defRPr sz="1800" b="1">
                <a:solidFill>
                  <a:srgbClr val="10131B"/>
                </a:solidFill>
                <a:latin typeface="Arial"/>
                <a:ea typeface="Arial"/>
                <a:cs typeface="Arial"/>
              </a:defRPr>
            </a:pPr>
            <a:r>
              <a:rPr sz="1800" b="1">
                <a:solidFill>
                  <a:srgbClr val="10131B"/>
                </a:solidFill>
                <a:latin typeface="Arial"/>
                <a:ea typeface="Arial"/>
                <a:cs typeface="Arial"/>
              </a:rPr>
              <a:t>Reusable views</a:t>
            </a:r>
          </a:p>
        </p:txBody>
      </p:sp>
      <p:sp>
        <p:nvSpPr>
          <p:cNvPr id="5" name="">
            <a:extLst xmlns:a="http://schemas.openxmlformats.org/drawingml/2006/main">
              <a:ext uri="{FF2B5EF4-FFF2-40B4-BE49-F238E27FC236}">
                <a16:creationId xmlns:a16="http://schemas.microsoft.com/office/drawing/2014/main" id="{6E063004-5AFF-4BDD-9836-57B99DE0B011}"/>
              </a:ext>
            </a:extLst>
          </p:cNvPr>
          <p:cNvSpPr>
            <a:spLocks xmlns:a="http://schemas.openxmlformats.org/drawingml/2006/main" noGrp="1"/>
          </p:cNvSpPr>
          <p:nvPr/>
        </p:nvSpPr>
        <p:spPr>
          <a:xfrm xmlns:a="http://schemas.openxmlformats.org/drawingml/2006/main">
            <a:off x="685800" y="1943100"/>
            <a:ext cx="37147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1B2430"/>
                </a:solidFill>
                <a:latin typeface="Arial"/>
                <a:ea typeface="Arial"/>
                <a:cs typeface="Arial"/>
              </a:defRPr>
            </a:defPPr>
          </a:lstStyle>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Daily revenue</a:t>
            </a:r>
          </a:p>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Monthly growth with LAG</a:t>
            </a:r>
          </a:p>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Repeat-customer percentage</a:t>
            </a:r>
          </a:p>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Enriched fact-to-dimension join</a:t>
            </a:r>
          </a:p>
        </p:txBody>
      </p:sp>
      <p:sp>
        <p:nvSpPr>
          <p:cNvPr id="6" name="">
            <a:extLst xmlns:a="http://schemas.openxmlformats.org/drawingml/2006/main">
              <a:ext uri="{FF2B5EF4-FFF2-40B4-BE49-F238E27FC236}">
                <a16:creationId xmlns:a16="http://schemas.microsoft.com/office/drawing/2014/main" id="{83D25623-08AE-4F14-83FC-F80FE07AE9F2}"/>
              </a:ext>
            </a:extLst>
          </p:cNvPr>
          <p:cNvSpPr>
            <a:spLocks xmlns:a="http://schemas.openxmlformats.org/drawingml/2006/main" noGrp="1"/>
          </p:cNvSpPr>
          <p:nvPr/>
        </p:nvSpPr>
        <p:spPr>
          <a:xfrm xmlns:a="http://schemas.openxmlformats.org/drawingml/2006/main">
            <a:off x="4457700" y="1447800"/>
            <a:ext cx="2667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0131B"/>
                </a:solidFill>
                <a:latin typeface="Arial"/>
                <a:ea typeface="Arial"/>
                <a:cs typeface="Arial"/>
              </a:defRPr>
            </a:defPPr>
          </a:lstStyle>
          <a:p xmlns:a="http://schemas.openxmlformats.org/drawingml/2006/main">
            <a:pPr algn="l">
              <a:defRPr sz="1800" b="1">
                <a:solidFill>
                  <a:srgbClr val="10131B"/>
                </a:solidFill>
                <a:latin typeface="Arial"/>
                <a:ea typeface="Arial"/>
                <a:cs typeface="Arial"/>
              </a:defRPr>
            </a:pPr>
            <a:r>
              <a:rPr sz="1800" b="1">
                <a:solidFill>
                  <a:srgbClr val="10131B"/>
                </a:solidFill>
                <a:latin typeface="Arial"/>
                <a:ea typeface="Arial"/>
                <a:cs typeface="Arial"/>
              </a:rPr>
              <a:t>Window functions</a:t>
            </a:r>
          </a:p>
        </p:txBody>
      </p:sp>
      <p:sp>
        <p:nvSpPr>
          <p:cNvPr id="7" name="">
            <a:extLst xmlns:a="http://schemas.openxmlformats.org/drawingml/2006/main">
              <a:ext uri="{FF2B5EF4-FFF2-40B4-BE49-F238E27FC236}">
                <a16:creationId xmlns:a16="http://schemas.microsoft.com/office/drawing/2014/main" id="{C4B41AAF-F295-4AC4-84AC-0ED67944F27D}"/>
              </a:ext>
            </a:extLst>
          </p:cNvPr>
          <p:cNvSpPr>
            <a:spLocks xmlns:a="http://schemas.openxmlformats.org/drawingml/2006/main" noGrp="1"/>
          </p:cNvSpPr>
          <p:nvPr/>
        </p:nvSpPr>
        <p:spPr>
          <a:xfrm xmlns:a="http://schemas.openxmlformats.org/drawingml/2006/main">
            <a:off x="4457700" y="1943100"/>
            <a:ext cx="323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1B2430"/>
                </a:solidFill>
                <a:latin typeface="Arial"/>
                <a:ea typeface="Arial"/>
                <a:cs typeface="Arial"/>
              </a:defRPr>
            </a:defPPr>
          </a:lstStyle>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DENSE_RANK for customer leaders</a:t>
            </a:r>
          </a:p>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LAG for prior-period revenue</a:t>
            </a:r>
          </a:p>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LEAD for next-day comparison</a:t>
            </a:r>
          </a:p>
        </p:txBody>
      </p:sp>
      <p:sp>
        <p:nvSpPr>
          <p:cNvPr id="8" name="">
            <a:extLst xmlns:a="http://schemas.openxmlformats.org/drawingml/2006/main">
              <a:ext uri="{FF2B5EF4-FFF2-40B4-BE49-F238E27FC236}">
                <a16:creationId xmlns:a16="http://schemas.microsoft.com/office/drawing/2014/main" id="{63F0948F-B868-4BBF-9243-59CC2FD9ACE2}"/>
              </a:ext>
            </a:extLst>
          </p:cNvPr>
          <p:cNvSpPr>
            <a:spLocks xmlns:a="http://schemas.openxmlformats.org/drawingml/2006/main" noGrp="1"/>
          </p:cNvSpPr>
          <p:nvPr/>
        </p:nvSpPr>
        <p:spPr>
          <a:xfrm xmlns:a="http://schemas.openxmlformats.org/drawingml/2006/main">
            <a:off x="7924800" y="1447800"/>
            <a:ext cx="3238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0131B"/>
                </a:solidFill>
                <a:latin typeface="Arial"/>
                <a:ea typeface="Arial"/>
                <a:cs typeface="Arial"/>
              </a:defRPr>
            </a:defPPr>
          </a:lstStyle>
          <a:p xmlns:a="http://schemas.openxmlformats.org/drawingml/2006/main">
            <a:pPr algn="l">
              <a:defRPr sz="1800" b="1">
                <a:solidFill>
                  <a:srgbClr val="10131B"/>
                </a:solidFill>
                <a:latin typeface="Arial"/>
                <a:ea typeface="Arial"/>
                <a:cs typeface="Arial"/>
              </a:defRPr>
            </a:pPr>
            <a:r>
              <a:rPr sz="1800" b="1">
                <a:solidFill>
                  <a:srgbClr val="10131B"/>
                </a:solidFill>
                <a:latin typeface="Arial"/>
                <a:ea typeface="Arial"/>
                <a:cs typeface="Arial"/>
              </a:rPr>
              <a:t>Multidimensional SQL</a:t>
            </a:r>
          </a:p>
        </p:txBody>
      </p:sp>
      <p:sp>
        <p:nvSpPr>
          <p:cNvPr id="9" name="">
            <a:extLst xmlns:a="http://schemas.openxmlformats.org/drawingml/2006/main">
              <a:ext uri="{FF2B5EF4-FFF2-40B4-BE49-F238E27FC236}">
                <a16:creationId xmlns:a16="http://schemas.microsoft.com/office/drawing/2014/main" id="{A26AC8E4-282B-41B9-A555-A2ED0E1D43F7}"/>
              </a:ext>
            </a:extLst>
          </p:cNvPr>
          <p:cNvSpPr>
            <a:spLocks xmlns:a="http://schemas.openxmlformats.org/drawingml/2006/main" noGrp="1"/>
          </p:cNvSpPr>
          <p:nvPr/>
        </p:nvSpPr>
        <p:spPr>
          <a:xfrm xmlns:a="http://schemas.openxmlformats.org/drawingml/2006/main">
            <a:off x="7924800" y="1943100"/>
            <a:ext cx="3238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1B2430"/>
                </a:solidFill>
                <a:latin typeface="Arial"/>
                <a:ea typeface="Arial"/>
                <a:cs typeface="Arial"/>
              </a:defRPr>
            </a:defPPr>
          </a:lstStyle>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ROLLUP for subtotals</a:t>
            </a:r>
          </a:p>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CUBE for all dimension combinations</a:t>
            </a:r>
          </a:p>
          <a:p xmlns:a="http://schemas.openxmlformats.org/drawingml/2006/main">
            <a:pPr algn="l">
              <a:defRPr sz="1425" b="0">
                <a:solidFill>
                  <a:srgbClr val="1B2430"/>
                </a:solidFill>
                <a:latin typeface="Arial"/>
                <a:ea typeface="Arial"/>
                <a:cs typeface="Arial"/>
              </a:defRPr>
            </a:pPr>
            <a:r>
              <a:rPr sz="1425" b="0">
                <a:solidFill>
                  <a:srgbClr val="1B2430"/>
                </a:solidFill>
                <a:latin typeface="Arial"/>
                <a:ea typeface="Arial"/>
                <a:cs typeface="Arial"/>
              </a:rPr>
              <a:t>GROUPING SETS for selected levels</a:t>
            </a:r>
          </a:p>
        </p:txBody>
      </p:sp>
      <p:sp>
        <p:nvSpPr>
          <p:cNvPr id="10" name="">
            <a:extLst xmlns:a="http://schemas.openxmlformats.org/drawingml/2006/main">
              <a:ext uri="{FF2B5EF4-FFF2-40B4-BE49-F238E27FC236}">
                <a16:creationId xmlns:a16="http://schemas.microsoft.com/office/drawing/2014/main" id="{1E9FDC8A-3A57-4C02-AB57-70F02B1EFD8F}"/>
              </a:ext>
            </a:extLst>
          </p:cNvPr>
          <p:cNvSpPr>
            <a:spLocks xmlns:a="http://schemas.openxmlformats.org/drawingml/2006/main" noGrp="1"/>
          </p:cNvSpPr>
          <p:nvPr/>
        </p:nvSpPr>
        <p:spPr>
          <a:xfrm xmlns:a="http://schemas.openxmlformats.org/drawingml/2006/main">
            <a:off x="685800" y="3829050"/>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100" b="1">
                <a:solidFill>
                  <a:srgbClr val="16B8A6"/>
                </a:solidFill>
                <a:latin typeface="Arial"/>
                <a:ea typeface="Arial"/>
                <a:cs typeface="Arial"/>
              </a:defRPr>
            </a:defPPr>
          </a:lstStyle>
          <a:p xmlns:a="http://schemas.openxmlformats.org/drawingml/2006/main">
            <a:pPr algn="ctr">
              <a:defRPr sz="2100" b="1">
                <a:solidFill>
                  <a:srgbClr val="16B8A6"/>
                </a:solidFill>
                <a:latin typeface="Arial"/>
                <a:ea typeface="Arial"/>
                <a:cs typeface="Arial"/>
              </a:defRPr>
            </a:pPr>
            <a:r>
              <a:rPr sz="2100" b="1">
                <a:solidFill>
                  <a:srgbClr val="16B8A6"/>
                </a:solidFill>
                <a:latin typeface="Arial"/>
                <a:ea typeface="Arial"/>
                <a:cs typeface="Arial"/>
              </a:rPr>
              <a:t>One query can return detail, regional totals, category totals and a grand total</a:t>
            </a:r>
          </a:p>
        </p:txBody>
      </p:sp>
      <p:sp>
        <p:nvSpPr>
          <p:cNvPr id="11" name="">
            <a:extLst xmlns:a="http://schemas.openxmlformats.org/drawingml/2006/main">
              <a:ext uri="{FF2B5EF4-FFF2-40B4-BE49-F238E27FC236}">
                <a16:creationId xmlns:a16="http://schemas.microsoft.com/office/drawing/2014/main" id="{BCE6F071-DD70-4E87-91C8-30E71AD854F5}"/>
              </a:ext>
            </a:extLst>
          </p:cNvPr>
          <p:cNvSpPr>
            <a:spLocks xmlns:a="http://schemas.openxmlformats.org/drawingml/2006/main" noGrp="1"/>
          </p:cNvSpPr>
          <p:nvPr/>
        </p:nvSpPr>
        <p:spPr>
          <a:xfrm xmlns:a="http://schemas.openxmlformats.org/drawingml/2006/main">
            <a:off x="1619250" y="4600575"/>
            <a:ext cx="8953500" cy="1352550"/>
          </a:xfrm>
          <a:prstGeom xmlns:a="http://schemas.openxmlformats.org/drawingml/2006/main" prst="roundRect">
            <a:avLst>
              <a:gd name="adj" fmla="val 5634"/>
            </a:avLst>
          </a:prstGeom>
          <a:solidFill xmlns:a="http://schemas.openxmlformats.org/drawingml/2006/main">
            <a:srgbClr val="F3F5F8"/>
          </a:solidFill>
          <a:ln xmlns:a="http://schemas.openxmlformats.org/drawingml/2006/main" w="9525">
            <a:solidFill>
              <a:srgbClr val="D5DCE4"/>
            </a:solidFill>
            <a:prstDash val="solid"/>
          </a:ln>
        </p:spPr>
      </p:sp>
      <p:sp>
        <p:nvSpPr>
          <p:cNvPr id="12" name="">
            <a:extLst xmlns:a="http://schemas.openxmlformats.org/drawingml/2006/main">
              <a:ext uri="{FF2B5EF4-FFF2-40B4-BE49-F238E27FC236}">
                <a16:creationId xmlns:a16="http://schemas.microsoft.com/office/drawing/2014/main" id="{FE406CC7-D72B-44DC-A69A-A3B98C6B5E85}"/>
              </a:ext>
            </a:extLst>
          </p:cNvPr>
          <p:cNvSpPr>
            <a:spLocks xmlns:a="http://schemas.openxmlformats.org/drawingml/2006/main" noGrp="1"/>
          </p:cNvSpPr>
          <p:nvPr/>
        </p:nvSpPr>
        <p:spPr>
          <a:xfrm xmlns:a="http://schemas.openxmlformats.org/drawingml/2006/main">
            <a:off x="1952625" y="4772025"/>
            <a:ext cx="8286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1B2430"/>
                </a:solidFill>
                <a:latin typeface="Arial"/>
                <a:ea typeface="Arial"/>
                <a:cs typeface="Arial"/>
              </a:defRPr>
            </a:defPPr>
          </a:lstStyle>
          <a:p xmlns:a="http://schemas.openxmlformats.org/drawingml/2006/main">
            <a:pPr algn="l">
              <a:defRPr sz="1350" b="0">
                <a:solidFill>
                  <a:srgbClr val="1B2430"/>
                </a:solidFill>
                <a:latin typeface="Arial"/>
                <a:ea typeface="Arial"/>
                <a:cs typeface="Arial"/>
              </a:defRPr>
            </a:pPr>
            <a:r>
              <a:rPr sz="1350" b="0">
                <a:solidFill>
                  <a:srgbClr val="1B2430"/>
                </a:solidFill>
                <a:latin typeface="Arial"/>
                <a:ea typeface="Arial"/>
                <a:cs typeface="Arial"/>
              </a:rPr>
              <a:t>SELECT region, category, SUM(net_revenue)</a:t>
            </a:r>
          </a:p>
          <a:p xmlns:a="http://schemas.openxmlformats.org/drawingml/2006/main">
            <a:pPr algn="l">
              <a:defRPr sz="1350" b="0">
                <a:solidFill>
                  <a:srgbClr val="1B2430"/>
                </a:solidFill>
                <a:latin typeface="Arial"/>
                <a:ea typeface="Arial"/>
                <a:cs typeface="Arial"/>
              </a:defRPr>
            </a:pPr>
            <a:r>
              <a:rPr sz="1350" b="0">
                <a:solidFill>
                  <a:srgbClr val="1B2430"/>
                </a:solidFill>
                <a:latin typeface="Arial"/>
                <a:ea typeface="Arial"/>
                <a:cs typeface="Arial"/>
              </a:rPr>
              <a:t>FROM warehouse.vw_sales_enriched</a:t>
            </a:r>
          </a:p>
          <a:p xmlns:a="http://schemas.openxmlformats.org/drawingml/2006/main">
            <a:pPr algn="l">
              <a:defRPr sz="1350" b="0">
                <a:solidFill>
                  <a:srgbClr val="1B2430"/>
                </a:solidFill>
                <a:latin typeface="Arial"/>
                <a:ea typeface="Arial"/>
                <a:cs typeface="Arial"/>
              </a:defRPr>
            </a:pPr>
            <a:r>
              <a:rPr sz="1350" b="0">
                <a:solidFill>
                  <a:srgbClr val="1B2430"/>
                </a:solidFill>
                <a:latin typeface="Arial"/>
                <a:ea typeface="Arial"/>
                <a:cs typeface="Arial"/>
              </a:rPr>
              <a:t>GROUP BY GROUPING SETS ((region, category), (region), (category), ());</a:t>
            </a:r>
          </a:p>
        </p:txBody>
      </p:sp>
      <p:sp>
        <p:nvSpPr>
          <p:cNvPr id="13" name="">
            <a:extLst xmlns:a="http://schemas.openxmlformats.org/drawingml/2006/main">
              <a:ext uri="{FF2B5EF4-FFF2-40B4-BE49-F238E27FC236}">
                <a16:creationId xmlns:a16="http://schemas.microsoft.com/office/drawing/2014/main" id="{051ECAF9-A267-4205-8487-6D7CD0223A36}"/>
              </a:ext>
            </a:extLst>
          </p:cNvPr>
          <p:cNvSpPr>
            <a:spLocks xmlns:a="http://schemas.openxmlformats.org/drawingml/2006/main" noGrp="1"/>
          </p:cNvSpPr>
          <p:nvPr/>
        </p:nvSpPr>
        <p:spPr>
          <a:xfrm xmlns:a="http://schemas.openxmlformats.org/drawingml/2006/main">
            <a:off x="685800" y="6457950"/>
            <a:ext cx="10820400" cy="9525"/>
          </a:xfrm>
          <a:prstGeom xmlns:a="http://schemas.openxmlformats.org/drawingml/2006/main" prst="rect">
            <a:avLst/>
          </a:prstGeom>
          <a:solidFill xmlns:a="http://schemas.openxmlformats.org/drawingml/2006/main">
            <a:srgbClr val="D5DCE4"/>
          </a:solidFill>
          <a:ln xmlns:a="http://schemas.openxmlformats.org/drawingml/2006/main" w="0">
            <a:solidFill>
              <a:srgbClr val="D5DCE4"/>
            </a:solidFill>
            <a:prstDash val="solid"/>
          </a:ln>
        </p:spPr>
      </p:sp>
      <p:sp>
        <p:nvSpPr>
          <p:cNvPr id="14" name="">
            <a:extLst xmlns:a="http://schemas.openxmlformats.org/drawingml/2006/main">
              <a:ext uri="{FF2B5EF4-FFF2-40B4-BE49-F238E27FC236}">
                <a16:creationId xmlns:a16="http://schemas.microsoft.com/office/drawing/2014/main" id="{67AF77A3-2D2F-4DB5-9664-D1445BF7A6D1}"/>
              </a:ext>
            </a:extLst>
          </p:cNvPr>
          <p:cNvSpPr>
            <a:spLocks xmlns:a="http://schemas.openxmlformats.org/drawingml/2006/main" noGrp="1"/>
          </p:cNvSpPr>
          <p:nvPr/>
        </p:nvSpPr>
        <p:spPr>
          <a:xfrm xmlns:a="http://schemas.openxmlformats.org/drawingml/2006/main">
            <a:off x="685800" y="6524625"/>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825" b="0">
                <a:solidFill>
                  <a:srgbClr val="667180"/>
                </a:solidFill>
                <a:latin typeface="Arial"/>
                <a:ea typeface="Arial"/>
                <a:cs typeface="Arial"/>
              </a:defRPr>
            </a:defPPr>
          </a:lstStyle>
          <a:p xmlns:a="http://schemas.openxmlformats.org/drawingml/2006/main">
            <a:pPr algn="l">
              <a:defRPr sz="825" b="0">
                <a:solidFill>
                  <a:srgbClr val="667180"/>
                </a:solidFill>
                <a:latin typeface="Arial"/>
                <a:ea typeface="Arial"/>
                <a:cs typeface="Arial"/>
              </a:defRPr>
            </a:pPr>
            <a:r>
              <a:rPr sz="825" b="0">
                <a:solidFill>
                  <a:srgbClr val="667180"/>
                </a:solidFill>
                <a:latin typeface="Arial"/>
                <a:ea typeface="Arial"/>
                <a:cs typeface="Arial"/>
              </a:rPr>
              <a:t>E-Commerce Sales Analytics using DuckDB</a:t>
            </a:r>
          </a:p>
        </p:txBody>
      </p:sp>
      <p:sp>
        <p:nvSpPr>
          <p:cNvPr id="15" name="">
            <a:extLst xmlns:a="http://schemas.openxmlformats.org/drawingml/2006/main">
              <a:ext uri="{FF2B5EF4-FFF2-40B4-BE49-F238E27FC236}">
                <a16:creationId xmlns:a16="http://schemas.microsoft.com/office/drawing/2014/main" id="{04AFA009-3EB0-4269-B0A3-CD3EC97F8A6D}"/>
              </a:ext>
            </a:extLst>
          </p:cNvPr>
          <p:cNvSpPr>
            <a:spLocks xmlns:a="http://schemas.openxmlformats.org/drawingml/2006/main" noGrp="1"/>
          </p:cNvSpPr>
          <p:nvPr/>
        </p:nvSpPr>
        <p:spPr>
          <a:xfrm xmlns:a="http://schemas.openxmlformats.org/drawingml/2006/main">
            <a:off x="7143750" y="6524625"/>
            <a:ext cx="436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825" b="0">
                <a:solidFill>
                  <a:srgbClr val="667180"/>
                </a:solidFill>
                <a:latin typeface="Arial"/>
                <a:ea typeface="Arial"/>
                <a:cs typeface="Arial"/>
              </a:defRPr>
            </a:defPPr>
          </a:lstStyle>
          <a:p xmlns:a="http://schemas.openxmlformats.org/drawingml/2006/main">
            <a:pPr algn="r">
              <a:defRPr sz="825" b="0">
                <a:solidFill>
                  <a:srgbClr val="667180"/>
                </a:solidFill>
                <a:latin typeface="Arial"/>
                <a:ea typeface="Arial"/>
                <a:cs typeface="Arial"/>
              </a:defRPr>
            </a:pPr>
            <a:r>
              <a:rPr sz="825" b="0">
                <a:solidFill>
                  <a:srgbClr val="667180"/>
                </a:solidFill>
                <a:latin typeface="Arial"/>
                <a:ea typeface="Arial"/>
                <a:cs typeface="Arial"/>
              </a:rPr>
              <a:t>DuckDB  |  FastAPI  |  RabbitMQ  |  Streamlit</a:t>
            </a:r>
          </a:p>
        </p:txBody>
      </p:sp>
    </p:spTree>
    <p:extLst>
      <p:ext uri="{BB962C8B-B14F-4D97-AF65-F5344CB8AC3E}">
        <p14:creationId xmlns:p14="http://schemas.microsoft.com/office/powerpoint/2010/main" val="2940290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AA8A623-FBD6-4FCD-BD51-F1417B051D0A}"/>
              </a:ext>
            </a:extLst>
          </p:cNvPr>
          <p:cNvSpPr>
            <a:spLocks xmlns:a="http://schemas.openxmlformats.org/drawingml/2006/main" noGrp="1"/>
          </p:cNvSpPr>
          <p:nvPr/>
        </p:nvSpPr>
        <p:spPr>
          <a:xfrm xmlns:a="http://schemas.openxmlformats.org/drawingml/2006/main">
            <a:off x="68580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16B8A6"/>
                </a:solidFill>
                <a:latin typeface="Arial"/>
                <a:ea typeface="Arial"/>
                <a:cs typeface="Arial"/>
              </a:defRPr>
            </a:defPPr>
          </a:lstStyle>
          <a:p xmlns:a="http://schemas.openxmlformats.org/drawingml/2006/main">
            <a:pPr algn="l">
              <a:defRPr sz="975" b="1">
                <a:solidFill>
                  <a:srgbClr val="16B8A6"/>
                </a:solidFill>
                <a:latin typeface="Arial"/>
                <a:ea typeface="Arial"/>
                <a:cs typeface="Arial"/>
              </a:defRPr>
            </a:pPr>
            <a:r>
              <a:rPr sz="975" b="1">
                <a:solidFill>
                  <a:srgbClr val="16B8A6"/>
                </a:solidFill>
                <a:latin typeface="Arial"/>
                <a:ea typeface="Arial"/>
                <a:cs typeface="Arial"/>
              </a:rPr>
              <a:t>INSIGHTS</a:t>
            </a:r>
          </a:p>
        </p:txBody>
      </p:sp>
      <p:sp>
        <p:nvSpPr>
          <p:cNvPr id="2" name="">
            <a:extLst xmlns:a="http://schemas.openxmlformats.org/drawingml/2006/main">
              <a:ext uri="{FF2B5EF4-FFF2-40B4-BE49-F238E27FC236}">
                <a16:creationId xmlns:a16="http://schemas.microsoft.com/office/drawing/2014/main" id="{B3E68F1A-C860-45D3-BCFC-7A7A889189FB}"/>
              </a:ext>
            </a:extLst>
          </p:cNvPr>
          <p:cNvSpPr>
            <a:spLocks xmlns:a="http://schemas.openxmlformats.org/drawingml/2006/main" noGrp="1"/>
          </p:cNvSpPr>
          <p:nvPr/>
        </p:nvSpPr>
        <p:spPr>
          <a:xfrm xmlns:a="http://schemas.openxmlformats.org/drawingml/2006/main">
            <a:off x="685800" y="6096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0131B"/>
                </a:solidFill>
                <a:latin typeface="Arial"/>
                <a:ea typeface="Arial"/>
                <a:cs typeface="Arial"/>
              </a:defRPr>
            </a:defPPr>
          </a:lstStyle>
          <a:p xmlns:a="http://schemas.openxmlformats.org/drawingml/2006/main">
            <a:pPr algn="l">
              <a:defRPr sz="2700" b="1">
                <a:solidFill>
                  <a:srgbClr val="10131B"/>
                </a:solidFill>
                <a:latin typeface="Arial"/>
                <a:ea typeface="Arial"/>
                <a:cs typeface="Arial"/>
              </a:defRPr>
            </a:pPr>
            <a:r>
              <a:rPr sz="2700" b="1">
                <a:solidFill>
                  <a:srgbClr val="10131B"/>
                </a:solidFill>
                <a:latin typeface="Arial"/>
                <a:ea typeface="Arial"/>
                <a:cs typeface="Arial"/>
              </a:rPr>
              <a:t>Business KPI findings</a:t>
            </a:r>
          </a:p>
        </p:txBody>
      </p:sp>
      <p:sp>
        <p:nvSpPr>
          <p:cNvPr id="3" name="">
            <a:extLst xmlns:a="http://schemas.openxmlformats.org/drawingml/2006/main">
              <a:ext uri="{FF2B5EF4-FFF2-40B4-BE49-F238E27FC236}">
                <a16:creationId xmlns:a16="http://schemas.microsoft.com/office/drawing/2014/main" id="{AC5B2E24-5C33-49B7-A448-F7CAB54705E7}"/>
              </a:ext>
            </a:extLst>
          </p:cNvPr>
          <p:cNvSpPr>
            <a:spLocks xmlns:a="http://schemas.openxmlformats.org/drawingml/2006/main" noGrp="1"/>
          </p:cNvSpPr>
          <p:nvPr/>
        </p:nvSpPr>
        <p:spPr>
          <a:xfrm xmlns:a="http://schemas.openxmlformats.org/drawingml/2006/main">
            <a:off x="11068050" y="4191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125" b="1">
                <a:solidFill>
                  <a:srgbClr val="667180"/>
                </a:solidFill>
                <a:latin typeface="Arial"/>
                <a:ea typeface="Arial"/>
                <a:cs typeface="Arial"/>
              </a:defRPr>
            </a:defPPr>
          </a:lstStyle>
          <a:p xmlns:a="http://schemas.openxmlformats.org/drawingml/2006/main">
            <a:pPr algn="r">
              <a:defRPr sz="1125" b="1">
                <a:solidFill>
                  <a:srgbClr val="667180"/>
                </a:solidFill>
                <a:latin typeface="Arial"/>
                <a:ea typeface="Arial"/>
                <a:cs typeface="Arial"/>
              </a:defRPr>
            </a:pPr>
            <a:r>
              <a:rPr sz="1125" b="1">
                <a:solidFill>
                  <a:srgbClr val="667180"/>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55266579-04C1-4F44-AF22-1CEFD3244A98}"/>
              </a:ext>
            </a:extLst>
          </p:cNvPr>
          <p:cNvSpPr>
            <a:spLocks xmlns:a="http://schemas.openxmlformats.org/drawingml/2006/main" noGrp="1"/>
          </p:cNvSpPr>
          <p:nvPr/>
        </p:nvSpPr>
        <p:spPr>
          <a:xfrm xmlns:a="http://schemas.openxmlformats.org/drawingml/2006/main">
            <a:off x="685800" y="1381125"/>
            <a:ext cx="209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850" b="1">
                <a:solidFill>
                  <a:srgbClr val="10131B"/>
                </a:solidFill>
                <a:latin typeface="Arial"/>
                <a:ea typeface="Arial"/>
                <a:cs typeface="Arial"/>
              </a:defRPr>
            </a:defPPr>
          </a:lstStyle>
          <a:p xmlns:a="http://schemas.openxmlformats.org/drawingml/2006/main">
            <a:pPr algn="l">
              <a:defRPr sz="2850" b="1">
                <a:solidFill>
                  <a:srgbClr val="10131B"/>
                </a:solidFill>
                <a:latin typeface="Arial"/>
                <a:ea typeface="Arial"/>
                <a:cs typeface="Arial"/>
              </a:defRPr>
            </a:pPr>
            <a:r>
              <a:rPr sz="2850" b="1">
                <a:solidFill>
                  <a:srgbClr val="10131B"/>
                </a:solidFill>
                <a:latin typeface="Arial"/>
                <a:ea typeface="Arial"/>
                <a:cs typeface="Arial"/>
              </a:rPr>
              <a:t>$28.78M</a:t>
            </a:r>
          </a:p>
        </p:txBody>
      </p:sp>
      <p:sp>
        <p:nvSpPr>
          <p:cNvPr id="5" name="">
            <a:extLst xmlns:a="http://schemas.openxmlformats.org/drawingml/2006/main">
              <a:ext uri="{FF2B5EF4-FFF2-40B4-BE49-F238E27FC236}">
                <a16:creationId xmlns:a16="http://schemas.microsoft.com/office/drawing/2014/main" id="{3E7ADADA-B010-4D4F-968D-9D8C260CD1C6}"/>
              </a:ext>
            </a:extLst>
          </p:cNvPr>
          <p:cNvSpPr>
            <a:spLocks xmlns:a="http://schemas.openxmlformats.org/drawingml/2006/main" noGrp="1"/>
          </p:cNvSpPr>
          <p:nvPr/>
        </p:nvSpPr>
        <p:spPr>
          <a:xfrm xmlns:a="http://schemas.openxmlformats.org/drawingml/2006/main">
            <a:off x="685800" y="18478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667180"/>
                </a:solidFill>
                <a:latin typeface="Arial"/>
                <a:ea typeface="Arial"/>
                <a:cs typeface="Arial"/>
              </a:defRPr>
            </a:defPPr>
          </a:lstStyle>
          <a:p xmlns:a="http://schemas.openxmlformats.org/drawingml/2006/main">
            <a:pPr algn="l">
              <a:defRPr sz="1200" b="0">
                <a:solidFill>
                  <a:srgbClr val="667180"/>
                </a:solidFill>
                <a:latin typeface="Arial"/>
                <a:ea typeface="Arial"/>
                <a:cs typeface="Arial"/>
              </a:defRPr>
            </a:pPr>
            <a:r>
              <a:rPr sz="1200" b="0">
                <a:solidFill>
                  <a:srgbClr val="667180"/>
                </a:solidFill>
                <a:latin typeface="Arial"/>
                <a:ea typeface="Arial"/>
                <a:cs typeface="Arial"/>
              </a:rPr>
              <a:t>realized revenue</a:t>
            </a:r>
          </a:p>
        </p:txBody>
      </p:sp>
      <p:sp>
        <p:nvSpPr>
          <p:cNvPr id="6" name="">
            <a:extLst xmlns:a="http://schemas.openxmlformats.org/drawingml/2006/main">
              <a:ext uri="{FF2B5EF4-FFF2-40B4-BE49-F238E27FC236}">
                <a16:creationId xmlns:a16="http://schemas.microsoft.com/office/drawing/2014/main" id="{4F4914CF-0B46-49B1-8972-656BB1893204}"/>
              </a:ext>
            </a:extLst>
          </p:cNvPr>
          <p:cNvSpPr>
            <a:spLocks xmlns:a="http://schemas.openxmlformats.org/drawingml/2006/main" noGrp="1"/>
          </p:cNvSpPr>
          <p:nvPr/>
        </p:nvSpPr>
        <p:spPr>
          <a:xfrm xmlns:a="http://schemas.openxmlformats.org/drawingml/2006/main">
            <a:off x="685800" y="2419350"/>
            <a:ext cx="209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850" b="1">
                <a:solidFill>
                  <a:srgbClr val="16B8A6"/>
                </a:solidFill>
                <a:latin typeface="Arial"/>
                <a:ea typeface="Arial"/>
                <a:cs typeface="Arial"/>
              </a:defRPr>
            </a:defPPr>
          </a:lstStyle>
          <a:p xmlns:a="http://schemas.openxmlformats.org/drawingml/2006/main">
            <a:pPr algn="l">
              <a:defRPr sz="2850" b="1">
                <a:solidFill>
                  <a:srgbClr val="16B8A6"/>
                </a:solidFill>
                <a:latin typeface="Arial"/>
                <a:ea typeface="Arial"/>
                <a:cs typeface="Arial"/>
              </a:defRPr>
            </a:pPr>
            <a:r>
              <a:rPr sz="2850" b="1">
                <a:solidFill>
                  <a:srgbClr val="16B8A6"/>
                </a:solidFill>
                <a:latin typeface="Arial"/>
                <a:ea typeface="Arial"/>
                <a:cs typeface="Arial"/>
              </a:rPr>
              <a:t>77.51%</a:t>
            </a:r>
          </a:p>
        </p:txBody>
      </p:sp>
      <p:sp>
        <p:nvSpPr>
          <p:cNvPr id="7" name="">
            <a:extLst xmlns:a="http://schemas.openxmlformats.org/drawingml/2006/main">
              <a:ext uri="{FF2B5EF4-FFF2-40B4-BE49-F238E27FC236}">
                <a16:creationId xmlns:a16="http://schemas.microsoft.com/office/drawing/2014/main" id="{35076884-CEEE-40D7-A9E7-221398018D04}"/>
              </a:ext>
            </a:extLst>
          </p:cNvPr>
          <p:cNvSpPr>
            <a:spLocks xmlns:a="http://schemas.openxmlformats.org/drawingml/2006/main" noGrp="1"/>
          </p:cNvSpPr>
          <p:nvPr/>
        </p:nvSpPr>
        <p:spPr>
          <a:xfrm xmlns:a="http://schemas.openxmlformats.org/drawingml/2006/main">
            <a:off x="685800" y="2886075"/>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667180"/>
                </a:solidFill>
                <a:latin typeface="Arial"/>
                <a:ea typeface="Arial"/>
                <a:cs typeface="Arial"/>
              </a:defRPr>
            </a:defPPr>
          </a:lstStyle>
          <a:p xmlns:a="http://schemas.openxmlformats.org/drawingml/2006/main">
            <a:pPr algn="l">
              <a:defRPr sz="1200" b="0">
                <a:solidFill>
                  <a:srgbClr val="667180"/>
                </a:solidFill>
                <a:latin typeface="Arial"/>
                <a:ea typeface="Arial"/>
                <a:cs typeface="Arial"/>
              </a:defRPr>
            </a:pPr>
            <a:r>
              <a:rPr sz="1200" b="0">
                <a:solidFill>
                  <a:srgbClr val="667180"/>
                </a:solidFill>
                <a:latin typeface="Arial"/>
                <a:ea typeface="Arial"/>
                <a:cs typeface="Arial"/>
              </a:rPr>
              <a:t>repeat customers</a:t>
            </a:r>
          </a:p>
        </p:txBody>
      </p:sp>
      <p:sp>
        <p:nvSpPr>
          <p:cNvPr id="8" name="">
            <a:extLst xmlns:a="http://schemas.openxmlformats.org/drawingml/2006/main">
              <a:ext uri="{FF2B5EF4-FFF2-40B4-BE49-F238E27FC236}">
                <a16:creationId xmlns:a16="http://schemas.microsoft.com/office/drawing/2014/main" id="{47F0B82F-B3EE-4934-B405-A237579707F8}"/>
              </a:ext>
            </a:extLst>
          </p:cNvPr>
          <p:cNvSpPr>
            <a:spLocks xmlns:a="http://schemas.openxmlformats.org/drawingml/2006/main" noGrp="1"/>
          </p:cNvSpPr>
          <p:nvPr/>
        </p:nvSpPr>
        <p:spPr>
          <a:xfrm xmlns:a="http://schemas.openxmlformats.org/drawingml/2006/main">
            <a:off x="685800" y="3457575"/>
            <a:ext cx="209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850" b="1">
                <a:solidFill>
                  <a:srgbClr val="E65B65"/>
                </a:solidFill>
                <a:latin typeface="Arial"/>
                <a:ea typeface="Arial"/>
                <a:cs typeface="Arial"/>
              </a:defRPr>
            </a:defPPr>
          </a:lstStyle>
          <a:p xmlns:a="http://schemas.openxmlformats.org/drawingml/2006/main">
            <a:pPr algn="l">
              <a:defRPr sz="2850" b="1">
                <a:solidFill>
                  <a:srgbClr val="E65B65"/>
                </a:solidFill>
                <a:latin typeface="Arial"/>
                <a:ea typeface="Arial"/>
                <a:cs typeface="Arial"/>
              </a:defRPr>
            </a:pPr>
            <a:r>
              <a:rPr sz="2850" b="1">
                <a:solidFill>
                  <a:srgbClr val="E65B65"/>
                </a:solidFill>
                <a:latin typeface="Arial"/>
                <a:ea typeface="Arial"/>
                <a:cs typeface="Arial"/>
              </a:rPr>
              <a:t>7.11%</a:t>
            </a:r>
          </a:p>
        </p:txBody>
      </p:sp>
      <p:sp>
        <p:nvSpPr>
          <p:cNvPr id="9" name="">
            <a:extLst xmlns:a="http://schemas.openxmlformats.org/drawingml/2006/main">
              <a:ext uri="{FF2B5EF4-FFF2-40B4-BE49-F238E27FC236}">
                <a16:creationId xmlns:a16="http://schemas.microsoft.com/office/drawing/2014/main" id="{4BDE7366-08AF-4F3D-A51C-E96E1EEA83A8}"/>
              </a:ext>
            </a:extLst>
          </p:cNvPr>
          <p:cNvSpPr>
            <a:spLocks xmlns:a="http://schemas.openxmlformats.org/drawingml/2006/main" noGrp="1"/>
          </p:cNvSpPr>
          <p:nvPr/>
        </p:nvSpPr>
        <p:spPr>
          <a:xfrm xmlns:a="http://schemas.openxmlformats.org/drawingml/2006/main">
            <a:off x="685800" y="392430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667180"/>
                </a:solidFill>
                <a:latin typeface="Arial"/>
                <a:ea typeface="Arial"/>
                <a:cs typeface="Arial"/>
              </a:defRPr>
            </a:defPPr>
          </a:lstStyle>
          <a:p xmlns:a="http://schemas.openxmlformats.org/drawingml/2006/main">
            <a:pPr algn="l">
              <a:defRPr sz="1200" b="0">
                <a:solidFill>
                  <a:srgbClr val="667180"/>
                </a:solidFill>
                <a:latin typeface="Arial"/>
                <a:ea typeface="Arial"/>
                <a:cs typeface="Arial"/>
              </a:defRPr>
            </a:pPr>
            <a:r>
              <a:rPr sz="1200" b="0">
                <a:solidFill>
                  <a:srgbClr val="667180"/>
                </a:solidFill>
                <a:latin typeface="Arial"/>
                <a:ea typeface="Arial"/>
                <a:cs typeface="Arial"/>
              </a:rPr>
              <a:t>return rate</a:t>
            </a:r>
          </a:p>
        </p:txBody>
      </p:sp>
      <p:sp>
        <p:nvSpPr>
          <p:cNvPr id="10" name="">
            <a:extLst xmlns:a="http://schemas.openxmlformats.org/drawingml/2006/main">
              <a:ext uri="{FF2B5EF4-FFF2-40B4-BE49-F238E27FC236}">
                <a16:creationId xmlns:a16="http://schemas.microsoft.com/office/drawing/2014/main" id="{DA164CD4-F1BE-4A95-B519-EACAB6806D2D}"/>
              </a:ext>
            </a:extLst>
          </p:cNvPr>
          <p:cNvSpPr>
            <a:spLocks xmlns:a="http://schemas.openxmlformats.org/drawingml/2006/main" noGrp="1"/>
          </p:cNvSpPr>
          <p:nvPr/>
        </p:nvSpPr>
        <p:spPr>
          <a:xfrm xmlns:a="http://schemas.openxmlformats.org/drawingml/2006/main">
            <a:off x="685800" y="4495800"/>
            <a:ext cx="209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850" b="1">
                <a:solidFill>
                  <a:srgbClr val="F2A03D"/>
                </a:solidFill>
                <a:latin typeface="Arial"/>
                <a:ea typeface="Arial"/>
                <a:cs typeface="Arial"/>
              </a:defRPr>
            </a:defPPr>
          </a:lstStyle>
          <a:p xmlns:a="http://schemas.openxmlformats.org/drawingml/2006/main">
            <a:pPr algn="l">
              <a:defRPr sz="2850" b="1">
                <a:solidFill>
                  <a:srgbClr val="F2A03D"/>
                </a:solidFill>
                <a:latin typeface="Arial"/>
                <a:ea typeface="Arial"/>
                <a:cs typeface="Arial"/>
              </a:defRPr>
            </a:pPr>
            <a:r>
              <a:rPr sz="2850" b="1">
                <a:solidFill>
                  <a:srgbClr val="F2A03D"/>
                </a:solidFill>
                <a:latin typeface="Arial"/>
                <a:ea typeface="Arial"/>
                <a:cs typeface="Arial"/>
              </a:rPr>
              <a:t>South</a:t>
            </a:r>
          </a:p>
        </p:txBody>
      </p:sp>
      <p:sp>
        <p:nvSpPr>
          <p:cNvPr id="11" name="">
            <a:extLst xmlns:a="http://schemas.openxmlformats.org/drawingml/2006/main">
              <a:ext uri="{FF2B5EF4-FFF2-40B4-BE49-F238E27FC236}">
                <a16:creationId xmlns:a16="http://schemas.microsoft.com/office/drawing/2014/main" id="{4FA54FA9-AE9C-4D3B-8B00-B75C68349008}"/>
              </a:ext>
            </a:extLst>
          </p:cNvPr>
          <p:cNvSpPr>
            <a:spLocks xmlns:a="http://schemas.openxmlformats.org/drawingml/2006/main" noGrp="1"/>
          </p:cNvSpPr>
          <p:nvPr/>
        </p:nvSpPr>
        <p:spPr>
          <a:xfrm xmlns:a="http://schemas.openxmlformats.org/drawingml/2006/main">
            <a:off x="685800" y="4962525"/>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00" b="0">
                <a:solidFill>
                  <a:srgbClr val="667180"/>
                </a:solidFill>
                <a:latin typeface="Arial"/>
                <a:ea typeface="Arial"/>
                <a:cs typeface="Arial"/>
              </a:defRPr>
            </a:defPPr>
          </a:lstStyle>
          <a:p xmlns:a="http://schemas.openxmlformats.org/drawingml/2006/main">
            <a:pPr algn="l">
              <a:defRPr sz="1200" b="0">
                <a:solidFill>
                  <a:srgbClr val="667180"/>
                </a:solidFill>
                <a:latin typeface="Arial"/>
                <a:ea typeface="Arial"/>
                <a:cs typeface="Arial"/>
              </a:defRPr>
            </a:pPr>
            <a:r>
              <a:rPr sz="1200" b="0">
                <a:solidFill>
                  <a:srgbClr val="667180"/>
                </a:solidFill>
                <a:latin typeface="Arial"/>
                <a:ea typeface="Arial"/>
                <a:cs typeface="Arial"/>
              </a:rPr>
              <a:t>top region</a:t>
            </a:r>
          </a:p>
        </p:txBody>
      </p:sp>
      <p:graphicFrame>
        <p:nvGraphicFramePr>
          <p:cNvPr id="12" name="Chart">
            <a:extLst xmlns:a="http://schemas.openxmlformats.org/drawingml/2006/main">
              <a:ext uri="{FF2B5EF4-FFF2-40B4-BE49-F238E27FC236}">
                <a16:creationId xmlns:a16="http://schemas.microsoft.com/office/drawing/2014/main" id="{559EA36C-25D3-43A4-A68D-ED2EAD13F1DD}"/>
              </a:ext>
            </a:extLst>
          </p:cNvPr>
          <p:cNvGraphicFramePr/>
          <p:nvPr/>
        </p:nvGraphicFramePr>
        <p:xfrm>
          <a:off xmlns:a="http://schemas.openxmlformats.org/drawingml/2006/main" x="3238500" y="142875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ef5fe100ba004be1"/>
          </a:graphicData>
        </a:graphic>
      </p:graphicFrame>
      <p:sp>
        <p:nvSpPr>
          <p:cNvPr id="13" name="">
            <a:extLst xmlns:a="http://schemas.openxmlformats.org/drawingml/2006/main">
              <a:ext uri="{FF2B5EF4-FFF2-40B4-BE49-F238E27FC236}">
                <a16:creationId xmlns:a16="http://schemas.microsoft.com/office/drawing/2014/main" id="{09D9CABF-1098-4BEB-B93E-7270682D72EC}"/>
              </a:ext>
            </a:extLst>
          </p:cNvPr>
          <p:cNvSpPr>
            <a:spLocks xmlns:a="http://schemas.openxmlformats.org/drawingml/2006/main" noGrp="1"/>
          </p:cNvSpPr>
          <p:nvPr/>
        </p:nvSpPr>
        <p:spPr>
          <a:xfrm xmlns:a="http://schemas.openxmlformats.org/drawingml/2006/main">
            <a:off x="3238500" y="539115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75" b="1">
                <a:solidFill>
                  <a:srgbClr val="10131B"/>
                </a:solidFill>
                <a:latin typeface="Arial"/>
                <a:ea typeface="Arial"/>
                <a:cs typeface="Arial"/>
              </a:defRPr>
            </a:defPPr>
          </a:lstStyle>
          <a:p xmlns:a="http://schemas.openxmlformats.org/drawingml/2006/main">
            <a:pPr algn="ctr">
              <a:defRPr sz="1575" b="1">
                <a:solidFill>
                  <a:srgbClr val="10131B"/>
                </a:solidFill>
                <a:latin typeface="Arial"/>
                <a:ea typeface="Arial"/>
                <a:cs typeface="Arial"/>
              </a:defRPr>
            </a:pPr>
            <a:r>
              <a:rPr sz="1575" b="1">
                <a:solidFill>
                  <a:srgbClr val="10131B"/>
                </a:solidFill>
                <a:latin typeface="Arial"/>
                <a:ea typeface="Arial"/>
                <a:cs typeface="Arial"/>
              </a:rPr>
              <a:t>Electronics leads revenue; Sports has the highest category return rate at 7.38%</a:t>
            </a:r>
          </a:p>
        </p:txBody>
      </p:sp>
      <p:sp>
        <p:nvSpPr>
          <p:cNvPr id="14" name="">
            <a:extLst xmlns:a="http://schemas.openxmlformats.org/drawingml/2006/main">
              <a:ext uri="{FF2B5EF4-FFF2-40B4-BE49-F238E27FC236}">
                <a16:creationId xmlns:a16="http://schemas.microsoft.com/office/drawing/2014/main" id="{2EDCE5F1-E2AC-4C1B-9148-EF68A62854EA}"/>
              </a:ext>
            </a:extLst>
          </p:cNvPr>
          <p:cNvSpPr>
            <a:spLocks xmlns:a="http://schemas.openxmlformats.org/drawingml/2006/main" noGrp="1"/>
          </p:cNvSpPr>
          <p:nvPr/>
        </p:nvSpPr>
        <p:spPr>
          <a:xfrm xmlns:a="http://schemas.openxmlformats.org/drawingml/2006/main">
            <a:off x="685800" y="6457950"/>
            <a:ext cx="10820400" cy="9525"/>
          </a:xfrm>
          <a:prstGeom xmlns:a="http://schemas.openxmlformats.org/drawingml/2006/main" prst="rect">
            <a:avLst/>
          </a:prstGeom>
          <a:solidFill xmlns:a="http://schemas.openxmlformats.org/drawingml/2006/main">
            <a:srgbClr val="D5DCE4"/>
          </a:solidFill>
          <a:ln xmlns:a="http://schemas.openxmlformats.org/drawingml/2006/main" w="0">
            <a:solidFill>
              <a:srgbClr val="D5DCE4"/>
            </a:solidFill>
            <a:prstDash val="solid"/>
          </a:ln>
        </p:spPr>
      </p:sp>
      <p:sp>
        <p:nvSpPr>
          <p:cNvPr id="15" name="">
            <a:extLst xmlns:a="http://schemas.openxmlformats.org/drawingml/2006/main">
              <a:ext uri="{FF2B5EF4-FFF2-40B4-BE49-F238E27FC236}">
                <a16:creationId xmlns:a16="http://schemas.microsoft.com/office/drawing/2014/main" id="{BE5AC5C6-1343-4F55-9D91-AFED887E41F8}"/>
              </a:ext>
            </a:extLst>
          </p:cNvPr>
          <p:cNvSpPr>
            <a:spLocks xmlns:a="http://schemas.openxmlformats.org/drawingml/2006/main" noGrp="1"/>
          </p:cNvSpPr>
          <p:nvPr/>
        </p:nvSpPr>
        <p:spPr>
          <a:xfrm xmlns:a="http://schemas.openxmlformats.org/drawingml/2006/main">
            <a:off x="685800" y="6524625"/>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825" b="0">
                <a:solidFill>
                  <a:srgbClr val="667180"/>
                </a:solidFill>
                <a:latin typeface="Arial"/>
                <a:ea typeface="Arial"/>
                <a:cs typeface="Arial"/>
              </a:defRPr>
            </a:defPPr>
          </a:lstStyle>
          <a:p xmlns:a="http://schemas.openxmlformats.org/drawingml/2006/main">
            <a:pPr algn="l">
              <a:defRPr sz="825" b="0">
                <a:solidFill>
                  <a:srgbClr val="667180"/>
                </a:solidFill>
                <a:latin typeface="Arial"/>
                <a:ea typeface="Arial"/>
                <a:cs typeface="Arial"/>
              </a:defRPr>
            </a:pPr>
            <a:r>
              <a:rPr sz="825" b="0">
                <a:solidFill>
                  <a:srgbClr val="667180"/>
                </a:solidFill>
                <a:latin typeface="Arial"/>
                <a:ea typeface="Arial"/>
                <a:cs typeface="Arial"/>
              </a:rPr>
              <a:t>E-Commerce Sales Analytics using DuckDB</a:t>
            </a:r>
          </a:p>
        </p:txBody>
      </p:sp>
      <p:sp>
        <p:nvSpPr>
          <p:cNvPr id="16" name="">
            <a:extLst xmlns:a="http://schemas.openxmlformats.org/drawingml/2006/main">
              <a:ext uri="{FF2B5EF4-FFF2-40B4-BE49-F238E27FC236}">
                <a16:creationId xmlns:a16="http://schemas.microsoft.com/office/drawing/2014/main" id="{8C435491-E2F4-45E9-B4B2-EF2F1D91986A}"/>
              </a:ext>
            </a:extLst>
          </p:cNvPr>
          <p:cNvSpPr>
            <a:spLocks xmlns:a="http://schemas.openxmlformats.org/drawingml/2006/main" noGrp="1"/>
          </p:cNvSpPr>
          <p:nvPr/>
        </p:nvSpPr>
        <p:spPr>
          <a:xfrm xmlns:a="http://schemas.openxmlformats.org/drawingml/2006/main">
            <a:off x="7143750" y="6524625"/>
            <a:ext cx="436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825" b="0">
                <a:solidFill>
                  <a:srgbClr val="667180"/>
                </a:solidFill>
                <a:latin typeface="Arial"/>
                <a:ea typeface="Arial"/>
                <a:cs typeface="Arial"/>
              </a:defRPr>
            </a:defPPr>
          </a:lstStyle>
          <a:p xmlns:a="http://schemas.openxmlformats.org/drawingml/2006/main">
            <a:pPr algn="r">
              <a:defRPr sz="825" b="0">
                <a:solidFill>
                  <a:srgbClr val="667180"/>
                </a:solidFill>
                <a:latin typeface="Arial"/>
                <a:ea typeface="Arial"/>
                <a:cs typeface="Arial"/>
              </a:defRPr>
            </a:pPr>
            <a:r>
              <a:rPr sz="825" b="0">
                <a:solidFill>
                  <a:srgbClr val="667180"/>
                </a:solidFill>
                <a:latin typeface="Arial"/>
                <a:ea typeface="Arial"/>
                <a:cs typeface="Arial"/>
              </a:rPr>
              <a:t>DuckDB  |  FastAPI  |  RabbitMQ  |  Streamlit</a:t>
            </a:r>
          </a:p>
        </p:txBody>
      </p:sp>
    </p:spTree>
    <p:extLst>
      <p:ext uri="{BB962C8B-B14F-4D97-AF65-F5344CB8AC3E}">
        <p14:creationId xmlns:p14="http://schemas.microsoft.com/office/powerpoint/2010/main" val="575927119"/>
      </p:ext>
    </p:extLst>
  </p:cSld>
</p:sld>
</file>

<file path=ppt/slides/slide7.xml><?xml version="1.0" encoding="utf-8"?>
<p:sld xmlns:p="http://schemas.openxmlformats.org/presentationml/2006/main">
  <p:cSld>
    <p:bg>
      <p:bgPr>
        <a:solidFill xmlns:a="http://schemas.openxmlformats.org/drawingml/2006/main">
          <a:srgbClr val="1013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E30EF9D-D94B-477D-A06A-B562832D0F3D}"/>
              </a:ext>
            </a:extLst>
          </p:cNvPr>
          <p:cNvSpPr>
            <a:spLocks xmlns:a="http://schemas.openxmlformats.org/drawingml/2006/main" noGrp="1"/>
          </p:cNvSpPr>
          <p:nvPr/>
        </p:nvSpPr>
        <p:spPr>
          <a:xfrm xmlns:a="http://schemas.openxmlformats.org/drawingml/2006/main">
            <a:off x="685800" y="361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16B8A6"/>
                </a:solidFill>
                <a:latin typeface="Arial"/>
                <a:ea typeface="Arial"/>
                <a:cs typeface="Arial"/>
              </a:defRPr>
            </a:defPPr>
          </a:lstStyle>
          <a:p xmlns:a="http://schemas.openxmlformats.org/drawingml/2006/main">
            <a:pPr algn="l">
              <a:defRPr sz="975" b="1">
                <a:solidFill>
                  <a:srgbClr val="16B8A6"/>
                </a:solidFill>
                <a:latin typeface="Arial"/>
                <a:ea typeface="Arial"/>
                <a:cs typeface="Arial"/>
              </a:defRPr>
            </a:pPr>
            <a:r>
              <a:rPr sz="975" b="1">
                <a:solidFill>
                  <a:srgbClr val="16B8A6"/>
                </a:solidFill>
                <a:latin typeface="Arial"/>
                <a:ea typeface="Arial"/>
                <a:cs typeface="Arial"/>
              </a:rPr>
              <a:t>LIVE ANALYTICS</a:t>
            </a:r>
          </a:p>
        </p:txBody>
      </p:sp>
      <p:sp>
        <p:nvSpPr>
          <p:cNvPr id="2" name="">
            <a:extLst xmlns:a="http://schemas.openxmlformats.org/drawingml/2006/main">
              <a:ext uri="{FF2B5EF4-FFF2-40B4-BE49-F238E27FC236}">
                <a16:creationId xmlns:a16="http://schemas.microsoft.com/office/drawing/2014/main" id="{61A4A3C8-D88D-4BBD-B108-61A00E22E651}"/>
              </a:ext>
            </a:extLst>
          </p:cNvPr>
          <p:cNvSpPr>
            <a:spLocks xmlns:a="http://schemas.openxmlformats.org/drawingml/2006/main" noGrp="1"/>
          </p:cNvSpPr>
          <p:nvPr/>
        </p:nvSpPr>
        <p:spPr>
          <a:xfrm xmlns:a="http://schemas.openxmlformats.org/drawingml/2006/main">
            <a:off x="685800" y="628650"/>
            <a:ext cx="590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Streamlit dashboard</a:t>
            </a:r>
          </a:p>
        </p:txBody>
      </p:sp>
      <p:sp>
        <p:nvSpPr>
          <p:cNvPr id="3" name="">
            <a:extLst xmlns:a="http://schemas.openxmlformats.org/drawingml/2006/main">
              <a:ext uri="{FF2B5EF4-FFF2-40B4-BE49-F238E27FC236}">
                <a16:creationId xmlns:a16="http://schemas.microsoft.com/office/drawing/2014/main" id="{E06857AF-A852-4AEB-8B4C-E5776BE8C37B}"/>
              </a:ext>
            </a:extLst>
          </p:cNvPr>
          <p:cNvSpPr>
            <a:spLocks xmlns:a="http://schemas.openxmlformats.org/drawingml/2006/main" noGrp="1"/>
          </p:cNvSpPr>
          <p:nvPr/>
        </p:nvSpPr>
        <p:spPr>
          <a:xfrm xmlns:a="http://schemas.openxmlformats.org/drawingml/2006/main">
            <a:off x="685800" y="1133475"/>
            <a:ext cx="876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425" b="0">
                <a:solidFill>
                  <a:srgbClr val="C9D2DE"/>
                </a:solidFill>
                <a:latin typeface="Arial"/>
                <a:ea typeface="Arial"/>
                <a:cs typeface="Arial"/>
              </a:defRPr>
            </a:defPPr>
          </a:lstStyle>
          <a:p xmlns:a="http://schemas.openxmlformats.org/drawingml/2006/main">
            <a:pPr algn="l">
              <a:defRPr sz="1425" b="0">
                <a:solidFill>
                  <a:srgbClr val="C9D2DE"/>
                </a:solidFill>
                <a:latin typeface="Arial"/>
                <a:ea typeface="Arial"/>
                <a:cs typeface="Arial"/>
              </a:defRPr>
            </a:pPr>
            <a:r>
              <a:rPr sz="1425" b="0">
                <a:solidFill>
                  <a:srgbClr val="C9D2DE"/>
                </a:solidFill>
                <a:latin typeface="Arial"/>
                <a:ea typeface="Arial"/>
                <a:cs typeface="Arial"/>
              </a:rPr>
              <a:t>Historical KPIs and live order metrics share one decision-focused interface</a:t>
            </a:r>
          </a:p>
        </p:txBody>
      </p:sp>
      <p:pic>
        <p:nvPicPr>
          <p:cNvPr id="4" name="">
            <a:extLst xmlns:a="http://schemas.openxmlformats.org/drawingml/2006/main">
              <a:ext uri="{FF2B5EF4-FFF2-40B4-BE49-F238E27FC236}">
                <a16:creationId xmlns:a16="http://schemas.microsoft.com/office/drawing/2014/main" id="{97975B48-006F-4D0F-9468-29F2F397DCDC}"/>
              </a:ext>
            </a:extLst>
          </p:cNvPr>
          <p:cNvPicPr>
            <a:picLocks xmlns:a="http://schemas.openxmlformats.org/drawingml/2006/main" noChangeAspect="1"/>
          </p:cNvPicPr>
          <p:nvPr/>
        </p:nvPicPr>
        <p:blipFill>
          <a:blip xmlns:r="http://schemas.openxmlformats.org/officeDocument/2006/relationships" xmlns:a="http://schemas.openxmlformats.org/drawingml/2006/main" r:embed="R4dc72023fa284b2c"/>
          <a:stretch xmlns:a="http://schemas.openxmlformats.org/drawingml/2006/main"/>
        </p:blipFill>
        <p:spPr>
          <a:xfrm xmlns:a="http://schemas.openxmlformats.org/drawingml/2006/main">
            <a:off x="3305412" y="1676400"/>
            <a:ext cx="5581176" cy="4619625"/>
          </a:xfrm>
          <a:prstGeom xmlns:a="http://schemas.openxmlformats.org/drawingml/2006/main" prst="rect">
            <a:avLst/>
          </a:prstGeom>
        </p:spPr>
      </p:pic>
    </p:spTree>
    <p:extLst>
      <p:ext uri="{BB962C8B-B14F-4D97-AF65-F5344CB8AC3E}">
        <p14:creationId xmlns:p14="http://schemas.microsoft.com/office/powerpoint/2010/main" val="6327547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DDD3D8B-6C05-44D5-B93B-B7D827CAF30D}"/>
              </a:ext>
            </a:extLst>
          </p:cNvPr>
          <p:cNvSpPr>
            <a:spLocks xmlns:a="http://schemas.openxmlformats.org/drawingml/2006/main" noGrp="1"/>
          </p:cNvSpPr>
          <p:nvPr/>
        </p:nvSpPr>
        <p:spPr>
          <a:xfrm xmlns:a="http://schemas.openxmlformats.org/drawingml/2006/main">
            <a:off x="68580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16B8A6"/>
                </a:solidFill>
                <a:latin typeface="Arial"/>
                <a:ea typeface="Arial"/>
                <a:cs typeface="Arial"/>
              </a:defRPr>
            </a:defPPr>
          </a:lstStyle>
          <a:p xmlns:a="http://schemas.openxmlformats.org/drawingml/2006/main">
            <a:pPr algn="l">
              <a:defRPr sz="975" b="1">
                <a:solidFill>
                  <a:srgbClr val="16B8A6"/>
                </a:solidFill>
                <a:latin typeface="Arial"/>
                <a:ea typeface="Arial"/>
                <a:cs typeface="Arial"/>
              </a:defRPr>
            </a:pPr>
            <a:r>
              <a:rPr sz="975" b="1">
                <a:solidFill>
                  <a:srgbClr val="16B8A6"/>
                </a:solidFill>
                <a:latin typeface="Arial"/>
                <a:ea typeface="Arial"/>
                <a:cs typeface="Arial"/>
              </a:rPr>
              <a:t>OPTIMIZATION</a:t>
            </a:r>
          </a:p>
        </p:txBody>
      </p:sp>
      <p:sp>
        <p:nvSpPr>
          <p:cNvPr id="2" name="">
            <a:extLst xmlns:a="http://schemas.openxmlformats.org/drawingml/2006/main">
              <a:ext uri="{FF2B5EF4-FFF2-40B4-BE49-F238E27FC236}">
                <a16:creationId xmlns:a16="http://schemas.microsoft.com/office/drawing/2014/main" id="{9E11E39B-266B-48A6-8815-905FE44227B2}"/>
              </a:ext>
            </a:extLst>
          </p:cNvPr>
          <p:cNvSpPr>
            <a:spLocks xmlns:a="http://schemas.openxmlformats.org/drawingml/2006/main" noGrp="1"/>
          </p:cNvSpPr>
          <p:nvPr/>
        </p:nvSpPr>
        <p:spPr>
          <a:xfrm xmlns:a="http://schemas.openxmlformats.org/drawingml/2006/main">
            <a:off x="685800" y="6096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0131B"/>
                </a:solidFill>
                <a:latin typeface="Arial"/>
                <a:ea typeface="Arial"/>
                <a:cs typeface="Arial"/>
              </a:defRPr>
            </a:defPPr>
          </a:lstStyle>
          <a:p xmlns:a="http://schemas.openxmlformats.org/drawingml/2006/main">
            <a:pPr algn="l">
              <a:defRPr sz="2700" b="1">
                <a:solidFill>
                  <a:srgbClr val="10131B"/>
                </a:solidFill>
                <a:latin typeface="Arial"/>
                <a:ea typeface="Arial"/>
                <a:cs typeface="Arial"/>
              </a:defRPr>
            </a:pPr>
            <a:r>
              <a:rPr sz="2700" b="1">
                <a:solidFill>
                  <a:srgbClr val="10131B"/>
                </a:solidFill>
                <a:latin typeface="Arial"/>
                <a:ea typeface="Arial"/>
                <a:cs typeface="Arial"/>
              </a:rPr>
              <a:t>Performance across storage and thread modes</a:t>
            </a:r>
          </a:p>
        </p:txBody>
      </p:sp>
      <p:sp>
        <p:nvSpPr>
          <p:cNvPr id="3" name="">
            <a:extLst xmlns:a="http://schemas.openxmlformats.org/drawingml/2006/main">
              <a:ext uri="{FF2B5EF4-FFF2-40B4-BE49-F238E27FC236}">
                <a16:creationId xmlns:a16="http://schemas.microsoft.com/office/drawing/2014/main" id="{173DCF11-B7CB-48CB-BA86-2D79028FBB74}"/>
              </a:ext>
            </a:extLst>
          </p:cNvPr>
          <p:cNvSpPr>
            <a:spLocks xmlns:a="http://schemas.openxmlformats.org/drawingml/2006/main" noGrp="1"/>
          </p:cNvSpPr>
          <p:nvPr/>
        </p:nvSpPr>
        <p:spPr>
          <a:xfrm xmlns:a="http://schemas.openxmlformats.org/drawingml/2006/main">
            <a:off x="11068050" y="4191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125" b="1">
                <a:solidFill>
                  <a:srgbClr val="667180"/>
                </a:solidFill>
                <a:latin typeface="Arial"/>
                <a:ea typeface="Arial"/>
                <a:cs typeface="Arial"/>
              </a:defRPr>
            </a:defPPr>
          </a:lstStyle>
          <a:p xmlns:a="http://schemas.openxmlformats.org/drawingml/2006/main">
            <a:pPr algn="r">
              <a:defRPr sz="1125" b="1">
                <a:solidFill>
                  <a:srgbClr val="667180"/>
                </a:solidFill>
                <a:latin typeface="Arial"/>
                <a:ea typeface="Arial"/>
                <a:cs typeface="Arial"/>
              </a:defRPr>
            </a:pPr>
            <a:r>
              <a:rPr sz="1125" b="1">
                <a:solidFill>
                  <a:srgbClr val="667180"/>
                </a:solidFill>
                <a:latin typeface="Arial"/>
                <a:ea typeface="Arial"/>
                <a:cs typeface="Arial"/>
              </a:rPr>
              <a:t>08</a:t>
            </a:r>
          </a:p>
        </p:txBody>
      </p:sp>
      <p:graphicFrame>
        <p:nvGraphicFramePr>
          <p:cNvPr id="4" name="Chart">
            <a:extLst xmlns:a="http://schemas.openxmlformats.org/drawingml/2006/main">
              <a:ext uri="{FF2B5EF4-FFF2-40B4-BE49-F238E27FC236}">
                <a16:creationId xmlns:a16="http://schemas.microsoft.com/office/drawing/2014/main" id="{9F91594A-CF4E-4FCB-BC59-4F70E8A52D48}"/>
              </a:ext>
            </a:extLst>
          </p:cNvPr>
          <p:cNvGraphicFramePr/>
          <p:nvPr/>
        </p:nvGraphicFramePr>
        <p:xfrm>
          <a:off xmlns:a="http://schemas.openxmlformats.org/drawingml/2006/main" x="685800" y="1428750"/>
          <a:ext xmlns:a="http://schemas.openxmlformats.org/drawingml/2006/main" cx="6477000" cy="3571875"/>
        </p:xfrm>
        <a:graphic xmlns:a="http://schemas.openxmlformats.org/drawingml/2006/main">
          <a:graphicData uri="http://schemas.openxmlformats.org/drawingml/2006/chart">
            <c:chart xmlns:r="http://schemas.openxmlformats.org/officeDocument/2006/relationships" xmlns:c="http://schemas.openxmlformats.org/drawingml/2006/chart" r:id="R93f0f097049f439f"/>
          </a:graphicData>
        </a:graphic>
      </p:graphicFrame>
      <p:graphicFrame>
        <p:nvGraphicFramePr>
          <p:cNvPr id="5" name="">
            <a:extLst xmlns:a="http://schemas.openxmlformats.org/drawingml/2006/main">
              <a:ext uri="{FF2B5EF4-FFF2-40B4-BE49-F238E27FC236}">
                <a16:creationId xmlns:a16="http://schemas.microsoft.com/office/drawing/2014/main" id="{A556D00E-8549-48F4-A372-734829198B2A}"/>
              </a:ext>
            </a:extLst>
          </p:cNvPr>
          <p:cNvGraphicFramePr/>
          <p:nvPr/>
        </p:nvGraphicFramePr>
        <p:xfrm>
          <a:off xmlns:a="http://schemas.openxmlformats.org/drawingml/2006/main" x="7572375" y="1562100"/>
          <a:ext xmlns:a="http://schemas.openxmlformats.org/drawingml/2006/main" cx="3667125" cy="3143250"/>
        </p:xfrm>
        <a:graphic xmlns:a="http://schemas.openxmlformats.org/drawingml/2006/main">
          <a:graphicData uri="http://schemas.openxmlformats.org/drawingml/2006/table">
            <a:tbl>
              <a:tblPr firstRow="1" bandRow="1"/>
              <a:tblGrid>
                <a:gridCol w="1381125"/>
                <a:gridCol w="857250"/>
                <a:gridCol w="1428750"/>
              </a:tblGrid>
              <a:tr h="449036">
                <a:tc>
                  <a:txBody>
                    <a:bodyPr/>
                    <a:lstStyle/>
                    <a:p>
                      <a:r>
                        <a:rPr sz="1050" b="1">
                          <a:solidFill>
                            <a:srgbClr val="FFFFFF"/>
                          </a:solidFill>
                          <a:latin typeface="Arial"/>
                          <a:ea typeface="Arial"/>
                          <a:cs typeface="Arial"/>
                        </a:rPr>
                        <a:t>Storage</a:t>
                      </a:r>
                    </a:p>
                  </a:txBody>
                  <a:tcPr marL="91440" marR="91440" marT="45720" marB="45720">
                    <a:solidFill>
                      <a:srgbClr val="10131B"/>
                    </a:solidFill>
                  </a:tcPr>
                </a:tc>
                <a:tc>
                  <a:txBody>
                    <a:bodyPr/>
                    <a:lstStyle/>
                    <a:p>
                      <a:r>
                        <a:rPr sz="1050" b="1">
                          <a:solidFill>
                            <a:srgbClr val="FFFFFF"/>
                          </a:solidFill>
                          <a:latin typeface="Arial"/>
                          <a:ea typeface="Arial"/>
                          <a:cs typeface="Arial"/>
                        </a:rPr>
                        <a:t>Threads</a:t>
                      </a:r>
                    </a:p>
                  </a:txBody>
                  <a:tcPr marL="91440" marR="91440" marT="45720" marB="45720">
                    <a:solidFill>
                      <a:srgbClr val="10131B"/>
                    </a:solidFill>
                  </a:tcPr>
                </a:tc>
                <a:tc>
                  <a:txBody>
                    <a:bodyPr/>
                    <a:lstStyle/>
                    <a:p>
                      <a:r>
                        <a:rPr sz="1050" b="1">
                          <a:solidFill>
                            <a:srgbClr val="FFFFFF"/>
                          </a:solidFill>
                          <a:latin typeface="Arial"/>
                          <a:ea typeface="Arial"/>
                          <a:cs typeface="Arial"/>
                        </a:rPr>
                        <a:t>Median ms</a:t>
                      </a:r>
                    </a:p>
                  </a:txBody>
                  <a:tcPr marL="91440" marR="91440" marT="45720" marB="45720">
                    <a:solidFill>
                      <a:srgbClr val="10131B"/>
                    </a:solidFill>
                  </a:tcPr>
                </a:tc>
              </a:tr>
              <a:tr h="449036">
                <a:tc>
                  <a:txBody>
                    <a:bodyPr/>
                    <a:lstStyle/>
                    <a:p>
                      <a:r>
                        <a:rPr sz="975">
                          <a:solidFill>
                            <a:srgbClr val="1B2430"/>
                          </a:solidFill>
                          <a:latin typeface="Arial"/>
                          <a:ea typeface="Arial"/>
                          <a:cs typeface="Arial"/>
                        </a:rPr>
                        <a:t>CSV</a:t>
                      </a:r>
                    </a:p>
                  </a:txBody>
                  <a:tcPr marL="91440" marR="91440" marT="45720" marB="45720"/>
                </a:tc>
                <a:tc>
                  <a:txBody>
                    <a:bodyPr/>
                    <a:lstStyle/>
                    <a:p>
                      <a:r>
                        <a:rPr sz="975">
                          <a:solidFill>
                            <a:srgbClr val="1B2430"/>
                          </a:solidFill>
                          <a:latin typeface="Arial"/>
                          <a:ea typeface="Arial"/>
                          <a:cs typeface="Arial"/>
                        </a:rPr>
                        <a:t>1</a:t>
                      </a:r>
                    </a:p>
                  </a:txBody>
                  <a:tcPr marL="91440" marR="91440" marT="45720" marB="45720"/>
                </a:tc>
                <a:tc>
                  <a:txBody>
                    <a:bodyPr/>
                    <a:lstStyle/>
                    <a:p>
                      <a:r>
                        <a:rPr sz="975">
                          <a:solidFill>
                            <a:srgbClr val="1B2430"/>
                          </a:solidFill>
                          <a:latin typeface="Arial"/>
                          <a:ea typeface="Arial"/>
                          <a:cs typeface="Arial"/>
                        </a:rPr>
                        <a:t>674.031</a:t>
                      </a:r>
                    </a:p>
                  </a:txBody>
                  <a:tcPr marL="91440" marR="91440" marT="45720" marB="45720"/>
                </a:tc>
              </a:tr>
              <a:tr h="449036">
                <a:tc>
                  <a:txBody>
                    <a:bodyPr/>
                    <a:lstStyle/>
                    <a:p>
                      <a:r>
                        <a:rPr sz="975">
                          <a:solidFill>
                            <a:srgbClr val="1B2430"/>
                          </a:solidFill>
                          <a:latin typeface="Arial"/>
                          <a:ea typeface="Arial"/>
                          <a:cs typeface="Arial"/>
                        </a:rPr>
                        <a:t>CSV</a:t>
                      </a:r>
                    </a:p>
                  </a:txBody>
                  <a:tcPr marL="91440" marR="91440" marT="45720" marB="45720"/>
                </a:tc>
                <a:tc>
                  <a:txBody>
                    <a:bodyPr/>
                    <a:lstStyle/>
                    <a:p>
                      <a:r>
                        <a:rPr sz="975">
                          <a:solidFill>
                            <a:srgbClr val="1B2430"/>
                          </a:solidFill>
                          <a:latin typeface="Arial"/>
                          <a:ea typeface="Arial"/>
                          <a:cs typeface="Arial"/>
                        </a:rPr>
                        <a:t>4</a:t>
                      </a:r>
                    </a:p>
                  </a:txBody>
                  <a:tcPr marL="91440" marR="91440" marT="45720" marB="45720"/>
                </a:tc>
                <a:tc>
                  <a:txBody>
                    <a:bodyPr/>
                    <a:lstStyle/>
                    <a:p>
                      <a:r>
                        <a:rPr sz="975">
                          <a:solidFill>
                            <a:srgbClr val="1B2430"/>
                          </a:solidFill>
                          <a:latin typeface="Arial"/>
                          <a:ea typeface="Arial"/>
                          <a:cs typeface="Arial"/>
                        </a:rPr>
                        <a:t>330.050</a:t>
                      </a:r>
                    </a:p>
                  </a:txBody>
                  <a:tcPr marL="91440" marR="91440" marT="45720" marB="45720"/>
                </a:tc>
              </a:tr>
              <a:tr h="449036">
                <a:tc>
                  <a:txBody>
                    <a:bodyPr/>
                    <a:lstStyle/>
                    <a:p>
                      <a:r>
                        <a:rPr sz="975">
                          <a:solidFill>
                            <a:srgbClr val="1B2430"/>
                          </a:solidFill>
                          <a:latin typeface="Arial"/>
                          <a:ea typeface="Arial"/>
                          <a:cs typeface="Arial"/>
                        </a:rPr>
                        <a:t>Parquet</a:t>
                      </a:r>
                    </a:p>
                  </a:txBody>
                  <a:tcPr marL="91440" marR="91440" marT="45720" marB="45720"/>
                </a:tc>
                <a:tc>
                  <a:txBody>
                    <a:bodyPr/>
                    <a:lstStyle/>
                    <a:p>
                      <a:r>
                        <a:rPr sz="975">
                          <a:solidFill>
                            <a:srgbClr val="1B2430"/>
                          </a:solidFill>
                          <a:latin typeface="Arial"/>
                          <a:ea typeface="Arial"/>
                          <a:cs typeface="Arial"/>
                        </a:rPr>
                        <a:t>1</a:t>
                      </a:r>
                    </a:p>
                  </a:txBody>
                  <a:tcPr marL="91440" marR="91440" marT="45720" marB="45720"/>
                </a:tc>
                <a:tc>
                  <a:txBody>
                    <a:bodyPr/>
                    <a:lstStyle/>
                    <a:p>
                      <a:r>
                        <a:rPr sz="975">
                          <a:solidFill>
                            <a:srgbClr val="1B2430"/>
                          </a:solidFill>
                          <a:latin typeface="Arial"/>
                          <a:ea typeface="Arial"/>
                          <a:cs typeface="Arial"/>
                        </a:rPr>
                        <a:t>104.650</a:t>
                      </a:r>
                    </a:p>
                  </a:txBody>
                  <a:tcPr marL="91440" marR="91440" marT="45720" marB="45720"/>
                </a:tc>
              </a:tr>
              <a:tr h="449036">
                <a:tc>
                  <a:txBody>
                    <a:bodyPr/>
                    <a:lstStyle/>
                    <a:p>
                      <a:r>
                        <a:rPr sz="975">
                          <a:solidFill>
                            <a:srgbClr val="1B2430"/>
                          </a:solidFill>
                          <a:latin typeface="Arial"/>
                          <a:ea typeface="Arial"/>
                          <a:cs typeface="Arial"/>
                        </a:rPr>
                        <a:t>Parquet</a:t>
                      </a:r>
                    </a:p>
                  </a:txBody>
                  <a:tcPr marL="91440" marR="91440" marT="45720" marB="45720"/>
                </a:tc>
                <a:tc>
                  <a:txBody>
                    <a:bodyPr/>
                    <a:lstStyle/>
                    <a:p>
                      <a:r>
                        <a:rPr sz="975">
                          <a:solidFill>
                            <a:srgbClr val="1B2430"/>
                          </a:solidFill>
                          <a:latin typeface="Arial"/>
                          <a:ea typeface="Arial"/>
                          <a:cs typeface="Arial"/>
                        </a:rPr>
                        <a:t>4</a:t>
                      </a:r>
                    </a:p>
                  </a:txBody>
                  <a:tcPr marL="91440" marR="91440" marT="45720" marB="45720"/>
                </a:tc>
                <a:tc>
                  <a:txBody>
                    <a:bodyPr/>
                    <a:lstStyle/>
                    <a:p>
                      <a:r>
                        <a:rPr sz="975">
                          <a:solidFill>
                            <a:srgbClr val="1B2430"/>
                          </a:solidFill>
                          <a:latin typeface="Arial"/>
                          <a:ea typeface="Arial"/>
                          <a:cs typeface="Arial"/>
                        </a:rPr>
                        <a:t>57.009</a:t>
                      </a:r>
                    </a:p>
                  </a:txBody>
                  <a:tcPr marL="91440" marR="91440" marT="45720" marB="45720"/>
                </a:tc>
              </a:tr>
              <a:tr h="449036">
                <a:tc>
                  <a:txBody>
                    <a:bodyPr/>
                    <a:lstStyle/>
                    <a:p>
                      <a:r>
                        <a:rPr sz="975">
                          <a:solidFill>
                            <a:srgbClr val="1B2430"/>
                          </a:solidFill>
                          <a:latin typeface="Arial"/>
                          <a:ea typeface="Arial"/>
                          <a:cs typeface="Arial"/>
                        </a:rPr>
                        <a:t>DuckDB</a:t>
                      </a:r>
                    </a:p>
                  </a:txBody>
                  <a:tcPr marL="91440" marR="91440" marT="45720" marB="45720"/>
                </a:tc>
                <a:tc>
                  <a:txBody>
                    <a:bodyPr/>
                    <a:lstStyle/>
                    <a:p>
                      <a:r>
                        <a:rPr sz="975">
                          <a:solidFill>
                            <a:srgbClr val="1B2430"/>
                          </a:solidFill>
                          <a:latin typeface="Arial"/>
                          <a:ea typeface="Arial"/>
                          <a:cs typeface="Arial"/>
                        </a:rPr>
                        <a:t>1</a:t>
                      </a:r>
                    </a:p>
                  </a:txBody>
                  <a:tcPr marL="91440" marR="91440" marT="45720" marB="45720"/>
                </a:tc>
                <a:tc>
                  <a:txBody>
                    <a:bodyPr/>
                    <a:lstStyle/>
                    <a:p>
                      <a:r>
                        <a:rPr sz="975">
                          <a:solidFill>
                            <a:srgbClr val="1B2430"/>
                          </a:solidFill>
                          <a:latin typeface="Arial"/>
                          <a:ea typeface="Arial"/>
                          <a:cs typeface="Arial"/>
                        </a:rPr>
                        <a:t>44.775</a:t>
                      </a:r>
                    </a:p>
                  </a:txBody>
                  <a:tcPr marL="91440" marR="91440" marT="45720" marB="45720"/>
                </a:tc>
              </a:tr>
              <a:tr h="449036">
                <a:tc>
                  <a:txBody>
                    <a:bodyPr/>
                    <a:lstStyle/>
                    <a:p>
                      <a:r>
                        <a:rPr sz="975">
                          <a:solidFill>
                            <a:srgbClr val="1B2430"/>
                          </a:solidFill>
                          <a:latin typeface="Arial"/>
                          <a:ea typeface="Arial"/>
                          <a:cs typeface="Arial"/>
                        </a:rPr>
                        <a:t>DuckDB</a:t>
                      </a:r>
                    </a:p>
                  </a:txBody>
                  <a:tcPr marL="91440" marR="91440" marT="45720" marB="45720"/>
                </a:tc>
                <a:tc>
                  <a:txBody>
                    <a:bodyPr/>
                    <a:lstStyle/>
                    <a:p>
                      <a:r>
                        <a:rPr sz="975">
                          <a:solidFill>
                            <a:srgbClr val="1B2430"/>
                          </a:solidFill>
                          <a:latin typeface="Arial"/>
                          <a:ea typeface="Arial"/>
                          <a:cs typeface="Arial"/>
                        </a:rPr>
                        <a:t>4</a:t>
                      </a:r>
                    </a:p>
                  </a:txBody>
                  <a:tcPr marL="91440" marR="91440" marT="45720" marB="45720"/>
                </a:tc>
                <a:tc>
                  <a:txBody>
                    <a:bodyPr/>
                    <a:lstStyle/>
                    <a:p>
                      <a:r>
                        <a:rPr sz="975">
                          <a:solidFill>
                            <a:srgbClr val="1B2430"/>
                          </a:solidFill>
                          <a:latin typeface="Arial"/>
                          <a:ea typeface="Arial"/>
                          <a:cs typeface="Arial"/>
                        </a:rPr>
                        <a:t>29.319</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C9262908-C4F0-4E28-A9B9-68AD447BCE88}"/>
              </a:ext>
            </a:extLst>
          </p:cNvPr>
          <p:cNvSpPr>
            <a:spLocks xmlns:a="http://schemas.openxmlformats.org/drawingml/2006/main" noGrp="1"/>
          </p:cNvSpPr>
          <p:nvPr/>
        </p:nvSpPr>
        <p:spPr>
          <a:xfrm xmlns:a="http://schemas.openxmlformats.org/drawingml/2006/main">
            <a:off x="7762875" y="5048250"/>
            <a:ext cx="161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000" b="1">
                <a:solidFill>
                  <a:srgbClr val="16B8A6"/>
                </a:solidFill>
                <a:latin typeface="Arial"/>
                <a:ea typeface="Arial"/>
                <a:cs typeface="Arial"/>
              </a:defRPr>
            </a:defPPr>
          </a:lstStyle>
          <a:p xmlns:a="http://schemas.openxmlformats.org/drawingml/2006/main">
            <a:pPr algn="l">
              <a:defRPr sz="3000" b="1">
                <a:solidFill>
                  <a:srgbClr val="16B8A6"/>
                </a:solidFill>
                <a:latin typeface="Arial"/>
                <a:ea typeface="Arial"/>
                <a:cs typeface="Arial"/>
              </a:defRPr>
            </a:pPr>
            <a:r>
              <a:rPr sz="3000" b="1">
                <a:solidFill>
                  <a:srgbClr val="16B8A6"/>
                </a:solidFill>
                <a:latin typeface="Arial"/>
                <a:ea typeface="Arial"/>
                <a:cs typeface="Arial"/>
              </a:rPr>
              <a:t>23.0x</a:t>
            </a:r>
          </a:p>
        </p:txBody>
      </p:sp>
      <p:sp>
        <p:nvSpPr>
          <p:cNvPr id="7" name="">
            <a:extLst xmlns:a="http://schemas.openxmlformats.org/drawingml/2006/main">
              <a:ext uri="{FF2B5EF4-FFF2-40B4-BE49-F238E27FC236}">
                <a16:creationId xmlns:a16="http://schemas.microsoft.com/office/drawing/2014/main" id="{93E548F6-716A-434E-AD84-C799EF6796D6}"/>
              </a:ext>
            </a:extLst>
          </p:cNvPr>
          <p:cNvSpPr>
            <a:spLocks xmlns:a="http://schemas.openxmlformats.org/drawingml/2006/main" noGrp="1"/>
          </p:cNvSpPr>
          <p:nvPr/>
        </p:nvSpPr>
        <p:spPr>
          <a:xfrm xmlns:a="http://schemas.openxmlformats.org/drawingml/2006/main">
            <a:off x="8972550" y="5048250"/>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10131B"/>
                </a:solidFill>
                <a:latin typeface="Arial"/>
                <a:ea typeface="Arial"/>
                <a:cs typeface="Arial"/>
              </a:defRPr>
            </a:defPPr>
          </a:lstStyle>
          <a:p xmlns:a="http://schemas.openxmlformats.org/drawingml/2006/main">
            <a:pPr algn="l">
              <a:defRPr sz="1275" b="1">
                <a:solidFill>
                  <a:srgbClr val="10131B"/>
                </a:solidFill>
                <a:latin typeface="Arial"/>
                <a:ea typeface="Arial"/>
                <a:cs typeface="Arial"/>
              </a:defRPr>
            </a:pPr>
            <a:r>
              <a:rPr sz="1275" b="1">
                <a:solidFill>
                  <a:srgbClr val="10131B"/>
                </a:solidFill>
                <a:latin typeface="Arial"/>
                <a:ea typeface="Arial"/>
                <a:cs typeface="Arial"/>
              </a:rPr>
              <a:t>faster: CSV 1-thread to DuckDB 4-thread</a:t>
            </a:r>
          </a:p>
        </p:txBody>
      </p:sp>
      <p:sp>
        <p:nvSpPr>
          <p:cNvPr id="8" name="">
            <a:extLst xmlns:a="http://schemas.openxmlformats.org/drawingml/2006/main">
              <a:ext uri="{FF2B5EF4-FFF2-40B4-BE49-F238E27FC236}">
                <a16:creationId xmlns:a16="http://schemas.microsoft.com/office/drawing/2014/main" id="{74D32E62-98D6-4770-928A-02B0CE554EBE}"/>
              </a:ext>
            </a:extLst>
          </p:cNvPr>
          <p:cNvSpPr>
            <a:spLocks xmlns:a="http://schemas.openxmlformats.org/drawingml/2006/main" noGrp="1"/>
          </p:cNvSpPr>
          <p:nvPr/>
        </p:nvSpPr>
        <p:spPr>
          <a:xfrm xmlns:a="http://schemas.openxmlformats.org/drawingml/2006/main">
            <a:off x="685800" y="5429250"/>
            <a:ext cx="647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275" b="0">
                <a:solidFill>
                  <a:srgbClr val="667180"/>
                </a:solidFill>
                <a:latin typeface="Arial"/>
                <a:ea typeface="Arial"/>
                <a:cs typeface="Arial"/>
              </a:defRPr>
            </a:defPPr>
          </a:lstStyle>
          <a:p xmlns:a="http://schemas.openxmlformats.org/drawingml/2006/main">
            <a:pPr algn="ctr">
              <a:defRPr sz="1275" b="0">
                <a:solidFill>
                  <a:srgbClr val="667180"/>
                </a:solidFill>
                <a:latin typeface="Arial"/>
                <a:ea typeface="Arial"/>
                <a:cs typeface="Arial"/>
              </a:defRPr>
            </a:pPr>
            <a:r>
              <a:rPr sz="1275" b="0">
                <a:solidFill>
                  <a:srgbClr val="667180"/>
                </a:solidFill>
                <a:latin typeface="Arial"/>
                <a:ea typeface="Arial"/>
                <a:cs typeface="Arial"/>
              </a:rPr>
              <a:t>Five timed repetitions after a warm-up; lower is better</a:t>
            </a:r>
          </a:p>
        </p:txBody>
      </p:sp>
      <p:sp>
        <p:nvSpPr>
          <p:cNvPr id="9" name="">
            <a:extLst xmlns:a="http://schemas.openxmlformats.org/drawingml/2006/main">
              <a:ext uri="{FF2B5EF4-FFF2-40B4-BE49-F238E27FC236}">
                <a16:creationId xmlns:a16="http://schemas.microsoft.com/office/drawing/2014/main" id="{A69AB613-EB9A-42C6-A3B7-331D2A34073F}"/>
              </a:ext>
            </a:extLst>
          </p:cNvPr>
          <p:cNvSpPr>
            <a:spLocks xmlns:a="http://schemas.openxmlformats.org/drawingml/2006/main" noGrp="1"/>
          </p:cNvSpPr>
          <p:nvPr/>
        </p:nvSpPr>
        <p:spPr>
          <a:xfrm xmlns:a="http://schemas.openxmlformats.org/drawingml/2006/main">
            <a:off x="685800" y="6457950"/>
            <a:ext cx="10820400" cy="9525"/>
          </a:xfrm>
          <a:prstGeom xmlns:a="http://schemas.openxmlformats.org/drawingml/2006/main" prst="rect">
            <a:avLst/>
          </a:prstGeom>
          <a:solidFill xmlns:a="http://schemas.openxmlformats.org/drawingml/2006/main">
            <a:srgbClr val="D5DCE4"/>
          </a:solidFill>
          <a:ln xmlns:a="http://schemas.openxmlformats.org/drawingml/2006/main" w="0">
            <a:solidFill>
              <a:srgbClr val="D5DCE4"/>
            </a:solidFill>
            <a:prstDash val="solid"/>
          </a:ln>
        </p:spPr>
      </p:sp>
      <p:sp>
        <p:nvSpPr>
          <p:cNvPr id="10" name="">
            <a:extLst xmlns:a="http://schemas.openxmlformats.org/drawingml/2006/main">
              <a:ext uri="{FF2B5EF4-FFF2-40B4-BE49-F238E27FC236}">
                <a16:creationId xmlns:a16="http://schemas.microsoft.com/office/drawing/2014/main" id="{5513F0B1-EF20-4F1B-A47A-F319DB6E7172}"/>
              </a:ext>
            </a:extLst>
          </p:cNvPr>
          <p:cNvSpPr>
            <a:spLocks xmlns:a="http://schemas.openxmlformats.org/drawingml/2006/main" noGrp="1"/>
          </p:cNvSpPr>
          <p:nvPr/>
        </p:nvSpPr>
        <p:spPr>
          <a:xfrm xmlns:a="http://schemas.openxmlformats.org/drawingml/2006/main">
            <a:off x="685800" y="6524625"/>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825" b="0">
                <a:solidFill>
                  <a:srgbClr val="667180"/>
                </a:solidFill>
                <a:latin typeface="Arial"/>
                <a:ea typeface="Arial"/>
                <a:cs typeface="Arial"/>
              </a:defRPr>
            </a:defPPr>
          </a:lstStyle>
          <a:p xmlns:a="http://schemas.openxmlformats.org/drawingml/2006/main">
            <a:pPr algn="l">
              <a:defRPr sz="825" b="0">
                <a:solidFill>
                  <a:srgbClr val="667180"/>
                </a:solidFill>
                <a:latin typeface="Arial"/>
                <a:ea typeface="Arial"/>
                <a:cs typeface="Arial"/>
              </a:defRPr>
            </a:pPr>
            <a:r>
              <a:rPr sz="825" b="0">
                <a:solidFill>
                  <a:srgbClr val="667180"/>
                </a:solidFill>
                <a:latin typeface="Arial"/>
                <a:ea typeface="Arial"/>
                <a:cs typeface="Arial"/>
              </a:rPr>
              <a:t>E-Commerce Sales Analytics using DuckDB</a:t>
            </a:r>
          </a:p>
        </p:txBody>
      </p:sp>
      <p:sp>
        <p:nvSpPr>
          <p:cNvPr id="11" name="">
            <a:extLst xmlns:a="http://schemas.openxmlformats.org/drawingml/2006/main">
              <a:ext uri="{FF2B5EF4-FFF2-40B4-BE49-F238E27FC236}">
                <a16:creationId xmlns:a16="http://schemas.microsoft.com/office/drawing/2014/main" id="{F1563AE0-9C1C-4F61-B30F-DA741321315C}"/>
              </a:ext>
            </a:extLst>
          </p:cNvPr>
          <p:cNvSpPr>
            <a:spLocks xmlns:a="http://schemas.openxmlformats.org/drawingml/2006/main" noGrp="1"/>
          </p:cNvSpPr>
          <p:nvPr/>
        </p:nvSpPr>
        <p:spPr>
          <a:xfrm xmlns:a="http://schemas.openxmlformats.org/drawingml/2006/main">
            <a:off x="7143750" y="6524625"/>
            <a:ext cx="436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825" b="0">
                <a:solidFill>
                  <a:srgbClr val="667180"/>
                </a:solidFill>
                <a:latin typeface="Arial"/>
                <a:ea typeface="Arial"/>
                <a:cs typeface="Arial"/>
              </a:defRPr>
            </a:defPPr>
          </a:lstStyle>
          <a:p xmlns:a="http://schemas.openxmlformats.org/drawingml/2006/main">
            <a:pPr algn="r">
              <a:defRPr sz="825" b="0">
                <a:solidFill>
                  <a:srgbClr val="667180"/>
                </a:solidFill>
                <a:latin typeface="Arial"/>
                <a:ea typeface="Arial"/>
                <a:cs typeface="Arial"/>
              </a:defRPr>
            </a:pPr>
            <a:r>
              <a:rPr sz="825" b="0">
                <a:solidFill>
                  <a:srgbClr val="667180"/>
                </a:solidFill>
                <a:latin typeface="Arial"/>
                <a:ea typeface="Arial"/>
                <a:cs typeface="Arial"/>
              </a:rPr>
              <a:t>DuckDB  |  FastAPI  |  RabbitMQ  |  Streamlit</a:t>
            </a:r>
          </a:p>
        </p:txBody>
      </p:sp>
    </p:spTree>
    <p:extLst>
      <p:ext uri="{BB962C8B-B14F-4D97-AF65-F5344CB8AC3E}">
        <p14:creationId xmlns:p14="http://schemas.microsoft.com/office/powerpoint/2010/main" val="83336458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E5B4120-49DB-4D27-92E6-8DEE274ACD22}"/>
              </a:ext>
            </a:extLst>
          </p:cNvPr>
          <p:cNvSpPr>
            <a:spLocks xmlns:a="http://schemas.openxmlformats.org/drawingml/2006/main" noGrp="1"/>
          </p:cNvSpPr>
          <p:nvPr/>
        </p:nvSpPr>
        <p:spPr>
          <a:xfrm xmlns:a="http://schemas.openxmlformats.org/drawingml/2006/main">
            <a:off x="685800" y="342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975" b="1">
                <a:solidFill>
                  <a:srgbClr val="16B8A6"/>
                </a:solidFill>
                <a:latin typeface="Arial"/>
                <a:ea typeface="Arial"/>
                <a:cs typeface="Arial"/>
              </a:defRPr>
            </a:defPPr>
          </a:lstStyle>
          <a:p xmlns:a="http://schemas.openxmlformats.org/drawingml/2006/main">
            <a:pPr algn="l">
              <a:defRPr sz="975" b="1">
                <a:solidFill>
                  <a:srgbClr val="16B8A6"/>
                </a:solidFill>
                <a:latin typeface="Arial"/>
                <a:ea typeface="Arial"/>
                <a:cs typeface="Arial"/>
              </a:defRPr>
            </a:pPr>
            <a:r>
              <a:rPr sz="975" b="1">
                <a:solidFill>
                  <a:srgbClr val="16B8A6"/>
                </a:solidFill>
                <a:latin typeface="Arial"/>
                <a:ea typeface="Arial"/>
                <a:cs typeface="Arial"/>
              </a:rPr>
              <a:t>EXTENSIONS</a:t>
            </a:r>
          </a:p>
        </p:txBody>
      </p:sp>
      <p:sp>
        <p:nvSpPr>
          <p:cNvPr id="2" name="">
            <a:extLst xmlns:a="http://schemas.openxmlformats.org/drawingml/2006/main">
              <a:ext uri="{FF2B5EF4-FFF2-40B4-BE49-F238E27FC236}">
                <a16:creationId xmlns:a16="http://schemas.microsoft.com/office/drawing/2014/main" id="{56CB3A59-9B79-4D3C-BB14-824DC6CA197C}"/>
              </a:ext>
            </a:extLst>
          </p:cNvPr>
          <p:cNvSpPr>
            <a:spLocks xmlns:a="http://schemas.openxmlformats.org/drawingml/2006/main" noGrp="1"/>
          </p:cNvSpPr>
          <p:nvPr/>
        </p:nvSpPr>
        <p:spPr>
          <a:xfrm xmlns:a="http://schemas.openxmlformats.org/drawingml/2006/main">
            <a:off x="685800" y="6096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700" b="1">
                <a:solidFill>
                  <a:srgbClr val="10131B"/>
                </a:solidFill>
                <a:latin typeface="Arial"/>
                <a:ea typeface="Arial"/>
                <a:cs typeface="Arial"/>
              </a:defRPr>
            </a:defPPr>
          </a:lstStyle>
          <a:p xmlns:a="http://schemas.openxmlformats.org/drawingml/2006/main">
            <a:pPr algn="l">
              <a:defRPr sz="2700" b="1">
                <a:solidFill>
                  <a:srgbClr val="10131B"/>
                </a:solidFill>
                <a:latin typeface="Arial"/>
                <a:ea typeface="Arial"/>
                <a:cs typeface="Arial"/>
              </a:defRPr>
            </a:pPr>
            <a:r>
              <a:rPr sz="2700" b="1">
                <a:solidFill>
                  <a:srgbClr val="10131B"/>
                </a:solidFill>
                <a:latin typeface="Arial"/>
                <a:ea typeface="Arial"/>
                <a:cs typeface="Arial"/>
              </a:rPr>
              <a:t>Bonus-mark implementation</a:t>
            </a:r>
          </a:p>
        </p:txBody>
      </p:sp>
      <p:sp>
        <p:nvSpPr>
          <p:cNvPr id="3" name="">
            <a:extLst xmlns:a="http://schemas.openxmlformats.org/drawingml/2006/main">
              <a:ext uri="{FF2B5EF4-FFF2-40B4-BE49-F238E27FC236}">
                <a16:creationId xmlns:a16="http://schemas.microsoft.com/office/drawing/2014/main" id="{F9457C08-EEAB-4DA5-8158-EB5DDE25FF36}"/>
              </a:ext>
            </a:extLst>
          </p:cNvPr>
          <p:cNvSpPr>
            <a:spLocks xmlns:a="http://schemas.openxmlformats.org/drawingml/2006/main" noGrp="1"/>
          </p:cNvSpPr>
          <p:nvPr/>
        </p:nvSpPr>
        <p:spPr>
          <a:xfrm xmlns:a="http://schemas.openxmlformats.org/drawingml/2006/main">
            <a:off x="11068050" y="419100"/>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1125" b="1">
                <a:solidFill>
                  <a:srgbClr val="667180"/>
                </a:solidFill>
                <a:latin typeface="Arial"/>
                <a:ea typeface="Arial"/>
                <a:cs typeface="Arial"/>
              </a:defRPr>
            </a:defPPr>
          </a:lstStyle>
          <a:p xmlns:a="http://schemas.openxmlformats.org/drawingml/2006/main">
            <a:pPr algn="r">
              <a:defRPr sz="1125" b="1">
                <a:solidFill>
                  <a:srgbClr val="667180"/>
                </a:solidFill>
                <a:latin typeface="Arial"/>
                <a:ea typeface="Arial"/>
                <a:cs typeface="Arial"/>
              </a:defRPr>
            </a:pPr>
            <a:r>
              <a:rPr sz="1125" b="1">
                <a:solidFill>
                  <a:srgbClr val="667180"/>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8C45899A-FE4F-40E9-BFAB-42744DBED2A3}"/>
              </a:ext>
            </a:extLst>
          </p:cNvPr>
          <p:cNvSpPr>
            <a:spLocks xmlns:a="http://schemas.openxmlformats.org/drawingml/2006/main" noGrp="1"/>
          </p:cNvSpPr>
          <p:nvPr/>
        </p:nvSpPr>
        <p:spPr>
          <a:xfrm xmlns:a="http://schemas.openxmlformats.org/drawingml/2006/main">
            <a:off x="742950" y="1504950"/>
            <a:ext cx="590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250" b="1">
                <a:solidFill>
                  <a:srgbClr val="16B8A6"/>
                </a:solidFill>
                <a:latin typeface="Arial"/>
                <a:ea typeface="Arial"/>
                <a:cs typeface="Arial"/>
              </a:defRPr>
            </a:defPPr>
          </a:lstStyle>
          <a:p xmlns:a="http://schemas.openxmlformats.org/drawingml/2006/main">
            <a:pPr algn="l">
              <a:defRPr sz="2250" b="1">
                <a:solidFill>
                  <a:srgbClr val="16B8A6"/>
                </a:solidFill>
                <a:latin typeface="Arial"/>
                <a:ea typeface="Arial"/>
                <a:cs typeface="Arial"/>
              </a:defRPr>
            </a:pPr>
            <a:r>
              <a:rPr sz="2250" b="1">
                <a:solidFill>
                  <a:srgbClr val="16B8A6"/>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F708DEF6-4729-437A-8EBD-219E09850F80}"/>
              </a:ext>
            </a:extLst>
          </p:cNvPr>
          <p:cNvSpPr>
            <a:spLocks xmlns:a="http://schemas.openxmlformats.org/drawingml/2006/main" noGrp="1"/>
          </p:cNvSpPr>
          <p:nvPr/>
        </p:nvSpPr>
        <p:spPr>
          <a:xfrm xmlns:a="http://schemas.openxmlformats.org/drawingml/2006/main">
            <a:off x="1485900" y="1476375"/>
            <a:ext cx="47625" cy="1143000"/>
          </a:xfrm>
          <a:prstGeom xmlns:a="http://schemas.openxmlformats.org/drawingml/2006/main" prst="rect">
            <a:avLst/>
          </a:prstGeom>
          <a:solidFill xmlns:a="http://schemas.openxmlformats.org/drawingml/2006/main">
            <a:srgbClr val="16B8A6"/>
          </a:solidFill>
          <a:ln xmlns:a="http://schemas.openxmlformats.org/drawingml/2006/main" w="0">
            <a:solidFill>
              <a:srgbClr val="16B8A6"/>
            </a:solidFill>
            <a:prstDash val="solid"/>
          </a:ln>
        </p:spPr>
      </p:sp>
      <p:sp>
        <p:nvSpPr>
          <p:cNvPr id="6" name="">
            <a:extLst xmlns:a="http://schemas.openxmlformats.org/drawingml/2006/main">
              <a:ext uri="{FF2B5EF4-FFF2-40B4-BE49-F238E27FC236}">
                <a16:creationId xmlns:a16="http://schemas.microsoft.com/office/drawing/2014/main" id="{FE469913-B942-4507-B3EA-5CD01150776E}"/>
              </a:ext>
            </a:extLst>
          </p:cNvPr>
          <p:cNvSpPr>
            <a:spLocks xmlns:a="http://schemas.openxmlformats.org/drawingml/2006/main" noGrp="1"/>
          </p:cNvSpPr>
          <p:nvPr/>
        </p:nvSpPr>
        <p:spPr>
          <a:xfrm xmlns:a="http://schemas.openxmlformats.org/drawingml/2006/main">
            <a:off x="1809750" y="15049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0131B"/>
                </a:solidFill>
                <a:latin typeface="Arial"/>
                <a:ea typeface="Arial"/>
                <a:cs typeface="Arial"/>
              </a:defRPr>
            </a:defPPr>
          </a:lstStyle>
          <a:p xmlns:a="http://schemas.openxmlformats.org/drawingml/2006/main">
            <a:pPr algn="l">
              <a:defRPr sz="1800" b="1">
                <a:solidFill>
                  <a:srgbClr val="10131B"/>
                </a:solidFill>
                <a:latin typeface="Arial"/>
                <a:ea typeface="Arial"/>
                <a:cs typeface="Arial"/>
              </a:defRPr>
            </a:pPr>
            <a:r>
              <a:rPr sz="1800" b="1">
                <a:solidFill>
                  <a:srgbClr val="10131B"/>
                </a:solidFill>
                <a:latin typeface="Arial"/>
                <a:ea typeface="Arial"/>
                <a:cs typeface="Arial"/>
              </a:rPr>
              <a:t>Real-time API and RabbitMQ</a:t>
            </a:r>
          </a:p>
        </p:txBody>
      </p:sp>
      <p:sp>
        <p:nvSpPr>
          <p:cNvPr id="7" name="">
            <a:extLst xmlns:a="http://schemas.openxmlformats.org/drawingml/2006/main">
              <a:ext uri="{FF2B5EF4-FFF2-40B4-BE49-F238E27FC236}">
                <a16:creationId xmlns:a16="http://schemas.microsoft.com/office/drawing/2014/main" id="{3ADB21BC-CFEF-4559-A9DC-1ACEF21D7706}"/>
              </a:ext>
            </a:extLst>
          </p:cNvPr>
          <p:cNvSpPr>
            <a:spLocks xmlns:a="http://schemas.openxmlformats.org/drawingml/2006/main" noGrp="1"/>
          </p:cNvSpPr>
          <p:nvPr/>
        </p:nvSpPr>
        <p:spPr>
          <a:xfrm xmlns:a="http://schemas.openxmlformats.org/drawingml/2006/main">
            <a:off x="1809750" y="1924050"/>
            <a:ext cx="428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667180"/>
                </a:solidFill>
                <a:latin typeface="Arial"/>
                <a:ea typeface="Arial"/>
                <a:cs typeface="Arial"/>
              </a:defRPr>
            </a:defPPr>
          </a:lstStyle>
          <a:p xmlns:a="http://schemas.openxmlformats.org/drawingml/2006/main">
            <a:pPr algn="l">
              <a:defRPr sz="1350" b="0">
                <a:solidFill>
                  <a:srgbClr val="667180"/>
                </a:solidFill>
                <a:latin typeface="Arial"/>
                <a:ea typeface="Arial"/>
                <a:cs typeface="Arial"/>
              </a:defRPr>
            </a:pPr>
            <a:r>
              <a:rPr sz="1350" b="0">
                <a:solidFill>
                  <a:srgbClr val="667180"/>
                </a:solidFill>
                <a:latin typeface="Arial"/>
                <a:ea typeface="Arial"/>
                <a:cs typeface="Arial"/>
              </a:rPr>
              <a:t>FastAPI validation, publisher confirms, manual ack and event-ID deduplication</a:t>
            </a:r>
          </a:p>
        </p:txBody>
      </p:sp>
      <p:sp>
        <p:nvSpPr>
          <p:cNvPr id="8" name="">
            <a:extLst xmlns:a="http://schemas.openxmlformats.org/drawingml/2006/main">
              <a:ext uri="{FF2B5EF4-FFF2-40B4-BE49-F238E27FC236}">
                <a16:creationId xmlns:a16="http://schemas.microsoft.com/office/drawing/2014/main" id="{4B8F3A10-7FA0-4B45-B865-6FF0A96DE4D3}"/>
              </a:ext>
            </a:extLst>
          </p:cNvPr>
          <p:cNvSpPr>
            <a:spLocks xmlns:a="http://schemas.openxmlformats.org/drawingml/2006/main" noGrp="1"/>
          </p:cNvSpPr>
          <p:nvPr/>
        </p:nvSpPr>
        <p:spPr>
          <a:xfrm xmlns:a="http://schemas.openxmlformats.org/drawingml/2006/main">
            <a:off x="6715125" y="1600200"/>
            <a:ext cx="4095750" cy="857250"/>
          </a:xfrm>
          <a:prstGeom xmlns:a="http://schemas.openxmlformats.org/drawingml/2006/main" prst="rect">
            <a:avLst/>
          </a:prstGeom>
          <a:solidFill xmlns:a="http://schemas.openxmlformats.org/drawingml/2006/main">
            <a:srgbClr val="DDF6F2"/>
          </a:solidFill>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16B8A6"/>
                </a:solidFill>
                <a:latin typeface="Arial"/>
                <a:ea typeface="Arial"/>
                <a:cs typeface="Arial"/>
              </a:defRPr>
            </a:defPPr>
          </a:lstStyle>
          <a:p xmlns:a="http://schemas.openxmlformats.org/drawingml/2006/main">
            <a:pPr algn="ctr">
              <a:defRPr sz="1425" b="1">
                <a:solidFill>
                  <a:srgbClr val="16B8A6"/>
                </a:solidFill>
                <a:latin typeface="Arial"/>
                <a:ea typeface="Arial"/>
                <a:cs typeface="Arial"/>
              </a:defRPr>
            </a:pPr>
            <a:r>
              <a:rPr sz="1425" b="1">
                <a:solidFill>
                  <a:srgbClr val="16B8A6"/>
                </a:solidFill>
                <a:latin typeface="Arial"/>
                <a:ea typeface="Arial"/>
                <a:cs typeface="Arial"/>
              </a:rPr>
              <a:t>25-event UI check plus 4 automated tests</a:t>
            </a:r>
          </a:p>
        </p:txBody>
      </p:sp>
      <p:sp>
        <p:nvSpPr>
          <p:cNvPr id="9" name="">
            <a:extLst xmlns:a="http://schemas.openxmlformats.org/drawingml/2006/main">
              <a:ext uri="{FF2B5EF4-FFF2-40B4-BE49-F238E27FC236}">
                <a16:creationId xmlns:a16="http://schemas.microsoft.com/office/drawing/2014/main" id="{5FF089CC-8F03-40D3-902E-E82953FF50C1}"/>
              </a:ext>
            </a:extLst>
          </p:cNvPr>
          <p:cNvSpPr>
            <a:spLocks xmlns:a="http://schemas.openxmlformats.org/drawingml/2006/main" noGrp="1"/>
          </p:cNvSpPr>
          <p:nvPr/>
        </p:nvSpPr>
        <p:spPr>
          <a:xfrm xmlns:a="http://schemas.openxmlformats.org/drawingml/2006/main">
            <a:off x="742950" y="2971800"/>
            <a:ext cx="590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250" b="1">
                <a:solidFill>
                  <a:srgbClr val="5267D7"/>
                </a:solidFill>
                <a:latin typeface="Arial"/>
                <a:ea typeface="Arial"/>
                <a:cs typeface="Arial"/>
              </a:defRPr>
            </a:defPPr>
          </a:lstStyle>
          <a:p xmlns:a="http://schemas.openxmlformats.org/drawingml/2006/main">
            <a:pPr algn="l">
              <a:defRPr sz="2250" b="1">
                <a:solidFill>
                  <a:srgbClr val="5267D7"/>
                </a:solidFill>
                <a:latin typeface="Arial"/>
                <a:ea typeface="Arial"/>
                <a:cs typeface="Arial"/>
              </a:defRPr>
            </a:pPr>
            <a:r>
              <a:rPr sz="2250" b="1">
                <a:solidFill>
                  <a:srgbClr val="5267D7"/>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06A2FF0A-0CD2-4C7E-9C57-76B28489EFC2}"/>
              </a:ext>
            </a:extLst>
          </p:cNvPr>
          <p:cNvSpPr>
            <a:spLocks xmlns:a="http://schemas.openxmlformats.org/drawingml/2006/main" noGrp="1"/>
          </p:cNvSpPr>
          <p:nvPr/>
        </p:nvSpPr>
        <p:spPr>
          <a:xfrm xmlns:a="http://schemas.openxmlformats.org/drawingml/2006/main">
            <a:off x="1485900" y="2943225"/>
            <a:ext cx="47625" cy="1143000"/>
          </a:xfrm>
          <a:prstGeom xmlns:a="http://schemas.openxmlformats.org/drawingml/2006/main" prst="rect">
            <a:avLst/>
          </a:prstGeom>
          <a:solidFill xmlns:a="http://schemas.openxmlformats.org/drawingml/2006/main">
            <a:srgbClr val="5267D7"/>
          </a:solidFill>
          <a:ln xmlns:a="http://schemas.openxmlformats.org/drawingml/2006/main" w="0">
            <a:solidFill>
              <a:srgbClr val="5267D7"/>
            </a:solidFill>
            <a:prstDash val="solid"/>
          </a:ln>
        </p:spPr>
      </p:sp>
      <p:sp>
        <p:nvSpPr>
          <p:cNvPr id="11" name="">
            <a:extLst xmlns:a="http://schemas.openxmlformats.org/drawingml/2006/main">
              <a:ext uri="{FF2B5EF4-FFF2-40B4-BE49-F238E27FC236}">
                <a16:creationId xmlns:a16="http://schemas.microsoft.com/office/drawing/2014/main" id="{45F16E32-09A6-4C00-893D-4A5426EFB8DE}"/>
              </a:ext>
            </a:extLst>
          </p:cNvPr>
          <p:cNvSpPr>
            <a:spLocks xmlns:a="http://schemas.openxmlformats.org/drawingml/2006/main" noGrp="1"/>
          </p:cNvSpPr>
          <p:nvPr/>
        </p:nvSpPr>
        <p:spPr>
          <a:xfrm xmlns:a="http://schemas.openxmlformats.org/drawingml/2006/main">
            <a:off x="1809750" y="297180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0131B"/>
                </a:solidFill>
                <a:latin typeface="Arial"/>
                <a:ea typeface="Arial"/>
                <a:cs typeface="Arial"/>
              </a:defRPr>
            </a:defPPr>
          </a:lstStyle>
          <a:p xmlns:a="http://schemas.openxmlformats.org/drawingml/2006/main">
            <a:pPr algn="l">
              <a:defRPr sz="1800" b="1">
                <a:solidFill>
                  <a:srgbClr val="10131B"/>
                </a:solidFill>
                <a:latin typeface="Arial"/>
                <a:ea typeface="Arial"/>
                <a:cs typeface="Arial"/>
              </a:defRPr>
            </a:pPr>
            <a:r>
              <a:rPr sz="1800" b="1">
                <a:solidFill>
                  <a:srgbClr val="10131B"/>
                </a:solidFill>
                <a:latin typeface="Arial"/>
                <a:ea typeface="Arial"/>
                <a:cs typeface="Arial"/>
              </a:rPr>
              <a:t>Kubernetes deployment</a:t>
            </a:r>
          </a:p>
        </p:txBody>
      </p:sp>
      <p:sp>
        <p:nvSpPr>
          <p:cNvPr id="12" name="">
            <a:extLst xmlns:a="http://schemas.openxmlformats.org/drawingml/2006/main">
              <a:ext uri="{FF2B5EF4-FFF2-40B4-BE49-F238E27FC236}">
                <a16:creationId xmlns:a16="http://schemas.microsoft.com/office/drawing/2014/main" id="{C07A759F-9A2D-490D-9096-529329C94611}"/>
              </a:ext>
            </a:extLst>
          </p:cNvPr>
          <p:cNvSpPr>
            <a:spLocks xmlns:a="http://schemas.openxmlformats.org/drawingml/2006/main" noGrp="1"/>
          </p:cNvSpPr>
          <p:nvPr/>
        </p:nvSpPr>
        <p:spPr>
          <a:xfrm xmlns:a="http://schemas.openxmlformats.org/drawingml/2006/main">
            <a:off x="1809750" y="3390900"/>
            <a:ext cx="428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667180"/>
                </a:solidFill>
                <a:latin typeface="Arial"/>
                <a:ea typeface="Arial"/>
                <a:cs typeface="Arial"/>
              </a:defRPr>
            </a:defPPr>
          </a:lstStyle>
          <a:p xmlns:a="http://schemas.openxmlformats.org/drawingml/2006/main">
            <a:pPr algn="l">
              <a:defRPr sz="1350" b="0">
                <a:solidFill>
                  <a:srgbClr val="667180"/>
                </a:solidFill>
                <a:latin typeface="Arial"/>
                <a:ea typeface="Arial"/>
                <a:cs typeface="Arial"/>
              </a:defRPr>
            </a:pPr>
            <a:r>
              <a:rPr sz="1350" b="0">
                <a:solidFill>
                  <a:srgbClr val="667180"/>
                </a:solidFill>
                <a:latin typeface="Arial"/>
                <a:ea typeface="Arial"/>
                <a:cs typeface="Arial"/>
              </a:rPr>
              <a:t>RabbitMQ, API-consumer, simulator, dashboard, PVC, probes and HPA</a:t>
            </a:r>
          </a:p>
        </p:txBody>
      </p:sp>
      <p:sp>
        <p:nvSpPr>
          <p:cNvPr id="13" name="">
            <a:extLst xmlns:a="http://schemas.openxmlformats.org/drawingml/2006/main">
              <a:ext uri="{FF2B5EF4-FFF2-40B4-BE49-F238E27FC236}">
                <a16:creationId xmlns:a16="http://schemas.microsoft.com/office/drawing/2014/main" id="{AB53B332-3AEC-4B73-8948-2D4223F312B4}"/>
              </a:ext>
            </a:extLst>
          </p:cNvPr>
          <p:cNvSpPr>
            <a:spLocks xmlns:a="http://schemas.openxmlformats.org/drawingml/2006/main" noGrp="1"/>
          </p:cNvSpPr>
          <p:nvPr/>
        </p:nvSpPr>
        <p:spPr>
          <a:xfrm xmlns:a="http://schemas.openxmlformats.org/drawingml/2006/main">
            <a:off x="6715125" y="3067050"/>
            <a:ext cx="4095750" cy="857250"/>
          </a:xfrm>
          <a:prstGeom xmlns:a="http://schemas.openxmlformats.org/drawingml/2006/main" prst="rect">
            <a:avLst/>
          </a:prstGeom>
          <a:solidFill xmlns:a="http://schemas.openxmlformats.org/drawingml/2006/main">
            <a:srgbClr val="E8EBFA"/>
          </a:solidFill>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5267D7"/>
                </a:solidFill>
                <a:latin typeface="Arial"/>
                <a:ea typeface="Arial"/>
                <a:cs typeface="Arial"/>
              </a:defRPr>
            </a:defPPr>
          </a:lstStyle>
          <a:p xmlns:a="http://schemas.openxmlformats.org/drawingml/2006/main">
            <a:pPr algn="ctr">
              <a:defRPr sz="1425" b="1">
                <a:solidFill>
                  <a:srgbClr val="5267D7"/>
                </a:solidFill>
                <a:latin typeface="Arial"/>
                <a:ea typeface="Arial"/>
                <a:cs typeface="Arial"/>
              </a:defRPr>
            </a:pPr>
            <a:r>
              <a:rPr sz="1425" b="1">
                <a:solidFill>
                  <a:srgbClr val="5267D7"/>
                </a:solidFill>
                <a:latin typeface="Arial"/>
                <a:ea typeface="Arial"/>
                <a:cs typeface="Arial"/>
              </a:rPr>
              <a:t>Kustomize renders the complete stream</a:t>
            </a:r>
          </a:p>
        </p:txBody>
      </p:sp>
      <p:sp>
        <p:nvSpPr>
          <p:cNvPr id="14" name="">
            <a:extLst xmlns:a="http://schemas.openxmlformats.org/drawingml/2006/main">
              <a:ext uri="{FF2B5EF4-FFF2-40B4-BE49-F238E27FC236}">
                <a16:creationId xmlns:a16="http://schemas.microsoft.com/office/drawing/2014/main" id="{F78CF3A7-50AA-49C9-AB9C-B532A16461E3}"/>
              </a:ext>
            </a:extLst>
          </p:cNvPr>
          <p:cNvSpPr>
            <a:spLocks xmlns:a="http://schemas.openxmlformats.org/drawingml/2006/main" noGrp="1"/>
          </p:cNvSpPr>
          <p:nvPr/>
        </p:nvSpPr>
        <p:spPr>
          <a:xfrm xmlns:a="http://schemas.openxmlformats.org/drawingml/2006/main">
            <a:off x="742950" y="4438650"/>
            <a:ext cx="590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250" b="1">
                <a:solidFill>
                  <a:srgbClr val="F2A03D"/>
                </a:solidFill>
                <a:latin typeface="Arial"/>
                <a:ea typeface="Arial"/>
                <a:cs typeface="Arial"/>
              </a:defRPr>
            </a:defPPr>
          </a:lstStyle>
          <a:p xmlns:a="http://schemas.openxmlformats.org/drawingml/2006/main">
            <a:pPr algn="l">
              <a:defRPr sz="2250" b="1">
                <a:solidFill>
                  <a:srgbClr val="F2A03D"/>
                </a:solidFill>
                <a:latin typeface="Arial"/>
                <a:ea typeface="Arial"/>
                <a:cs typeface="Arial"/>
              </a:defRPr>
            </a:pPr>
            <a:r>
              <a:rPr sz="2250" b="1">
                <a:solidFill>
                  <a:srgbClr val="F2A03D"/>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066F7E88-B6EE-4EA2-B46A-AF82D6798544}"/>
              </a:ext>
            </a:extLst>
          </p:cNvPr>
          <p:cNvSpPr>
            <a:spLocks xmlns:a="http://schemas.openxmlformats.org/drawingml/2006/main" noGrp="1"/>
          </p:cNvSpPr>
          <p:nvPr/>
        </p:nvSpPr>
        <p:spPr>
          <a:xfrm xmlns:a="http://schemas.openxmlformats.org/drawingml/2006/main">
            <a:off x="1485900" y="4410075"/>
            <a:ext cx="47625" cy="1143000"/>
          </a:xfrm>
          <a:prstGeom xmlns:a="http://schemas.openxmlformats.org/drawingml/2006/main" prst="rect">
            <a:avLst/>
          </a:prstGeom>
          <a:solidFill xmlns:a="http://schemas.openxmlformats.org/drawingml/2006/main">
            <a:srgbClr val="F2A03D"/>
          </a:solidFill>
          <a:ln xmlns:a="http://schemas.openxmlformats.org/drawingml/2006/main" w="0">
            <a:solidFill>
              <a:srgbClr val="F2A03D"/>
            </a:solidFill>
            <a:prstDash val="solid"/>
          </a:ln>
        </p:spPr>
      </p:sp>
      <p:sp>
        <p:nvSpPr>
          <p:cNvPr id="16" name="">
            <a:extLst xmlns:a="http://schemas.openxmlformats.org/drawingml/2006/main">
              <a:ext uri="{FF2B5EF4-FFF2-40B4-BE49-F238E27FC236}">
                <a16:creationId xmlns:a16="http://schemas.microsoft.com/office/drawing/2014/main" id="{E75BAD71-9603-4A31-9FC7-2A07E18FF131}"/>
              </a:ext>
            </a:extLst>
          </p:cNvPr>
          <p:cNvSpPr>
            <a:spLocks xmlns:a="http://schemas.openxmlformats.org/drawingml/2006/main" noGrp="1"/>
          </p:cNvSpPr>
          <p:nvPr/>
        </p:nvSpPr>
        <p:spPr>
          <a:xfrm xmlns:a="http://schemas.openxmlformats.org/drawingml/2006/main">
            <a:off x="1809750" y="44386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800" b="1">
                <a:solidFill>
                  <a:srgbClr val="10131B"/>
                </a:solidFill>
                <a:latin typeface="Arial"/>
                <a:ea typeface="Arial"/>
                <a:cs typeface="Arial"/>
              </a:defRPr>
            </a:defPPr>
          </a:lstStyle>
          <a:p xmlns:a="http://schemas.openxmlformats.org/drawingml/2006/main">
            <a:pPr algn="l">
              <a:defRPr sz="1800" b="1">
                <a:solidFill>
                  <a:srgbClr val="10131B"/>
                </a:solidFill>
                <a:latin typeface="Arial"/>
                <a:ea typeface="Arial"/>
                <a:cs typeface="Arial"/>
              </a:defRPr>
            </a:pPr>
            <a:r>
              <a:rPr sz="1800" b="1">
                <a:solidFill>
                  <a:srgbClr val="10131B"/>
                </a:solidFill>
                <a:latin typeface="Arial"/>
                <a:ea typeface="Arial"/>
                <a:cs typeface="Arial"/>
              </a:rPr>
              <a:t>Execution-mode benchmark</a:t>
            </a:r>
          </a:p>
        </p:txBody>
      </p:sp>
      <p:sp>
        <p:nvSpPr>
          <p:cNvPr id="17" name="">
            <a:extLst xmlns:a="http://schemas.openxmlformats.org/drawingml/2006/main">
              <a:ext uri="{FF2B5EF4-FFF2-40B4-BE49-F238E27FC236}">
                <a16:creationId xmlns:a16="http://schemas.microsoft.com/office/drawing/2014/main" id="{DA9F3BF2-A1CE-48B6-AF22-06BD1A022B7B}"/>
              </a:ext>
            </a:extLst>
          </p:cNvPr>
          <p:cNvSpPr>
            <a:spLocks xmlns:a="http://schemas.openxmlformats.org/drawingml/2006/main" noGrp="1"/>
          </p:cNvSpPr>
          <p:nvPr/>
        </p:nvSpPr>
        <p:spPr>
          <a:xfrm xmlns:a="http://schemas.openxmlformats.org/drawingml/2006/main">
            <a:off x="1809750" y="4857750"/>
            <a:ext cx="428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350" b="0">
                <a:solidFill>
                  <a:srgbClr val="667180"/>
                </a:solidFill>
                <a:latin typeface="Arial"/>
                <a:ea typeface="Arial"/>
                <a:cs typeface="Arial"/>
              </a:defRPr>
            </a:defPPr>
          </a:lstStyle>
          <a:p xmlns:a="http://schemas.openxmlformats.org/drawingml/2006/main">
            <a:pPr algn="l">
              <a:defRPr sz="1350" b="0">
                <a:solidFill>
                  <a:srgbClr val="667180"/>
                </a:solidFill>
                <a:latin typeface="Arial"/>
                <a:ea typeface="Arial"/>
                <a:cs typeface="Arial"/>
              </a:defRPr>
            </a:pPr>
            <a:r>
              <a:rPr sz="1350" b="0">
                <a:solidFill>
                  <a:srgbClr val="667180"/>
                </a:solidFill>
                <a:latin typeface="Arial"/>
                <a:ea typeface="Arial"/>
                <a:cs typeface="Arial"/>
              </a:rPr>
              <a:t>CSV, Parquet and DuckDB under 1 and 4 threads</a:t>
            </a:r>
          </a:p>
        </p:txBody>
      </p:sp>
      <p:sp>
        <p:nvSpPr>
          <p:cNvPr id="18" name="">
            <a:extLst xmlns:a="http://schemas.openxmlformats.org/drawingml/2006/main">
              <a:ext uri="{FF2B5EF4-FFF2-40B4-BE49-F238E27FC236}">
                <a16:creationId xmlns:a16="http://schemas.microsoft.com/office/drawing/2014/main" id="{CD2C20EA-1030-4F7D-9B68-954F489443D3}"/>
              </a:ext>
            </a:extLst>
          </p:cNvPr>
          <p:cNvSpPr>
            <a:spLocks xmlns:a="http://schemas.openxmlformats.org/drawingml/2006/main" noGrp="1"/>
          </p:cNvSpPr>
          <p:nvPr/>
        </p:nvSpPr>
        <p:spPr>
          <a:xfrm xmlns:a="http://schemas.openxmlformats.org/drawingml/2006/main">
            <a:off x="6715125" y="4533900"/>
            <a:ext cx="4095750" cy="857250"/>
          </a:xfrm>
          <a:prstGeom xmlns:a="http://schemas.openxmlformats.org/drawingml/2006/main" prst="rect">
            <a:avLst/>
          </a:prstGeom>
          <a:solidFill xmlns:a="http://schemas.openxmlformats.org/drawingml/2006/main">
            <a:srgbClr val="FFF0DB"/>
          </a:solidFill>
          <a:ln xmlns:a="http://schemas.openxmlformats.org/drawingml/2006/main" w="0">
            <a:noFill/>
            <a:prstDash val="solid"/>
          </a:ln>
        </p:spPr>
        <p:txBody>
          <a:bodyPr xmlns:a="http://schemas.openxmlformats.org/drawingml/2006/main" anchor="ctr"/>
          <a:lstStyle xmlns:a="http://schemas.openxmlformats.org/drawingml/2006/main">
            <a:defPPr algn="ctr">
              <a:defRPr sz="1425" b="1">
                <a:solidFill>
                  <a:srgbClr val="F2A03D"/>
                </a:solidFill>
                <a:latin typeface="Arial"/>
                <a:ea typeface="Arial"/>
                <a:cs typeface="Arial"/>
              </a:defRPr>
            </a:defPPr>
          </a:lstStyle>
          <a:p xmlns:a="http://schemas.openxmlformats.org/drawingml/2006/main">
            <a:pPr algn="ctr">
              <a:defRPr sz="1425" b="1">
                <a:solidFill>
                  <a:srgbClr val="F2A03D"/>
                </a:solidFill>
                <a:latin typeface="Arial"/>
                <a:ea typeface="Arial"/>
                <a:cs typeface="Arial"/>
              </a:defRPr>
            </a:pPr>
            <a:r>
              <a:rPr sz="1425" b="1">
                <a:solidFill>
                  <a:srgbClr val="F2A03D"/>
                </a:solidFill>
                <a:latin typeface="Arial"/>
                <a:ea typeface="Arial"/>
                <a:cs typeface="Arial"/>
              </a:rPr>
              <a:t>Six measured modes with plans and timing files</a:t>
            </a:r>
          </a:p>
        </p:txBody>
      </p:sp>
      <p:sp>
        <p:nvSpPr>
          <p:cNvPr id="19" name="">
            <a:extLst xmlns:a="http://schemas.openxmlformats.org/drawingml/2006/main">
              <a:ext uri="{FF2B5EF4-FFF2-40B4-BE49-F238E27FC236}">
                <a16:creationId xmlns:a16="http://schemas.microsoft.com/office/drawing/2014/main" id="{1FA6B5C1-D6B5-49C4-8208-B9EDC80F1A53}"/>
              </a:ext>
            </a:extLst>
          </p:cNvPr>
          <p:cNvSpPr>
            <a:spLocks xmlns:a="http://schemas.openxmlformats.org/drawingml/2006/main" noGrp="1"/>
          </p:cNvSpPr>
          <p:nvPr/>
        </p:nvSpPr>
        <p:spPr>
          <a:xfrm xmlns:a="http://schemas.openxmlformats.org/drawingml/2006/main">
            <a:off x="685800" y="5905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1">
                <a:solidFill>
                  <a:srgbClr val="E65B65"/>
                </a:solidFill>
                <a:latin typeface="Arial"/>
                <a:ea typeface="Arial"/>
                <a:cs typeface="Arial"/>
              </a:defRPr>
            </a:defPPr>
          </a:lstStyle>
          <a:p xmlns:a="http://schemas.openxmlformats.org/drawingml/2006/main">
            <a:pPr algn="l">
              <a:defRPr sz="1275" b="1">
                <a:solidFill>
                  <a:srgbClr val="E65B65"/>
                </a:solidFill>
                <a:latin typeface="Arial"/>
                <a:ea typeface="Arial"/>
                <a:cs typeface="Arial"/>
              </a:defRPr>
            </a:pPr>
            <a:r>
              <a:rPr sz="1275" b="1">
                <a:solidFill>
                  <a:srgbClr val="E65B65"/>
                </a:solidFill>
                <a:latin typeface="Arial"/>
                <a:ea typeface="Arial"/>
                <a:cs typeface="Arial"/>
              </a:rPr>
              <a:t>Concurrency design</a:t>
            </a:r>
          </a:p>
        </p:txBody>
      </p:sp>
      <p:sp>
        <p:nvSpPr>
          <p:cNvPr id="20" name="">
            <a:extLst xmlns:a="http://schemas.openxmlformats.org/drawingml/2006/main">
              <a:ext uri="{FF2B5EF4-FFF2-40B4-BE49-F238E27FC236}">
                <a16:creationId xmlns:a16="http://schemas.microsoft.com/office/drawing/2014/main" id="{B8F05890-3B7F-4510-A062-53102CB0C60D}"/>
              </a:ext>
            </a:extLst>
          </p:cNvPr>
          <p:cNvSpPr>
            <a:spLocks xmlns:a="http://schemas.openxmlformats.org/drawingml/2006/main" noGrp="1"/>
          </p:cNvSpPr>
          <p:nvPr/>
        </p:nvSpPr>
        <p:spPr>
          <a:xfrm xmlns:a="http://schemas.openxmlformats.org/drawingml/2006/main">
            <a:off x="2895600" y="58864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275" b="0">
                <a:solidFill>
                  <a:srgbClr val="667180"/>
                </a:solidFill>
                <a:latin typeface="Arial"/>
                <a:ea typeface="Arial"/>
                <a:cs typeface="Arial"/>
              </a:defRPr>
            </a:defPPr>
          </a:lstStyle>
          <a:p xmlns:a="http://schemas.openxmlformats.org/drawingml/2006/main">
            <a:pPr algn="l">
              <a:defRPr sz="1275" b="0">
                <a:solidFill>
                  <a:srgbClr val="667180"/>
                </a:solidFill>
                <a:latin typeface="Arial"/>
                <a:ea typeface="Arial"/>
                <a:cs typeface="Arial"/>
              </a:defRPr>
            </a:pPr>
            <a:r>
              <a:rPr sz="1275" b="0">
                <a:solidFill>
                  <a:srgbClr val="667180"/>
                </a:solidFill>
                <a:latin typeface="Arial"/>
                <a:ea typeface="Arial"/>
                <a:cs typeface="Arial"/>
              </a:rPr>
              <a:t>The API embeds the consumer so one process owns the writable real-time DuckDB file.</a:t>
            </a:r>
          </a:p>
        </p:txBody>
      </p:sp>
      <p:sp>
        <p:nvSpPr>
          <p:cNvPr id="21" name="">
            <a:extLst xmlns:a="http://schemas.openxmlformats.org/drawingml/2006/main">
              <a:ext uri="{FF2B5EF4-FFF2-40B4-BE49-F238E27FC236}">
                <a16:creationId xmlns:a16="http://schemas.microsoft.com/office/drawing/2014/main" id="{821375CA-B3E4-46F7-BE08-34E7B85B5B2F}"/>
              </a:ext>
            </a:extLst>
          </p:cNvPr>
          <p:cNvSpPr>
            <a:spLocks xmlns:a="http://schemas.openxmlformats.org/drawingml/2006/main" noGrp="1"/>
          </p:cNvSpPr>
          <p:nvPr/>
        </p:nvSpPr>
        <p:spPr>
          <a:xfrm xmlns:a="http://schemas.openxmlformats.org/drawingml/2006/main">
            <a:off x="685800" y="6457950"/>
            <a:ext cx="10820400" cy="9525"/>
          </a:xfrm>
          <a:prstGeom xmlns:a="http://schemas.openxmlformats.org/drawingml/2006/main" prst="rect">
            <a:avLst/>
          </a:prstGeom>
          <a:solidFill xmlns:a="http://schemas.openxmlformats.org/drawingml/2006/main">
            <a:srgbClr val="D5DCE4"/>
          </a:solidFill>
          <a:ln xmlns:a="http://schemas.openxmlformats.org/drawingml/2006/main" w="0">
            <a:solidFill>
              <a:srgbClr val="D5DCE4"/>
            </a:solidFill>
            <a:prstDash val="solid"/>
          </a:ln>
        </p:spPr>
      </p:sp>
      <p:sp>
        <p:nvSpPr>
          <p:cNvPr id="22" name="">
            <a:extLst xmlns:a="http://schemas.openxmlformats.org/drawingml/2006/main">
              <a:ext uri="{FF2B5EF4-FFF2-40B4-BE49-F238E27FC236}">
                <a16:creationId xmlns:a16="http://schemas.microsoft.com/office/drawing/2014/main" id="{1E9BE125-D694-47A2-A376-BEE2E17DCC7E}"/>
              </a:ext>
            </a:extLst>
          </p:cNvPr>
          <p:cNvSpPr>
            <a:spLocks xmlns:a="http://schemas.openxmlformats.org/drawingml/2006/main" noGrp="1"/>
          </p:cNvSpPr>
          <p:nvPr/>
        </p:nvSpPr>
        <p:spPr>
          <a:xfrm xmlns:a="http://schemas.openxmlformats.org/drawingml/2006/main">
            <a:off x="685800" y="6524625"/>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825" b="0">
                <a:solidFill>
                  <a:srgbClr val="667180"/>
                </a:solidFill>
                <a:latin typeface="Arial"/>
                <a:ea typeface="Arial"/>
                <a:cs typeface="Arial"/>
              </a:defRPr>
            </a:defPPr>
          </a:lstStyle>
          <a:p xmlns:a="http://schemas.openxmlformats.org/drawingml/2006/main">
            <a:pPr algn="l">
              <a:defRPr sz="825" b="0">
                <a:solidFill>
                  <a:srgbClr val="667180"/>
                </a:solidFill>
                <a:latin typeface="Arial"/>
                <a:ea typeface="Arial"/>
                <a:cs typeface="Arial"/>
              </a:defRPr>
            </a:pPr>
            <a:r>
              <a:rPr sz="825" b="0">
                <a:solidFill>
                  <a:srgbClr val="667180"/>
                </a:solidFill>
                <a:latin typeface="Arial"/>
                <a:ea typeface="Arial"/>
                <a:cs typeface="Arial"/>
              </a:rPr>
              <a:t>E-Commerce Sales Analytics using DuckDB</a:t>
            </a:r>
          </a:p>
        </p:txBody>
      </p:sp>
      <p:sp>
        <p:nvSpPr>
          <p:cNvPr id="23" name="">
            <a:extLst xmlns:a="http://schemas.openxmlformats.org/drawingml/2006/main">
              <a:ext uri="{FF2B5EF4-FFF2-40B4-BE49-F238E27FC236}">
                <a16:creationId xmlns:a16="http://schemas.microsoft.com/office/drawing/2014/main" id="{2925363C-9BB5-4AFC-8A86-72E0E8441A96}"/>
              </a:ext>
            </a:extLst>
          </p:cNvPr>
          <p:cNvSpPr>
            <a:spLocks xmlns:a="http://schemas.openxmlformats.org/drawingml/2006/main" noGrp="1"/>
          </p:cNvSpPr>
          <p:nvPr/>
        </p:nvSpPr>
        <p:spPr>
          <a:xfrm xmlns:a="http://schemas.openxmlformats.org/drawingml/2006/main">
            <a:off x="7143750" y="6524625"/>
            <a:ext cx="436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r">
              <a:defRPr sz="825" b="0">
                <a:solidFill>
                  <a:srgbClr val="667180"/>
                </a:solidFill>
                <a:latin typeface="Arial"/>
                <a:ea typeface="Arial"/>
                <a:cs typeface="Arial"/>
              </a:defRPr>
            </a:defPPr>
          </a:lstStyle>
          <a:p xmlns:a="http://schemas.openxmlformats.org/drawingml/2006/main">
            <a:pPr algn="r">
              <a:defRPr sz="825" b="0">
                <a:solidFill>
                  <a:srgbClr val="667180"/>
                </a:solidFill>
                <a:latin typeface="Arial"/>
                <a:ea typeface="Arial"/>
                <a:cs typeface="Arial"/>
              </a:defRPr>
            </a:pPr>
            <a:r>
              <a:rPr sz="825" b="0">
                <a:solidFill>
                  <a:srgbClr val="667180"/>
                </a:solidFill>
                <a:latin typeface="Arial"/>
                <a:ea typeface="Arial"/>
                <a:cs typeface="Arial"/>
              </a:rPr>
              <a:t>DuckDB  |  FastAPI  |  RabbitMQ  |  Streamlit</a:t>
            </a:r>
          </a:p>
        </p:txBody>
      </p:sp>
    </p:spTree>
    <p:extLst>
      <p:ext uri="{BB962C8B-B14F-4D97-AF65-F5344CB8AC3E}">
        <p14:creationId xmlns:p14="http://schemas.microsoft.com/office/powerpoint/2010/main" val="1738715366"/>
      </p:ext>
    </p:extLst>
  </p:cSld>
</p:sld>
</file>

<file path=ppt/slides/slide10.xml><?xml version="1.0" encoding="utf-8"?>
<p:sld xmlns:p="http://schemas.openxmlformats.org/presentationml/2006/main">
  <p:cSld>
    <p:bg>
      <p:bgPr>
        <a:solidFill xmlns:a="http://schemas.openxmlformats.org/drawingml/2006/main">
          <a:srgbClr val="10131B"/>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756CBFE-5B84-4CB9-AE06-063B52C76736}"/>
              </a:ext>
            </a:extLst>
          </p:cNvPr>
          <p:cNvSpPr>
            <a:spLocks xmlns:a="http://schemas.openxmlformats.org/drawingml/2006/main" noGrp="1"/>
          </p:cNvSpPr>
          <p:nvPr/>
        </p:nvSpPr>
        <p:spPr>
          <a:xfrm xmlns:a="http://schemas.openxmlformats.org/drawingml/2006/main">
            <a:off x="685800" y="49530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050" b="1">
                <a:solidFill>
                  <a:srgbClr val="16B8A6"/>
                </a:solidFill>
                <a:latin typeface="Arial"/>
                <a:ea typeface="Arial"/>
                <a:cs typeface="Arial"/>
              </a:defRPr>
            </a:defPPr>
          </a:lstStyle>
          <a:p xmlns:a="http://schemas.openxmlformats.org/drawingml/2006/main">
            <a:pPr algn="l">
              <a:defRPr sz="1050" b="1">
                <a:solidFill>
                  <a:srgbClr val="16B8A6"/>
                </a:solidFill>
                <a:latin typeface="Arial"/>
                <a:ea typeface="Arial"/>
                <a:cs typeface="Arial"/>
              </a:defRPr>
            </a:pPr>
            <a:r>
              <a:rPr sz="1050" b="1">
                <a:solidFill>
                  <a:srgbClr val="16B8A6"/>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7CCFEAA4-017D-450D-9601-431D7467B0B1}"/>
              </a:ext>
            </a:extLst>
          </p:cNvPr>
          <p:cNvSpPr>
            <a:spLocks xmlns:a="http://schemas.openxmlformats.org/drawingml/2006/main" noGrp="1"/>
          </p:cNvSpPr>
          <p:nvPr/>
        </p:nvSpPr>
        <p:spPr>
          <a:xfrm xmlns:a="http://schemas.openxmlformats.org/drawingml/2006/main">
            <a:off x="685800" y="876300"/>
            <a:ext cx="9906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3150" b="1">
                <a:solidFill>
                  <a:srgbClr val="FFFFFF"/>
                </a:solidFill>
                <a:latin typeface="Arial"/>
                <a:ea typeface="Arial"/>
                <a:cs typeface="Arial"/>
              </a:defRPr>
            </a:defPPr>
          </a:lstStyle>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Batch analytics and live ingestion in one platform</a:t>
            </a:r>
          </a:p>
        </p:txBody>
      </p:sp>
      <p:sp>
        <p:nvSpPr>
          <p:cNvPr id="3" name="">
            <a:extLst xmlns:a="http://schemas.openxmlformats.org/drawingml/2006/main">
              <a:ext uri="{FF2B5EF4-FFF2-40B4-BE49-F238E27FC236}">
                <a16:creationId xmlns:a16="http://schemas.microsoft.com/office/drawing/2014/main" id="{F623ED65-31EF-47B0-A913-100FA7C3CD6D}"/>
              </a:ext>
            </a:extLst>
          </p:cNvPr>
          <p:cNvSpPr>
            <a:spLocks xmlns:a="http://schemas.openxmlformats.org/drawingml/2006/main" noGrp="1"/>
          </p:cNvSpPr>
          <p:nvPr/>
        </p:nvSpPr>
        <p:spPr>
          <a:xfrm xmlns:a="http://schemas.openxmlformats.org/drawingml/2006/main">
            <a:off x="762000" y="2152650"/>
            <a:ext cx="190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FFFFFF"/>
                </a:solidFill>
                <a:latin typeface="Arial"/>
                <a:ea typeface="Arial"/>
                <a:cs typeface="Arial"/>
              </a:defRPr>
            </a:defPPr>
          </a:lstStyle>
          <a:p xmlns:a="http://schemas.openxmlformats.org/drawingml/2006/main">
            <a:pPr algn="ctr">
              <a:defRPr sz="1725" b="1">
                <a:solidFill>
                  <a:srgbClr val="FFFFFF"/>
                </a:solidFill>
                <a:latin typeface="Arial"/>
                <a:ea typeface="Arial"/>
                <a:cs typeface="Arial"/>
              </a:defRPr>
            </a:pPr>
            <a:r>
              <a:rPr sz="1725" b="1">
                <a:solidFill>
                  <a:srgbClr val="FFFFFF"/>
                </a:solidFill>
                <a:latin typeface="Arial"/>
                <a:ea typeface="Arial"/>
                <a:cs typeface="Arial"/>
              </a:rPr>
              <a:t>Imperfect CSV</a:t>
            </a:r>
          </a:p>
        </p:txBody>
      </p:sp>
      <p:sp>
        <p:nvSpPr>
          <p:cNvPr id="4" name="">
            <a:extLst xmlns:a="http://schemas.openxmlformats.org/drawingml/2006/main">
              <a:ext uri="{FF2B5EF4-FFF2-40B4-BE49-F238E27FC236}">
                <a16:creationId xmlns:a16="http://schemas.microsoft.com/office/drawing/2014/main" id="{D17DF50F-4BC9-4B2F-8C4A-BDE22B2A94EA}"/>
              </a:ext>
            </a:extLst>
          </p:cNvPr>
          <p:cNvSpPr>
            <a:spLocks xmlns:a="http://schemas.openxmlformats.org/drawingml/2006/main" noGrp="1"/>
          </p:cNvSpPr>
          <p:nvPr/>
        </p:nvSpPr>
        <p:spPr>
          <a:xfrm xmlns:a="http://schemas.openxmlformats.org/drawingml/2006/main">
            <a:off x="3143250" y="2152650"/>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FFFFFF"/>
                </a:solidFill>
                <a:latin typeface="Arial"/>
                <a:ea typeface="Arial"/>
                <a:cs typeface="Arial"/>
              </a:defRPr>
            </a:defPPr>
          </a:lstStyle>
          <a:p xmlns:a="http://schemas.openxmlformats.org/drawingml/2006/main">
            <a:pPr algn="ctr">
              <a:defRPr sz="1725" b="1">
                <a:solidFill>
                  <a:srgbClr val="FFFFFF"/>
                </a:solidFill>
                <a:latin typeface="Arial"/>
                <a:ea typeface="Arial"/>
                <a:cs typeface="Arial"/>
              </a:defRPr>
            </a:pPr>
            <a:r>
              <a:rPr sz="1725" b="1">
                <a:solidFill>
                  <a:srgbClr val="FFFFFF"/>
                </a:solidFill>
                <a:latin typeface="Arial"/>
                <a:ea typeface="Arial"/>
                <a:cs typeface="Arial"/>
              </a:rPr>
              <a:t>Clean warehouse</a:t>
            </a:r>
          </a:p>
        </p:txBody>
      </p:sp>
      <p:sp>
        <p:nvSpPr>
          <p:cNvPr id="5" name="">
            <a:extLst xmlns:a="http://schemas.openxmlformats.org/drawingml/2006/main">
              <a:ext uri="{FF2B5EF4-FFF2-40B4-BE49-F238E27FC236}">
                <a16:creationId xmlns:a16="http://schemas.microsoft.com/office/drawing/2014/main" id="{D4FDF421-0DCC-4652-A850-166027A9640F}"/>
              </a:ext>
            </a:extLst>
          </p:cNvPr>
          <p:cNvSpPr>
            <a:spLocks xmlns:a="http://schemas.openxmlformats.org/drawingml/2006/main" noGrp="1"/>
          </p:cNvSpPr>
          <p:nvPr/>
        </p:nvSpPr>
        <p:spPr>
          <a:xfrm xmlns:a="http://schemas.openxmlformats.org/drawingml/2006/main">
            <a:off x="5715000" y="215265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FFFFFF"/>
                </a:solidFill>
                <a:latin typeface="Arial"/>
                <a:ea typeface="Arial"/>
                <a:cs typeface="Arial"/>
              </a:defRPr>
            </a:defPPr>
          </a:lstStyle>
          <a:p xmlns:a="http://schemas.openxmlformats.org/drawingml/2006/main">
            <a:pPr algn="ctr">
              <a:defRPr sz="1725" b="1">
                <a:solidFill>
                  <a:srgbClr val="FFFFFF"/>
                </a:solidFill>
                <a:latin typeface="Arial"/>
                <a:ea typeface="Arial"/>
                <a:cs typeface="Arial"/>
              </a:defRPr>
            </a:pPr>
            <a:r>
              <a:rPr sz="1725" b="1">
                <a:solidFill>
                  <a:srgbClr val="FFFFFF"/>
                </a:solidFill>
                <a:latin typeface="Arial"/>
                <a:ea typeface="Arial"/>
                <a:cs typeface="Arial"/>
              </a:rPr>
              <a:t>Reusable OLAP</a:t>
            </a:r>
          </a:p>
        </p:txBody>
      </p:sp>
      <p:sp>
        <p:nvSpPr>
          <p:cNvPr id="6" name="">
            <a:extLst xmlns:a="http://schemas.openxmlformats.org/drawingml/2006/main">
              <a:ext uri="{FF2B5EF4-FFF2-40B4-BE49-F238E27FC236}">
                <a16:creationId xmlns:a16="http://schemas.microsoft.com/office/drawing/2014/main" id="{8F5D4403-AC52-41EB-B806-26AE43CAF0A2}"/>
              </a:ext>
            </a:extLst>
          </p:cNvPr>
          <p:cNvSpPr>
            <a:spLocks xmlns:a="http://schemas.openxmlformats.org/drawingml/2006/main" noGrp="1"/>
          </p:cNvSpPr>
          <p:nvPr/>
        </p:nvSpPr>
        <p:spPr>
          <a:xfrm xmlns:a="http://schemas.openxmlformats.org/drawingml/2006/main">
            <a:off x="8191500" y="2152650"/>
            <a:ext cx="247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725" b="1">
                <a:solidFill>
                  <a:srgbClr val="FFFFFF"/>
                </a:solidFill>
                <a:latin typeface="Arial"/>
                <a:ea typeface="Arial"/>
                <a:cs typeface="Arial"/>
              </a:defRPr>
            </a:defPPr>
          </a:lstStyle>
          <a:p xmlns:a="http://schemas.openxmlformats.org/drawingml/2006/main">
            <a:pPr algn="ctr">
              <a:defRPr sz="1725" b="1">
                <a:solidFill>
                  <a:srgbClr val="FFFFFF"/>
                </a:solidFill>
                <a:latin typeface="Arial"/>
                <a:ea typeface="Arial"/>
                <a:cs typeface="Arial"/>
              </a:defRPr>
            </a:pPr>
            <a:r>
              <a:rPr sz="1725" b="1">
                <a:solidFill>
                  <a:srgbClr val="FFFFFF"/>
                </a:solidFill>
                <a:latin typeface="Arial"/>
                <a:ea typeface="Arial"/>
                <a:cs typeface="Arial"/>
              </a:rPr>
              <a:t>Decision dashboard</a:t>
            </a:r>
          </a:p>
        </p:txBody>
      </p:sp>
      <p:sp>
        <p:nvSpPr>
          <p:cNvPr id="7" name="">
            <a:extLst xmlns:a="http://schemas.openxmlformats.org/drawingml/2006/main">
              <a:ext uri="{FF2B5EF4-FFF2-40B4-BE49-F238E27FC236}">
                <a16:creationId xmlns:a16="http://schemas.microsoft.com/office/drawing/2014/main" id="{5D0B24C2-D982-4A8F-BD09-D312E62D5D34}"/>
              </a:ext>
            </a:extLst>
          </p:cNvPr>
          <p:cNvSpPr>
            <a:spLocks xmlns:a="http://schemas.openxmlformats.org/drawingml/2006/main" noGrp="1"/>
          </p:cNvSpPr>
          <p:nvPr/>
        </p:nvSpPr>
        <p:spPr>
          <a:xfrm xmlns:a="http://schemas.openxmlformats.org/drawingml/2006/main">
            <a:off x="2667000" y="2152650"/>
            <a:ext cx="457200" cy="361950"/>
          </a:xfrm>
          <a:prstGeom xmlns:a="http://schemas.openxmlformats.org/drawingml/2006/main" prst="rightArrow">
            <a:avLst/>
          </a:prstGeom>
          <a:solidFill xmlns:a="http://schemas.openxmlformats.org/drawingml/2006/main">
            <a:srgbClr val="16B8A6"/>
          </a:solidFill>
          <a:ln xmlns:a="http://schemas.openxmlformats.org/drawingml/2006/main" w="0">
            <a:solidFill>
              <a:srgbClr val="16B8A6"/>
            </a:solidFill>
            <a:prstDash val="solid"/>
          </a:ln>
        </p:spPr>
      </p:sp>
      <p:sp>
        <p:nvSpPr>
          <p:cNvPr id="8" name="">
            <a:extLst xmlns:a="http://schemas.openxmlformats.org/drawingml/2006/main">
              <a:ext uri="{FF2B5EF4-FFF2-40B4-BE49-F238E27FC236}">
                <a16:creationId xmlns:a16="http://schemas.microsoft.com/office/drawing/2014/main" id="{8FE4D61D-D894-4515-986D-4BDE9DC13C50}"/>
              </a:ext>
            </a:extLst>
          </p:cNvPr>
          <p:cNvSpPr>
            <a:spLocks xmlns:a="http://schemas.openxmlformats.org/drawingml/2006/main" noGrp="1"/>
          </p:cNvSpPr>
          <p:nvPr/>
        </p:nvSpPr>
        <p:spPr>
          <a:xfrm xmlns:a="http://schemas.openxmlformats.org/drawingml/2006/main">
            <a:off x="5238750" y="2152650"/>
            <a:ext cx="457200" cy="361950"/>
          </a:xfrm>
          <a:prstGeom xmlns:a="http://schemas.openxmlformats.org/drawingml/2006/main" prst="rightArrow">
            <a:avLst/>
          </a:prstGeom>
          <a:solidFill xmlns:a="http://schemas.openxmlformats.org/drawingml/2006/main">
            <a:srgbClr val="16B8A6"/>
          </a:solidFill>
          <a:ln xmlns:a="http://schemas.openxmlformats.org/drawingml/2006/main" w="0">
            <a:solidFill>
              <a:srgbClr val="16B8A6"/>
            </a:solidFill>
            <a:prstDash val="solid"/>
          </a:ln>
        </p:spPr>
      </p:sp>
      <p:sp>
        <p:nvSpPr>
          <p:cNvPr id="9" name="">
            <a:extLst xmlns:a="http://schemas.openxmlformats.org/drawingml/2006/main">
              <a:ext uri="{FF2B5EF4-FFF2-40B4-BE49-F238E27FC236}">
                <a16:creationId xmlns:a16="http://schemas.microsoft.com/office/drawing/2014/main" id="{5C34FDA7-8242-4F3D-B999-E0848C60F745}"/>
              </a:ext>
            </a:extLst>
          </p:cNvPr>
          <p:cNvSpPr>
            <a:spLocks xmlns:a="http://schemas.openxmlformats.org/drawingml/2006/main" noGrp="1"/>
          </p:cNvSpPr>
          <p:nvPr/>
        </p:nvSpPr>
        <p:spPr>
          <a:xfrm xmlns:a="http://schemas.openxmlformats.org/drawingml/2006/main">
            <a:off x="7715250" y="2152650"/>
            <a:ext cx="457200" cy="361950"/>
          </a:xfrm>
          <a:prstGeom xmlns:a="http://schemas.openxmlformats.org/drawingml/2006/main" prst="rightArrow">
            <a:avLst/>
          </a:prstGeom>
          <a:solidFill xmlns:a="http://schemas.openxmlformats.org/drawingml/2006/main">
            <a:srgbClr val="16B8A6"/>
          </a:solidFill>
          <a:ln xmlns:a="http://schemas.openxmlformats.org/drawingml/2006/main" w="0">
            <a:solidFill>
              <a:srgbClr val="16B8A6"/>
            </a:solidFill>
            <a:prstDash val="solid"/>
          </a:ln>
        </p:spPr>
      </p:sp>
      <p:sp>
        <p:nvSpPr>
          <p:cNvPr id="10" name="">
            <a:extLst xmlns:a="http://schemas.openxmlformats.org/drawingml/2006/main">
              <a:ext uri="{FF2B5EF4-FFF2-40B4-BE49-F238E27FC236}">
                <a16:creationId xmlns:a16="http://schemas.microsoft.com/office/drawing/2014/main" id="{B9D437B9-394C-4E9F-B0BF-EB317C08E644}"/>
              </a:ext>
            </a:extLst>
          </p:cNvPr>
          <p:cNvSpPr>
            <a:spLocks xmlns:a="http://schemas.openxmlformats.org/drawingml/2006/main" noGrp="1"/>
          </p:cNvSpPr>
          <p:nvPr/>
        </p:nvSpPr>
        <p:spPr>
          <a:xfrm xmlns:a="http://schemas.openxmlformats.org/drawingml/2006/main">
            <a:off x="762000" y="2914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0">
                <a:solidFill>
                  <a:srgbClr val="C9D2DE"/>
                </a:solidFill>
                <a:latin typeface="Arial"/>
                <a:ea typeface="Arial"/>
                <a:cs typeface="Arial"/>
              </a:defRPr>
            </a:defPPr>
          </a:lstStyle>
          <a:p xmlns:a="http://schemas.openxmlformats.org/drawingml/2006/main">
            <a:pPr algn="ctr">
              <a:defRPr sz="1500" b="0">
                <a:solidFill>
                  <a:srgbClr val="C9D2DE"/>
                </a:solidFill>
                <a:latin typeface="Arial"/>
                <a:ea typeface="Arial"/>
                <a:cs typeface="Arial"/>
              </a:defRPr>
            </a:pPr>
            <a:r>
              <a:rPr sz="1500" b="0">
                <a:solidFill>
                  <a:srgbClr val="C9D2DE"/>
                </a:solidFill>
                <a:latin typeface="Arial"/>
                <a:ea typeface="Arial"/>
                <a:cs typeface="Arial"/>
              </a:rPr>
              <a:t>248,555 clean rows</a:t>
            </a:r>
          </a:p>
        </p:txBody>
      </p:sp>
      <p:sp>
        <p:nvSpPr>
          <p:cNvPr id="11" name="">
            <a:extLst xmlns:a="http://schemas.openxmlformats.org/drawingml/2006/main">
              <a:ext uri="{FF2B5EF4-FFF2-40B4-BE49-F238E27FC236}">
                <a16:creationId xmlns:a16="http://schemas.microsoft.com/office/drawing/2014/main" id="{FA08B469-C678-4253-8D2F-D191D3389226}"/>
              </a:ext>
            </a:extLst>
          </p:cNvPr>
          <p:cNvSpPr>
            <a:spLocks xmlns:a="http://schemas.openxmlformats.org/drawingml/2006/main" noGrp="1"/>
          </p:cNvSpPr>
          <p:nvPr/>
        </p:nvSpPr>
        <p:spPr>
          <a:xfrm xmlns:a="http://schemas.openxmlformats.org/drawingml/2006/main">
            <a:off x="3352800" y="29146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0">
                <a:solidFill>
                  <a:srgbClr val="C9D2DE"/>
                </a:solidFill>
                <a:latin typeface="Arial"/>
                <a:ea typeface="Arial"/>
                <a:cs typeface="Arial"/>
              </a:defRPr>
            </a:defPPr>
          </a:lstStyle>
          <a:p xmlns:a="http://schemas.openxmlformats.org/drawingml/2006/main">
            <a:pPr algn="ctr">
              <a:defRPr sz="1500" b="0">
                <a:solidFill>
                  <a:srgbClr val="C9D2DE"/>
                </a:solidFill>
                <a:latin typeface="Arial"/>
                <a:ea typeface="Arial"/>
                <a:cs typeface="Arial"/>
              </a:defRPr>
            </a:pPr>
            <a:r>
              <a:rPr sz="1500" b="0">
                <a:solidFill>
                  <a:srgbClr val="C9D2DE"/>
                </a:solidFill>
                <a:latin typeface="Arial"/>
                <a:ea typeface="Arial"/>
                <a:cs typeface="Arial"/>
              </a:rPr>
              <a:t>4 KPI views</a:t>
            </a:r>
          </a:p>
        </p:txBody>
      </p:sp>
      <p:sp>
        <p:nvSpPr>
          <p:cNvPr id="12" name="">
            <a:extLst xmlns:a="http://schemas.openxmlformats.org/drawingml/2006/main">
              <a:ext uri="{FF2B5EF4-FFF2-40B4-BE49-F238E27FC236}">
                <a16:creationId xmlns:a16="http://schemas.microsoft.com/office/drawing/2014/main" id="{6A8D1FB9-B1BE-44B6-8AE5-E2F1C71D08CB}"/>
              </a:ext>
            </a:extLst>
          </p:cNvPr>
          <p:cNvSpPr>
            <a:spLocks xmlns:a="http://schemas.openxmlformats.org/drawingml/2006/main" noGrp="1"/>
          </p:cNvSpPr>
          <p:nvPr/>
        </p:nvSpPr>
        <p:spPr>
          <a:xfrm xmlns:a="http://schemas.openxmlformats.org/drawingml/2006/main">
            <a:off x="5715000" y="29146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0">
                <a:solidFill>
                  <a:srgbClr val="C9D2DE"/>
                </a:solidFill>
                <a:latin typeface="Arial"/>
                <a:ea typeface="Arial"/>
                <a:cs typeface="Arial"/>
              </a:defRPr>
            </a:defPPr>
          </a:lstStyle>
          <a:p xmlns:a="http://schemas.openxmlformats.org/drawingml/2006/main">
            <a:pPr algn="ctr">
              <a:defRPr sz="1500" b="0">
                <a:solidFill>
                  <a:srgbClr val="C9D2DE"/>
                </a:solidFill>
                <a:latin typeface="Arial"/>
                <a:ea typeface="Arial"/>
                <a:cs typeface="Arial"/>
              </a:defRPr>
            </a:pPr>
            <a:r>
              <a:rPr sz="1500" b="0">
                <a:solidFill>
                  <a:srgbClr val="C9D2DE"/>
                </a:solidFill>
                <a:latin typeface="Arial"/>
                <a:ea typeface="Arial"/>
                <a:cs typeface="Arial"/>
              </a:rPr>
              <a:t>42 grouping-set rows</a:t>
            </a:r>
          </a:p>
        </p:txBody>
      </p:sp>
      <p:sp>
        <p:nvSpPr>
          <p:cNvPr id="13" name="">
            <a:extLst xmlns:a="http://schemas.openxmlformats.org/drawingml/2006/main">
              <a:ext uri="{FF2B5EF4-FFF2-40B4-BE49-F238E27FC236}">
                <a16:creationId xmlns:a16="http://schemas.microsoft.com/office/drawing/2014/main" id="{0B090E4A-12A6-44A4-9E84-E046FAFC390D}"/>
              </a:ext>
            </a:extLst>
          </p:cNvPr>
          <p:cNvSpPr>
            <a:spLocks xmlns:a="http://schemas.openxmlformats.org/drawingml/2006/main" noGrp="1"/>
          </p:cNvSpPr>
          <p:nvPr/>
        </p:nvSpPr>
        <p:spPr>
          <a:xfrm xmlns:a="http://schemas.openxmlformats.org/drawingml/2006/main">
            <a:off x="8286750" y="29146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500" b="0">
                <a:solidFill>
                  <a:srgbClr val="C9D2DE"/>
                </a:solidFill>
                <a:latin typeface="Arial"/>
                <a:ea typeface="Arial"/>
                <a:cs typeface="Arial"/>
              </a:defRPr>
            </a:defPPr>
          </a:lstStyle>
          <a:p xmlns:a="http://schemas.openxmlformats.org/drawingml/2006/main">
            <a:pPr algn="ctr">
              <a:defRPr sz="1500" b="0">
                <a:solidFill>
                  <a:srgbClr val="C9D2DE"/>
                </a:solidFill>
                <a:latin typeface="Arial"/>
                <a:ea typeface="Arial"/>
                <a:cs typeface="Arial"/>
              </a:defRPr>
            </a:pPr>
            <a:r>
              <a:rPr sz="1500" b="0">
                <a:solidFill>
                  <a:srgbClr val="C9D2DE"/>
                </a:solidFill>
                <a:latin typeface="Arial"/>
                <a:ea typeface="Arial"/>
                <a:cs typeface="Arial"/>
              </a:rPr>
              <a:t>4 interactive charts</a:t>
            </a:r>
          </a:p>
        </p:txBody>
      </p:sp>
      <p:sp>
        <p:nvSpPr>
          <p:cNvPr id="14" name="">
            <a:extLst xmlns:a="http://schemas.openxmlformats.org/drawingml/2006/main">
              <a:ext uri="{FF2B5EF4-FFF2-40B4-BE49-F238E27FC236}">
                <a16:creationId xmlns:a16="http://schemas.microsoft.com/office/drawing/2014/main" id="{8B909CD2-7011-4BD2-8CE1-77B26259B0A1}"/>
              </a:ext>
            </a:extLst>
          </p:cNvPr>
          <p:cNvSpPr>
            <a:spLocks xmlns:a="http://schemas.openxmlformats.org/drawingml/2006/main" noGrp="1"/>
          </p:cNvSpPr>
          <p:nvPr/>
        </p:nvSpPr>
        <p:spPr>
          <a:xfrm xmlns:a="http://schemas.openxmlformats.org/drawingml/2006/main">
            <a:off x="685800" y="3867150"/>
            <a:ext cx="2286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2025" b="1">
                <a:solidFill>
                  <a:srgbClr val="F2A03D"/>
                </a:solidFill>
                <a:latin typeface="Arial"/>
                <a:ea typeface="Arial"/>
                <a:cs typeface="Arial"/>
              </a:defRPr>
            </a:defPPr>
          </a:lstStyle>
          <a:p xmlns:a="http://schemas.openxmlformats.org/drawingml/2006/main">
            <a:pPr algn="l">
              <a:defRPr sz="2025" b="1">
                <a:solidFill>
                  <a:srgbClr val="F2A03D"/>
                </a:solidFill>
                <a:latin typeface="Arial"/>
                <a:ea typeface="Arial"/>
                <a:cs typeface="Arial"/>
              </a:defRPr>
            </a:pPr>
            <a:r>
              <a:rPr sz="2025" b="1">
                <a:solidFill>
                  <a:srgbClr val="F2A03D"/>
                </a:solidFill>
                <a:latin typeface="Arial"/>
                <a:ea typeface="Arial"/>
                <a:cs typeface="Arial"/>
              </a:rPr>
              <a:t>Demo sequence</a:t>
            </a:r>
          </a:p>
        </p:txBody>
      </p:sp>
      <p:sp>
        <p:nvSpPr>
          <p:cNvPr id="15" name="">
            <a:extLst xmlns:a="http://schemas.openxmlformats.org/drawingml/2006/main">
              <a:ext uri="{FF2B5EF4-FFF2-40B4-BE49-F238E27FC236}">
                <a16:creationId xmlns:a16="http://schemas.microsoft.com/office/drawing/2014/main" id="{A452BC6C-ED1D-4F4D-9067-0C40FE9D3781}"/>
              </a:ext>
            </a:extLst>
          </p:cNvPr>
          <p:cNvSpPr>
            <a:spLocks xmlns:a="http://schemas.openxmlformats.org/drawingml/2006/main" noGrp="1"/>
          </p:cNvSpPr>
          <p:nvPr/>
        </p:nvSpPr>
        <p:spPr>
          <a:xfrm xmlns:a="http://schemas.openxmlformats.org/drawingml/2006/main">
            <a:off x="685800" y="4362450"/>
            <a:ext cx="704850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l">
              <a:defRPr sz="1500" b="0">
                <a:solidFill>
                  <a:srgbClr val="FFFFFF"/>
                </a:solidFill>
                <a:latin typeface="Arial"/>
                <a:ea typeface="Arial"/>
                <a:cs typeface="Arial"/>
              </a:defRPr>
            </a:defPPr>
          </a:lstStyle>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1. Run the CLI batch pipeline</a:t>
            </a:r>
          </a:p>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2. Open the quality and benchmark evidence</a:t>
            </a:r>
          </a:p>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3. Start the Compose real-time profile</a:t>
            </a:r>
          </a:p>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4. Watch live orders update in Streamlit</a:t>
            </a:r>
          </a:p>
          <a:p xmlns:a="http://schemas.openxmlformats.org/drawingml/2006/main">
            <a:pPr algn="l">
              <a:defRPr sz="1500" b="0">
                <a:solidFill>
                  <a:srgbClr val="FFFFFF"/>
                </a:solidFill>
                <a:latin typeface="Arial"/>
                <a:ea typeface="Arial"/>
                <a:cs typeface="Arial"/>
              </a:defRPr>
            </a:pPr>
            <a:r>
              <a:rPr sz="1500" b="0">
                <a:solidFill>
                  <a:srgbClr val="FFFFFF"/>
                </a:solidFill>
                <a:latin typeface="Arial"/>
                <a:ea typeface="Arial"/>
                <a:cs typeface="Arial"/>
              </a:rPr>
              <a:t>5. Show the Kubernetes resources</a:t>
            </a:r>
          </a:p>
        </p:txBody>
      </p:sp>
      <p:sp>
        <p:nvSpPr>
          <p:cNvPr id="16" name="">
            <a:extLst xmlns:a="http://schemas.openxmlformats.org/drawingml/2006/main">
              <a:ext uri="{FF2B5EF4-FFF2-40B4-BE49-F238E27FC236}">
                <a16:creationId xmlns:a16="http://schemas.microsoft.com/office/drawing/2014/main" id="{FF6D8B55-D464-4191-9683-E9F3439EB148}"/>
              </a:ext>
            </a:extLst>
          </p:cNvPr>
          <p:cNvSpPr>
            <a:spLocks xmlns:a="http://schemas.openxmlformats.org/drawingml/2006/main" noGrp="1"/>
          </p:cNvSpPr>
          <p:nvPr/>
        </p:nvSpPr>
        <p:spPr>
          <a:xfrm xmlns:a="http://schemas.openxmlformats.org/drawingml/2006/main">
            <a:off x="8239125" y="4248150"/>
            <a:ext cx="30003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2175" b="1">
                <a:solidFill>
                  <a:srgbClr val="16B8A6"/>
                </a:solidFill>
                <a:latin typeface="Arial"/>
                <a:ea typeface="Arial"/>
                <a:cs typeface="Arial"/>
              </a:defRPr>
            </a:defPPr>
          </a:lstStyle>
          <a:p xmlns:a="http://schemas.openxmlformats.org/drawingml/2006/main">
            <a:pPr algn="ctr">
              <a:defRPr sz="2175" b="1">
                <a:solidFill>
                  <a:srgbClr val="16B8A6"/>
                </a:solidFill>
                <a:latin typeface="Arial"/>
                <a:ea typeface="Arial"/>
                <a:cs typeface="Arial"/>
              </a:defRPr>
            </a:pPr>
            <a:r>
              <a:rPr sz="2175" b="1">
                <a:solidFill>
                  <a:srgbClr val="16B8A6"/>
                </a:solidFill>
                <a:latin typeface="Arial"/>
                <a:ea typeface="Arial"/>
                <a:cs typeface="Arial"/>
              </a:rPr>
              <a:t>Ready for GitHub submission</a:t>
            </a:r>
          </a:p>
        </p:txBody>
      </p:sp>
      <p:sp>
        <p:nvSpPr>
          <p:cNvPr id="17" name="">
            <a:extLst xmlns:a="http://schemas.openxmlformats.org/drawingml/2006/main">
              <a:ext uri="{FF2B5EF4-FFF2-40B4-BE49-F238E27FC236}">
                <a16:creationId xmlns:a16="http://schemas.microsoft.com/office/drawing/2014/main" id="{2A232DFA-1EFF-4B07-91E1-FEE0609A2CAB}"/>
              </a:ext>
            </a:extLst>
          </p:cNvPr>
          <p:cNvSpPr>
            <a:spLocks xmlns:a="http://schemas.openxmlformats.org/drawingml/2006/main" noGrp="1"/>
          </p:cNvSpPr>
          <p:nvPr/>
        </p:nvSpPr>
        <p:spPr>
          <a:xfrm xmlns:a="http://schemas.openxmlformats.org/drawingml/2006/main">
            <a:off x="8191500" y="5219700"/>
            <a:ext cx="3095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lgn="ctr">
              <a:defRPr sz="1350" b="0">
                <a:solidFill>
                  <a:srgbClr val="C9D2DE"/>
                </a:solidFill>
                <a:latin typeface="Arial"/>
                <a:ea typeface="Arial"/>
                <a:cs typeface="Arial"/>
              </a:defRPr>
            </a:defPPr>
          </a:lstStyle>
          <a:p xmlns:a="http://schemas.openxmlformats.org/drawingml/2006/main">
            <a:pPr algn="ctr">
              <a:defRPr sz="1350" b="0">
                <a:solidFill>
                  <a:srgbClr val="C9D2DE"/>
                </a:solidFill>
                <a:latin typeface="Arial"/>
                <a:ea typeface="Arial"/>
                <a:cs typeface="Arial"/>
              </a:defRPr>
            </a:pPr>
            <a:r>
              <a:rPr sz="1350" b="0">
                <a:solidFill>
                  <a:srgbClr val="C9D2DE"/>
                </a:solidFill>
                <a:latin typeface="Arial"/>
                <a:ea typeface="Arial"/>
                <a:cs typeface="Arial"/>
              </a:rPr>
              <a:t>Code  |  Report  |  PPT  |  Results</a:t>
            </a:r>
          </a:p>
        </p:txBody>
      </p:sp>
    </p:spTree>
    <p:extLst>
      <p:ext uri="{BB962C8B-B14F-4D97-AF65-F5344CB8AC3E}">
        <p14:creationId xmlns:p14="http://schemas.microsoft.com/office/powerpoint/2010/main" val="2889893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2026-10-09T02:38:40.0540000Z</dcterms:created>
  <dcterms:modified xsi:type="dcterms:W3CDTF">2026-10-09T02:38:40.0540000Z</dcterms:modified>
</coreProperties>
</file>