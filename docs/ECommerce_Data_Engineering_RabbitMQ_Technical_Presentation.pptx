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4512475d114204" /><Relationship Type="http://schemas.openxmlformats.org/officeDocument/2006/relationships/extended-properties" Target="/docProps/app.xml" Id="R9fe65c17165b4392" /><Relationship Type="http://schemas.openxmlformats.org/officeDocument/2006/relationships/officeDocument" Target="/ppt/presentation.xml" Id="R6e5bb51726d9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2f67936ba474c"/>
  </p:sldMasterIdLst>
  <p:notesMasterIdLst>
    <p:notesMasterId xmlns:r="http://schemas.openxmlformats.org/officeDocument/2006/relationships" r:id="R63ab0323982c4dee"/>
  </p:notesMasterIdLst>
  <p:sldIdLst>
    <p:sldId xmlns:r="http://schemas.openxmlformats.org/officeDocument/2006/relationships" id="256" r:id="Rc7d72c4550a9479a"/>
    <p:sldId xmlns:r="http://schemas.openxmlformats.org/officeDocument/2006/relationships" id="257" r:id="R4b03ec0ac0b04a8b"/>
    <p:sldId xmlns:r="http://schemas.openxmlformats.org/officeDocument/2006/relationships" id="258" r:id="R625a479446704f7e"/>
    <p:sldId xmlns:r="http://schemas.openxmlformats.org/officeDocument/2006/relationships" id="259" r:id="R298b10b173394e2f"/>
    <p:sldId xmlns:r="http://schemas.openxmlformats.org/officeDocument/2006/relationships" id="260" r:id="R3e171faf16b6409a"/>
    <p:sldId xmlns:r="http://schemas.openxmlformats.org/officeDocument/2006/relationships" id="261" r:id="R03292b225a0f488f"/>
    <p:sldId xmlns:r="http://schemas.openxmlformats.org/officeDocument/2006/relationships" id="262" r:id="R3294771fb4f84ff1"/>
    <p:sldId xmlns:r="http://schemas.openxmlformats.org/officeDocument/2006/relationships" id="263" r:id="R0dbd92a4ef824689"/>
    <p:sldId xmlns:r="http://schemas.openxmlformats.org/officeDocument/2006/relationships" id="264" r:id="R4bbbbbe4f8bb49c0"/>
    <p:sldId xmlns:r="http://schemas.openxmlformats.org/officeDocument/2006/relationships" id="265" r:id="Rae8802af5d65468f"/>
    <p:sldId xmlns:r="http://schemas.openxmlformats.org/officeDocument/2006/relationships" id="266" r:id="R12375162d12143c3"/>
    <p:sldId xmlns:r="http://schemas.openxmlformats.org/officeDocument/2006/relationships" id="267" r:id="R2790e9b6356d4b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651a4c096249a3" /><Relationship Type="http://schemas.openxmlformats.org/officeDocument/2006/relationships/slideMaster" Target="/ppt/slideMasters/slideMaster1.xml" Id="R63e2f67936ba474c" /><Relationship Type="http://schemas.openxmlformats.org/officeDocument/2006/relationships/notesMaster" Target="/ppt/notesMasters/notesMaster1.xml" Id="R63ab0323982c4dee" /><Relationship Type="http://schemas.openxmlformats.org/officeDocument/2006/relationships/presProps" Target="/ppt/presProps.xml" Id="R3c075e7fd45d4959" /><Relationship Type="http://schemas.openxmlformats.org/officeDocument/2006/relationships/tableStyles" Target="/ppt/tableStyles.xml" Id="Ra1fd4c9f5c144bef" /><Relationship Type="http://schemas.openxmlformats.org/officeDocument/2006/relationships/slide" Target="/ppt/slides/slide1.xml" Id="Rc7d72c4550a9479a" /><Relationship Type="http://schemas.openxmlformats.org/officeDocument/2006/relationships/slide" Target="/ppt/slides/slide2.xml" Id="R4b03ec0ac0b04a8b" /><Relationship Type="http://schemas.openxmlformats.org/officeDocument/2006/relationships/slide" Target="/ppt/slides/slide3.xml" Id="R625a479446704f7e" /><Relationship Type="http://schemas.openxmlformats.org/officeDocument/2006/relationships/slide" Target="/ppt/slides/slide4.xml" Id="R298b10b173394e2f" /><Relationship Type="http://schemas.openxmlformats.org/officeDocument/2006/relationships/slide" Target="/ppt/slides/slide5.xml" Id="R3e171faf16b6409a" /><Relationship Type="http://schemas.openxmlformats.org/officeDocument/2006/relationships/slide" Target="/ppt/slides/slide6.xml" Id="R03292b225a0f488f" /><Relationship Type="http://schemas.openxmlformats.org/officeDocument/2006/relationships/slide" Target="/ppt/slides/slide7.xml" Id="R3294771fb4f84ff1" /><Relationship Type="http://schemas.openxmlformats.org/officeDocument/2006/relationships/slide" Target="/ppt/slides/slide8.xml" Id="R0dbd92a4ef824689" /><Relationship Type="http://schemas.openxmlformats.org/officeDocument/2006/relationships/slide" Target="/ppt/slides/slide9.xml" Id="R4bbbbbe4f8bb49c0" /><Relationship Type="http://schemas.openxmlformats.org/officeDocument/2006/relationships/slide" Target="/ppt/slides/slide10.xml" Id="Rae8802af5d65468f" /><Relationship Type="http://schemas.openxmlformats.org/officeDocument/2006/relationships/slide" Target="/ppt/slides/slide11.xml" Id="R12375162d12143c3" /><Relationship Type="http://schemas.openxmlformats.org/officeDocument/2006/relationships/slide" Target="/ppt/slides/slide12.xml" Id="R2790e9b6356d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e6712a30d742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5ad61f8504a87" /><Relationship Type="http://schemas.openxmlformats.org/officeDocument/2006/relationships/notesMaster" Target="/ppt/notesMasters/notesMaster1.xml" Id="Rab04d3d6c7914e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db903b1db4e38" /><Relationship Type="http://schemas.openxmlformats.org/officeDocument/2006/relationships/notesMaster" Target="/ppt/notesMasters/notesMaster1.xml" Id="R0f9d5a7f61ef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5413b4f58b4a9a" /><Relationship Type="http://schemas.openxmlformats.org/officeDocument/2006/relationships/notesMaster" Target="/ppt/notesMasters/notesMaster1.xml" Id="R9fc01c5b1052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00453190b46fd" /><Relationship Type="http://schemas.openxmlformats.org/officeDocument/2006/relationships/notesMaster" Target="/ppt/notesMasters/notesMaster1.xml" Id="R2e46ed547dda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ecf025be6b457b" /><Relationship Type="http://schemas.openxmlformats.org/officeDocument/2006/relationships/notesMaster" Target="/ppt/notesMasters/notesMaster1.xml" Id="R2df97bd7f69e42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b1845ffe474f9d" /><Relationship Type="http://schemas.openxmlformats.org/officeDocument/2006/relationships/notesMaster" Target="/ppt/notesMasters/notesMaster1.xml" Id="R3da0ece078df45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b52e4be37d49d4" /><Relationship Type="http://schemas.openxmlformats.org/officeDocument/2006/relationships/notesMaster" Target="/ppt/notesMasters/notesMaster1.xml" Id="Rfc451a4d23b6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74a07d9a4541ec" /><Relationship Type="http://schemas.openxmlformats.org/officeDocument/2006/relationships/notesMaster" Target="/ppt/notesMasters/notesMaster1.xml" Id="R5e2bceef0a71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bbd180e5844d0c" /><Relationship Type="http://schemas.openxmlformats.org/officeDocument/2006/relationships/notesMaster" Target="/ppt/notesMasters/notesMaster1.xml" Id="R53fb8218ce4746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cd3149df0647bd" /><Relationship Type="http://schemas.openxmlformats.org/officeDocument/2006/relationships/notesMaster" Target="/ppt/notesMasters/notesMaster1.xml" Id="R3947c336cbe24a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46c3ab752f4db4" /><Relationship Type="http://schemas.openxmlformats.org/officeDocument/2006/relationships/notesMaster" Target="/ppt/notesMasters/notesMaster1.xml" Id="R84935e3ff0db45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73fbae095943e8" /><Relationship Type="http://schemas.openxmlformats.org/officeDocument/2006/relationships/notesMaster" Target="/ppt/notesMasters/notesMaster1.xml" Id="Rc8af1575074349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1 speaking guide</a:t>
            </a:r>
          </a:p>
          <a:p xmlns:a="http://schemas.openxmlformats.org/drawingml/2006/main">
            <a:r>
              <a:t>Introduce the selected practical topic: E-Commerce Sales Analytics using DuckDB, SQL and Python.</a:t>
            </a:r>
          </a:p>
          <a:p xmlns:a="http://schemas.openxmlformats.org/drawingml/2006/main">
            <a:r>
              <a:t>State the extension clearly: the project covers both batch analytics and strict event-driven ingestion through RabbitMQ.</a:t>
            </a:r>
          </a:p>
          <a:p xmlns:a="http://schemas.openxmlformats.org/drawingml/2006/main">
            <a:r>
              <a:t>Mention that the repository, report, evidence and runnable code are part of the submission.</a:t>
            </a:r>
          </a:p>
          <a:p xmlns:a="http://schemas.openxmlformats.org/drawingml/2006/main">
            <a:r>
              <a:t>Handoff: Member 1 continues with the problem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1 speaking guide</a:t>
            </a:r>
          </a:p>
          <a:p xmlns:a="http://schemas.openxmlformats.org/drawingml/2006/main">
            <a:r>
              <a:t>Explain that the historical dataset is synthetic and deterministic. It contains deliberate defects so cleaning can be demonstrated safely and repeatedly.</a:t>
            </a:r>
          </a:p>
          <a:p xmlns:a="http://schemas.openxmlformats.org/drawingml/2006/main">
            <a:r>
              <a:t>The public DummyJSON snapshot adds a current external API source. The streaming simulator adds new events continuously, but it does not represent a real company's orders.</a:t>
            </a:r>
          </a:p>
          <a:p xmlns:a="http://schemas.openxmlformats.org/drawingml/2006/main">
            <a:r>
              <a:t>Define success: valid data, reusable SQL, measurable query performance, visible business insights and idempotent live ingestion.</a:t>
            </a:r>
          </a:p>
          <a:p xmlns:a="http://schemas.openxmlformats.org/drawingml/2006/main">
            <a:r>
              <a:t>Rubric coverage: environment setup, dataset load, transformations, optimization, captured output and performance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1 speaking guide</a:t>
            </a:r>
          </a:p>
          <a:p xmlns:a="http://schemas.openxmlformats.org/drawingml/2006/main">
            <a:r>
              <a:t>Walk through the upper lane first. CSV and API data enter a repeatable ETL job, then DuckDB stores the warehouse and Parquet holds a compressed analytical copy.</a:t>
            </a:r>
          </a:p>
          <a:p xmlns:a="http://schemas.openxmlformats.org/drawingml/2006/main">
            <a:r>
              <a:t>Walk through the lower lane second. FastAPI accepts an order only after RabbitMQ confirms publication. The consumer acknowledges it only after a successful DuckDB insert.</a:t>
            </a:r>
          </a:p>
          <a:p xmlns:a="http://schemas.openxmlformats.org/drawingml/2006/main">
            <a:r>
              <a:t>Explain why there are two DuckDB files: one read-mostly historical warehouse and one single-process real-time staging database.</a:t>
            </a:r>
          </a:p>
          <a:p xmlns:a="http://schemas.openxmlformats.org/drawingml/2006/main">
            <a:r>
              <a:t>Handoff to Member 2: the next slides explain how the data becomes trustworthy and queryable.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2 speaking guide</a:t>
            </a:r>
          </a:p>
          <a:p xmlns:a="http://schemas.openxmlformats.org/drawingml/2006/main">
            <a:r>
              <a:t>Start with profiling: 250,250 raw rows include 250 deliberate duplicate rows. Typing leaves 250,000 rows, and the business rules reject 1,445 rows.</a:t>
            </a:r>
          </a:p>
          <a:p xmlns:a="http://schemas.openxmlformats.org/drawingml/2006/main">
            <a:r>
              <a:t>Explain TRY_CAST: it prevents one malformed value from stopping the load. Instead, the row can be inspected and routed to rejected_orders.</a:t>
            </a:r>
          </a:p>
          <a:p xmlns:a="http://schemas.openxmlformats.org/drawingml/2006/main">
            <a:r>
              <a:t>The rejected table supports auditability because it stores the original fields and a concatenated rejection reason.</a:t>
            </a:r>
          </a:p>
          <a:p xmlns:a="http://schemas.openxmlformats.org/drawingml/2006/main">
            <a:r>
              <a:t>Source: evidence/data_quality.json and sql/schema.sql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2 speaking guide</a:t>
            </a:r>
          </a:p>
          <a:p xmlns:a="http://schemas.openxmlformats.org/drawingml/2006/main">
            <a:r>
              <a:t>Define the grain before the tables: one fact row represents one accepted order line.</a:t>
            </a:r>
          </a:p>
          <a:p xmlns:a="http://schemas.openxmlformats.org/drawingml/2006/main">
            <a:r>
              <a:t>DuckDB generates surrogate product and customer keys with ROW_NUMBER. The date key uses YYYYMMDD so filtering and joins remain simple.</a:t>
            </a:r>
          </a:p>
          <a:p xmlns:a="http://schemas.openxmlformats.org/drawingml/2006/main">
            <a:r>
              <a:t>This design is intentionally dimensional for analytics. The rejected table remains separate so bad rows never contaminate the facts.</a:t>
            </a:r>
          </a:p>
          <a:p xmlns:a="http://schemas.openxmlformats.org/drawingml/2006/main">
            <a:r>
              <a:t>The pipeline exports the enriched dataset as ZSTD Parquet partitioned by year and month for column pruning and compression.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2 speaking guide</a:t>
            </a:r>
          </a:p>
          <a:p xmlns:a="http://schemas.openxmlformats.org/drawingml/2006/main">
            <a:r>
              <a:t>Explain why views matter: the realized-revenue rule includes Delivered and Shipped orders and should not be retyped in every dashboard query.</a:t>
            </a:r>
          </a:p>
          <a:p xmlns:a="http://schemas.openxmlformats.org/drawingml/2006/main">
            <a:r>
              <a:t>LAG compares each month with the previous month. ROLLUP and CUBE produce subtotal combinations without manual UNION statements.</a:t>
            </a:r>
          </a:p>
          <a:p xmlns:a="http://schemas.openxmlformats.org/drawingml/2006/main">
            <a:r>
              <a:t>The grouping-sets output contains 30 region-category detail rows, 5 regional totals, 6 category totals and one grand total.</a:t>
            </a:r>
          </a:p>
          <a:p xmlns:a="http://schemas.openxmlformats.org/drawingml/2006/main">
            <a:r>
              <a:t>Handoff to Member 3: the next section evaluates speed and shows the BI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speaking guide</a:t>
            </a:r>
          </a:p>
          <a:p xmlns:a="http://schemas.openxmlformats.org/drawingml/2006/main">
            <a:r>
              <a:t>All bars use the same analytical query and five runs. The slide shows median milliseconds, so smaller bars mean faster execution.</a:t>
            </a:r>
          </a:p>
          <a:p xmlns:a="http://schemas.openxmlformats.org/drawingml/2006/main">
            <a:r>
              <a:t>At four threads, DuckDB took 29.319 ms, Parquet took 57.009 ms and CSV took 330.050 ms.</a:t>
            </a:r>
          </a:p>
          <a:p xmlns:a="http://schemas.openxmlformats.org/drawingml/2006/main">
            <a:r>
              <a:t>Do not call this a distributed cluster benchmark. It is a local scale-up comparison across storage formats and thread counts.</a:t>
            </a:r>
          </a:p>
          <a:p xmlns:a="http://schemas.openxmlformats.org/drawingml/2006/main">
            <a:r>
              <a:t>Source: evidence/tables/benchmark_results.csv and evidence/plans/category_revenue_explain_analyze.txt.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speaking guide</a:t>
            </a:r>
          </a:p>
          <a:p xmlns:a="http://schemas.openxmlformats.org/drawingml/2006/main">
            <a:r>
              <a:t>Demonstrate the filters for date, region and category. The KPI queries run against the enriched warehouse view, not raw CSV.</a:t>
            </a:r>
          </a:p>
          <a:p xmlns:a="http://schemas.openxmlformats.org/drawingml/2006/main">
            <a:r>
              <a:t>Explain the distinction between gross and realized revenue. Realized revenue includes only Delivered and Shipped status values.</a:t>
            </a:r>
          </a:p>
          <a:p xmlns:a="http://schemas.openxmlformats.org/drawingml/2006/main">
            <a:r>
              <a:t>Use the plots to answer business questions: trend over time, strongest categories, region and channel performance, return-rate risk and top products.</a:t>
            </a:r>
          </a:p>
          <a:p xmlns:a="http://schemas.openxmlformats.org/drawingml/2006/main">
            <a:r>
              <a:t>Source: evidence/dashboard_full.png and evidence/tables/kpis.json.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speaking guide</a:t>
            </a:r>
          </a:p>
          <a:p xmlns:a="http://schemas.openxmlformats.org/drawingml/2006/main">
            <a:r>
              <a:t>RabbitMQ sits between the API and database so short consumer interruptions do not lose accepted orders.</a:t>
            </a:r>
          </a:p>
          <a:p xmlns:a="http://schemas.openxmlformats.org/drawingml/2006/main">
            <a:r>
              <a:t>Durable queue and persistent messages address broker restarts. Publisher confirms address uncertainty during publication.</a:t>
            </a:r>
          </a:p>
          <a:p xmlns:a="http://schemas.openxmlformats.org/drawingml/2006/main">
            <a:r>
              <a:t>Manual acknowledgement changes the failure point: a message leaves the queue only after the database insert succeeds.</a:t>
            </a:r>
          </a:p>
          <a:p xmlns:a="http://schemas.openxmlformats.org/drawingml/2006/main">
            <a:r>
              <a:t>event_id is the idempotency key. A redelivered message reaches ON CONFLICT DO NOTHING and does not double revenue.</a:t>
            </a:r>
          </a:p>
          <a:p xmlns:a="http://schemas.openxmlformats.org/drawingml/2006/main">
            <a:r>
              <a:t>Handoff to Member 4: the remaining slides cover the API contract, deployment and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4 speaking guide</a:t>
            </a:r>
          </a:p>
          <a:p xmlns:a="http://schemas.openxmlformats.org/drawingml/2006/main">
            <a:r>
              <a:t>Pydantic enforces nonblank IDs, quantity from 1 to 100, positive price and discount from 0 to 0.80 for live events.</a:t>
            </a:r>
          </a:p>
          <a:p xmlns:a="http://schemas.openxmlformats.org/drawingml/2006/main">
            <a:r>
              <a:t>The API computes net_revenue in the model, so the consumer receives a consistent business value.</a:t>
            </a:r>
          </a:p>
          <a:p xmlns:a="http://schemas.openxmlformats.org/drawingml/2006/main">
            <a:r>
              <a:t>Show FastAPI documentation at http://127.0.0.1:8000/docs during the demo. Submit one POST and then open /metrics and /orders/recent.</a:t>
            </a:r>
          </a:p>
          <a:p xmlns:a="http://schemas.openxmlformats.org/drawingml/2006/main">
            <a:r>
              <a:t>The dashboard shows the historical warehouse even when the live API is offline. Its live section becomes active when the API is healthy.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4 speaking guide</a:t>
            </a:r>
          </a:p>
          <a:p xmlns:a="http://schemas.openxmlformats.org/drawingml/2006/main">
            <a:r>
              <a:t>Compose provides the fastest classroom demonstration because all services share a network and the API waits for RabbitMQ health.</a:t>
            </a:r>
          </a:p>
          <a:p xmlns:a="http://schemas.openxmlformats.org/drawingml/2006/main">
            <a:r>
              <a:t>Kubernetes adds deployment objects, services, health probes, persistent storage, a Secret and an HPA. The HPA requires a Metrics Server.</a:t>
            </a:r>
          </a:p>
          <a:p xmlns:a="http://schemas.openxmlformats.org/drawingml/2006/main">
            <a:r>
              <a:t>The public API snapshot observed 194 products and 208 carts, flattened 800 cart items and loaded all 800 into DuckDB.</a:t>
            </a:r>
          </a:p>
          <a:p xmlns:a="http://schemas.openxmlformats.org/drawingml/2006/main">
            <a:r>
              <a:t>Explain the performance comparison honestly: it compares local storage and thread modes, not multiple-node clusters.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4 speaking guide</a:t>
            </a:r>
          </a:p>
          <a:p xmlns:a="http://schemas.openxmlformats.org/drawingml/2006/main">
            <a:r>
              <a:t>Replace Member 1–4 with the four names before submission. Each presenter owns exactly three slides.</a:t>
            </a:r>
          </a:p>
          <a:p xmlns:a="http://schemas.openxmlformats.org/drawingml/2006/main">
            <a:r>
              <a:t>Demo order: start Compose, open RabbitMQ management, open FastAPI docs, submit an order, verify queue activity, open /metrics, then show Streamlit.</a:t>
            </a:r>
          </a:p>
          <a:p xmlns:a="http://schemas.openxmlformats.org/drawingml/2006/main">
            <a:r>
              <a:t>Validation evidence reports four passing tests and valid Compose and Kustomize configurations.</a:t>
            </a:r>
          </a:p>
          <a:p xmlns:a="http://schemas.openxmlformats.org/drawingml/2006/main">
            <a:r>
              <a:t>Important accuracy boundary: Docker Desktop on the current host stopped before the Linux engine started because its internal socket was inaccessible. The project does not claim a successful RabbitMQ container run on this host until /health responds.</a:t>
            </a:r>
          </a:p>
          <a:p xmlns:a="http://schemas.openxmlformats.org/drawingml/2006/main">
            <a:r>
              <a:t>Close with the repository link and invite questions about idempotency, partitions, OLAP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6eb0f2d2641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a9aa700b546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88214f51f44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35d6ff7ed4d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70156c37948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a0820c7c2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96477-0D95-4A70-9C63-4FEE223A4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9ACBF7-D92C-4396-A4CB-4758CBB00D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F038F1-D6D8-4B26-9FD8-4135618B8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563D4D-622A-46A1-BD76-EBB46CF7D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86D22E-D3E6-414F-9C05-9E63F701A1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26DFCC-8FA8-43F7-8665-F927DAB686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BF7F70-F58C-4DBA-9EE1-E325955A64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A25F28-6F8C-4B61-B1CA-94E244E6A1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A79D09-2482-4222-B711-21FF8BDE9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920D74-7AEA-4C33-BFB8-2092048348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c360d8fbe45c4" /><Relationship Type="http://schemas.openxmlformats.org/officeDocument/2006/relationships/slideLayout" Target="/ppt/slideLayouts/slideLayout1.xml" Id="R7baf40d21add4fc1" /><Relationship Type="http://schemas.openxmlformats.org/officeDocument/2006/relationships/slideLayout" Target="/ppt/slideLayouts/slideLayout2.xml" Id="Rec9ea9387145467e" /><Relationship Type="http://schemas.openxmlformats.org/officeDocument/2006/relationships/slideLayout" Target="/ppt/slideLayouts/slideLayout3.xml" Id="Re3176eb0d88a42d8" /><Relationship Type="http://schemas.openxmlformats.org/officeDocument/2006/relationships/slideLayout" Target="/ppt/slideLayouts/slideLayout4.xml" Id="R90d7a69c6df441da" /><Relationship Type="http://schemas.openxmlformats.org/officeDocument/2006/relationships/slideLayout" Target="/ppt/slideLayouts/slideLayout5.xml" Id="Ref895dc0ee6949c9" /><Relationship Type="http://schemas.openxmlformats.org/officeDocument/2006/relationships/slideLayout" Target="/ppt/slideLayouts/slideLayout6.xml" Id="R305fc9c3f988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f40d21add4fc1"/>
    <p:sldLayoutId xmlns:r="http://schemas.openxmlformats.org/officeDocument/2006/relationships" id="2147483650" r:id="Rec9ea9387145467e"/>
    <p:sldLayoutId xmlns:r="http://schemas.openxmlformats.org/officeDocument/2006/relationships" id="2147483651" r:id="Re3176eb0d88a42d8"/>
    <p:sldLayoutId xmlns:r="http://schemas.openxmlformats.org/officeDocument/2006/relationships" id="2147483652" r:id="R90d7a69c6df441da"/>
    <p:sldLayoutId xmlns:r="http://schemas.openxmlformats.org/officeDocument/2006/relationships" id="2147483653" r:id="Ref895dc0ee6949c9"/>
    <p:sldLayoutId xmlns:r="http://schemas.openxmlformats.org/officeDocument/2006/relationships" id="2147483654" r:id="R305fc9c3f988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22f235c284a02" /><Relationship Type="http://schemas.openxmlformats.org/officeDocument/2006/relationships/notesSlide" Target="/ppt/notesSlides/notesSlide1.xml" Id="Rf24f3b4ef88d49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3df9e5f39476d" /><Relationship Type="http://schemas.openxmlformats.org/officeDocument/2006/relationships/notesSlide" Target="/ppt/notesSlides/notesSlide2.xml" Id="R5d030f099899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bf257bc314ff7" /><Relationship Type="http://schemas.openxmlformats.org/officeDocument/2006/relationships/notesSlide" Target="/ppt/notesSlides/notesSlide3.xml" Id="R5caaf00a448447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2d4ae21a84765" /><Relationship Type="http://schemas.openxmlformats.org/officeDocument/2006/relationships/notesSlide" Target="/ppt/notesSlides/notesSlide4.xml" Id="Rfd5448793783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c336278a9414c" /><Relationship Type="http://schemas.openxmlformats.org/officeDocument/2006/relationships/notesSlide" Target="/ppt/notesSlides/notesSlide5.xml" Id="Rad9756ae5165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71f8b3c4d4c86" /><Relationship Type="http://schemas.openxmlformats.org/officeDocument/2006/relationships/notesSlide" Target="/ppt/notesSlides/notesSlide6.xml" Id="R1af41ddd2959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7e9ce40474fe1" /><Relationship Type="http://schemas.openxmlformats.org/officeDocument/2006/relationships/chart" Target="/ppt/slides/charts/chart1.xml" Id="R0c570bb680614bdb" /><Relationship Type="http://schemas.openxmlformats.org/officeDocument/2006/relationships/notesSlide" Target="/ppt/notesSlides/notesSlide7.xml" Id="R36a7f2b9efe64c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36b6c7e324966" /><Relationship Type="http://schemas.openxmlformats.org/officeDocument/2006/relationships/image" Target="/ppt/media/image.jpeg" Id="R9c9c1cdc59c44f4d" /><Relationship Type="http://schemas.openxmlformats.org/officeDocument/2006/relationships/notesSlide" Target="/ppt/notesSlides/notesSlide8.xml" Id="R9386607014fe46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90db8800e4fc1" /><Relationship Type="http://schemas.openxmlformats.org/officeDocument/2006/relationships/notesSlide" Target="/ppt/notesSlides/notesSlide9.xml" Id="R1cef05342d984a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9522ff5be4bd6" /><Relationship Type="http://schemas.openxmlformats.org/officeDocument/2006/relationships/notesSlide" Target="/ppt/notesSlides/notesSlide10.xml" Id="Rfaff64ff752448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5197ccdc84595" /><Relationship Type="http://schemas.openxmlformats.org/officeDocument/2006/relationships/notesSlide" Target="/ppt/notesSlides/notesSlide11.xml" Id="Rf209876f708446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b9c9b808f424d" /><Relationship Type="http://schemas.openxmlformats.org/officeDocument/2006/relationships/notesSlide" Target="/ppt/notesSlides/notesSlide12.xml" Id="R1b006afa1e4f4ed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1 thread</c:v>
          </c:tx>
          <c:spPr>
            <a:solidFill xmlns:a="http://schemas.openxmlformats.org/drawingml/2006/main">
              <a:srgbClr val="5267D7"/>
            </a:solidFill>
          </c:spPr>
          <c:cat>
            <c:strLit>
              <c:ptCount val="3"/>
              <c:pt idx="0">
                <c:v>CSV</c:v>
              </c:pt>
              <c:pt idx="1">
                <c:v>Parquet</c:v>
              </c:pt>
              <c:pt idx="2">
                <c:v>DuckDB</c:v>
              </c:pt>
            </c:strLit>
          </c:cat>
          <c:val>
            <c:numLit>
              <c:formatCode>0.0</c:formatCode>
              <c:ptCount val="3"/>
              <c:pt idx="0">
                <c:v>674.031</c:v>
              </c:pt>
              <c:pt idx="1">
                <c:v>104.65</c:v>
              </c:pt>
              <c:pt idx="2">
                <c:v>44.775</c:v>
              </c:pt>
            </c:numLit>
          </c:val>
        </c:ser>
        <c:ser>
          <c:idx val="1"/>
          <c:order val="1"/>
          <c:tx>
            <c:v>4 threads</c:v>
          </c:tx>
          <c:spPr>
            <a:solidFill xmlns:a="http://schemas.openxmlformats.org/drawingml/2006/main">
              <a:srgbClr val="16B8A6"/>
            </a:solidFill>
          </c:spPr>
          <c:cat>
            <c:strLit>
              <c:ptCount val="3"/>
              <c:pt idx="0">
                <c:v>CSV</c:v>
              </c:pt>
              <c:pt idx="1">
                <c:v>Parquet</c:v>
              </c:pt>
              <c:pt idx="2">
                <c:v>DuckDB</c:v>
              </c:pt>
            </c:strLit>
          </c:cat>
          <c:val>
            <c:numLit>
              <c:formatCode>0.0</c:formatCode>
              <c:ptCount val="3"/>
              <c:pt idx="0">
                <c:v>330.05</c:v>
              </c:pt>
              <c:pt idx="1">
                <c:v>57.009</c:v>
              </c:pt>
              <c:pt idx="2">
                <c:v>29.319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72033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6657A"/>
                    </a:solidFill>
                    <a:latin typeface="Segoe UI"/>
                    <a:ea typeface="Segoe UI"/>
                    <a:cs typeface="Segoe UI"/>
                  </a:rPr>
                  <a:t>Median query time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6657A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CE2EA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56657A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8D726-0AE4-4B59-9574-2F44076C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540DE-9F78-4A65-86B9-0FE7FD2D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6B8A6"/>
                </a:solidFill>
                <a:latin typeface="Segoe UI"/>
                <a:ea typeface="Segoe UI"/>
                <a:cs typeface="Segoe UI"/>
              </a:rPr>
              <a:t>PRACTICAL CASE STUDY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4B7CB-6B0E-4BB6-888A-505B3CB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723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49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E-Commerce Sales Analytics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using DuckDB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C656F-D3FD-4287-89F3-52934B0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9D4E5"/>
                </a:solidFill>
                <a:latin typeface="Segoe UI"/>
                <a:ea typeface="Segoe UI"/>
                <a:cs typeface="Segoe UI"/>
              </a:rPr>
              <a:t>A reproducible batch warehouse with RabbitMQ event streaming, SQL OLAP and a Streamlit decision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03874-0643-4CDA-9ACB-F76E5E56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E4643-7558-4C3F-A3C7-789D2D19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DuckDB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6091A-8F1F-480C-A1D4-5589BD5C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62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E9758-C479-4B92-A5C4-0CC5428E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62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RabbitMQ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E037F-E8CB-496E-B7A1-C86E191C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DA6DE-D686-4920-8084-A5A48871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BF7B6-D197-4CAE-AB8B-3C81F256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Team: Member 1 · Member 2 · Member 3 · Member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331E9-DE38-4F2F-A8E5-C7F03230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0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github.com/Aniket-Nikam/E-Commerce-Sales-Analytics-Data-Engineering-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B724B-3C02-45E6-BB9A-83CF1445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B7C3D6"/>
                </a:solidFill>
                <a:latin typeface="Segoe UI"/>
                <a:ea typeface="Segoe UI"/>
                <a:cs typeface="Segoe UI"/>
              </a:rPr>
              <a:t>Presenter: Member 1</a:t>
            </a:r>
          </a:p>
        </p:txBody>
      </p:sp>
    </p:spTree>
    <p:extLst>
      <p:ext uri="{BB962C8B-B14F-4D97-AF65-F5344CB8AC3E}">
        <p14:creationId xmlns:p14="http://schemas.microsoft.com/office/powerpoint/2010/main" val="1204237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2B7BD-9159-44CA-8514-6479E25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5ABF3-6F3F-496D-BA0E-A4E5AF7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Problem, scope and success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9E7AC-98FE-42CF-85CD-B87108B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04B83-CE8D-4C9E-867F-6D1308B8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C03D8-0685-4677-A611-A1B2E381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97B48-4C44-4C1F-BC28-BEC2BA2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Business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E7E9F-6D2E-404F-8E0E-AD1B4C04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95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85"/>
          </a:bodyPr>
          <a:lstStyle xmlns:a="http://schemas.openxmlformats.org/drawingml/2006/main">
            <a:def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Sales data arrives with duplicate rows, invalid values and inconsistent labels. Analysts need trusted KPIs, fast OLAP queries and a path for new orders to appear within seconds.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862AB-6546-4926-88DA-C5C7843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Questions answered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7287F-72C2-44C2-848D-4D5BF81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520"/>
          </a:bodyPr>
          <a:lstStyle xmlns:a="http://schemas.openxmlformats.org/drawingml/2006/main">
            <a:defPPr>
              <a:defRPr sz="165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65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How much realized revenue did the business generate?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65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Which categories and regions drive performance?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65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How quickly can storage formats answer the same query?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65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Can a validated order survive a broker and reach the dashboard once?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C8F57-DD1F-497A-9789-B3554B3D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1811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9CE89-C11C-4218-9C03-BED79D2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What the implementation delivers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75473-C076-431A-B897-994267F9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4953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DB130-53CA-4D59-9B83-35D5673C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6B8A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3301C-8D2F-4FE8-A420-52C376A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Historical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0C43A-5369-4EB3-BEDE-0EF1AB22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05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CSV cleaning, rejects and typed staging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262C4-1689-44DD-AEB8-BC02DE9B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4953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E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85929-397C-4C53-9F2D-B8F29D64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5267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267D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5267D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34A6C-83FA-4443-A4DA-5D98FF01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Analytical warehouse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8E533-8C0D-439C-B784-64A6C6D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Star schema, SQL views and OLAP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59711-000F-44D1-99D8-69AE1E1F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953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461A8-8C06-4305-AE46-39FFFE6A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B614A-C99F-47DE-B8B7-CB92EE0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71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Decision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ED4E5-CAFB-4DD9-B987-55E61E1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862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Business KPIs and drill-down filters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CE64F-18FA-49B5-AC74-3230AB9A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48200"/>
            <a:ext cx="4953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C9F9C-8E45-4377-A1B7-CE4FB48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l">
              <a:defRPr sz="1425" b="1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65B6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48336-CE90-463F-95A1-0AE700E1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Live order stream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E6B40-A6D8-4E82-B999-276B4218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76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FastAPI, RabbitMQ, consumer and 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F141F-67E0-48DA-A060-20D7094F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5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68"/>
          </a:bodyPr>
          <a:lstStyle xmlns:a="http://schemas.openxmlformats.org/drawingml/2006/main">
            <a:defPPr algn="l">
              <a:defRPr sz="127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Source types: deterministic CSV · public API snapshot · continuous synthetic events</a:t>
            </a:r>
          </a:p>
        </p:txBody>
      </p:sp>
    </p:spTree>
    <p:extLst>
      <p:ext uri="{BB962C8B-B14F-4D97-AF65-F5344CB8AC3E}">
        <p14:creationId xmlns:p14="http://schemas.microsoft.com/office/powerpoint/2010/main" val="1107444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86BEA4-1157-45D8-8FC6-B6B6B742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BBABC-9E85-44D5-AC06-F9DB5C67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Batch and streaming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313A6-B750-4B1B-8211-21333B1A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C3CBF-A564-4CBA-BFE8-F4C73AD0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B7C3D6"/>
                </a:solidFill>
                <a:latin typeface="Segoe UI"/>
                <a:ea typeface="Segoe UI"/>
                <a:cs typeface="Segoe UI"/>
              </a:rPr>
              <a:t>Presenter: Member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A1863-94CA-4FD7-A753-B89071E6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B7C3D6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7A7C4-1E21-4912-BB92-CE33495C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>
            <a:defPPr algn="l">
              <a:defRPr sz="1275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6B8A6"/>
                </a:solidFill>
                <a:latin typeface="Segoe UI"/>
                <a:ea typeface="Segoe UI"/>
                <a:cs typeface="Segoe UI"/>
              </a:rPr>
              <a:t>BATCH 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A0D1A-B43B-4F12-B294-58498A2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88BF7-D109-4544-B8C0-30D849B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CSV +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3C56-306D-42D6-AB46-454402A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raw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506AA-5E62-4914-A1CA-4073DCA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9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3CD63-EF92-42E3-AEA5-8E36FD6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43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D97B7-B2EA-482B-80B9-50BDB08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00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C9AC5-4D50-4CF8-B79F-E78F7187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14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Python +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1C622-71C3-4DDE-A99B-D398F843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clean and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7F683-5D57-4BEC-96EE-69FD6D80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09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5E907-F237-4D57-884B-EF69E2F7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43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D4C41-9101-4B15-ACC3-53C6E8A7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00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5715F-6A11-4B26-920A-C719DD43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DuckDB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0519D-BC5F-4D8C-BC45-51D5BEEA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star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1C6F6-D3BE-4AE5-A9B5-0BF489A1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09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C0810-3587-48EF-AE6C-976756DB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7416F-EA32-4D65-BBF0-10075150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00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D27FE-3547-4690-B972-3BA57A89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Parquet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C207B-CE58-4A31-8089-052F53A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year/month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E834B5-0195-4669-BE0F-A6C5E24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D3648-F3BA-414B-ADBB-A248828D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EAB5B-062D-4902-A68C-C2027E34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F5CB7-1E48-4780-A319-071D89D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SQL views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22322B-82E9-40D4-B9F1-61C2D50A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OLAP metrics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92892-E29C-4E7A-BAB8-0D96F382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9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4394D-2075-4629-9BD6-163B79C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43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4AA16-0462-4328-A5E6-48D52718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00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36053-C956-4B91-BAF8-39249213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14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Streamlit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603D1-D3E0-4706-B24D-1362640E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547C5-279C-4E77-83E0-823A7C6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STREAMING LANE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35C6B-E5E5-435E-94F0-C5368FDE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5564AB-2513-43B5-BD8E-62DB6550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Simulator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402FD7-9183-4DD0-8569-D9050A2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 event/sec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6E3951-A78D-4270-9BD8-37A4219F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E0161C-A609-457A-86C1-9B62A0D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48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F1C0C3-B53E-4A7B-868D-C79F1ADA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05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30E02C-07A7-436F-815A-6B03036C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19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00C6B9-AC23-440A-8632-F4BCDEC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validate + 202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E4A176-29C6-4B93-B567-D9E482C3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14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7B9706-1C4E-4FE1-8F9A-D510419C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48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20A298-C191-4B75-9104-508D590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05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E4DD20-66E9-4401-9C85-704C29AD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RabbitMQ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9C5AC0-F68D-42D3-B1F1-DF3E0600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durable queue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2A8C74-208D-4BB8-AFB0-C9160D7F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14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92FC22-048E-461A-9F7B-BC84964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48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0F9C38-D865-497F-8A82-ADCA2906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05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142117-B3DE-4902-872F-5546C481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Consumer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B3C4EE-B8A7-458E-85E6-A5E3FB5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manual 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87223F-247D-4377-BC18-9CB31E18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14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392561-ED01-4003-A2D1-3DCB5156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8AF9CF-ADBA-4529-8152-4708A018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05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D87091-CCC2-43B5-ABB8-53B1E4E7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DuckDB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0DDC33-82A2-43DD-AD0C-95BC26E6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43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03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idempotent stage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FF8ECF-43B6-4BD5-8DDF-D0B65101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147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0B1A69-D2CE-4F13-A4D8-08163D6B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ABC830-7177-4587-8FEF-6EC0F49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1504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05FA0B-4328-4FD8-80DA-2BF118D2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195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Streamlit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47D7033-A11E-4E0E-B1FD-A412B73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 sec refresh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78C62F-8DE0-4ED2-8E27-BF1E12FF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48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23651"/>
          </a:solidFill>
          <a:ln xmlns:a="http://schemas.openxmlformats.org/drawingml/2006/main" w="9525">
            <a:solidFill>
              <a:srgbClr val="344B6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28398A-441B-44E9-8EAD-53986FAA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Shared outcome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67F085-6C49-443E-A7F7-57DD1BA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054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>
            <a:defPPr algn="l">
              <a:defRPr sz="1650" b="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Historical context and new order activity meet in one dashboard. Separate DuckDB files avoid concurrent write contention between the batch warehouse and the streaming stage.</a:t>
            </a:r>
          </a:p>
        </p:txBody>
      </p:sp>
    </p:spTree>
    <p:extLst>
      <p:ext uri="{BB962C8B-B14F-4D97-AF65-F5344CB8AC3E}">
        <p14:creationId xmlns:p14="http://schemas.microsoft.com/office/powerpoint/2010/main" val="284970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BDF31-EC5B-48F2-A60F-A13BA88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3446-810E-4290-A6D7-BFEFD3A7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Exploration, cleaning and quality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838CB-AC23-42AC-A476-B127B8F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415D3-0FF4-4D7F-9573-6ABAA12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5356B-3425-4F1E-A614-02320ED5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F79CD-7283-459A-842E-0CE03F43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Row movement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2ACA1-0321-43D4-9844-602F35CC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095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26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88001-F7D6-4629-A46C-BF5525F2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5563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250,250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7798E-3F48-421B-9C25-B7D12107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985" y="1733550"/>
            <a:ext cx="23755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raw CSV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B194C-8FB1-4D15-9FA7-B17E47B1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1550E-79B0-4DFD-A6EC-FBACFDCD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13392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250,000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12FBA-93BB-4A85-9396-35E18126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" y="2476500"/>
            <a:ext cx="204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typed after deduplication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71893-1339-4632-9753-4B735EF7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242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ED579-4F74-4CA1-92D5-08394416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200400"/>
            <a:ext cx="11582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248,555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E9667-FDDA-473C-8B19-73D57FC6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715" y="3219450"/>
            <a:ext cx="17678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accepted fact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D9214-2A2A-4C2E-8888-67D05B5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671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5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8B727-3A3F-4CEB-93E9-FB19A8A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43350"/>
            <a:ext cx="76009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1,445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66659-3344-4A57-8279-B423FBE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3962400"/>
            <a:ext cx="116014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036"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rejected with reasons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3325B-95D5-4FAE-BA09-2FCB2C5E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>
            <a:defPPr algn="ctr">
              <a:defRPr sz="1725" b="1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E65B65"/>
                </a:solidFill>
                <a:latin typeface="Segoe UI"/>
                <a:ea typeface="Segoe UI"/>
                <a:cs typeface="Segoe UI"/>
              </a:rPr>
              <a:t>0.58% of typed rows were rejected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51F4C-79CC-40FF-9727-6908DA5C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Build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25A06-38A0-40FD-84EE-7E9028D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7.061 s build · 22.012 MB DuckDB · 6.666 MB Parquet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F2D86-2781-4840-A77C-F413478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81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Rules applied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08D83-500E-495A-B7A8-8F1F098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1150"/>
            <a:ext cx="5905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Trim text and standardize region, channel, category and status labels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Use TRY_CAST so invalid dates and numbers become detectable nulls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Remove duplicate line IDs with ROW_NUMBER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Reject missing keys, quantities outside 1–20, nonpositive prices and discounts outside 0–80%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Preserve every failed row with a readable rejection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C8012-B2A0-4449-AD5A-6AFDFBD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5905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DFC59-9874-4ABA-B74C-9D055B8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719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46731-F76A-4312-894E-6C863653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562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TRY_CAST(order_date AS TIMESTAMP)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QUALIFY ROW_NUMBER() OVER (PARTITION BY line_id) = 1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WHERE quantity BETWEEN 1 AND 20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AND unit_price &gt; 0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AND discount_pct BETWEEN 0 AND 80</a:t>
            </a:r>
          </a:p>
        </p:txBody>
      </p:sp>
    </p:spTree>
    <p:extLst>
      <p:ext uri="{BB962C8B-B14F-4D97-AF65-F5344CB8AC3E}">
        <p14:creationId xmlns:p14="http://schemas.microsoft.com/office/powerpoint/2010/main" val="135763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BCAB3B-5993-4771-A5AC-E55FADDE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EA12-DF8A-4509-9A4E-EE89A8B7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Warehouse model and ETL grain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A91A0-5DC8-4297-99F3-98216583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9C3AD-F1E9-48D3-896F-6CC719DF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C737D-6B39-4DAE-85CE-8D98C49C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5EF12-AB11-4F55-9AA5-1A052675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Analytical star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2D007-5674-4B06-9970-8BA87A11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8E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C9738-2D60-45C6-A0AF-1136D1C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dim_date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6DF39-A19E-4C6D-B97C-200181B9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date_key · year · quarter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month · week · weekday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9C74E-61E1-4E35-8993-27970EDE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4003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E2295-E5CA-4D00-8F83-7A5D1F0A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dim_customer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E6A0C-DEB4-4E41-AF77-451FAACC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customer_key · customer_id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segment · region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29A33-E79E-461E-A869-6DC624A2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3105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73736-630B-4CBA-9056-B2DA804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fact_sales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94701-70C6-4F34-90E3-E0D065C4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86100"/>
            <a:ext cx="2914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row per order line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248,555 clean rows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FKs + measures +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19B4E-D081-4A4E-B15C-8E29189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266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82365-41EE-4909-9540-EDC201E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dim_product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44B93-BBF4-4FCA-90EC-92EFFBB7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product_key · product_id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product_name · category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D368A-93FC-4F1D-A7AF-8BA3E6B3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266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C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00B56-17E1-41BE-B9CF-575F4D18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rejected_orders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78226-03F1-4F14-AF55-6DD21C77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failed rule · original values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rejection_reason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53800-E5BC-4D3D-8B88-3D14395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96B6D-6099-4C02-937B-C4A8B5C0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0A4BF-B9F1-43ED-ACF5-68FFEFC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B5BD0-9782-485E-AE29-D98397C3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>
            <a:defPPr algn="ctr">
              <a:defRPr sz="1125" b="0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E65B65"/>
                </a:solidFill>
                <a:latin typeface="Segoe UI"/>
                <a:ea typeface="Segoe UI"/>
                <a:cs typeface="Segoe UI"/>
              </a:rPr>
              <a:t>side output from stg_orders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03C78-4B92-4F90-81F5-9B739F2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911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89"/>
          </a:bodyPr>
          <a:lstStyle xmlns:a="http://schemas.openxmlformats.org/drawingml/2006/main">
            <a:defPPr algn="ctr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Surrogate integer keys stabilize joins; the fact table keeps order_id and line_id for traceability.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432A2-624A-40D6-B2C3-9CCE708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86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1">
                <a:solidFill>
                  <a:srgbClr val="5267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5267D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5267D7"/>
                </a:solidFill>
                <a:latin typeface="Segoe UI"/>
                <a:ea typeface="Segoe UI"/>
                <a:cs typeface="Segoe UI"/>
              </a:rPr>
              <a:t>ETL path: raw_orders → stg_orders → dimensions → fact_sales → ZSTD Parquet partitioned by year/month</a:t>
            </a:r>
          </a:p>
        </p:txBody>
      </p:sp>
    </p:spTree>
    <p:extLst>
      <p:ext uri="{BB962C8B-B14F-4D97-AF65-F5344CB8AC3E}">
        <p14:creationId xmlns:p14="http://schemas.microsoft.com/office/powerpoint/2010/main" val="627087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63449-C8DB-40E0-BFA6-0774B163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371AA-BDFD-4EE1-827D-7757C97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Reusable metrics and OLAP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BF610-8CF1-4792-928D-F7F87553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3284F-BD51-4172-AC29-6FFB265A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7EE35-5488-4EE1-B688-5524BCC1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F2774-665C-44BE-8BF7-E04C82BA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Views hide repeated business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D1C6B-2DD2-4934-B213-53B96894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28C5D-BB79-46F8-BFF2-5CCA356E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vw_daily_revenue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4EB76-12F4-445D-B64F-9C9D63CF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date · revenue · orders ·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16DBE-BBAC-468C-95EC-411BCCF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65671-C6C8-4733-9846-31975602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vw_monthly_growth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6671D-BE38-49B6-924F-C8463B81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LAG revenue · month-over-month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2406C-2BC0-4F8C-A46D-F3674376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53293-1C42-4829-B34E-006B92FD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vw_repeat_customer_pct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6A341-14B6-4489-8933-2764447A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customers with more than one realized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1AFA1-1DB0-4BB8-B758-852A591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Analytical patterns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3D7AB-3B33-4F43-B23A-D95B483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61"/>
          </a:bodyPr>
          <a:lstStyle xmlns:a="http://schemas.openxmlformats.org/drawingml/2006/main">
            <a:def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ROLLUP adds hierarchical subtotals. CUBE returns every dimension combination. GROUPING SETS calculates selected detail and total levels in one query.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03877-8DCA-4AFC-AED4-A3B4101C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561975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137D4-3FD4-43CD-84FE-D70A8FB0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571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283E9-736E-46FB-9E79-FF853A69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52768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LAG(revenue) OVER (ORDER BY sales_month)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GROUP BY CUBE (region, sales_channel)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GROUP BY GROUPING SETS (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(region, category), (region), (category), ()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F8CCD-B56A-458F-BDD3-74096CC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14850"/>
            <a:ext cx="56197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1A0E2-DFCF-4364-8B76-3B7E863C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5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$28.777M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EDB62-2149-420D-81D4-2C00348C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3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9D4E5"/>
                </a:solidFill>
                <a:latin typeface="Segoe UI"/>
                <a:ea typeface="Segoe UI"/>
                <a:cs typeface="Segoe UI"/>
              </a:rPr>
              <a:t>realized revenue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0DA68-4E2A-487C-81DD-A553E2F4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>
            <a:defPPr algn="l">
              <a:defRPr sz="2550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6B8A6"/>
                </a:solidFill>
                <a:latin typeface="Segoe UI"/>
                <a:ea typeface="Segoe UI"/>
                <a:cs typeface="Segoe UI"/>
              </a:rPr>
              <a:t>77.51%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C2D75-8BF0-40A3-BCF4-7226BE4D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l">
              <a:defRPr sz="127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9D4E5"/>
                </a:solidFill>
                <a:latin typeface="Segoe UI"/>
                <a:ea typeface="Segoe UI"/>
                <a:cs typeface="Segoe UI"/>
              </a:rPr>
              <a:t>repeat customers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BBF25-6707-4E55-AF68-B64591C1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05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>
            <a:defPPr algn="l">
              <a:defRPr sz="2550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ADBB0-31A5-405D-8D45-77ED2324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43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 algn="ctr">
              <a:defRPr sz="127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C9D4E5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9D4E5"/>
                </a:solidFill>
                <a:latin typeface="Segoe UI"/>
                <a:ea typeface="Segoe UI"/>
                <a:cs typeface="Segoe UI"/>
              </a:rPr>
              <a:t>grouping rows</a:t>
            </a:r>
          </a:p>
        </p:txBody>
      </p:sp>
    </p:spTree>
    <p:extLst>
      <p:ext uri="{BB962C8B-B14F-4D97-AF65-F5344CB8AC3E}">
        <p14:creationId xmlns:p14="http://schemas.microsoft.com/office/powerpoint/2010/main" val="1548724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1A638-5129-4ECB-9E5D-F33B2CF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47519-FC38-4BDE-A320-F5C557E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Performance engineering and measured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7CC41-B0A5-4E46-82FE-F5CAD6AE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1F454-A9C1-4220-BCCF-293B0BBB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B0578-5A56-4FAD-9BC1-2AF0E300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C8CB9-972A-486D-B14B-732B11A4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>
            <a:defPPr algn="l">
              <a:defRPr sz="180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Same aggregation, lower is better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31EF3F1-29C6-463E-B0AE-51CB860BAC4E}"/>
              </a:ext>
            </a:extLst>
          </p:cNvPr>
          <p:cNvGraphicFramePr/>
          <p:nvPr/>
        </p:nvGraphicFramePr>
        <p:xfrm>
          <a:off xmlns:a="http://schemas.openxmlformats.org/drawingml/2006/main" x="533400" y="1543050"/>
          <a:ext xmlns:a="http://schemas.openxmlformats.org/drawingml/2006/main" cx="7239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570bb680614bd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7C0BD-6C69-4EDA-82CB-8ED195D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190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269AE-8B6C-4C74-91A7-2AB834C2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What changed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4D588-FC49-4A8F-82F0-CB2DE66D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952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82"/>
          </a:bodyPr>
          <a:lstStyle xmlns:a="http://schemas.openxmlformats.org/drawingml/2006/main">
            <a:defPPr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ZSTD Parquet partitions by year and month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DuckDB tables avoid repeated CSV parsing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Four execution threads reduce scan and aggregation time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Indexes support date, customer and product key lookups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EXPLAIN ANALYZE records the physical operators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F33DA-09CE-4441-9EA7-9763156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>
            <a:defPPr algn="l">
              <a:defRPr sz="16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Query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ED7EC-8335-41BE-B60E-A4E6B978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24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0.0249 s total · HASH_GROUP_BY · HASH_JOIN · filtered fact 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895E3-DB76-4F3F-9A89-7F721AD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>
            <a:defPPr algn="ctr">
              <a:defRPr sz="1650" b="1">
                <a:solidFill>
                  <a:srgbClr val="2D9D7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D9D7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D9D78"/>
                </a:solidFill>
                <a:latin typeface="Segoe UI"/>
                <a:ea typeface="Segoe UI"/>
                <a:cs typeface="Segoe UI"/>
              </a:rPr>
              <a:t>DuckDB, 4 threads: 29.319 ms median</a:t>
            </a:r>
          </a:p>
        </p:txBody>
      </p:sp>
    </p:spTree>
    <p:extLst>
      <p:ext uri="{BB962C8B-B14F-4D97-AF65-F5344CB8AC3E}">
        <p14:creationId xmlns:p14="http://schemas.microsoft.com/office/powerpoint/2010/main" val="1138658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368C2-406A-4D0B-9076-CF8B267F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7469E-5E46-45DD-9CAD-557D41BC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Dashboard evidence and business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354A6-3F33-45C4-B878-AADB2C76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DD282-9DAF-4BEB-9362-ED2725C0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F1AA-27F2-4F38-9357-3F446322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1A180-EDB4-4D08-A081-5FF6AB6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8389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E2AC0-06E1-4AAB-8C05-52A89605C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c1cdc59c44f4d"/>
          <a:stretch xmlns:a="http://schemas.openxmlformats.org/drawingml/2006/main"/>
        </p:blipFill>
        <p:spPr>
          <a:xfrm xmlns:a="http://schemas.openxmlformats.org/drawingml/2006/main">
            <a:off x="1290271" y="1333500"/>
            <a:ext cx="5477608" cy="4533900"/>
          </a:xfrm>
          <a:prstGeom xmlns:a="http://schemas.openxmlformats.org/drawingml/2006/main" prst="roundRect">
            <a:avLst>
              <a:gd name="adj" fmla="val 168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3BD7A-B13B-4E3E-A926-26BED728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19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Measured KPIs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D544F-C10A-4D11-A5DF-357871E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764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>
            <a:defPPr algn="l">
              <a:defRPr sz="2250" b="1">
                <a:solidFill>
                  <a:srgbClr val="2D9D7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D9D7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D9D78"/>
                </a:solidFill>
                <a:latin typeface="Segoe UI"/>
                <a:ea typeface="Segoe UI"/>
                <a:cs typeface="Segoe UI"/>
              </a:rPr>
              <a:t>$28.777M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A5175-C935-4550-8B01-BE2FA272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24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realized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65900-B2A5-48CC-9FB7-46A42C6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>
            <a:defPPr algn="l">
              <a:defRPr sz="2250" b="1">
                <a:solidFill>
                  <a:srgbClr val="5267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5267D7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5267D7"/>
                </a:solidFill>
                <a:latin typeface="Segoe UI"/>
                <a:ea typeface="Segoe UI"/>
                <a:cs typeface="Segoe UI"/>
              </a:rPr>
              <a:t>119,044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1257E-C80D-429C-BB29-B75166B0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66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distinct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68220-3804-439B-B7FC-70E37BC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623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>
            <a:defPPr algn="l">
              <a:defRPr sz="2250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6B8A6"/>
                </a:solidFill>
                <a:latin typeface="Segoe UI"/>
                <a:ea typeface="Segoe UI"/>
                <a:cs typeface="Segoe UI"/>
              </a:rPr>
              <a:t>37,114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FC618-AEB4-40BD-A367-36CBBD0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099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customers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FE02F-DD30-4AAD-8273-5E216C9F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>
            <a:defPPr algn="l">
              <a:defRPr sz="2250" b="1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65B6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65B65"/>
                </a:solidFill>
                <a:latin typeface="Segoe UI"/>
                <a:ea typeface="Segoe UI"/>
                <a:cs typeface="Segoe UI"/>
              </a:rPr>
              <a:t>7.11%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FFEB9-F6C5-4779-8AD4-6CF9E9F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52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return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364A7-2562-4666-AF89-03EC1DB6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19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Decision findings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43441-599F-4675-B3DB-11F1E4A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952"/>
          </a:bodyPr>
          <a:lstStyle xmlns:a="http://schemas.openxmlformats.org/drawingml/2006/main">
            <a:defPPr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Electronics leads category revenue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South leads regional revenue</a:t>
            </a:r>
          </a:p>
          <a:p xmlns:a="http://schemas.openxmlformats.org/drawingml/2006/main"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Repeat customers account for 77.51%</a:t>
            </a:r>
          </a:p>
        </p:txBody>
      </p:sp>
    </p:spTree>
    <p:extLst>
      <p:ext uri="{BB962C8B-B14F-4D97-AF65-F5344CB8AC3E}">
        <p14:creationId xmlns:p14="http://schemas.microsoft.com/office/powerpoint/2010/main" val="1478712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A8C66D-CE63-4B29-BAD9-E27C650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F3043-7550-45BF-9FA2-AB4611A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RabbitMQ event delivery and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7F43F-F3F6-4C0B-9103-05D828E5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3C0BA-933A-46CC-83B4-6657B504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B7C3D6"/>
                </a:solidFill>
                <a:latin typeface="Segoe UI"/>
                <a:ea typeface="Segoe UI"/>
                <a:cs typeface="Segoe UI"/>
              </a:rPr>
              <a:t>Presenter: Member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E0265-2871-44AE-B1C4-D0506F0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B7C3D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B7C3D6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E8CFC-D8AC-4CE0-9BAA-4F7D5034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order event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4E517-8D1F-4C23-8DE3-A5E175A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AFDC3-488C-46E1-9C9A-029C1A0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POST /orders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E2791-34AD-4030-B7B6-476CA5D6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Pydantic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EC491-3C8B-4935-B8B5-4E580424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11AFC-5F44-42B6-A1E0-BDB01644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>
            <a:def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94DB2-0171-4A18-BF18-6D86FE9D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859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D46B4-2027-4579-A123-77A5366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193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780AD-C63A-4035-A01E-31A539C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764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48079-33AF-4AC3-A253-F520EA25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RabbitMQ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E63F4-7C5A-49C5-B001-057E8642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durable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45B69-29ED-4FD1-8305-2B3D7168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FB45B-B2D5-49C3-B749-614CCDB6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09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>
            <a:def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23793-4BE7-410F-B49D-C654729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859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9B220-073D-4D23-99E1-EFB2BB1E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193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AB6C4-102F-4AF2-8B33-99C4C2F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2C530-D041-4A68-9444-44007047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Consumer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A5892-241F-4CB2-A481-B94298DA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manual 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A52151-B403-4105-A2BD-C0ABEB6D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CCD1F-020C-425A-9148-2A8D5273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09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>
            <a:def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49300-9B85-43C1-9884-F6B643C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859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6FD1D0-B63A-40FC-9B81-9AF6906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193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E015E-E2F4-4FEB-9B67-76053F43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764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5985A-1DDC-4EA3-82A8-51076E5B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90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DuckDB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8E543-8BD7-40B4-89B3-172D84BE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14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 CONFLICT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A8D28-E158-45E9-B1B5-0BBDA0C2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79214-0CDD-4F84-B5B6-CC35654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9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>
            <a:def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B9542-459C-4249-8FE7-5C649032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859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FE7C10-F3A9-4279-901A-616C62CF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8AB50-AB47-4288-B917-EC88C565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764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50E42D-8F94-4AC8-8297-36C5DC1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Dashboard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36AFEF-703A-403A-B57B-F908718C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refresh 5 sec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B7E778-3A77-402F-BF95-7B0B01E8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8915C9-3C2C-49ED-863D-5B80CB71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09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>
            <a:def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ACDF8-CE2E-447A-97EB-DA015ED4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Delivery contract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A3EEB-7083-4BFF-BDA9-7B334526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953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Queue survives broker restart because durable=True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Message survives because delivery_mode is Persistent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Publisher confirms before FastAPI returns HTTP 202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Consumer ACKs only after a successful insert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event_id primary key makes redelivery idempotent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D7E0EC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D7E0EC"/>
                </a:solidFill>
                <a:latin typeface="Segoe UI"/>
                <a:ea typeface="Segoe UI"/>
                <a:cs typeface="Segoe UI"/>
              </a:rPr>
              <a:t>Invalid queued JSON is logged and rejected without requeue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21454B-9B4D-47F5-B78D-E038A7F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51625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384F91-833B-4B24-AC6C-49F48ED6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571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D034AD-9960-44BD-9D83-E4E573EE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48196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channel.queue_declare(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queue=queue_name, durable=True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channel.confirm_delivery()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properties = BasicProperties(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delivery_mode=Persistent,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message_id=str(event.event_id)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# consumer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ch.basic_ack(delivery_tag=tag)</a:t>
            </a:r>
          </a:p>
        </p:txBody>
      </p:sp>
    </p:spTree>
    <p:extLst>
      <p:ext uri="{BB962C8B-B14F-4D97-AF65-F5344CB8AC3E}">
        <p14:creationId xmlns:p14="http://schemas.microsoft.com/office/powerpoint/2010/main" val="807372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68147-326E-447F-B8B7-30B7BA01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6042-B93C-4562-BFD0-170D5661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API contract and live dashboard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7F0A0-148F-4FC9-BF31-6FA5BD1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0C995-D4C3-4000-8B14-C4C02F7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8FB35-1D90-4B23-95D3-8F88710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64157-860D-4CD9-8B0E-940FEBB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Validated order 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262AD-CBE6-4073-9F8B-6A40BCB4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476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26ED8-304D-45B1-814E-B23778D8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80067-6051-4DC5-BAA6-B86E786E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41338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"order_id": "LIVE-...",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"customer_id": "C004281",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"product_id": "P017",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"category": "Electronics",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"quantity": 2,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"unit_price": 499.90,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"discount_pct": 0.10,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"region": "West",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  "sales_channel": "Web"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0B5FC-202F-47AD-996E-BAA8AE94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1">
                <a:solidFill>
                  <a:srgbClr val="2D9D7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D9D7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D9D78"/>
                </a:solidFill>
                <a:latin typeface="Segoe UI"/>
                <a:ea typeface="Segoe UI"/>
                <a:cs typeface="Segoe UI"/>
              </a:rPr>
              <a:t>net_revenue = price × quantity × (1 − discount)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246D3-87EC-4A41-81A0-5ABE78DD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811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B325A-37B7-4EB4-AFFF-77AA7E7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81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D28AD-48D6-4DE9-A750-C3A1B71D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847D1-1090-429B-B5A1-2B5C58BA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 /orders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6F91D-1650-44C7-A8EC-69B0CE41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202 after broker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7B1D1-D067-4766-960B-3510423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43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C6E02-0006-4A1E-B9C2-E441DC9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GET /health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6D9DE-813C-4F9F-81C1-69243C7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queue and consumer mode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F4AB3-4939-4B0E-B244-4CD6778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7E4F4-423F-4D2D-9A7F-AE6BAB9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GET /metrics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2038F-EA9A-4DEE-B7C5-09C1169F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events, customers and revenue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EF47B-EDD4-4288-AD5F-8258EA12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35752-63F0-4386-A8CB-9C9C489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GET /orders/recent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86DE2-9B6D-4C0C-8603-CFE4C9DB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latest 1–100 accepted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33300-9393-4C2C-9B2A-BBC4E129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Live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0309B-3D74-48A7-879B-99EB8A3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2445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65"/>
          </a:bodyPr>
          <a:lstStyle xmlns:a="http://schemas.openxmlformats.org/drawingml/2006/main">
            <a:def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Simulator sends one event per second. The dashboard requests metrics and recent orders, then reloads after five seconds only when the API responds successfully.</a:t>
            </a:r>
          </a:p>
        </p:txBody>
      </p:sp>
    </p:spTree>
    <p:extLst>
      <p:ext uri="{BB962C8B-B14F-4D97-AF65-F5344CB8AC3E}">
        <p14:creationId xmlns:p14="http://schemas.microsoft.com/office/powerpoint/2010/main" val="272353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FA3075-4939-477C-9A38-BDCEDBB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2A81A-331B-49B2-882B-3E4C156B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Deployment model and bonus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D7E8-DC09-44F2-8BC8-7F5BCD2F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F0797-58D3-47F4-98D6-317E847E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8FB0C-8C80-42B5-AE1F-6FBADE5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49435-74BF-4209-936A-E9E79F52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Docker Compose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AEF71-C56C-412D-AEB0-1534F41C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C36BE-BC4C-475C-8FA1-5D979ED9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rabbitmq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993EE-DB5C-4460-9726-FE64E8E8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6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5672 / 15672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C29F7-2EF9-450B-B9A3-6CB9286B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1925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000D8-F435-48D0-8C68-C95AD9D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335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436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API + consumer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33BC1-003A-4143-AF6D-4ED5172C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57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72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realtime-api · 8000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55F9A-BDCA-463D-830D-33D3E2D0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D6E38-30B2-472A-8010-B7F789B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3983D-A015-4017-9C8A-34546844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16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Streamlit · 8501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97EDF-301C-4315-BE9E-11135CA2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1257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42D16-17BB-4EF2-A20D-EE922EB6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335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>
            <a:def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simulator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4C5E5-0CBA-4723-8DA4-F57D3FA6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>
            <a:def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continuous · 1 event/sec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87535-8609-42CA-A1C3-EA1DBD7E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Kubernetes 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2464D-F6AB-4204-AC44-E926564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2197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Deployments and Services for dashboard, API, RabbitMQ and simulator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PersistentVolumeClaim for both DuckDB files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Startup, readiness and liveness probes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Secret-backed RabbitMQ connection and CPU-based HPA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4CA88-E201-4328-BBA0-B1829B88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811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A534E-5C45-451C-A374-23FFEEC1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811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Bonus-mark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6491D-6720-4B13-B9B6-62C354D9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DBEC4-ACB0-41EB-A2F5-AE6CAF7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430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550CC2-FE3E-426B-867B-C8CD167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Real-time dataset /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154C4-F8E3-4E53-A09F-A3A86F58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Continuous order events + current DummyJSON snapshot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20E9F-EA87-4CA7-B819-58C3EEB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5A044-B702-4DC8-BBDE-5B3844BB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479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003A6-4404-4FB3-81C9-93F5AC6C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Kubernetes deployment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8F3C59-ADAA-468D-BE5D-553FA22A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Kustomize, probes, PVC, Secret and HPA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2298E-5740-4529-AABA-CF99474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1CD75F-6D1F-46F2-B7CA-C59EB6FD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528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14ED49-D260-49CD-BC10-46949175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Execution-mode comparison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157AF-67A5-4ADD-86FE-7ACB689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CSV vs Parquet vs DuckDB at 1 and 4 threads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5610EB-9B3F-4661-B161-FD36C484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610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4BEAC1-81EA-490F-A9E6-9727FDB9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3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Public API snapshot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91CA80-2EF4-43B9-8D5A-E43E870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>
            <a:defPPr algn="l">
              <a:defRPr sz="1350" b="0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6B8A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6B8A6"/>
                </a:solidFill>
                <a:latin typeface="Segoe UI"/>
                <a:ea typeface="Segoe UI"/>
                <a:cs typeface="Segoe UI"/>
              </a:rPr>
              <a:t>194 products · 208 carts · 800 cart items loaded</a:t>
            </a:r>
          </a:p>
        </p:txBody>
      </p:sp>
    </p:spTree>
    <p:extLst>
      <p:ext uri="{BB962C8B-B14F-4D97-AF65-F5344CB8AC3E}">
        <p14:creationId xmlns:p14="http://schemas.microsoft.com/office/powerpoint/2010/main" val="352762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CEEF0-EDD4-4677-A514-59C38F0D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2A03D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2A03D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802C5-C631-4209-98F1-AA46E77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>
            <a:def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Presentation roles, demo runbook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8C825-8AD3-4B6D-ABA0-2FA25AC2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79F40-6842-4CBF-823A-B08F799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Presenter: Member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26FA8-1660-44FB-B559-8829C1B8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>
            <a:def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5665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6657A"/>
                </a:solidFill>
                <a:latin typeface="Segoe UI"/>
                <a:ea typeface="Segoe UI"/>
                <a:cs typeface="Segoe UI"/>
              </a:rPr>
              <a:t>E-Commerce Sales Analytics · DuckDB + RabbitMQ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50D5A-8FED-41C5-85FD-43794657D37D}"/>
              </a:ext>
            </a:extLst>
          </p:cNvPr>
          <p:cNvGraphicFramePr/>
          <p:nvPr/>
        </p:nvGraphicFramePr>
        <p:xfrm>
          <a:off xmlns:a="http://schemas.openxmlformats.org/drawingml/2006/main" x="609600" y="120015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143000"/>
                <a:gridCol w="3333750"/>
                <a:gridCol w="5067300"/>
              </a:tblGrid>
              <a:tr h="476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Presenter</a:t>
                      </a:r>
                    </a:p>
                  </a:txBody>
                  <a:tcPr marL="95250" marR="95250" marT="76200" marB="76200">
                    <a:solidFill>
                      <a:srgbClr val="10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Slides</a:t>
                      </a:r>
                    </a:p>
                  </a:txBody>
                  <a:tcPr marL="95250" marR="95250" marT="76200" marB="76200">
                    <a:solidFill>
                      <a:srgbClr val="10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Technical ownership</a:t>
                      </a:r>
                    </a:p>
                  </a:txBody>
                  <a:tcPr marL="95250" marR="95250" marT="76200" marB="76200">
                    <a:solidFill>
                      <a:srgbClr val="101C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Main explanation</a:t>
                      </a:r>
                    </a:p>
                  </a:txBody>
                  <a:tcPr marL="95250" marR="95250" marT="76200" marB="76200">
                    <a:solidFill>
                      <a:srgbClr val="101C3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Member 1</a:t>
                      </a:r>
                    </a:p>
                  </a:txBody>
                  <a:tcPr marL="95250" marR="95250" marT="66675" marB="66675">
                    <a:solidFill>
                      <a:srgbClr val="D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1–3</a:t>
                      </a:r>
                    </a:p>
                  </a:txBody>
                  <a:tcPr marL="95250" marR="95250" marT="66675" marB="66675">
                    <a:solidFill>
                      <a:srgbClr val="D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Scope and architecture</a:t>
                      </a:r>
                    </a:p>
                  </a:txBody>
                  <a:tcPr marL="95250" marR="95250" marT="66675" marB="66675">
                    <a:solidFill>
                      <a:srgbClr val="D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Why batch and streaming share one platform</a:t>
                      </a:r>
                    </a:p>
                  </a:txBody>
                  <a:tcPr marL="95250" marR="95250" marT="66675" marB="66675">
                    <a:solidFill>
                      <a:srgbClr val="DDF6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Member 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4–6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Cleaning, model and SQL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How quality rules create trusted metrics</a:t>
                      </a:r>
                    </a:p>
                  </a:txBody>
                  <a:tcPr marL="95250" marR="95250" marT="66675" marB="66675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Member 3</a:t>
                      </a:r>
                    </a:p>
                  </a:txBody>
                  <a:tcPr marL="95250" marR="95250" marT="66675" marB="66675">
                    <a:solidFill>
                      <a:srgbClr val="FFF0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7–9</a:t>
                      </a:r>
                    </a:p>
                  </a:txBody>
                  <a:tcPr marL="95250" marR="95250" marT="66675" marB="66675">
                    <a:solidFill>
                      <a:srgbClr val="FFF0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Performance, BI and RabbitMQ</a:t>
                      </a:r>
                    </a:p>
                  </a:txBody>
                  <a:tcPr marL="95250" marR="95250" marT="66675" marB="66675">
                    <a:solidFill>
                      <a:srgbClr val="FFF0D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Why the faster query and delivery guarantees matter</a:t>
                      </a:r>
                    </a:p>
                  </a:txBody>
                  <a:tcPr marL="95250" marR="95250" marT="66675" marB="66675">
                    <a:solidFill>
                      <a:srgbClr val="FFF0D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Member 4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10–12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API, deployment and demo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How to run, verify and explain limitations</a:t>
                      </a:r>
                    </a:p>
                  </a:txBody>
                  <a:tcPr marL="95250" marR="95250" marT="66675" marB="6667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2D794-531E-4127-88A4-D81926C9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Live demonstration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417F4-DE40-438C-A455-0E58D020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61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1C33"/>
          </a:solidFill>
          <a:ln xmlns:a="http://schemas.openxmlformats.org/drawingml/2006/main" w="9525">
            <a:solidFill>
              <a:srgbClr val="2A3B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62AF-C334-4BDD-A0B0-4B901EF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0F58F-7092-4E65-9572-DF3CCF55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5276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docker compose --profile demo up -d --build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Dashboard  : http://127.0.0.1:8501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API docs   : http://127.0.0.1:8000/docs</a:t>
            </a:r>
          </a:p>
          <a:p xmlns:a="http://schemas.openxmlformats.org/drawingml/2006/main">
            <a:pPr algn="l">
              <a:defRPr sz="1350" b="0">
                <a:solidFill>
                  <a:srgbClr val="EAF0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RabbitMQ UI: http://127.0.0.1:15672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B45CE-1FF3-4264-9F83-6F00499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>
            <a:def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Validation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35636-4BA3-4F94-B7C2-85A98AA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724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4 automated tests passed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Docker Compose configuration valid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Kubernetes Kustomize output valid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0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Current host: Docker Linux engine requires repair before a broker screenshot can be claimed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49B94-77BB-4382-866F-547D7A5A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79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74"/>
          </a:bodyPr>
          <a:lstStyle xmlns:a="http://schemas.openxmlformats.org/drawingml/2006/main">
            <a:defPPr algn="ctr">
              <a:defRPr sz="157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01C33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01C33"/>
                </a:solidFill>
                <a:latin typeface="Segoe UI"/>
                <a:ea typeface="Segoe UI"/>
                <a:cs typeface="Segoe UI"/>
              </a:rPr>
              <a:t>Conclusion: a reproducible analytical warehouse with a technically complete RabbitMQ streaming path and clear runtime evidence boundaries.</a:t>
            </a:r>
          </a:p>
        </p:txBody>
      </p:sp>
    </p:spTree>
    <p:extLst>
      <p:ext uri="{BB962C8B-B14F-4D97-AF65-F5344CB8AC3E}">
        <p14:creationId xmlns:p14="http://schemas.microsoft.com/office/powerpoint/2010/main" val="1968000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2026-10-09T07:03:44.7820000Z</dcterms:created>
  <dcterms:modified xsi:type="dcterms:W3CDTF">2026-10-09T07:03:44.7820000Z</dcterms:modified>
</coreProperties>
</file>