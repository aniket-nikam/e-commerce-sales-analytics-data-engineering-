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d0ed6059e564bf7" /><Relationship Type="http://schemas.openxmlformats.org/officeDocument/2006/relationships/extended-properties" Target="/docProps/app.xml" Id="Rbe290e8a39cb47d7" /><Relationship Type="http://schemas.openxmlformats.org/officeDocument/2006/relationships/officeDocument" Target="/ppt/presentation.xml" Id="Rc3a6cd19ee314f5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524f30f46504441"/>
  </p:sldMasterIdLst>
  <p:notesMasterIdLst>
    <p:notesMasterId xmlns:r="http://schemas.openxmlformats.org/officeDocument/2006/relationships" r:id="Rece0346c7361425b"/>
  </p:notesMasterIdLst>
  <p:sldIdLst>
    <p:sldId xmlns:r="http://schemas.openxmlformats.org/officeDocument/2006/relationships" id="256" r:id="R27eea61ecad640e4"/>
    <p:sldId xmlns:r="http://schemas.openxmlformats.org/officeDocument/2006/relationships" id="257" r:id="R3081325e963844f4"/>
    <p:sldId xmlns:r="http://schemas.openxmlformats.org/officeDocument/2006/relationships" id="258" r:id="R069fedf4fce74037"/>
    <p:sldId xmlns:r="http://schemas.openxmlformats.org/officeDocument/2006/relationships" id="259" r:id="Rab3e687aa09d47b5"/>
    <p:sldId xmlns:r="http://schemas.openxmlformats.org/officeDocument/2006/relationships" id="260" r:id="R7910f7b1f3a34711"/>
    <p:sldId xmlns:r="http://schemas.openxmlformats.org/officeDocument/2006/relationships" id="261" r:id="R06fed7b7ed4b4d29"/>
    <p:sldId xmlns:r="http://schemas.openxmlformats.org/officeDocument/2006/relationships" id="262" r:id="Rdf5ef768957e4fb4"/>
    <p:sldId xmlns:r="http://schemas.openxmlformats.org/officeDocument/2006/relationships" id="263" r:id="R6eaad1ab156d4714"/>
    <p:sldId xmlns:r="http://schemas.openxmlformats.org/officeDocument/2006/relationships" id="264" r:id="R02242c31a2214f23"/>
    <p:sldId xmlns:r="http://schemas.openxmlformats.org/officeDocument/2006/relationships" id="265" r:id="R7bac79bb3082429b"/>
    <p:sldId xmlns:r="http://schemas.openxmlformats.org/officeDocument/2006/relationships" id="266" r:id="Re26b0e4117ea4186"/>
    <p:sldId xmlns:r="http://schemas.openxmlformats.org/officeDocument/2006/relationships" id="267" r:id="R1b8f61bc94dd480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790e52d4d6149f0" /><Relationship Type="http://schemas.openxmlformats.org/officeDocument/2006/relationships/slideMaster" Target="/ppt/slideMasters/slideMaster1.xml" Id="Rc524f30f46504441" /><Relationship Type="http://schemas.openxmlformats.org/officeDocument/2006/relationships/notesMaster" Target="/ppt/notesMasters/notesMaster1.xml" Id="Rece0346c7361425b" /><Relationship Type="http://schemas.openxmlformats.org/officeDocument/2006/relationships/presProps" Target="/ppt/presProps.xml" Id="Rab27bb760b9c46ad" /><Relationship Type="http://schemas.openxmlformats.org/officeDocument/2006/relationships/tableStyles" Target="/ppt/tableStyles.xml" Id="Rb541ffa4f0934cbd" /><Relationship Type="http://schemas.openxmlformats.org/officeDocument/2006/relationships/slide" Target="/ppt/slides/slide1.xml" Id="R27eea61ecad640e4" /><Relationship Type="http://schemas.openxmlformats.org/officeDocument/2006/relationships/slide" Target="/ppt/slides/slide2.xml" Id="R3081325e963844f4" /><Relationship Type="http://schemas.openxmlformats.org/officeDocument/2006/relationships/slide" Target="/ppt/slides/slide3.xml" Id="R069fedf4fce74037" /><Relationship Type="http://schemas.openxmlformats.org/officeDocument/2006/relationships/slide" Target="/ppt/slides/slide4.xml" Id="Rab3e687aa09d47b5" /><Relationship Type="http://schemas.openxmlformats.org/officeDocument/2006/relationships/slide" Target="/ppt/slides/slide5.xml" Id="R7910f7b1f3a34711" /><Relationship Type="http://schemas.openxmlformats.org/officeDocument/2006/relationships/slide" Target="/ppt/slides/slide6.xml" Id="R06fed7b7ed4b4d29" /><Relationship Type="http://schemas.openxmlformats.org/officeDocument/2006/relationships/slide" Target="/ppt/slides/slide7.xml" Id="Rdf5ef768957e4fb4" /><Relationship Type="http://schemas.openxmlformats.org/officeDocument/2006/relationships/slide" Target="/ppt/slides/slide8.xml" Id="R6eaad1ab156d4714" /><Relationship Type="http://schemas.openxmlformats.org/officeDocument/2006/relationships/slide" Target="/ppt/slides/slide9.xml" Id="R02242c31a2214f23" /><Relationship Type="http://schemas.openxmlformats.org/officeDocument/2006/relationships/slide" Target="/ppt/slides/slide10.xml" Id="R7bac79bb3082429b" /><Relationship Type="http://schemas.openxmlformats.org/officeDocument/2006/relationships/slide" Target="/ppt/slides/slide11.xml" Id="Re26b0e4117ea4186" /><Relationship Type="http://schemas.openxmlformats.org/officeDocument/2006/relationships/slide" Target="/ppt/slides/slide12.xml" Id="R1b8f61bc94dd480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3566d49e79b4a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1f91277b7004dcb" /><Relationship Type="http://schemas.openxmlformats.org/officeDocument/2006/relationships/notesMaster" Target="/ppt/notesMasters/notesMaster1.xml" Id="Ra9f371d1c194471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89cce3a288749a4" /><Relationship Type="http://schemas.openxmlformats.org/officeDocument/2006/relationships/notesMaster" Target="/ppt/notesMasters/notesMaster1.xml" Id="Re616aaef1cc543d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a153fd1d72e4c92" /><Relationship Type="http://schemas.openxmlformats.org/officeDocument/2006/relationships/notesMaster" Target="/ppt/notesMasters/notesMaster1.xml" Id="R4bd2b5e3aaf445a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921d42529154914" /><Relationship Type="http://schemas.openxmlformats.org/officeDocument/2006/relationships/notesMaster" Target="/ppt/notesMasters/notesMaster1.xml" Id="Rd194ff289d7a479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a5659eb780a49d9" /><Relationship Type="http://schemas.openxmlformats.org/officeDocument/2006/relationships/notesMaster" Target="/ppt/notesMasters/notesMaster1.xml" Id="Rb0960d435c35404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c8eda138de4441c" /><Relationship Type="http://schemas.openxmlformats.org/officeDocument/2006/relationships/notesMaster" Target="/ppt/notesMasters/notesMaster1.xml" Id="Rd8901bff8cf5473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02f9d3db0c04781" /><Relationship Type="http://schemas.openxmlformats.org/officeDocument/2006/relationships/notesMaster" Target="/ppt/notesMasters/notesMaster1.xml" Id="R2e2695739e1f456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e4e400f3ae24a00" /><Relationship Type="http://schemas.openxmlformats.org/officeDocument/2006/relationships/notesMaster" Target="/ppt/notesMasters/notesMaster1.xml" Id="R5dafbf5d19664f3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273c64714284c86" /><Relationship Type="http://schemas.openxmlformats.org/officeDocument/2006/relationships/notesMaster" Target="/ppt/notesMasters/notesMaster1.xml" Id="R2b8b2546441b4ed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bf9e843e7c74625" /><Relationship Type="http://schemas.openxmlformats.org/officeDocument/2006/relationships/notesMaster" Target="/ppt/notesMasters/notesMaster1.xml" Id="Rd931f187913f466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8f6f8d94b6e44f9" /><Relationship Type="http://schemas.openxmlformats.org/officeDocument/2006/relationships/notesMaster" Target="/ppt/notesMasters/notesMaster1.xml" Id="Raf411e014ec4446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328b8950f7d4587" /><Relationship Type="http://schemas.openxmlformats.org/officeDocument/2006/relationships/notesMaster" Target="/ppt/notesMasters/notesMaster1.xml" Id="R8fc3ecd61aa545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Harsh Birje speaking guide</a:t>
            </a:r>
          </a:p>
          <a:p xmlns:a="http://schemas.openxmlformats.org/drawingml/2006/main">
            <a:r>
              <a:t>Introduce the selected practical topic: E-Commerce Sales Analytics using DuckDB, SQL and Python.</a:t>
            </a:r>
          </a:p>
          <a:p xmlns:a="http://schemas.openxmlformats.org/drawingml/2006/main">
            <a:r>
              <a:t>State the extension clearly: the project covers both batch analytics and strict event-driven ingestion through RabbitMQ.</a:t>
            </a:r>
          </a:p>
          <a:p xmlns:a="http://schemas.openxmlformats.org/drawingml/2006/main">
            <a:r>
              <a:t>Mention that the repository, report, evidence and runnable code are part of the submission.</a:t>
            </a:r>
          </a:p>
          <a:p xmlns:a="http://schemas.openxmlformats.org/drawingml/2006/main">
            <a:r>
              <a:t>Handoff: Harsh Birje continues with the problem and scope.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Harsh Birje speaking guide</a:t>
            </a:r>
          </a:p>
          <a:p xmlns:a="http://schemas.openxmlformats.org/drawingml/2006/main">
            <a:r>
              <a:t>Explain that the historical dataset is synthetic and deterministic. It contains deliberate defects so cleaning can be demonstrated safely and repeatedly.</a:t>
            </a:r>
          </a:p>
          <a:p xmlns:a="http://schemas.openxmlformats.org/drawingml/2006/main">
            <a:r>
              <a:t>The public DummyJSON snapshot adds a current external API source. The streaming simulator adds new events continuously, but it does not represent a real company's orders.</a:t>
            </a:r>
          </a:p>
          <a:p xmlns:a="http://schemas.openxmlformats.org/drawingml/2006/main">
            <a:r>
              <a:t>Define success: valid data, reusable SQL, measurable query performance, visible business insights and idempotent live ingestion.</a:t>
            </a:r>
          </a:p>
          <a:p xmlns:a="http://schemas.openxmlformats.org/drawingml/2006/main">
            <a:r>
              <a:t>Rubric coverage: environment setup, dataset load, transformations, optimization, captured output and performance analysis.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Harsh Birje speaking guide</a:t>
            </a:r>
          </a:p>
          <a:p xmlns:a="http://schemas.openxmlformats.org/drawingml/2006/main">
            <a:r>
              <a:t>Walk through the upper lane first. CSV and API data enter a repeatable ETL job, then DuckDB stores the warehouse and Parquet holds a compressed analytical copy.</a:t>
            </a:r>
          </a:p>
          <a:p xmlns:a="http://schemas.openxmlformats.org/drawingml/2006/main">
            <a:r>
              <a:t>Walk through the lower lane second. FastAPI accepts an order only after RabbitMQ confirms publication. The consumer acknowledges it only after a successful DuckDB insert.</a:t>
            </a:r>
          </a:p>
          <a:p xmlns:a="http://schemas.openxmlformats.org/drawingml/2006/main">
            <a:r>
              <a:t>Explain why there are two DuckDB files: one read-mostly historical warehouse and one single-process real-time staging database.</a:t>
            </a:r>
          </a:p>
          <a:p xmlns:a="http://schemas.openxmlformats.org/drawingml/2006/main">
            <a:r>
              <a:t>Handoff to Aayush Chavanke: the next slides explain how the data becomes trustworthy and queryable.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Aayush Chavanke speaking guide</a:t>
            </a:r>
          </a:p>
          <a:p xmlns:a="http://schemas.openxmlformats.org/drawingml/2006/main">
            <a:r>
              <a:t>Start with profiling: 250,250 raw rows include 250 deliberate duplicate rows. Typing leaves 250,000 rows, and the business rules reject 1,445 rows.</a:t>
            </a:r>
          </a:p>
          <a:p xmlns:a="http://schemas.openxmlformats.org/drawingml/2006/main">
            <a:r>
              <a:t>Explain TRY_CAST: it prevents one malformed value from stopping the load. Instead, the row can be inspected and routed to rejected_orders.</a:t>
            </a:r>
          </a:p>
          <a:p xmlns:a="http://schemas.openxmlformats.org/drawingml/2006/main">
            <a:r>
              <a:t>The rejected table supports auditability because it stores the original fields and a concatenated rejection reason.</a:t>
            </a:r>
          </a:p>
          <a:p xmlns:a="http://schemas.openxmlformats.org/drawingml/2006/main">
            <a:r>
              <a:t>Source: evidence/data_quality.json and sql/schema.sql in the repository.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Aayush Chavanke speaking guide</a:t>
            </a:r>
          </a:p>
          <a:p xmlns:a="http://schemas.openxmlformats.org/drawingml/2006/main">
            <a:r>
              <a:t>Define the grain before the tables: one fact row represents one accepted order line.</a:t>
            </a:r>
          </a:p>
          <a:p xmlns:a="http://schemas.openxmlformats.org/drawingml/2006/main">
            <a:r>
              <a:t>DuckDB generates surrogate product and customer keys with ROW_NUMBER. The date key uses YYYYMMDD so filtering and joins remain simple.</a:t>
            </a:r>
          </a:p>
          <a:p xmlns:a="http://schemas.openxmlformats.org/drawingml/2006/main">
            <a:r>
              <a:t>This design is intentionally dimensional for analytics. The rejected table remains separate so bad rows never contaminate the facts.</a:t>
            </a:r>
          </a:p>
          <a:p xmlns:a="http://schemas.openxmlformats.org/drawingml/2006/main">
            <a:r>
              <a:t>The pipeline exports the enriched dataset as ZSTD Parquet partitioned by year and month for column pruning and compression.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Aayush Chavanke speaking guide</a:t>
            </a:r>
          </a:p>
          <a:p xmlns:a="http://schemas.openxmlformats.org/drawingml/2006/main">
            <a:r>
              <a:t>Explain why views matter: the realized-revenue rule includes Delivered and Shipped orders and should not be retyped in every dashboard query.</a:t>
            </a:r>
          </a:p>
          <a:p xmlns:a="http://schemas.openxmlformats.org/drawingml/2006/main">
            <a:r>
              <a:t>LAG compares each month with the previous month. ROLLUP and CUBE produce subtotal combinations without manual UNION statements.</a:t>
            </a:r>
          </a:p>
          <a:p xmlns:a="http://schemas.openxmlformats.org/drawingml/2006/main">
            <a:r>
              <a:t>The grouping-sets output contains 30 region-category detail rows, 5 regional totals, 6 category totals and one grand total.</a:t>
            </a:r>
          </a:p>
          <a:p xmlns:a="http://schemas.openxmlformats.org/drawingml/2006/main">
            <a:r>
              <a:t>Handoff to Aniket Nikam: the next section evaluates speed and shows the BI output.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Aniket Nikam speaking guide</a:t>
            </a:r>
          </a:p>
          <a:p xmlns:a="http://schemas.openxmlformats.org/drawingml/2006/main">
            <a:r>
              <a:t>All bars use the same analytical query and five runs. The slide shows median milliseconds, so smaller bars mean faster execution.</a:t>
            </a:r>
          </a:p>
          <a:p xmlns:a="http://schemas.openxmlformats.org/drawingml/2006/main">
            <a:r>
              <a:t>At four threads, DuckDB took 29.319 ms, Parquet took 57.009 ms and CSV took 330.050 ms.</a:t>
            </a:r>
          </a:p>
          <a:p xmlns:a="http://schemas.openxmlformats.org/drawingml/2006/main">
            <a:r>
              <a:t>Do not call this a distributed cluster benchmark. It is a local scale-up comparison across storage formats and thread counts.</a:t>
            </a:r>
          </a:p>
          <a:p xmlns:a="http://schemas.openxmlformats.org/drawingml/2006/main">
            <a:r>
              <a:t>Source: evidence/tables/benchmark_results.csv and evidence/plans/category_revenue_explain_analyze.txt.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Aniket Nikam speaking guide</a:t>
            </a:r>
          </a:p>
          <a:p xmlns:a="http://schemas.openxmlformats.org/drawingml/2006/main">
            <a:r>
              <a:t>Demonstrate the filters for date, region and category. The KPI queries run against the enriched warehouse view, not raw CSV.</a:t>
            </a:r>
          </a:p>
          <a:p xmlns:a="http://schemas.openxmlformats.org/drawingml/2006/main">
            <a:r>
              <a:t>Explain the distinction between gross and realized revenue. Realized revenue includes only Delivered and Shipped status values.</a:t>
            </a:r>
          </a:p>
          <a:p xmlns:a="http://schemas.openxmlformats.org/drawingml/2006/main">
            <a:r>
              <a:t>Use the plots to answer business questions: trend over time, strongest categories, region and channel performance, return-rate risk and top products.</a:t>
            </a:r>
          </a:p>
          <a:p xmlns:a="http://schemas.openxmlformats.org/drawingml/2006/main">
            <a:r>
              <a:t>Source: evidence/dashboard_full.png and evidence/tables/kpis.json.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Aniket Nikam speaking guide</a:t>
            </a:r>
          </a:p>
          <a:p xmlns:a="http://schemas.openxmlformats.org/drawingml/2006/main">
            <a:r>
              <a:t>RabbitMQ sits between the API and database so short consumer interruptions do not lose accepted orders.</a:t>
            </a:r>
          </a:p>
          <a:p xmlns:a="http://schemas.openxmlformats.org/drawingml/2006/main">
            <a:r>
              <a:t>Durable queue and persistent messages address broker restarts. Publisher confirms address uncertainty during publication.</a:t>
            </a:r>
          </a:p>
          <a:p xmlns:a="http://schemas.openxmlformats.org/drawingml/2006/main">
            <a:r>
              <a:t>Manual acknowledgement changes the failure point: a message leaves the queue only after the database insert succeeds.</a:t>
            </a:r>
          </a:p>
          <a:p xmlns:a="http://schemas.openxmlformats.org/drawingml/2006/main">
            <a:r>
              <a:t>event_id is the idempotency key. A redelivered message reaches ON CONFLICT DO NOTHING and does not double revenue.</a:t>
            </a:r>
          </a:p>
          <a:p xmlns:a="http://schemas.openxmlformats.org/drawingml/2006/main">
            <a:r>
              <a:t>Handoff to Lokesh Ture: the remaining slides cover the API contract, deployment and live demonstration.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Lokesh Ture speaking guide</a:t>
            </a:r>
          </a:p>
          <a:p xmlns:a="http://schemas.openxmlformats.org/drawingml/2006/main">
            <a:r>
              <a:t>Pydantic enforces nonblank IDs, quantity from 1 to 100, positive price and discount from 0 to 0.80 for live events.</a:t>
            </a:r>
          </a:p>
          <a:p xmlns:a="http://schemas.openxmlformats.org/drawingml/2006/main">
            <a:r>
              <a:t>The API computes net_revenue in the model, so the consumer receives a consistent business value.</a:t>
            </a:r>
          </a:p>
          <a:p xmlns:a="http://schemas.openxmlformats.org/drawingml/2006/main">
            <a:r>
              <a:t>Show FastAPI documentation at http://127.0.0.1:8000/docs during the demo. Submit one POST and then open /metrics and /orders/recent.</a:t>
            </a:r>
          </a:p>
          <a:p xmlns:a="http://schemas.openxmlformats.org/drawingml/2006/main">
            <a:r>
              <a:t>The dashboard shows the historical warehouse even when the live API is offline. Its live section becomes active when the API is healthy.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Lokesh Ture speaking guide</a:t>
            </a:r>
          </a:p>
          <a:p xmlns:a="http://schemas.openxmlformats.org/drawingml/2006/main">
            <a:r>
              <a:t>Compose provides the fastest classroom demonstration because all services share a network and the API waits for RabbitMQ health.</a:t>
            </a:r>
          </a:p>
          <a:p xmlns:a="http://schemas.openxmlformats.org/drawingml/2006/main">
            <a:r>
              <a:t>Kubernetes adds deployment objects, services, health probes, persistent storage, a Secret and an HPA. The HPA requires a Metrics Server.</a:t>
            </a:r>
          </a:p>
          <a:p xmlns:a="http://schemas.openxmlformats.org/drawingml/2006/main">
            <a:r>
              <a:t>The public API snapshot observed 194 products and 208 carts, flattened 800 cart items and loaded all 800 into DuckDB.</a:t>
            </a:r>
          </a:p>
          <a:p xmlns:a="http://schemas.openxmlformats.org/drawingml/2006/main">
            <a:r>
              <a:t>Explain the performance comparison honestly: it compares local storage and thread modes, not multiple-node clusters.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Lokesh Ture speaking guide</a:t>
            </a:r>
          </a:p>
          <a:p xmlns:a="http://schemas.openxmlformats.org/drawingml/2006/main">
            <a:r>
              <a:t>Each presenter owns exactly three slides: Harsh Birje 1–3, Aayush Chavanke 4–6, Aniket Nikam 7–9 and Lokesh Ture 10–12.</a:t>
            </a:r>
          </a:p>
          <a:p xmlns:a="http://schemas.openxmlformats.org/drawingml/2006/main">
            <a:r>
              <a:t>Demo order: start Compose, open RabbitMQ management, open FastAPI docs, submit an order, verify queue activity, open /metrics, then show Streamlit.</a:t>
            </a:r>
          </a:p>
          <a:p xmlns:a="http://schemas.openxmlformats.org/drawingml/2006/main">
            <a:r>
              <a:t>Validation evidence reports four passing tests and valid Compose and Kustomize configurations.</a:t>
            </a:r>
          </a:p>
          <a:p xmlns:a="http://schemas.openxmlformats.org/drawingml/2006/main">
            <a:r>
              <a:t>Important accuracy boundary: Docker Desktop on the current host stopped before the Linux engine started because its internal socket was inaccessible. The project does not claim a successful RabbitMQ container run on this host until /health responds.</a:t>
            </a:r>
          </a:p>
          <a:p xmlns:a="http://schemas.openxmlformats.org/drawingml/2006/main">
            <a:r>
              <a:t>Close with the repository link and invite questions about idempotency, partitions, OLAP or deployment.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255881917f4f2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956d179b62492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fc6dd56b8746c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a634198b8f429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16aa0d37a643c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c7947657ab4f2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B253BA2-DFA7-4065-8EF0-9D998D4E69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14CCF84-2660-4511-9B4E-7071EF0B0F5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54DA110-81FF-4B96-A9F0-AE4C0EC86A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F614C57-88D6-4F50-A18D-79F7885689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FD0B365-9DAD-4DB9-B4E0-641DF2ECE1A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559DAC4-1110-465C-8CDF-2E91E0916E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D2B734F-5BF6-4FA8-AED7-22A2442368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F36B868-CB31-4AF4-B5A5-69F02670475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0AA5998-EB4D-4757-BBBD-224FAD582B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4ADAE6E-9817-4F35-B3E0-A6A2EB937C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f2afaad918f4b48" /><Relationship Type="http://schemas.openxmlformats.org/officeDocument/2006/relationships/slideLayout" Target="/ppt/slideLayouts/slideLayout1.xml" Id="R5f126c4693194a2c" /><Relationship Type="http://schemas.openxmlformats.org/officeDocument/2006/relationships/slideLayout" Target="/ppt/slideLayouts/slideLayout2.xml" Id="R6952c47f04a746d6" /><Relationship Type="http://schemas.openxmlformats.org/officeDocument/2006/relationships/slideLayout" Target="/ppt/slideLayouts/slideLayout3.xml" Id="Rd3b9f7810e9b4402" /><Relationship Type="http://schemas.openxmlformats.org/officeDocument/2006/relationships/slideLayout" Target="/ppt/slideLayouts/slideLayout4.xml" Id="R2d587f8a98554658" /><Relationship Type="http://schemas.openxmlformats.org/officeDocument/2006/relationships/slideLayout" Target="/ppt/slideLayouts/slideLayout5.xml" Id="R441bd9f472984f98" /><Relationship Type="http://schemas.openxmlformats.org/officeDocument/2006/relationships/slideLayout" Target="/ppt/slideLayouts/slideLayout6.xml" Id="R1e85d1600639407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f126c4693194a2c"/>
    <p:sldLayoutId xmlns:r="http://schemas.openxmlformats.org/officeDocument/2006/relationships" id="2147483650" r:id="R6952c47f04a746d6"/>
    <p:sldLayoutId xmlns:r="http://schemas.openxmlformats.org/officeDocument/2006/relationships" id="2147483651" r:id="Rd3b9f7810e9b4402"/>
    <p:sldLayoutId xmlns:r="http://schemas.openxmlformats.org/officeDocument/2006/relationships" id="2147483652" r:id="R2d587f8a98554658"/>
    <p:sldLayoutId xmlns:r="http://schemas.openxmlformats.org/officeDocument/2006/relationships" id="2147483653" r:id="R441bd9f472984f98"/>
    <p:sldLayoutId xmlns:r="http://schemas.openxmlformats.org/officeDocument/2006/relationships" id="2147483654" r:id="R1e85d1600639407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42cc64e1054360" /><Relationship Type="http://schemas.openxmlformats.org/officeDocument/2006/relationships/notesSlide" Target="/ppt/notesSlides/notesSlide1.xml" Id="R4af2700e8c464d5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0849ce448a4aa7" /><Relationship Type="http://schemas.openxmlformats.org/officeDocument/2006/relationships/notesSlide" Target="/ppt/notesSlides/notesSlide2.xml" Id="R73a99bb683e44ed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ef3f58ad4f4e27" /><Relationship Type="http://schemas.openxmlformats.org/officeDocument/2006/relationships/notesSlide" Target="/ppt/notesSlides/notesSlide3.xml" Id="Rb9667389321c424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518460c5234056" /><Relationship Type="http://schemas.openxmlformats.org/officeDocument/2006/relationships/notesSlide" Target="/ppt/notesSlides/notesSlide4.xml" Id="R51177701217a473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e6093d41234352" /><Relationship Type="http://schemas.openxmlformats.org/officeDocument/2006/relationships/notesSlide" Target="/ppt/notesSlides/notesSlide5.xml" Id="R071162ce36a5422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8d3bb2de3324586" /><Relationship Type="http://schemas.openxmlformats.org/officeDocument/2006/relationships/notesSlide" Target="/ppt/notesSlides/notesSlide6.xml" Id="R0380d0a35ad1448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c36fde2e4d4fa4" /><Relationship Type="http://schemas.openxmlformats.org/officeDocument/2006/relationships/chart" Target="/ppt/slides/charts/chart1.xml" Id="R1afb0e5f30064475" /><Relationship Type="http://schemas.openxmlformats.org/officeDocument/2006/relationships/notesSlide" Target="/ppt/notesSlides/notesSlide7.xml" Id="R9b05d794b217493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10afdf348e4404" /><Relationship Type="http://schemas.openxmlformats.org/officeDocument/2006/relationships/image" Target="/ppt/media/image.jpeg" Id="R7a70ef0c89524c92" /><Relationship Type="http://schemas.openxmlformats.org/officeDocument/2006/relationships/notesSlide" Target="/ppt/notesSlides/notesSlide8.xml" Id="R7b678944885d447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144f3e16d54987" /><Relationship Type="http://schemas.openxmlformats.org/officeDocument/2006/relationships/notesSlide" Target="/ppt/notesSlides/notesSlide9.xml" Id="Ra1f48ef36355479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0b8787b4d24d0b" /><Relationship Type="http://schemas.openxmlformats.org/officeDocument/2006/relationships/notesSlide" Target="/ppt/notesSlides/notesSlide10.xml" Id="R602f13609eb84b5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ee5d7412894674" /><Relationship Type="http://schemas.openxmlformats.org/officeDocument/2006/relationships/notesSlide" Target="/ppt/notesSlides/notesSlide11.xml" Id="R400587c5f0d740d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0f3a4f9f9a4d3d" /><Relationship Type="http://schemas.openxmlformats.org/officeDocument/2006/relationships/notesSlide" Target="/ppt/notesSlides/notesSlide12.xml" Id="Rbc8c0f0716f54f9c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1 thread</c:v>
          </c:tx>
          <c:spPr>
            <a:solidFill xmlns:a="http://schemas.openxmlformats.org/drawingml/2006/main">
              <a:srgbClr val="5267D7"/>
            </a:solidFill>
          </c:spPr>
          <c:cat>
            <c:strLit>
              <c:ptCount val="3"/>
              <c:pt idx="0">
                <c:v>CSV</c:v>
              </c:pt>
              <c:pt idx="1">
                <c:v>Parquet</c:v>
              </c:pt>
              <c:pt idx="2">
                <c:v>DuckDB</c:v>
              </c:pt>
            </c:strLit>
          </c:cat>
          <c:val>
            <c:numLit>
              <c:formatCode>0.0</c:formatCode>
              <c:ptCount val="3"/>
              <c:pt idx="0">
                <c:v>674.031</c:v>
              </c:pt>
              <c:pt idx="1">
                <c:v>104.65</c:v>
              </c:pt>
              <c:pt idx="2">
                <c:v>44.775</c:v>
              </c:pt>
            </c:numLit>
          </c:val>
        </c:ser>
        <c:ser>
          <c:idx val="1"/>
          <c:order val="1"/>
          <c:tx>
            <c:v>4 threads</c:v>
          </c:tx>
          <c:spPr>
            <a:solidFill xmlns:a="http://schemas.openxmlformats.org/drawingml/2006/main">
              <a:srgbClr val="16B8A6"/>
            </a:solidFill>
          </c:spPr>
          <c:cat>
            <c:strLit>
              <c:ptCount val="3"/>
              <c:pt idx="0">
                <c:v>CSV</c:v>
              </c:pt>
              <c:pt idx="1">
                <c:v>Parquet</c:v>
              </c:pt>
              <c:pt idx="2">
                <c:v>DuckDB</c:v>
              </c:pt>
            </c:strLit>
          </c:cat>
          <c:val>
            <c:numLit>
              <c:formatCode>0.0</c:formatCode>
              <c:ptCount val="3"/>
              <c:pt idx="0">
                <c:v>330.05</c:v>
              </c:pt>
              <c:pt idx="1">
                <c:v>57.009</c:v>
              </c:pt>
              <c:pt idx="2">
                <c:v>29.319</c:v>
              </c:pt>
            </c:numLit>
          </c:val>
        </c:ser>
        <c:dLbls>
          <c:numFmt formatCode="0.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>
                  <a:solidFill>
                    <a:srgbClr val="172033"/>
                  </a:solidFill>
                  <a:latin typeface="Segoe UI"/>
                  <a:ea typeface="Segoe UI"/>
                  <a:cs typeface="Segoe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75">
                    <a:solidFill>
                      <a:srgbClr val="56657A"/>
                    </a:solidFill>
                    <a:latin typeface="Segoe UI"/>
                    <a:ea typeface="Segoe UI"/>
                    <a:cs typeface="Segoe UI"/>
                  </a:rPr>
                  <a:t>Median query time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56657A"/>
                  </a:solidFill>
                  <a:latin typeface="Segoe UI"/>
                  <a:ea typeface="Segoe UI"/>
                  <a:cs typeface="Segoe UI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CE2EA"/>
          </a:solidFill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solidFill>
                <a:srgbClr val="56657A"/>
              </a:solidFill>
              <a:latin typeface="Segoe UI"/>
              <a:ea typeface="Segoe UI"/>
              <a:cs typeface="Segoe UI"/>
            </a:defRPr>
          </a:pPr>
        </a:p>
      </c:txPr>
    </c:legend>
    <c:plotVisOnly val="1"/>
  </c:chart>
  <c:spPr>
    <a:solidFill xmlns:a="http://schemas.openxmlformats.org/drawingml/2006/main">
      <a:srgbClr val="F7F8FA"/>
    </a:solidFill>
    <a:ln xmlns:a="http://schemas.openxmlformats.org/drawingml/2006/main" w="0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C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9CE16F-B279-4E48-99E0-457C87B94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6B7C08-F3EB-42D5-AB5B-93CA13CFC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>
            <a:defPPr algn="l">
              <a:defRPr sz="1350" b="1">
                <a:solidFill>
                  <a:srgbClr val="16B8A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6B8A6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6B8A6"/>
                </a:solidFill>
                <a:latin typeface="Segoe UI"/>
                <a:ea typeface="Segoe UI"/>
                <a:cs typeface="Segoe UI"/>
              </a:rPr>
              <a:t>PRACTICAL CASE STUDY 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2D7411-15DE-48AB-82CA-83CEA8CBE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19200"/>
            <a:ext cx="72390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149"/>
          </a:bodyPr>
          <a:lstStyle xmlns:a="http://schemas.openxmlformats.org/drawingml/2006/main">
            <a:defPPr algn="l">
              <a:defRPr sz="43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43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E-Commerce Sales Analytics</a:t>
            </a:r>
          </a:p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43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using DuckDB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700878-EBAC-4367-B427-49B23DD4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48000"/>
            <a:ext cx="7810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2025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A reproducible batch warehouse with RabbitMQ event streaming, SQL OLAP and a Streamlit decision dashboard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AB7E29-DB02-414B-B351-14A06003F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14800"/>
            <a:ext cx="7429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4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B10D6B-7B1A-4B25-9423-016B87AC0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624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>
            <a:defPPr algn="l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DuckDB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FF049C-AF91-4994-9991-0788B4689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3624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>
            <a:defPPr algn="l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Python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B4ACE7-4F2A-4837-BAE5-3CAB7B2D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3624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>
            <a:defPPr algn="l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RabbitMQ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7A6DE2-38FD-4A96-B696-5D287887D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3624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>
            <a:defPPr algn="l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FastAPI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41FAE3-B1F6-4860-8B08-8D4987AEC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3624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>
            <a:defPPr algn="l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Streamlit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D4B89F-D6EF-4213-A6A0-07BC65D3D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5305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Team: Harsh Birje · Aayush Chavanke · Aniket Nikam · Lokesh Ture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FC5024-78D7-4B05-9083-CD16E78D8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293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>
            <a:defPPr algn="l">
              <a:defRPr sz="1275" b="0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F2A03D"/>
                </a:solidFill>
                <a:latin typeface="Segoe UI"/>
                <a:ea typeface="Segoe UI"/>
                <a:cs typeface="Segoe UI"/>
              </a:rPr>
              <a:t>github.com/Aniket-Nikam/E-Commerce-Sales-Analytics-Data-Engineering-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080467-DC34-4D9A-ABEE-A7029B50B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64389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>
            <a:defPPr algn="r">
              <a:defRPr sz="1050" b="0">
                <a:solidFill>
                  <a:srgbClr val="B7C3D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defRPr sz="1050" b="0">
                <a:solidFill>
                  <a:srgbClr val="B7C3D6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B7C3D6"/>
                </a:solidFill>
                <a:latin typeface="Segoe UI"/>
                <a:ea typeface="Segoe UI"/>
                <a:cs typeface="Segoe UI"/>
              </a:rPr>
              <a:t>Presenter: Harsh Birje</a:t>
            </a:r>
          </a:p>
        </p:txBody>
      </p:sp>
    </p:spTree>
    <p:extLst>
      <p:ext uri="{BB962C8B-B14F-4D97-AF65-F5344CB8AC3E}">
        <p14:creationId xmlns:p14="http://schemas.microsoft.com/office/powerpoint/2010/main" val="13156388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BC8B26-B4A0-4C81-8BDF-90813784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2A03D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2F73B6-0223-4C38-8001-DB5C8D3A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67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>
            <a:defPPr algn="l">
              <a:defRPr sz="31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3150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Problem, scope and success criteria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3F33C9-D8AB-49B6-8BE8-D2A0040C3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46754C-EC1E-4AF0-9B10-B118EE824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>
            <a:defPPr algn="l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Presenter: Harsh Birje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659C64-C96B-4760-8504-18E0CB549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6477000"/>
            <a:ext cx="3771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>
            <a:defPPr algn="r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E-Commerce Sales Analytics · DuckDB + RabbitMQ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B0C403-04DB-441B-A610-2FDB00DCE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>
            <a:def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Business 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742E69-AD29-4FD7-9140-5BF99DA85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44958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085"/>
          </a:bodyPr>
          <a:lstStyle xmlns:a="http://schemas.openxmlformats.org/drawingml/2006/main">
            <a:defPPr algn="l">
              <a:defRPr sz="18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800" b="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Sales data arrives with duplicate rows, invalid values and inconsistent labels. Analysts need trusted KPIs, fast OLAP queries and a path for new orders to appear within seconds.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ECC1F0-EE2E-4E3F-A71B-9936F6C1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>
            <a:def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Questions answered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E829A4-13A1-4E00-98B3-87D9AB1A6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7625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4520"/>
          </a:bodyPr>
          <a:lstStyle xmlns:a="http://schemas.openxmlformats.org/drawingml/2006/main">
            <a:defPPr>
              <a:defRPr sz="165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65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65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How much realized revenue did the business generate?</a:t>
            </a: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65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65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Which categories and regions drive performance?</a:t>
            </a: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65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65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How quickly can storage formats answer the same query?</a:t>
            </a: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65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65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Can a validated order survive a broker and reach the dashboard once?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0E0317-D679-4E4B-BCB3-2E3C5546B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181100"/>
            <a:ext cx="190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BA6282-ADF4-4E0F-B4CF-56AC45264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1811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>
            <a:def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What the implementation delivers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7B3EEA-51E5-48F9-8F07-7DADC6692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76400"/>
            <a:ext cx="49530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DDF6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E7BABE-9992-4CA8-A921-05A221281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86690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474"/>
          </a:bodyPr>
          <a:lstStyle xmlns:a="http://schemas.openxmlformats.org/drawingml/2006/main">
            <a:defPPr algn="l">
              <a:defRPr sz="1425" b="1">
                <a:solidFill>
                  <a:srgbClr val="16B8A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B8A6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16B8A6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F39D8F-2EB8-4E08-B4A5-6080E08AA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7907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>
            <a:defPPr algn="l">
              <a:defRPr sz="172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Historical pipeline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72A726-8644-4EE0-9459-CE1DB8B1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105025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>
            <a:defPPr algn="l">
              <a:defRPr sz="13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CSV cleaning, rejects and typed staging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9AE561-133E-45A2-A9E3-B267FB452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667000"/>
            <a:ext cx="49530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8EB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63D356-301C-4189-9F76-5CCF7F3ED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5750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474"/>
          </a:bodyPr>
          <a:lstStyle xmlns:a="http://schemas.openxmlformats.org/drawingml/2006/main">
            <a:defPPr algn="l">
              <a:defRPr sz="1425" b="1">
                <a:solidFill>
                  <a:srgbClr val="5267D7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5267D7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5267D7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AEED4E-5DEF-4F74-B6BA-79357DD9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813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>
            <a:defPPr algn="l">
              <a:defRPr sz="172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Analytical warehouse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41BDB6-3CC8-4699-AE23-9A142C0E4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95625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>
            <a:defPPr algn="l">
              <a:defRPr sz="13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Star schema, SQL views and OLAP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803095-7A78-49D6-A08A-828661963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57600"/>
            <a:ext cx="49530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0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559586-9234-4D28-A1CD-7BA153C5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4810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474"/>
          </a:bodyPr>
          <a:lstStyle xmlns:a="http://schemas.openxmlformats.org/drawingml/2006/main">
            <a:defPPr algn="l">
              <a:defRPr sz="142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F2A03D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ECAFE4-1ADF-4BD6-AE77-23ABF419D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719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>
            <a:defPPr algn="l">
              <a:defRPr sz="172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Decision dashboard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C30317-4E39-4503-BCBD-4E720DEB0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086225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>
            <a:defPPr algn="l">
              <a:defRPr sz="13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Business KPIs and drill-down filters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A38D30-053B-49D2-A99F-F98DF628F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648200"/>
            <a:ext cx="49530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CE8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9B9CC9-1071-49AC-924C-A52605CE7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83870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474"/>
          </a:bodyPr>
          <a:lstStyle xmlns:a="http://schemas.openxmlformats.org/drawingml/2006/main">
            <a:defPPr algn="l">
              <a:defRPr sz="1425" b="1">
                <a:solidFill>
                  <a:srgbClr val="E65B65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E65B65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E65B65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04A59B-D2D5-4A41-836A-E82B6393F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7625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>
            <a:defPPr algn="l">
              <a:defRPr sz="172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Live order stream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1FB0F8-B3A5-4C1C-83BF-3063FCB4C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076825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>
            <a:defPPr algn="l">
              <a:defRPr sz="13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FastAPI, RabbitMQ, consumer and metrics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1B04F0-BFC2-4333-B200-3964DA21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753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68"/>
          </a:bodyPr>
          <a:lstStyle xmlns:a="http://schemas.openxmlformats.org/drawingml/2006/main">
            <a:defPPr algn="l">
              <a:defRPr sz="1275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Source types: deterministic CSV · public API snapshot · continuous synthetic events</a:t>
            </a:r>
          </a:p>
        </p:txBody>
      </p:sp>
    </p:spTree>
    <p:extLst>
      <p:ext uri="{BB962C8B-B14F-4D97-AF65-F5344CB8AC3E}">
        <p14:creationId xmlns:p14="http://schemas.microsoft.com/office/powerpoint/2010/main" val="2514683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1C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4466D7B-A060-4D00-A465-FB9337C86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2A03D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7B8FDD-E835-4DC0-A4BD-B16EF0454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67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>
            <a:defPPr algn="l">
              <a:defRPr sz="31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31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Batch and streaming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970481-46FA-4CA9-9BE3-4D2669936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4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A82DC0-0DED-4D24-B24C-A3D435483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>
            <a:defPPr algn="l">
              <a:defRPr sz="1050" b="0">
                <a:solidFill>
                  <a:srgbClr val="B7C3D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B7C3D6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B7C3D6"/>
                </a:solidFill>
                <a:latin typeface="Segoe UI"/>
                <a:ea typeface="Segoe UI"/>
                <a:cs typeface="Segoe UI"/>
              </a:rPr>
              <a:t>Presenter: Harsh Birje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844F3A-2C61-4F16-BABD-426E74602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6477000"/>
            <a:ext cx="3771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>
            <a:defPPr algn="r">
              <a:defRPr sz="1050" b="0">
                <a:solidFill>
                  <a:srgbClr val="B7C3D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defRPr sz="1050" b="0">
                <a:solidFill>
                  <a:srgbClr val="B7C3D6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B7C3D6"/>
                </a:solidFill>
                <a:latin typeface="Segoe UI"/>
                <a:ea typeface="Segoe UI"/>
                <a:cs typeface="Segoe UI"/>
              </a:rPr>
              <a:t>E-Commerce Sales Analytics · DuckDB + RabbitMQ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B82F8E-327A-4E75-B1B9-15D8DC7A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>
            <a:defPPr algn="l">
              <a:defRPr sz="1275" b="1">
                <a:solidFill>
                  <a:srgbClr val="16B8A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6B8A6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16B8A6"/>
                </a:solidFill>
                <a:latin typeface="Segoe UI"/>
                <a:ea typeface="Segoe UI"/>
                <a:cs typeface="Segoe UI"/>
              </a:rPr>
              <a:t>BATCH LANE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6CBF4D-F6B0-4C80-B4DB-7BE27146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15049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829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16CF11-8C85-4A1E-9B54-012B09089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127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>
            <a:def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CSV + API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D24567-099F-4908-877A-383533E7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1314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raw inputs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EA1695-18AB-45C6-B576-B6225BC67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009775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07E752-9936-48F8-B892-C95D108AC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943100"/>
            <a:ext cx="1714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16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49F3EF-D648-44F0-B44C-3A338FA8A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600200"/>
            <a:ext cx="15049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829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515BA5-835A-4E64-ADF3-4D2D09777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1714500"/>
            <a:ext cx="127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>
            <a:def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Python + SQL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439DE4-52E0-49E3-92A1-C8B03E9DE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038350"/>
            <a:ext cx="1314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clean and type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B539C1-848C-4555-A66C-8E6BBD523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009775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AE3592-9CFB-4F99-85D5-4D7C1B05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943100"/>
            <a:ext cx="1714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16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0418E7-51F7-4D46-8E2B-DEF4FC67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600200"/>
            <a:ext cx="15049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6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FE3C20-124C-4B3F-AC3D-D2EEA39C8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14500"/>
            <a:ext cx="127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>
            <a:def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DuckDB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7426CE-9736-4D7E-9B95-0C9C49BD6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38350"/>
            <a:ext cx="1314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star schema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CB7DAC-3B6F-45AA-BF2B-0C09395C7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009775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A69DB2-7BA6-45A7-B272-8B307228D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943100"/>
            <a:ext cx="1714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16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3C2238-8A8C-489C-9854-62B5D13DA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00200"/>
            <a:ext cx="15049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829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75D53A-96B9-4732-BF5B-915236701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714500"/>
            <a:ext cx="127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>
            <a:def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Parquet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053D44-B165-4671-B6B6-9F8B4D400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314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year/month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C15C65-A742-4D6A-9D46-ED716D60D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009775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E488A9-0BAF-4616-8D8A-0B7891305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43100"/>
            <a:ext cx="1714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16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FE29ED-CE0F-4C13-A3F1-6E4F36732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600200"/>
            <a:ext cx="15049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829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10EA32-A049-46D5-9FDE-6257F2C6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14500"/>
            <a:ext cx="127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>
            <a:def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SQL views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2B0F7F-28B7-4893-B5DD-99775FCC9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038350"/>
            <a:ext cx="1314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OLAP metrics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7DD546-B60E-4F23-8356-7740A3CF5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09775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066FFA-D131-4369-9C5D-702D58873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43100"/>
            <a:ext cx="1714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16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161A09D-C745-4C9A-9B85-6478EBE27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600200"/>
            <a:ext cx="15049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829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90A73D-0AC6-44B5-B296-7B2C38E67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714500"/>
            <a:ext cx="127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>
            <a:def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Streamlit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91305CC-0D76-4409-A018-9EC4FED61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038350"/>
            <a:ext cx="1314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decisions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CF38D0-0034-42E6-A2CB-0E46AD14F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>
            <a:defPPr algn="l">
              <a:defRPr sz="127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2A03D"/>
                </a:solidFill>
                <a:latin typeface="Segoe UI"/>
                <a:ea typeface="Segoe UI"/>
                <a:cs typeface="Segoe UI"/>
              </a:rPr>
              <a:t>STREAMING LANE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7E8F470-38FC-4AA5-B698-75D616FC1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15049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829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A93BB0D-6B49-4BD8-AAAE-20DB986F7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127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>
            <a:def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Simulator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878236C-AE81-42F0-B36A-9678B6E10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43350"/>
            <a:ext cx="1314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 event/sec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34300DC-B2E0-4899-99E0-E0E615387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914775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AE6490E-8EA4-410F-8002-09E1B4289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848100"/>
            <a:ext cx="1714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5AF3E9E-E5E0-4105-AF9E-D3AD0F5BC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505200"/>
            <a:ext cx="15049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829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C4D6BAF-4BD6-4833-A483-4200B3237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619500"/>
            <a:ext cx="127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>
            <a:def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FastAPI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069F6B7-F085-451A-9C6F-26EDFF3F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43350"/>
            <a:ext cx="1314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validate + 202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F5D9CC8-D474-4D55-9F9A-6ED57ED61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914775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360E22B-CC8E-462F-9F6F-98B84567E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848100"/>
            <a:ext cx="1714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58A6963-EDCB-48EB-B2B1-53DAFDDC2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505200"/>
            <a:ext cx="15049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BDD7E52-2320-4EA7-BFEF-E4465CE20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619500"/>
            <a:ext cx="127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>
            <a:def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RabbitMQ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2ACA68D-464A-4770-BBD6-4FF183A79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943350"/>
            <a:ext cx="1314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durable queue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DA3E8ED-8F2C-437A-BBDA-3A29ECA6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914775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2C7FD0A-F3C4-45C1-9705-27E03EE1B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848100"/>
            <a:ext cx="1714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239E12B-6789-49E8-B351-A1A18DAC8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05200"/>
            <a:ext cx="15049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829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1DDC350-E42A-4F45-A00B-421FD67D5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19500"/>
            <a:ext cx="127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>
            <a:def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Consumer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DA99787-CAD7-4010-B052-067B2A4C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943350"/>
            <a:ext cx="1314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manual ACK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6B86055-B1C0-49C3-9758-5382D158C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914775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9639727-C962-40CD-AFCE-8182CA476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48100"/>
            <a:ext cx="1714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40F2702-DCB7-4005-B9BE-7E94AEC2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505200"/>
            <a:ext cx="15049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829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B8AEE69-5341-4684-956E-9AAAA4A8A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19500"/>
            <a:ext cx="127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>
            <a:def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DuckDB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16B1DCD-CDF4-440E-A3EC-B2CAC5CC5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943350"/>
            <a:ext cx="1314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803"/>
          </a:bodyPr>
          <a:lstStyle xmlns:a="http://schemas.openxmlformats.org/drawingml/2006/main">
            <a:def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idempotent stage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53783EB-4B0D-4E95-9AD5-79A2E92E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914775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C2B0104-574F-4542-A95D-6ED26E53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848100"/>
            <a:ext cx="1714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AAA6597-D708-4326-A356-3B7304ED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505200"/>
            <a:ext cx="15049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829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BC09E3F-2C73-4D6D-AA88-BF9AFCF88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619500"/>
            <a:ext cx="127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>
            <a:def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Streamlit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3E9F04C-E21F-4887-94DB-D3D205D5F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943350"/>
            <a:ext cx="1314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 sec refresh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559F2BC-E9C4-4671-97F6-FFA4D51B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6489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223651"/>
          </a:solidFill>
          <a:ln xmlns:a="http://schemas.openxmlformats.org/drawingml/2006/main" w="9525">
            <a:solidFill>
              <a:srgbClr val="344B6B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B512167-9A4D-4A01-B265-6703F4C2C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016"/>
          </a:bodyPr>
          <a:lstStyle xmlns:a="http://schemas.openxmlformats.org/drawingml/2006/main">
            <a:defPPr algn="l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Shared outcome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324DDBB-99CC-441B-B646-71160672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105400"/>
            <a:ext cx="8343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>
            <a:defPPr algn="l">
              <a:defRPr sz="1650" b="0">
                <a:solidFill>
                  <a:srgbClr val="D7E0EC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D7E0EC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D7E0EC"/>
                </a:solidFill>
                <a:latin typeface="Segoe UI"/>
                <a:ea typeface="Segoe UI"/>
                <a:cs typeface="Segoe UI"/>
              </a:rPr>
              <a:t>Historical context and new order activity meet in one dashboard. Separate DuckDB files avoid concurrent write contention between the batch warehouse and the streaming stage.</a:t>
            </a:r>
          </a:p>
        </p:txBody>
      </p:sp>
    </p:spTree>
    <p:extLst>
      <p:ext uri="{BB962C8B-B14F-4D97-AF65-F5344CB8AC3E}">
        <p14:creationId xmlns:p14="http://schemas.microsoft.com/office/powerpoint/2010/main" val="16403520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007E1B1-2BB0-413C-B322-ED9211A7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2A03D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DA6C1B-4B63-49E7-A766-E65C541BB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67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>
            <a:defPPr algn="l">
              <a:defRPr sz="31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3150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Exploration, cleaning and quality controls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B4691D-D5E0-4CC4-9C02-43B3720EF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0FDBB6-5450-4FAA-91FC-5B9FC0F4E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>
            <a:defPPr algn="l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Presenter: Aayush Chavanke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ABD827-CC4C-4647-8BCB-A3CC5F988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6477000"/>
            <a:ext cx="3771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>
            <a:defPPr algn="r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E-Commerce Sales Analytics · DuckDB + RabbitMQ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F3D26D-4587-4A4E-B212-D596E0015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1795"/>
          </a:bodyPr>
          <a:lstStyle xmlns:a="http://schemas.openxmlformats.org/drawingml/2006/main">
            <a:def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Row movement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38C112-D006-48D2-B85A-9CCA8D86A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4095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5267D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C91349-A6B1-4D91-8CC2-AE666CB8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155638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33"/>
          </a:bodyPr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250,250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295382-4F2B-41D8-9F87-27BBABE82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5985" y="1733550"/>
            <a:ext cx="237553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>
            <a:defPPr algn="ctr">
              <a:defRPr sz="13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raw CSV rows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8F4120-B38D-4458-BFAC-6AF10C957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81250"/>
            <a:ext cx="352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6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7208CE-2F37-429B-9B2D-A5510D15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57450"/>
            <a:ext cx="133921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33"/>
          </a:bodyPr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250,000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47D46F-0A9A-4B89-89EC-D7C00FEEE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4565" y="2476500"/>
            <a:ext cx="204406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>
            <a:defPPr algn="ctr">
              <a:defRPr sz="13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typed after deduplication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3DDF20-8029-47DA-A653-5DD190BA5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3124200"/>
            <a:ext cx="3048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D9D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3BB0AA-875D-407D-BD28-077BD7F91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3200400"/>
            <a:ext cx="11582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33"/>
          </a:bodyPr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248,555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C7B7D8-3B77-4E07-BC82-2A90335B0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1715" y="3219450"/>
            <a:ext cx="176784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>
            <a:defPPr algn="ctr">
              <a:defRPr sz="13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accepted fact rows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E47F0C-206A-4763-8938-0386571B7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67150"/>
            <a:ext cx="2000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6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242F2F-CF5A-4FF5-9C6E-ACFFF9A26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943350"/>
            <a:ext cx="76009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33"/>
          </a:bodyPr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1,445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5302F1-D643-4CEA-B2A5-F2A8B7ECB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445" y="3962400"/>
            <a:ext cx="116014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1036"/>
          </a:bodyPr>
          <a:lstStyle xmlns:a="http://schemas.openxmlformats.org/drawingml/2006/main">
            <a:defPPr algn="ctr">
              <a:defRPr sz="13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rejected with reasons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6C6B07-E1F6-4EAF-BFC8-4C67E40C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406"/>
          </a:bodyPr>
          <a:lstStyle xmlns:a="http://schemas.openxmlformats.org/drawingml/2006/main">
            <a:defPPr algn="ctr">
              <a:defRPr sz="1725" b="1">
                <a:solidFill>
                  <a:srgbClr val="E65B65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E65B65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E65B65"/>
                </a:solidFill>
                <a:latin typeface="Segoe UI"/>
                <a:ea typeface="Segoe UI"/>
                <a:cs typeface="Segoe UI"/>
              </a:rPr>
              <a:t>0.58% of typed rows were rejected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F9D5DD-B839-447B-BF35-1931F8E40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>
            <a:defPPr algn="l">
              <a:defRPr sz="150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Build 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8D97C7-3B29-4FF6-9317-5FB5F4112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>
            <a:defPPr algn="l">
              <a:defRPr sz="13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7.061 s build · 22.012 MB DuckDB · 6.666 MB Parquet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DE65BD-7585-4D06-B4F1-18F7A6ED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1811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1795"/>
          </a:bodyPr>
          <a:lstStyle xmlns:a="http://schemas.openxmlformats.org/drawingml/2006/main">
            <a:def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Rules applied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881D0B-E39E-4673-9AD0-618901CE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581150"/>
            <a:ext cx="5905500" cy="24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50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0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Trim text and standardize region, channel, category and status labels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0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Use TRY_CAST so invalid dates and numbers become detectable nulls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0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Remove duplicate line IDs with ROW_NUMBER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0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Reject missing keys, quantities outside 1–20, nonpositive prices and discounts outside 0–80%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0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Preserve every failed row with a readable rejection reason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02A293-D22C-4F4E-A1A3-CA438D0EF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171950"/>
            <a:ext cx="590550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101C33"/>
          </a:solidFill>
          <a:ln xmlns:a="http://schemas.openxmlformats.org/drawingml/2006/main" w="9525">
            <a:solidFill>
              <a:srgbClr val="2A3B5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19BCD0-6039-4ACA-B052-34E79F950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171950"/>
            <a:ext cx="5715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B40B62-72B5-4B4D-8E5D-BBF2FF812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324350"/>
            <a:ext cx="55626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TRY_CAST(order_date AS TIMESTAMP)</a:t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QUALIFY ROW_NUMBER() OVER (PARTITION BY line_id) = 1</a:t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WHERE quantity BETWEEN 1 AND 20</a:t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  AND unit_price &gt; 0</a:t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  AND discount_pct BETWEEN 0 AND 80</a:t>
            </a:r>
          </a:p>
        </p:txBody>
      </p:sp>
    </p:spTree>
    <p:extLst>
      <p:ext uri="{BB962C8B-B14F-4D97-AF65-F5344CB8AC3E}">
        <p14:creationId xmlns:p14="http://schemas.microsoft.com/office/powerpoint/2010/main" val="20901883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2C45D4A-C129-4624-84E6-DFE7A7A9D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2A03D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8BEE0F-E03C-4644-B5FE-BF408E92E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67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>
            <a:defPPr algn="l">
              <a:defRPr sz="31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3150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Warehouse model and ETL grain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857086-A898-4BFE-8166-A2D96C9DB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614862-4427-4FAB-80E9-262D9F69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>
            <a:defPPr algn="l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Presenter: Aayush Chavanke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7A520C-7E1C-4A95-93ED-5940671A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6477000"/>
            <a:ext cx="3771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>
            <a:defPPr algn="r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E-Commerce Sales Analytics · DuckDB + RabbitMQ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1AE794-C632-445E-A101-EE726C81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667"/>
          </a:bodyPr>
          <a:lstStyle xmlns:a="http://schemas.openxmlformats.org/drawingml/2006/main">
            <a:defPPr algn="l">
              <a:defRPr sz="1875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Analytical star schema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87D152-85FD-4423-A42A-7419D046C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43000"/>
            <a:ext cx="5257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>
            <a:defPPr algn="r">
              <a:defRPr sz="1125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1 : many joins · PK = primary key · FK = foreign key · DD = degenerate dimension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62728E-EF0A-4FEF-A59A-4D0E828A1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2857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EB8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EC4FD-92DD-4E29-B3F5-270B545F9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2857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267D7"/>
          </a:solidFill>
          <a:ln xmlns:a="http://schemas.openxmlformats.org/drawingml/2006/main" w="9525">
            <a:solidFill>
              <a:srgbClr val="5267D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C68D9-9EE7-4602-97F0-34113ACE4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28775"/>
            <a:ext cx="2514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158"/>
          </a:bodyPr>
          <a:lstStyle xmlns:a="http://schemas.openxmlformats.org/drawingml/2006/main">
            <a:defPPr algn="l">
              <a:defRPr sz="142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DIM_DATE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AC29B1-C9A2-461D-A559-A999FA193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25146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PK  date_key</a:t>
            </a:r>
          </a:p>
          <a:p xmlns:a="http://schemas.openxmlformats.org/drawingml/2006/main">
            <a:pPr algn="l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     full_date</a:t>
            </a:r>
          </a:p>
          <a:p xmlns:a="http://schemas.openxmlformats.org/drawingml/2006/main">
            <a:pPr algn="l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     year · quarter · month</a:t>
            </a:r>
          </a:p>
          <a:p xmlns:a="http://schemas.openxmlformats.org/drawingml/2006/main">
            <a:pPr algn="l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     week_of_year · day_of_week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93FE27-95B3-434C-AC3A-818E73BFA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2857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82DA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CE627E-0D27-4B3B-8ED8-99E5A5813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2857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6B8A6"/>
          </a:solidFill>
          <a:ln xmlns:a="http://schemas.openxmlformats.org/drawingml/2006/main" w="9525">
            <a:solidFill>
              <a:srgbClr val="16B8A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A9EBDE-8D2D-4972-99EB-1AA844F5B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09975"/>
            <a:ext cx="2514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158"/>
          </a:bodyPr>
          <a:lstStyle xmlns:a="http://schemas.openxmlformats.org/drawingml/2006/main">
            <a:defPPr algn="l">
              <a:defRPr sz="142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DIM_CUSTOMER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1A2403-4ED1-4914-89E0-94B5CD574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81450"/>
            <a:ext cx="25146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PK  customer_key</a:t>
            </a:r>
          </a:p>
          <a:p xmlns:a="http://schemas.openxmlformats.org/drawingml/2006/main">
            <a:pPr algn="l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     customer_id</a:t>
            </a:r>
          </a:p>
          <a:p xmlns:a="http://schemas.openxmlformats.org/drawingml/2006/main">
            <a:pPr algn="l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     customer_segment</a:t>
            </a:r>
          </a:p>
          <a:p xmlns:a="http://schemas.openxmlformats.org/drawingml/2006/main">
            <a:pPr algn="l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     region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1A6089-6C7A-4406-A363-852B46348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95500"/>
            <a:ext cx="35433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101C33"/>
          </a:solidFill>
          <a:ln xmlns:a="http://schemas.openxmlformats.org/drawingml/2006/main" w="9525">
            <a:solidFill>
              <a:srgbClr val="101C3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E8D7BB-32D1-4A2D-B793-0D43E80E0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95500"/>
            <a:ext cx="762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AED444-B6C0-40A7-B576-8015E3C22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2885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667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FACT_SALES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521BA9-20A6-4AAA-98B7-4A10969D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59080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>
            <a:defPPr algn="l">
              <a:defRPr sz="1200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F2A03D"/>
                </a:solidFill>
                <a:latin typeface="Segoe UI"/>
                <a:ea typeface="Segoe UI"/>
                <a:cs typeface="Segoe UI"/>
              </a:rPr>
              <a:t>GRAIN  one accepted order line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1A6B69-7F9E-49AE-8BF2-36FBE4794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52750"/>
            <a:ext cx="1524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EAF0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EAF0F8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EAF0F8"/>
                </a:solidFill>
                <a:latin typeface="Segoe UI"/>
                <a:ea typeface="Segoe UI"/>
                <a:cs typeface="Segoe UI"/>
              </a:rPr>
              <a:t>PK   line_id</a:t>
            </a:r>
          </a:p>
          <a:p xmlns:a="http://schemas.openxmlformats.org/drawingml/2006/main">
            <a:pPr algn="l">
              <a:defRPr sz="1200" b="0">
                <a:solidFill>
                  <a:srgbClr val="EAF0F8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EAF0F8"/>
                </a:solidFill>
                <a:latin typeface="Segoe UI"/>
                <a:ea typeface="Segoe UI"/>
                <a:cs typeface="Segoe UI"/>
              </a:rPr>
              <a:t>DD   order_id · order_date</a:t>
            </a:r>
          </a:p>
          <a:p xmlns:a="http://schemas.openxmlformats.org/drawingml/2006/main">
            <a:pPr algn="l">
              <a:defRPr sz="1200" b="0">
                <a:solidFill>
                  <a:srgbClr val="EAF0F8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EAF0F8"/>
                </a:solidFill>
                <a:latin typeface="Segoe UI"/>
                <a:ea typeface="Segoe UI"/>
                <a:cs typeface="Segoe UI"/>
              </a:rPr>
              <a:t>FK   date_key</a:t>
            </a:r>
          </a:p>
          <a:p xmlns:a="http://schemas.openxmlformats.org/drawingml/2006/main">
            <a:pPr algn="l">
              <a:defRPr sz="1200" b="0">
                <a:solidFill>
                  <a:srgbClr val="EAF0F8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EAF0F8"/>
                </a:solidFill>
                <a:latin typeface="Segoe UI"/>
                <a:ea typeface="Segoe UI"/>
                <a:cs typeface="Segoe UI"/>
              </a:rPr>
              <a:t>FK   customer_key</a:t>
            </a:r>
          </a:p>
          <a:p xmlns:a="http://schemas.openxmlformats.org/drawingml/2006/main">
            <a:pPr algn="l">
              <a:defRPr sz="1200" b="0">
                <a:solidFill>
                  <a:srgbClr val="EAF0F8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EAF0F8"/>
                </a:solidFill>
                <a:latin typeface="Segoe UI"/>
                <a:ea typeface="Segoe UI"/>
                <a:cs typeface="Segoe UI"/>
              </a:rPr>
              <a:t>FK   product_key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8430DB-ABC6-4225-A527-07F7AEE6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952750"/>
            <a:ext cx="15240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722"/>
          </a:bodyPr>
          <a:lstStyle xmlns:a="http://schemas.openxmlformats.org/drawingml/2006/main">
            <a:defPPr algn="l">
              <a:defRPr sz="1125" b="0">
                <a:solidFill>
                  <a:srgbClr val="EAF0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EAF0F8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EAF0F8"/>
                </a:solidFill>
                <a:latin typeface="Segoe UI"/>
                <a:ea typeface="Segoe UI"/>
                <a:cs typeface="Segoe UI"/>
              </a:rPr>
              <a:t>MEASURES</a:t>
            </a:r>
          </a:p>
          <a:p xmlns:a="http://schemas.openxmlformats.org/drawingml/2006/main">
            <a:pPr algn="l">
              <a:defRPr sz="1125" b="0">
                <a:solidFill>
                  <a:srgbClr val="EAF0F8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EAF0F8"/>
                </a:solidFill>
                <a:latin typeface="Segoe UI"/>
                <a:ea typeface="Segoe UI"/>
                <a:cs typeface="Segoe UI"/>
              </a:rPr>
              <a:t>quantity · unit_price</a:t>
            </a:r>
          </a:p>
          <a:p xmlns:a="http://schemas.openxmlformats.org/drawingml/2006/main">
            <a:pPr algn="l">
              <a:defRPr sz="1125" b="0">
                <a:solidFill>
                  <a:srgbClr val="EAF0F8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EAF0F8"/>
                </a:solidFill>
                <a:latin typeface="Segoe UI"/>
                <a:ea typeface="Segoe UI"/>
                <a:cs typeface="Segoe UI"/>
              </a:rPr>
              <a:t>gross_amount · net_revenue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>
                <a:solidFill>
                  <a:srgbClr val="EAF0F8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EAF0F8"/>
                </a:solidFill>
                <a:latin typeface="Segoe UI"/>
                <a:ea typeface="Segoe UI"/>
                <a:cs typeface="Segoe UI"/>
              </a:rPr>
              <a:t>ATTRIBUTES</a:t>
            </a:r>
          </a:p>
          <a:p xmlns:a="http://schemas.openxmlformats.org/drawingml/2006/main">
            <a:pPr algn="l">
              <a:defRPr sz="1125" b="0">
                <a:solidFill>
                  <a:srgbClr val="EAF0F8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EAF0F8"/>
                </a:solidFill>
                <a:latin typeface="Segoe UI"/>
                <a:ea typeface="Segoe UI"/>
                <a:cs typeface="Segoe UI"/>
              </a:rPr>
              <a:t>channel · payment · status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052B90-E1FA-4AE3-8DC5-487CDDAE7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243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>
            <a:defPPr algn="ctr">
              <a:defRPr sz="1275" b="1">
                <a:solidFill>
                  <a:srgbClr val="16B8A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75" b="1">
                <a:solidFill>
                  <a:srgbClr val="16B8A6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16B8A6"/>
                </a:solidFill>
                <a:latin typeface="Segoe UI"/>
                <a:ea typeface="Segoe UI"/>
                <a:cs typeface="Segoe UI"/>
              </a:rPr>
              <a:t>248,555 trusted rows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49FDEC-1747-4DDC-8A14-4DE5AB0D0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562100"/>
            <a:ext cx="2857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4C37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2D54C8-D4AC-4FC1-9062-86EE7E991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562100"/>
            <a:ext cx="2857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2A03D"/>
          </a:solidFill>
          <a:ln xmlns:a="http://schemas.openxmlformats.org/drawingml/2006/main" w="9525">
            <a:solidFill>
              <a:srgbClr val="F2A03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A518A3-07C4-4D64-B17D-1848534B5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628775"/>
            <a:ext cx="2514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158"/>
          </a:bodyPr>
          <a:lstStyle xmlns:a="http://schemas.openxmlformats.org/drawingml/2006/main">
            <a:defPPr algn="l">
              <a:defRPr sz="142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DIM_PRODUCT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0983AA-17AD-4387-9E11-3EB6FBA96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000250"/>
            <a:ext cx="25146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PK  product_key</a:t>
            </a:r>
          </a:p>
          <a:p xmlns:a="http://schemas.openxmlformats.org/drawingml/2006/main">
            <a:pPr algn="l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     product_id</a:t>
            </a:r>
          </a:p>
          <a:p xmlns:a="http://schemas.openxmlformats.org/drawingml/2006/main">
            <a:pPr algn="l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     product_name</a:t>
            </a:r>
          </a:p>
          <a:p xmlns:a="http://schemas.openxmlformats.org/drawingml/2006/main">
            <a:pPr algn="l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     category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D64049-2881-4A46-8206-38B29F30E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543300"/>
            <a:ext cx="2857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CE8EA"/>
          </a:solidFill>
          <a:ln xmlns:a="http://schemas.openxmlformats.org/drawingml/2006/main" w="14288">
            <a:solidFill>
              <a:srgbClr val="F3ABB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6B6675-A3A3-4119-BE82-958847387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543300"/>
            <a:ext cx="2857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65B65"/>
          </a:solidFill>
          <a:ln xmlns:a="http://schemas.openxmlformats.org/drawingml/2006/main" w="9525">
            <a:solidFill>
              <a:srgbClr val="E65B6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C7E258-67C7-41E0-BB54-BA2019F83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609975"/>
            <a:ext cx="2514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158"/>
          </a:bodyPr>
          <a:lstStyle xmlns:a="http://schemas.openxmlformats.org/drawingml/2006/main">
            <a:defPPr algn="l">
              <a:defRPr sz="142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REJECTED_ORDERS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A0918C-33D4-481D-8EF0-348A1C8D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81450"/>
            <a:ext cx="25146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556"/>
          </a:bodyPr>
          <a:lstStyle xmlns:a="http://schemas.openxmlformats.org/drawingml/2006/main">
            <a:defPPr algn="l">
              <a:defRPr sz="1125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line_id · original values</a:t>
            </a:r>
          </a:p>
          <a:p xmlns:a="http://schemas.openxmlformats.org/drawingml/2006/main">
            <a:pPr algn="l">
              <a:defRPr sz="1125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rejection_reason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QUALITY SIDE OUTPUT</a:t>
            </a:r>
          </a:p>
          <a:p xmlns:a="http://schemas.openxmlformats.org/drawingml/2006/main">
            <a:pPr algn="l">
              <a:defRPr sz="1125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Excluded from analytical KPIs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73241F-9D1B-43FE-8EDD-31665289A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266950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7D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58D6E6A-065D-45A1-9750-CD0997FFF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009775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4997"/>
          </a:bodyPr>
          <a:lstStyle xmlns:a="http://schemas.openxmlformats.org/drawingml/2006/main">
            <a:defPPr algn="ctr">
              <a:defRPr sz="1125" b="1">
                <a:solidFill>
                  <a:srgbClr val="5267D7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5267D7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5267D7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AED929-4D59-4E04-AE12-598C85181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009775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3692"/>
          </a:bodyPr>
          <a:lstStyle xmlns:a="http://schemas.openxmlformats.org/drawingml/2006/main">
            <a:defPPr algn="ctr">
              <a:defRPr sz="1425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∞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1A790BB-A8C7-4D55-981A-E0DDDE6DD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343150"/>
            <a:ext cx="781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>
            <a:defPPr algn="ctr">
              <a:defRPr sz="975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75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date_key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8EE34DC-BD9D-4F4B-A5DC-7D3F0D518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248150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982AA5-FA02-4518-B77A-BBF180EA9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990975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4997"/>
          </a:bodyPr>
          <a:lstStyle xmlns:a="http://schemas.openxmlformats.org/drawingml/2006/main">
            <a:defPPr algn="ctr">
              <a:defRPr sz="1125" b="1">
                <a:solidFill>
                  <a:srgbClr val="16B8A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16B8A6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16B8A6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2DB380-D0B8-41C6-A96A-306FD5174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990975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3692"/>
          </a:bodyPr>
          <a:lstStyle xmlns:a="http://schemas.openxmlformats.org/drawingml/2006/main">
            <a:defPPr algn="ctr">
              <a:defRPr sz="1425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∞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B71AE3C-5EDB-49C0-B55E-C7058632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324350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>
            <a:defPPr algn="ctr">
              <a:defRPr sz="90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90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customer_key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561AA90-9DD6-47CF-95B3-B6354CE65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66950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D6C93CD-41BC-4FD8-9D13-AB047F03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09775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3692"/>
          </a:bodyPr>
          <a:lstStyle xmlns:a="http://schemas.openxmlformats.org/drawingml/2006/main">
            <a:defPPr algn="ctr">
              <a:defRPr sz="1425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∞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6380F86-E24C-4A37-82A7-9C0FFF898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009775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4997"/>
          </a:bodyPr>
          <a:lstStyle xmlns:a="http://schemas.openxmlformats.org/drawingml/2006/main">
            <a:defPPr algn="ctr">
              <a:defRPr sz="112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F2A03D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83EC0EC-6854-42A2-8159-AE8C913B6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343150"/>
            <a:ext cx="781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>
            <a:defPPr algn="ctr">
              <a:defRPr sz="90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90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product_key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91E9A7F-80E6-475A-A8EA-C847F605D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A9568B5-2CF1-40A7-BB6C-E198D31C3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102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4583"/>
          </a:bodyPr>
          <a:lstStyle xmlns:a="http://schemas.openxmlformats.org/drawingml/2006/main">
            <a:defPPr algn="l">
              <a:defRPr sz="1200" b="1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ETL FLOW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617DE38-C4FE-468E-ABBF-DBDB837ED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81625"/>
            <a:ext cx="1524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EB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3B4DB0E-F636-4688-A50F-E53613039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495925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>
            <a:defPPr algn="ctr">
              <a:defRPr sz="157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raw_orders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99FC168-D716-4B2D-861E-95E4F11F8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819775"/>
            <a:ext cx="133350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"/>
          </a:bodyPr>
          <a:lstStyle xmlns:a="http://schemas.openxmlformats.org/drawingml/2006/main">
            <a:defPPr algn="ctr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CSV landing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0987675-8A88-4C83-9EE0-34D003597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48325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7D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D3CECF8-B2AD-4008-897C-A3B80F64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581650"/>
            <a:ext cx="1714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5267D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B7DFBDC-BD77-4323-B084-B5F629DA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381625"/>
            <a:ext cx="16573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DDF6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74CD69A-9A50-4B82-AA1B-729193721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49592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>
            <a:defPPr algn="ctr">
              <a:defRPr sz="157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stg_orders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27837F3-1976-4E29-A017-39B542A16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819775"/>
            <a:ext cx="146685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"/>
          </a:bodyPr>
          <a:lstStyle xmlns:a="http://schemas.openxmlformats.org/drawingml/2006/main">
            <a:defPPr algn="ctr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typed + deduped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C63682F-5AB0-40DD-88FF-03346D32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648325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C22F205-8584-4D0C-AE32-9AC4FB0DE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581650"/>
            <a:ext cx="1714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16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337BB84-CEA6-4F06-B2CD-88D320E68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5381625"/>
            <a:ext cx="16573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3E7C39A-9DD9-42AC-A314-2F705C17A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49592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>
            <a:defPPr algn="ctr">
              <a:defRPr sz="157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dimensions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99E2E17-0C4D-4ADF-B2A8-8A7DFD516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819775"/>
            <a:ext cx="146685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"/>
          </a:bodyPr>
          <a:lstStyle xmlns:a="http://schemas.openxmlformats.org/drawingml/2006/main">
            <a:defPPr algn="ctr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surrogate keys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22B01B0-989A-414E-B728-B6CBC165B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648325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10B3E40-B99B-4B1D-9140-3288CBD4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581650"/>
            <a:ext cx="1714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71C56D5-4929-43ED-A764-B906EDFF2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381625"/>
            <a:ext cx="1524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01C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3997A9F-4AAB-479C-9E29-3C182225F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495925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>
            <a:def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fact_sales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B282AA0-A15F-4F1E-AC3A-6F2CD053B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819775"/>
            <a:ext cx="133350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"/>
          </a:bodyPr>
          <a:lstStyle xmlns:a="http://schemas.openxmlformats.org/drawingml/2006/main">
            <a:def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clean metrics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110EDDE-F10D-4BD8-894F-5B3B1E986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648325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7D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6282E9D-5C30-412C-AAD7-69342B0AE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5581650"/>
            <a:ext cx="1714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5267D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426D507-0E49-491E-81B3-F22E616D6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5381625"/>
            <a:ext cx="1104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EB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5C3589C-3B85-4D3B-A87E-3A11F4E5E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5495925"/>
            <a:ext cx="87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>
            <a:defPPr algn="ctr">
              <a:defRPr sz="157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Parquet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D09D6D0-9FF5-453E-8335-A989CC07F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819775"/>
            <a:ext cx="91440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"/>
          </a:bodyPr>
          <a:lstStyle xmlns:a="http://schemas.openxmlformats.org/drawingml/2006/main">
            <a:defPPr algn="ctr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ZSTD · year/month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4A5607B-59E2-4843-AA7C-E423D27F6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981700"/>
            <a:ext cx="4000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0256"/>
          </a:bodyPr>
          <a:lstStyle xmlns:a="http://schemas.openxmlformats.org/drawingml/2006/main">
            <a:defPPr algn="l">
              <a:defRPr sz="975" b="0">
                <a:solidFill>
                  <a:srgbClr val="E65B65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E65B65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E65B65"/>
                </a:solidFill>
                <a:latin typeface="Segoe UI"/>
                <a:ea typeface="Segoe UI"/>
                <a:cs typeface="Segoe UI"/>
              </a:rPr>
              <a:t>Failed rules branch from stg_orders → rejected_orders</a:t>
            </a:r>
          </a:p>
        </p:txBody>
      </p:sp>
    </p:spTree>
    <p:extLst>
      <p:ext uri="{BB962C8B-B14F-4D97-AF65-F5344CB8AC3E}">
        <p14:creationId xmlns:p14="http://schemas.microsoft.com/office/powerpoint/2010/main" val="8636491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4BE7D5-54F6-4F69-B3B0-D2604EB3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2A03D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CF0A98-C6DD-4213-AC88-59A148864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67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>
            <a:defPPr algn="l">
              <a:defRPr sz="31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3150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Reusable metrics and OLAP SQL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665AC8-EF5A-4FC5-82A6-42B47C86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0CE519-0FA7-4B11-B0BA-F96A4ADCB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>
            <a:defPPr algn="l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Presenter: Aayush Chavanke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05A9E0-28DC-49A3-8631-48DEB03F4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6477000"/>
            <a:ext cx="3771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>
            <a:defPPr algn="r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E-Commerce Sales Analytics · DuckDB + RabbitMQ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97C552-CD01-40FF-A9D8-DCAC45FF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>
            <a:def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Views hide repeated business logic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C150D5-A13B-489F-95ED-38EC4F2EE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762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CE71A4-51E9-44D0-992A-EF2D5D9C2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7640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9697"/>
          </a:bodyPr>
          <a:lstStyle xmlns:a="http://schemas.openxmlformats.org/drawingml/2006/main">
            <a:defPPr algn="l">
              <a:defRPr sz="16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vw_daily_revenue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E40910-955C-47B3-A760-9062922D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>
            <a:defPPr algn="l">
              <a:defRPr sz="13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date · revenue · orders · customers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DD8CD3-C792-48A6-9E2F-F48FE760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762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7D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ECE7F3-3B72-4B74-87AD-43FD89C9D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9697"/>
          </a:bodyPr>
          <a:lstStyle xmlns:a="http://schemas.openxmlformats.org/drawingml/2006/main">
            <a:defPPr algn="l">
              <a:defRPr sz="16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vw_monthly_growth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0E82A8-6E21-41F3-84A3-55278E1C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>
            <a:defPPr algn="l">
              <a:defRPr sz="13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LAG revenue · month-over-month growth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13B457-F745-474A-B6CD-11B56A4F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762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673949-2F5A-418F-8B99-371BCEFC6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9697"/>
          </a:bodyPr>
          <a:lstStyle xmlns:a="http://schemas.openxmlformats.org/drawingml/2006/main">
            <a:defPPr algn="l">
              <a:defRPr sz="16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vw_repeat_customer_pct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997727-A4CD-4418-AC6F-E62C51D92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>
            <a:defPPr algn="l">
              <a:defRPr sz="13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customers with more than one realized order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4FFB55-2B20-4E78-B268-2AA2B82E2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1795"/>
          </a:bodyPr>
          <a:lstStyle xmlns:a="http://schemas.openxmlformats.org/drawingml/2006/main">
            <a:def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Analytical patterns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6F8B8C-1FA0-4E3E-A648-52E2CBB3B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961"/>
          </a:bodyPr>
          <a:lstStyle xmlns:a="http://schemas.openxmlformats.org/drawingml/2006/main">
            <a:defPPr algn="l">
              <a:defRPr sz="165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ROLLUP adds hierarchical subtotals. CUBE returns every dimension combination. GROUPING SETS calculates selected detail and total levels in one query.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CD0863-EF05-4EBF-8DAC-809B824B4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352550"/>
            <a:ext cx="5619750" cy="2895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1C33"/>
          </a:solidFill>
          <a:ln xmlns:a="http://schemas.openxmlformats.org/drawingml/2006/main" w="9525">
            <a:solidFill>
              <a:srgbClr val="2A3B5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EB1302-03D0-420D-8559-7738F434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352550"/>
            <a:ext cx="5715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7D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EF40B8-F285-47B0-8873-8FC396010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504950"/>
            <a:ext cx="527685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LAG(revenue) OVER (ORDER BY sales_month)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GROUP BY CUBE (region, sales_channel)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GROUP BY GROUPING SETS (</a:t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  (region, category), (region), (category), ()</a:t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679BE7-B90C-4DE7-A091-BDC443DC5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514850"/>
            <a:ext cx="5619750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1829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042659-E7D9-4BD8-929F-94C5D5760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705350"/>
            <a:ext cx="161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314"/>
          </a:bodyPr>
          <a:lstStyle xmlns:a="http://schemas.openxmlformats.org/drawingml/2006/main">
            <a:defPPr algn="l">
              <a:defRPr sz="25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$28.777M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F09578-16FB-4F37-9E5E-E51E29C5B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5143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>
            <a:defPPr algn="l">
              <a:defRPr sz="1275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realized revenue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5DA269-C621-42DC-B09F-A4DCB0B92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053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314"/>
          </a:bodyPr>
          <a:lstStyle xmlns:a="http://schemas.openxmlformats.org/drawingml/2006/main">
            <a:defPPr algn="l">
              <a:defRPr sz="2550" b="1">
                <a:solidFill>
                  <a:srgbClr val="16B8A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6B8A6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16B8A6"/>
                </a:solidFill>
                <a:latin typeface="Segoe UI"/>
                <a:ea typeface="Segoe UI"/>
                <a:cs typeface="Segoe UI"/>
              </a:rPr>
              <a:t>77.51%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97097E-26F3-4A19-8615-A8884D50C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1435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>
            <a:defPPr algn="l">
              <a:defRPr sz="1275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repeat customers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BDBBDE-29DF-46CF-AFE7-E3D0EDCA7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70535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314"/>
          </a:bodyPr>
          <a:lstStyle xmlns:a="http://schemas.openxmlformats.org/drawingml/2006/main">
            <a:defPPr algn="l">
              <a:defRPr sz="2550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F2A03D"/>
                </a:solidFill>
                <a:latin typeface="Segoe UI"/>
                <a:ea typeface="Segoe UI"/>
                <a:cs typeface="Segoe UI"/>
              </a:rPr>
              <a:t>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F2A7A1-510C-48EF-AECF-9433B49BE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14350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>
            <a:defPPr algn="ctr">
              <a:defRPr sz="1275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75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grouping rows</a:t>
            </a:r>
          </a:p>
        </p:txBody>
      </p:sp>
    </p:spTree>
    <p:extLst>
      <p:ext uri="{BB962C8B-B14F-4D97-AF65-F5344CB8AC3E}">
        <p14:creationId xmlns:p14="http://schemas.microsoft.com/office/powerpoint/2010/main" val="10748470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435AE6-DDDB-4120-BD8B-EC37EB23C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2A03D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259970-8A65-415D-9BA7-824F972CD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67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>
            <a:defPPr algn="l">
              <a:defRPr sz="31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3150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Performance engineering and measured results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5BDA54-6B25-4AA5-A5AB-0516C2243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C948E5-A8CD-4C40-B3F2-1C260C4F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>
            <a:defPPr algn="l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Presenter: Aniket Nikam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D82C17-AE49-40EA-8690-7E8EB3786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6477000"/>
            <a:ext cx="3771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>
            <a:defPPr algn="r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E-Commerce Sales Analytics · DuckDB + RabbitMQ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341F6C-1940-4B31-BA9F-6F16B7A09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504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778"/>
          </a:bodyPr>
          <a:lstStyle xmlns:a="http://schemas.openxmlformats.org/drawingml/2006/main">
            <a:defPPr algn="l">
              <a:defRPr sz="180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Same aggregation, lower is better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077A3E34-822D-47E5-B827-9C30D6228530}"/>
              </a:ext>
            </a:extLst>
          </p:cNvPr>
          <p:cNvGraphicFramePr/>
          <p:nvPr/>
        </p:nvGraphicFramePr>
        <p:xfrm>
          <a:off xmlns:a="http://schemas.openxmlformats.org/drawingml/2006/main" x="533400" y="1543050"/>
          <a:ext xmlns:a="http://schemas.openxmlformats.org/drawingml/2006/main" cx="7239000" cy="3943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afb0e5f3006447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EB8960-9B0D-48C6-9B8B-C0C730C4C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352550"/>
            <a:ext cx="1905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743388-1F92-4B2D-8537-82913015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3525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1795"/>
          </a:bodyPr>
          <a:lstStyle xmlns:a="http://schemas.openxmlformats.org/drawingml/2006/main">
            <a:def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What changed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8C422C-5E33-4BBF-BB98-7AFFB3D4E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809750"/>
            <a:ext cx="29527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582"/>
          </a:bodyPr>
          <a:lstStyle xmlns:a="http://schemas.openxmlformats.org/drawingml/2006/main">
            <a:defPPr>
              <a:defRPr sz="150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228600" indent="-114300">
              <a:spcAft>
                <a:spcPts val="700"/>
              </a:spcAft>
              <a:buChar char="•"/>
              <a:defRPr sz="150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0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ZSTD Parquet partitions by year and month</a:t>
            </a:r>
          </a:p>
          <a:p xmlns:a="http://schemas.openxmlformats.org/drawingml/2006/main">
            <a:pPr marL="228600" indent="-114300">
              <a:spcAft>
                <a:spcPts val="700"/>
              </a:spcAft>
              <a:buChar char="•"/>
              <a:defRPr sz="150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0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DuckDB tables avoid repeated CSV parsing</a:t>
            </a:r>
          </a:p>
          <a:p xmlns:a="http://schemas.openxmlformats.org/drawingml/2006/main">
            <a:pPr marL="228600" indent="-114300">
              <a:spcAft>
                <a:spcPts val="700"/>
              </a:spcAft>
              <a:buChar char="•"/>
              <a:defRPr sz="150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0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Four execution threads reduce scan and aggregation time</a:t>
            </a:r>
          </a:p>
          <a:p xmlns:a="http://schemas.openxmlformats.org/drawingml/2006/main">
            <a:pPr marL="228600" indent="-114300">
              <a:spcAft>
                <a:spcPts val="700"/>
              </a:spcAft>
              <a:buChar char="•"/>
              <a:defRPr sz="150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0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Indexes support date, customer and product key lookups</a:t>
            </a:r>
          </a:p>
          <a:p xmlns:a="http://schemas.openxmlformats.org/drawingml/2006/main">
            <a:pPr marL="228600" indent="-114300">
              <a:spcAft>
                <a:spcPts val="700"/>
              </a:spcAft>
              <a:buChar char="•"/>
              <a:defRPr sz="150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0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EXPLAIN ANALYZE records the physical operators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3C5B86-2253-4E49-82FD-02F96B1CA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625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9697"/>
          </a:bodyPr>
          <a:lstStyle xmlns:a="http://schemas.openxmlformats.org/drawingml/2006/main">
            <a:defPPr algn="l">
              <a:defRPr sz="16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Query plan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AD4D37-37C8-4BD9-8314-9D9350F00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124450"/>
            <a:ext cx="285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0.0249 s total · HASH_GROUP_BY · HASH_JOIN · filtered fact scan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8E0D41-034C-4A4F-84E5-F47404EC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>
            <a:defPPr algn="ctr">
              <a:defRPr sz="1650" b="1">
                <a:solidFill>
                  <a:srgbClr val="2D9D7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2D9D78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2D9D78"/>
                </a:solidFill>
                <a:latin typeface="Segoe UI"/>
                <a:ea typeface="Segoe UI"/>
                <a:cs typeface="Segoe UI"/>
              </a:rPr>
              <a:t>DuckDB, 4 threads: 29.319 ms median</a:t>
            </a:r>
          </a:p>
        </p:txBody>
      </p:sp>
    </p:spTree>
    <p:extLst>
      <p:ext uri="{BB962C8B-B14F-4D97-AF65-F5344CB8AC3E}">
        <p14:creationId xmlns:p14="http://schemas.microsoft.com/office/powerpoint/2010/main" val="1713942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B68301-028B-475C-A3ED-C70B6B9A7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2A03D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FD275A-2C0F-4DA6-9CBB-271651B0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67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>
            <a:defPPr algn="l">
              <a:defRPr sz="31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3150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Dashboard evidence and business findings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DDEFC9-11D6-4D96-AA85-29E09A05B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A588F0-5F9A-4790-A37E-618A7F1D8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>
            <a:defPPr algn="l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Presenter: Aniket Nikam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CB324D-E2CD-4BE5-BF5A-F646A7D55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6477000"/>
            <a:ext cx="3771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>
            <a:defPPr algn="r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E-Commerce Sales Analytics · DuckDB + RabbitMQ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16A082-5E2B-4E2D-BC3F-32A0D363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6838950" cy="476250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51F441-1437-42A1-8964-015F3078A2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70ef0c89524c92"/>
          <a:stretch xmlns:a="http://schemas.openxmlformats.org/drawingml/2006/main"/>
        </p:blipFill>
        <p:spPr>
          <a:xfrm xmlns:a="http://schemas.openxmlformats.org/drawingml/2006/main">
            <a:off x="1290271" y="1333500"/>
            <a:ext cx="5477608" cy="4533900"/>
          </a:xfrm>
          <a:prstGeom xmlns:a="http://schemas.openxmlformats.org/drawingml/2006/main" prst="roundRect">
            <a:avLst>
              <a:gd name="adj" fmla="val 1681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20406F-9238-4A44-8FC7-EA5ABBD45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21920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1795"/>
          </a:bodyPr>
          <a:lstStyle xmlns:a="http://schemas.openxmlformats.org/drawingml/2006/main">
            <a:def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Measured KPIs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D4F755-B56A-4AE9-A69B-BC866ECBE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676400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889"/>
          </a:bodyPr>
          <a:lstStyle xmlns:a="http://schemas.openxmlformats.org/drawingml/2006/main">
            <a:defPPr algn="l">
              <a:defRPr sz="2250" b="1">
                <a:solidFill>
                  <a:srgbClr val="2D9D7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D9D78"/>
                </a:solidFill>
                <a:latin typeface="Segoe UI"/>
                <a:ea typeface="Segoe UI"/>
                <a:cs typeface="Segoe UI"/>
              </a:defRPr>
            </a:pPr>
            <a:r>
              <a:rPr sz="2250" b="1">
                <a:solidFill>
                  <a:srgbClr val="2D9D78"/>
                </a:solidFill>
                <a:latin typeface="Segoe UI"/>
                <a:ea typeface="Segoe UI"/>
                <a:cs typeface="Segoe UI"/>
              </a:rPr>
              <a:t>$28.777M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AFC929-3271-4EFF-8C73-FFA8C91A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7240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>
            <a:defPPr algn="l">
              <a:defRPr sz="1425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realized revenue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C7E26A-ECA7-42DF-B1A8-4D7C5DE31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419350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889"/>
          </a:bodyPr>
          <a:lstStyle xmlns:a="http://schemas.openxmlformats.org/drawingml/2006/main">
            <a:defPPr algn="l">
              <a:defRPr sz="2250" b="1">
                <a:solidFill>
                  <a:srgbClr val="5267D7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5267D7"/>
                </a:solidFill>
                <a:latin typeface="Segoe UI"/>
                <a:ea typeface="Segoe UI"/>
                <a:cs typeface="Segoe UI"/>
              </a:defRPr>
            </a:pPr>
            <a:r>
              <a:rPr sz="2250" b="1">
                <a:solidFill>
                  <a:srgbClr val="5267D7"/>
                </a:solidFill>
                <a:latin typeface="Segoe UI"/>
                <a:ea typeface="Segoe UI"/>
                <a:cs typeface="Segoe UI"/>
              </a:rPr>
              <a:t>119,044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3BDCE0-9EC4-4802-ABFD-3028857C2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4669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>
            <a:defPPr algn="l">
              <a:defRPr sz="1425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distinct orders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43A193-198E-4B16-8804-B0E429434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62300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889"/>
          </a:bodyPr>
          <a:lstStyle xmlns:a="http://schemas.openxmlformats.org/drawingml/2006/main">
            <a:defPPr algn="l">
              <a:defRPr sz="2250" b="1">
                <a:solidFill>
                  <a:srgbClr val="16B8A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6B8A6"/>
                </a:solidFill>
                <a:latin typeface="Segoe UI"/>
                <a:ea typeface="Segoe UI"/>
                <a:cs typeface="Segoe UI"/>
              </a:defRPr>
            </a:pPr>
            <a:r>
              <a:rPr sz="2250" b="1">
                <a:solidFill>
                  <a:srgbClr val="16B8A6"/>
                </a:solidFill>
                <a:latin typeface="Segoe UI"/>
                <a:ea typeface="Segoe UI"/>
                <a:cs typeface="Segoe UI"/>
              </a:rPr>
              <a:t>37,114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EE4039-79E5-4299-8F7E-B1E0F95C6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2099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>
            <a:defPPr algn="l">
              <a:defRPr sz="1425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customers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869607-6B9C-4529-8125-78B5DA5F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05250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889"/>
          </a:bodyPr>
          <a:lstStyle xmlns:a="http://schemas.openxmlformats.org/drawingml/2006/main">
            <a:defPPr algn="l">
              <a:defRPr sz="2250" b="1">
                <a:solidFill>
                  <a:srgbClr val="E65B65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65B65"/>
                </a:solidFill>
                <a:latin typeface="Segoe UI"/>
                <a:ea typeface="Segoe UI"/>
                <a:cs typeface="Segoe UI"/>
              </a:defRPr>
            </a:pPr>
            <a:r>
              <a:rPr sz="2250" b="1">
                <a:solidFill>
                  <a:srgbClr val="E65B65"/>
                </a:solidFill>
                <a:latin typeface="Segoe UI"/>
                <a:ea typeface="Segoe UI"/>
                <a:cs typeface="Segoe UI"/>
              </a:rPr>
              <a:t>7.11%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CD9E21-7771-4845-B0ED-5B2544B57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9528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>
            <a:defPPr algn="l">
              <a:defRPr sz="1425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return rate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69287E-73FE-4AA5-9C92-B10D0D9BC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1965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1795"/>
          </a:bodyPr>
          <a:lstStyle xmlns:a="http://schemas.openxmlformats.org/drawingml/2006/main">
            <a:def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Decision findings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5C2F18-3F72-432C-86E4-BCC1E0B8C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19700"/>
            <a:ext cx="342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4952"/>
          </a:bodyPr>
          <a:lstStyle xmlns:a="http://schemas.openxmlformats.org/drawingml/2006/main">
            <a:defPPr>
              <a:defRPr sz="150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228600" indent="-114300">
              <a:spcAft>
                <a:spcPts val="500"/>
              </a:spcAft>
              <a:buChar char="•"/>
              <a:defRPr sz="150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0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Electronics leads category revenue</a:t>
            </a:r>
          </a:p>
          <a:p xmlns:a="http://schemas.openxmlformats.org/drawingml/2006/main">
            <a:pPr marL="228600" indent="-114300">
              <a:spcAft>
                <a:spcPts val="500"/>
              </a:spcAft>
              <a:buChar char="•"/>
              <a:defRPr sz="150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0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South leads regional revenue</a:t>
            </a:r>
          </a:p>
          <a:p xmlns:a="http://schemas.openxmlformats.org/drawingml/2006/main">
            <a:pPr marL="228600" indent="-114300">
              <a:spcAft>
                <a:spcPts val="500"/>
              </a:spcAft>
              <a:buChar char="•"/>
              <a:defRPr sz="150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0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Repeat customers account for 77.51%</a:t>
            </a:r>
          </a:p>
        </p:txBody>
      </p:sp>
    </p:spTree>
    <p:extLst>
      <p:ext uri="{BB962C8B-B14F-4D97-AF65-F5344CB8AC3E}">
        <p14:creationId xmlns:p14="http://schemas.microsoft.com/office/powerpoint/2010/main" val="165808160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01C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CEA87FE-2896-4217-A690-F7A21DF50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2A03D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458B87-E167-4889-A933-CDFFC2589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67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>
            <a:defPPr algn="l">
              <a:defRPr sz="31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31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RabbitMQ event delivery and reliability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779111-D74D-41D8-90C7-01EE57E20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4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054740-2BD9-40BC-A941-E7968149B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>
            <a:defPPr algn="l">
              <a:defRPr sz="1050" b="0">
                <a:solidFill>
                  <a:srgbClr val="B7C3D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B7C3D6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B7C3D6"/>
                </a:solidFill>
                <a:latin typeface="Segoe UI"/>
                <a:ea typeface="Segoe UI"/>
                <a:cs typeface="Segoe UI"/>
              </a:rPr>
              <a:t>Presenter: Aniket Nikam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512AEF-1886-4ABF-8751-AF77C02B6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6477000"/>
            <a:ext cx="3771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>
            <a:defPPr algn="r">
              <a:defRPr sz="1050" b="0">
                <a:solidFill>
                  <a:srgbClr val="B7C3D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defRPr sz="1050" b="0">
                <a:solidFill>
                  <a:srgbClr val="B7C3D6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B7C3D6"/>
                </a:solidFill>
                <a:latin typeface="Segoe UI"/>
                <a:ea typeface="Segoe UI"/>
                <a:cs typeface="Segoe UI"/>
              </a:rPr>
              <a:t>E-Commerce Sales Analytics · DuckDB + RabbitMQ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F1DAAD-1430-496E-B8D3-965E2A6EB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33"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One order event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82DF7D-F4D7-4D39-B7ED-D05DB4D5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809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829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0B1E9B-89A9-4455-9C38-0BC19713A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>
            <a:def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POST /orders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90CC37-6A38-43CA-B520-D597EC0F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145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Pydantic validation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9BB133-2950-4A80-A326-ACFFA66D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3DEDB1-4BA6-41CF-A8DD-23140D18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97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>
            <a:defPPr algn="ctr">
              <a:defRPr sz="1125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A294BD-9DDA-4593-9C4A-9445F566E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085975"/>
            <a:ext cx="190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ABC9C1-4698-47CE-89F7-1257DD86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019300"/>
            <a:ext cx="1714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04A40B-2A1D-4786-A968-11E801CDA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676400"/>
            <a:ext cx="1809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3EDBB2-3666-4D86-8EB9-5334E5F35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>
            <a:def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RabbitMQ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E91E1D-D064-46E6-81C8-3C660BC4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145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durable queue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4974EC-85DE-47F3-865A-3C09E0412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5811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3580A1-5B9B-4D8A-9FA8-856F6AD88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6097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>
            <a:defPPr algn="ctr">
              <a:defRPr sz="1125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2F50F5-ACBE-42AD-AFB1-582E7B18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85975"/>
            <a:ext cx="190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620620-1DC9-4D6A-A140-340A1E50C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019300"/>
            <a:ext cx="1714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F4CDD2-7FE0-48BA-856F-D869F53E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676400"/>
            <a:ext cx="1809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829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417093-C60D-444B-BCE9-014E86515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790700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>
            <a:def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Consumer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71FB75-CE85-4F4A-BF78-DC7A2A949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1145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manual ACK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0699CF-454F-4BB2-A40A-563F42BC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5811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4417CC-9440-4262-B279-9D16881D0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097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>
            <a:defPPr algn="ctr">
              <a:defRPr sz="1125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F7F612-B17D-4F5D-9A29-17D2287B8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085975"/>
            <a:ext cx="190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28CBDB2-1F7D-4334-9C95-5FFCE3D9C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019300"/>
            <a:ext cx="1714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BD70CF-069B-4763-93F7-4B85A73C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676400"/>
            <a:ext cx="1809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829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91DAB-5CC2-44A3-8CF1-088E5286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790700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>
            <a:def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DuckDB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5E588E-7854-45BA-9529-D7A4C114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1145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ON CONFLICT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4E3EAF4-C01E-4445-9B86-BA5EEE2E1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5811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14977F1-AB3E-42E0-9542-CA5C0A114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097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>
            <a:defPPr algn="ctr">
              <a:defRPr sz="1125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8C5A864-4DE8-4AD3-806C-0AC3E3AB4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085975"/>
            <a:ext cx="190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2CF2D0F-DD66-47A7-BE62-8B0EFBB42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19300"/>
            <a:ext cx="1714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4A0F44-DC2E-4242-A0D6-75463ACA5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676400"/>
            <a:ext cx="1809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829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C695D79-C866-4202-9EB4-1AF473C1A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90700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>
            <a:def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Dashboard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0511C73-18B1-4DFA-9615-7B3F92611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1145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refresh 5 sec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303D737-8355-463B-BE8D-E314263F8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5811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E5B6D6F-CD2A-48B7-AFF7-299DF5A81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6097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>
            <a:defPPr algn="ctr">
              <a:defRPr sz="1125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6BD10F7-3E36-4081-ABBF-9C3FA2FB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1795"/>
          </a:bodyPr>
          <a:lstStyle xmlns:a="http://schemas.openxmlformats.org/drawingml/2006/main">
            <a:defPPr algn="l">
              <a:defRPr sz="19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Delivery contract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8600304-B487-45C8-8080-14FA8A45B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49530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500">
                <a:solidFill>
                  <a:srgbClr val="D7E0EC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>
                <a:solidFill>
                  <a:srgbClr val="D7E0EC"/>
                </a:solidFill>
                <a:latin typeface="Segoe UI"/>
                <a:ea typeface="Segoe UI"/>
                <a:cs typeface="Segoe UI"/>
              </a:defRPr>
            </a:pPr>
            <a:r>
              <a:rPr sz="1500">
                <a:solidFill>
                  <a:srgbClr val="D7E0EC"/>
                </a:solidFill>
                <a:latin typeface="Segoe UI"/>
                <a:ea typeface="Segoe UI"/>
                <a:cs typeface="Segoe UI"/>
              </a:rPr>
              <a:t>Queue survives broker restart because durable=True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>
                <a:solidFill>
                  <a:srgbClr val="D7E0EC"/>
                </a:solidFill>
                <a:latin typeface="Segoe UI"/>
                <a:ea typeface="Segoe UI"/>
                <a:cs typeface="Segoe UI"/>
              </a:defRPr>
            </a:pPr>
            <a:r>
              <a:rPr sz="1500">
                <a:solidFill>
                  <a:srgbClr val="D7E0EC"/>
                </a:solidFill>
                <a:latin typeface="Segoe UI"/>
                <a:ea typeface="Segoe UI"/>
                <a:cs typeface="Segoe UI"/>
              </a:rPr>
              <a:t>Message survives because delivery_mode is Persistent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>
                <a:solidFill>
                  <a:srgbClr val="D7E0EC"/>
                </a:solidFill>
                <a:latin typeface="Segoe UI"/>
                <a:ea typeface="Segoe UI"/>
                <a:cs typeface="Segoe UI"/>
              </a:defRPr>
            </a:pPr>
            <a:r>
              <a:rPr sz="1500">
                <a:solidFill>
                  <a:srgbClr val="D7E0EC"/>
                </a:solidFill>
                <a:latin typeface="Segoe UI"/>
                <a:ea typeface="Segoe UI"/>
                <a:cs typeface="Segoe UI"/>
              </a:rPr>
              <a:t>Publisher confirms before FastAPI returns HTTP 202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>
                <a:solidFill>
                  <a:srgbClr val="D7E0EC"/>
                </a:solidFill>
                <a:latin typeface="Segoe UI"/>
                <a:ea typeface="Segoe UI"/>
                <a:cs typeface="Segoe UI"/>
              </a:defRPr>
            </a:pPr>
            <a:r>
              <a:rPr sz="1500">
                <a:solidFill>
                  <a:srgbClr val="D7E0EC"/>
                </a:solidFill>
                <a:latin typeface="Segoe UI"/>
                <a:ea typeface="Segoe UI"/>
                <a:cs typeface="Segoe UI"/>
              </a:rPr>
              <a:t>Consumer ACKs only after a successful insert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>
                <a:solidFill>
                  <a:srgbClr val="D7E0EC"/>
                </a:solidFill>
                <a:latin typeface="Segoe UI"/>
                <a:ea typeface="Segoe UI"/>
                <a:cs typeface="Segoe UI"/>
              </a:defRPr>
            </a:pPr>
            <a:r>
              <a:rPr sz="1500">
                <a:solidFill>
                  <a:srgbClr val="D7E0EC"/>
                </a:solidFill>
                <a:latin typeface="Segoe UI"/>
                <a:ea typeface="Segoe UI"/>
                <a:cs typeface="Segoe UI"/>
              </a:rPr>
              <a:t>event_id primary key makes redelivery idempotent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>
                <a:solidFill>
                  <a:srgbClr val="D7E0EC"/>
                </a:solidFill>
                <a:latin typeface="Segoe UI"/>
                <a:ea typeface="Segoe UI"/>
                <a:cs typeface="Segoe UI"/>
              </a:defRPr>
            </a:pPr>
            <a:r>
              <a:rPr sz="1500">
                <a:solidFill>
                  <a:srgbClr val="D7E0EC"/>
                </a:solidFill>
                <a:latin typeface="Segoe UI"/>
                <a:ea typeface="Segoe UI"/>
                <a:cs typeface="Segoe UI"/>
              </a:rPr>
              <a:t>Invalid queued JSON is logged and rejected without requeue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E8BCF37-0D03-4A30-860B-82CD46C58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05150"/>
            <a:ext cx="5162550" cy="2800350"/>
          </a:xfrm>
          <a:prstGeom xmlns:a="http://schemas.openxmlformats.org/drawingml/2006/main" prst="roundRect">
            <a:avLst>
              <a:gd name="adj" fmla="val 2721"/>
            </a:avLst>
          </a:prstGeom>
          <a:solidFill xmlns:a="http://schemas.openxmlformats.org/drawingml/2006/main">
            <a:srgbClr val="101C33"/>
          </a:solidFill>
          <a:ln xmlns:a="http://schemas.openxmlformats.org/drawingml/2006/main" w="9525">
            <a:solidFill>
              <a:srgbClr val="2A3B59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82F2B0E-C6D7-4E0C-9A4C-BA0A877C4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05150"/>
            <a:ext cx="57150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4F7FFDB-DFC6-42B6-AB2F-C6CCFDACF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57550"/>
            <a:ext cx="4819650" cy="2533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channel.queue_declare(</a:t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  queue=queue_name, durable=True</a:t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channel.confirm_delivery()</a:t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properties = BasicProperties(</a:t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  delivery_mode=Persistent,</a:t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  message_id=str(event.event_id)</a:t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# consumer</a:t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ch.basic_ack(delivery_tag=tag)</a:t>
            </a:r>
          </a:p>
        </p:txBody>
      </p:sp>
    </p:spTree>
    <p:extLst>
      <p:ext uri="{BB962C8B-B14F-4D97-AF65-F5344CB8AC3E}">
        <p14:creationId xmlns:p14="http://schemas.microsoft.com/office/powerpoint/2010/main" val="6605490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AA4CCA-2797-42B5-8608-35E584B1D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2A03D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E850D2-1B3C-433C-826D-08EE995BD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67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>
            <a:defPPr algn="l">
              <a:defRPr sz="31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3150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API contract and live dashboard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1FC9A0-E75E-4942-804D-53434C82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3C47B1-5B9D-45F4-8C11-6C9399D7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>
            <a:defPPr algn="l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Presenter: Lokesh 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12CDBA-B093-4B4D-939B-5E4C27C5D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6477000"/>
            <a:ext cx="3771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>
            <a:defPPr algn="r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E-Commerce Sales Analytics · DuckDB + RabbitMQ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C1AA1C-A261-4439-A948-C8C636DAB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1795"/>
          </a:bodyPr>
          <a:lstStyle xmlns:a="http://schemas.openxmlformats.org/drawingml/2006/main">
            <a:def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Validated order payload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74DFEE-A3BD-4BFD-8D39-4942E804C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4476750" cy="3676650"/>
          </a:xfrm>
          <a:prstGeom xmlns:a="http://schemas.openxmlformats.org/drawingml/2006/main" prst="roundRect">
            <a:avLst>
              <a:gd name="adj" fmla="val 2073"/>
            </a:avLst>
          </a:prstGeom>
          <a:solidFill xmlns:a="http://schemas.openxmlformats.org/drawingml/2006/main">
            <a:srgbClr val="101C33"/>
          </a:solidFill>
          <a:ln xmlns:a="http://schemas.openxmlformats.org/drawingml/2006/main" w="9525">
            <a:solidFill>
              <a:srgbClr val="2A3B5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91B625-1655-4014-B904-A83FC5BE7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7150" cy="367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33933B-8665-47D8-B0FF-2A5938410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71650"/>
            <a:ext cx="413385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  "order_id": "LIVE-...",</a:t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  "customer_id": "C004281",</a:t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  "product_id": "P017",</a:t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  "category": "Electronics",</a:t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  "quantity": 2,</a:t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  "unit_price": 499.90,</a:t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  "discount_pct": 0.10,</a:t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  "region": "West",</a:t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  "sales_channel": "Web"</a:t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DBB4DA-3AA3-4CCB-8070-A466745AC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474"/>
          </a:bodyPr>
          <a:lstStyle xmlns:a="http://schemas.openxmlformats.org/drawingml/2006/main">
            <a:defPPr algn="ctr">
              <a:defRPr sz="1425" b="1">
                <a:solidFill>
                  <a:srgbClr val="2D9D7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2D9D78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2D9D78"/>
                </a:solidFill>
                <a:latin typeface="Segoe UI"/>
                <a:ea typeface="Segoe UI"/>
                <a:cs typeface="Segoe UI"/>
              </a:rPr>
              <a:t>net_revenue = price × quantity × (1 − discount)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86958D-FAA4-4CB3-BE51-615A89C36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181100"/>
            <a:ext cx="190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CE1F84-48E0-449D-9655-E7501C100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1811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1795"/>
          </a:bodyPr>
          <a:lstStyle xmlns:a="http://schemas.openxmlformats.org/drawingml/2006/main">
            <a:def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Endpoints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0F552E-C2F2-494C-ABC6-453D2A41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19250"/>
            <a:ext cx="76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C3C671-CCEC-49FC-ACE4-8BD4C015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016"/>
          </a:bodyPr>
          <a:lstStyle xmlns:a="http://schemas.openxmlformats.org/drawingml/2006/main">
            <a:defPPr algn="l">
              <a:defRPr sz="157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POST /orders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BA8276-130D-4981-A9BC-2FB645C99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6383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>
            <a:defPPr algn="l">
              <a:defRPr sz="13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202 after broker confirmation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C51029-869E-46A4-A2F3-5D0B9ED5C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343150"/>
            <a:ext cx="76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0CFD8A-A459-409A-A789-231319EE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431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016"/>
          </a:bodyPr>
          <a:lstStyle xmlns:a="http://schemas.openxmlformats.org/drawingml/2006/main">
            <a:defPPr algn="l">
              <a:defRPr sz="157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GET /health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042A73-16D2-4A77-AF46-A644A14C4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362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>
            <a:defPPr algn="l">
              <a:defRPr sz="13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queue and consumer mode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744C75-81E6-47F1-BEB4-1211BBD0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67050"/>
            <a:ext cx="76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7D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B9F275-FD1F-476C-9B55-96C1B499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67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016"/>
          </a:bodyPr>
          <a:lstStyle xmlns:a="http://schemas.openxmlformats.org/drawingml/2006/main">
            <a:defPPr algn="l">
              <a:defRPr sz="157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GET /metrics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5904EF-1CCC-44FE-BBD1-725BDEF55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086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>
            <a:defPPr algn="l">
              <a:defRPr sz="13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events, customers and revenue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F7FC42-A1E1-4073-8BAB-1D813D7BC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790950"/>
            <a:ext cx="76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CE4B81-4814-4CD3-B10E-F4EBF2757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909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016"/>
          </a:bodyPr>
          <a:lstStyle xmlns:a="http://schemas.openxmlformats.org/drawingml/2006/main">
            <a:defPPr algn="l">
              <a:defRPr sz="157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GET /orders/recent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F742FB-18B8-4FBE-AE68-6537A1A9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8100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>
            <a:defPPr algn="l">
              <a:defRPr sz="13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latest 1–100 accepted events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833662-5D38-4961-8E87-11EB5D02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7053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5385"/>
          </a:bodyPr>
          <a:lstStyle xmlns:a="http://schemas.openxmlformats.org/drawingml/2006/main">
            <a:def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Live loop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B4E1B8-0804-4A83-A5B8-DA65CF9B7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124450"/>
            <a:ext cx="5391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465"/>
          </a:bodyPr>
          <a:lstStyle xmlns:a="http://schemas.openxmlformats.org/drawingml/2006/main">
            <a:defPPr algn="l">
              <a:defRPr sz="165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Simulator sends one event per second. The dashboard requests metrics and recent orders, then reloads after five seconds only when the API responds successfully.</a:t>
            </a:r>
          </a:p>
        </p:txBody>
      </p:sp>
    </p:spTree>
    <p:extLst>
      <p:ext uri="{BB962C8B-B14F-4D97-AF65-F5344CB8AC3E}">
        <p14:creationId xmlns:p14="http://schemas.microsoft.com/office/powerpoint/2010/main" val="91678179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E28733D-1776-45BE-AEA5-15D193DF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2A03D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E0FEB2-6A6B-4292-B05E-3ED68591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67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>
            <a:defPPr algn="l">
              <a:defRPr sz="31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3150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Deployment model and bonus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5866B0-2126-4D4C-A49F-110447DC9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5E5D6B-6785-4588-A562-EF1B420CD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>
            <a:defPPr algn="l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Presenter: Lokesh 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63C1A2-2DD9-4570-9691-0741D585D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6477000"/>
            <a:ext cx="3771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>
            <a:defPPr algn="r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E-Commerce Sales Analytics · DuckDB + RabbitMQ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D657BC-6688-42B1-8540-E38F24A28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1795"/>
          </a:bodyPr>
          <a:lstStyle xmlns:a="http://schemas.openxmlformats.org/drawingml/2006/main">
            <a:def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Docker Compose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DC539B-C559-4244-9A6D-19663B5B5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2573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0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44DD71-6A03-44C0-A685-42BA1C27E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1028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>
            <a:defPPr algn="ctr">
              <a:defRPr sz="157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rabbitmq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7DBF8A-4224-4266-945A-3EDE3EDC6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574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566"/>
          </a:bodyPr>
          <a:lstStyle xmlns:a="http://schemas.openxmlformats.org/drawingml/2006/main">
            <a:defPPr algn="ctr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5672 / 15672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706794-32B2-4839-A4DD-ABBF0ADC0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619250"/>
            <a:ext cx="12573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DF6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6FDC44-A71C-4559-B5F1-1F034488E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1733550"/>
            <a:ext cx="1028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6436"/>
          </a:bodyPr>
          <a:lstStyle xmlns:a="http://schemas.openxmlformats.org/drawingml/2006/main">
            <a:defPPr algn="ctr">
              <a:defRPr sz="157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API + consumer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D3A401-E1DF-4938-BDD3-55D12A130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0574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72"/>
          </a:bodyPr>
          <a:lstStyle xmlns:a="http://schemas.openxmlformats.org/drawingml/2006/main">
            <a:defPPr algn="ctr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realtime-api · 8000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1EDEBC-692C-4513-BD34-6A822C7F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19250"/>
            <a:ext cx="12573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8EB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FBE7CE-1068-4E7D-8B00-5F8D6D28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733550"/>
            <a:ext cx="1028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>
            <a:defPPr algn="ctr">
              <a:defRPr sz="157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dashboard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C6C92B-3600-4081-B563-BA3F85F7A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574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16"/>
          </a:bodyPr>
          <a:lstStyle xmlns:a="http://schemas.openxmlformats.org/drawingml/2006/main">
            <a:defPPr algn="ctr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Streamlit · 8501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8CD2AF-C804-41CF-8B92-A7AE37455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619250"/>
            <a:ext cx="12573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CE8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B2771F-2429-4836-B1AE-553236476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33550"/>
            <a:ext cx="1028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>
            <a:defPPr algn="ctr">
              <a:defRPr sz="157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simulator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8985A0-0246-40CA-898E-84F8F02EA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574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542"/>
          </a:bodyPr>
          <a:lstStyle xmlns:a="http://schemas.openxmlformats.org/drawingml/2006/main">
            <a:defPPr algn="ctr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continuous · 1 event/sec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C0A17F-59F3-444E-BD42-E9C03E083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1795"/>
          </a:bodyPr>
          <a:lstStyle xmlns:a="http://schemas.openxmlformats.org/drawingml/2006/main">
            <a:def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Kubernetes option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3D1AAC-1BDC-4490-8B53-AA9E16E5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52197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50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228600" indent="-114300">
              <a:spcAft>
                <a:spcPts val="700"/>
              </a:spcAft>
              <a:buChar char="•"/>
              <a:defRPr sz="150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0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Deployments and Services for dashboard, API, RabbitMQ and simulator</a:t>
            </a:r>
          </a:p>
          <a:p xmlns:a="http://schemas.openxmlformats.org/drawingml/2006/main">
            <a:pPr marL="228600" indent="-114300">
              <a:spcAft>
                <a:spcPts val="700"/>
              </a:spcAft>
              <a:buChar char="•"/>
              <a:defRPr sz="150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0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PersistentVolumeClaim for both DuckDB files</a:t>
            </a:r>
          </a:p>
          <a:p xmlns:a="http://schemas.openxmlformats.org/drawingml/2006/main">
            <a:pPr marL="228600" indent="-114300">
              <a:spcAft>
                <a:spcPts val="700"/>
              </a:spcAft>
              <a:buChar char="•"/>
              <a:defRPr sz="150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0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Startup, readiness and liveness probes</a:t>
            </a:r>
          </a:p>
          <a:p xmlns:a="http://schemas.openxmlformats.org/drawingml/2006/main">
            <a:pPr marL="228600" indent="-114300">
              <a:spcAft>
                <a:spcPts val="700"/>
              </a:spcAft>
              <a:buChar char="•"/>
              <a:defRPr sz="150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0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Secret-backed RabbitMQ connection and CPU-based HPA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2EFDF6-5918-4188-AB9C-0651E016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181100"/>
            <a:ext cx="190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D20BFD-94FA-4633-BC46-038BED0AC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181100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1795"/>
          </a:bodyPr>
          <a:lstStyle xmlns:a="http://schemas.openxmlformats.org/drawingml/2006/main">
            <a:def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Bonus-mark coverage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0845A6-93EB-4A97-9A82-19686C495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335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C1598C-0276-4B52-847F-3AF293314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43075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D66C2B-F146-4BB6-A7E0-76FB0214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6764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>
            <a:defPPr algn="l">
              <a:defRPr sz="16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Real-time dataset / API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4BE590-35E8-438A-85E6-ED0B509BE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38350"/>
            <a:ext cx="419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596"/>
          </a:bodyPr>
          <a:lstStyle xmlns:a="http://schemas.openxmlformats.org/drawingml/2006/main">
            <a:defPPr algn="l">
              <a:defRPr sz="1425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Continuous order events + current DummyJSON snapshot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3DDFC9-8413-4410-8939-7CF0BC08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384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90DE46-7194-471E-B462-66D47446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47975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✓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767058F-3030-4C10-9D38-12DB8F359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813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>
            <a:defPPr algn="l">
              <a:defRPr sz="16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Kubernetes deployment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7EEDBB-EC73-44E4-9C89-C72F3AC8C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143250"/>
            <a:ext cx="419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Kustomize, probes, PVC, Secret and HPA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D8E643D-F8EF-4DCF-8446-079996A1E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433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7D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74DAC79-4F68-4A1F-A3EF-88B7A1976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✓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1CE9EB-B2AC-4AC3-B1B6-2E23DCFB9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8862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>
            <a:defPPr algn="l">
              <a:defRPr sz="16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Execution-mode comparison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8B35D53-22CC-4628-AF57-CAF44AE6D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248150"/>
            <a:ext cx="419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CSV vs Parquet vs DuckDB at 1 and 4 threads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4BA4C3-1E25-4EF6-B65B-7AE9C0C2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105400"/>
            <a:ext cx="46101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01C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751142D-D588-4429-AA74-C537F425F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2387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333"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Public API snapshot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99CBF74-B50C-4E86-9088-621C8B7F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5245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>
            <a:defPPr algn="l">
              <a:defRPr sz="1350" b="0">
                <a:solidFill>
                  <a:srgbClr val="16B8A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6B8A6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16B8A6"/>
                </a:solidFill>
                <a:latin typeface="Segoe UI"/>
                <a:ea typeface="Segoe UI"/>
                <a:cs typeface="Segoe UI"/>
              </a:rPr>
              <a:t>194 products · 208 carts · 800 cart items loaded</a:t>
            </a:r>
          </a:p>
        </p:txBody>
      </p:sp>
    </p:spTree>
    <p:extLst>
      <p:ext uri="{BB962C8B-B14F-4D97-AF65-F5344CB8AC3E}">
        <p14:creationId xmlns:p14="http://schemas.microsoft.com/office/powerpoint/2010/main" val="26465286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DAB939-C796-49AD-BA6A-77E8EB06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2A03D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2A03D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A9B53B-26D9-4251-8785-39B33762A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67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>
            <a:defPPr algn="l">
              <a:defRPr sz="31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3150" b="1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Presentation roles, demo runbook and validation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F78E06-6D8E-4F64-9607-B4EC6FB92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8AD366-C13A-4278-A479-80B7EF318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>
            <a:defPPr algn="l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Presenter: Lokesh 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D97D6C-CCC8-4CB7-A1D5-57AD4521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6477000"/>
            <a:ext cx="3771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>
            <a:defPPr algn="r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defRPr sz="1050" b="0">
                <a:solidFill>
                  <a:srgbClr val="56657A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56657A"/>
                </a:solidFill>
                <a:latin typeface="Segoe UI"/>
                <a:ea typeface="Segoe UI"/>
                <a:cs typeface="Segoe UI"/>
              </a:rPr>
              <a:t>E-Commerce Sales Analytics · DuckDB + RabbitMQ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CE22FB-BE63-4E27-85F7-A12DD966E939}"/>
              </a:ext>
            </a:extLst>
          </p:cNvPr>
          <p:cNvGraphicFramePr/>
          <p:nvPr/>
        </p:nvGraphicFramePr>
        <p:xfrm>
          <a:off xmlns:a="http://schemas.openxmlformats.org/drawingml/2006/main" x="609600" y="1200150"/>
          <a:ext xmlns:a="http://schemas.openxmlformats.org/drawingml/2006/main" cx="10972800" cy="2381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1143000"/>
                <a:gridCol w="3333750"/>
                <a:gridCol w="5067300"/>
              </a:tblGrid>
              <a:tr h="4762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Presenter</a:t>
                      </a:r>
                    </a:p>
                  </a:txBody>
                  <a:tcPr marL="95250" marR="95250" marT="76200" marB="76200">
                    <a:solidFill>
                      <a:srgbClr val="101C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Slides</a:t>
                      </a:r>
                    </a:p>
                  </a:txBody>
                  <a:tcPr marL="95250" marR="95250" marT="76200" marB="76200">
                    <a:solidFill>
                      <a:srgbClr val="101C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Technical ownership</a:t>
                      </a:r>
                    </a:p>
                  </a:txBody>
                  <a:tcPr marL="95250" marR="95250" marT="76200" marB="76200">
                    <a:solidFill>
                      <a:srgbClr val="101C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Main explanation</a:t>
                      </a:r>
                    </a:p>
                  </a:txBody>
                  <a:tcPr marL="95250" marR="95250" marT="76200" marB="76200">
                    <a:solidFill>
                      <a:srgbClr val="101C33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033"/>
                          </a:solidFill>
                          <a:latin typeface="Segoe UI"/>
                          <a:ea typeface="Segoe UI"/>
                          <a:cs typeface="Segoe UI"/>
                        </a:rPr>
                        <a:t>Harsh Birje</a:t>
                      </a:r>
                    </a:p>
                  </a:txBody>
                  <a:tcPr marL="95250" marR="95250" marT="66675" marB="66675">
                    <a:solidFill>
                      <a:srgbClr val="DD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033"/>
                          </a:solidFill>
                          <a:latin typeface="Segoe UI"/>
                          <a:ea typeface="Segoe UI"/>
                          <a:cs typeface="Segoe UI"/>
                        </a:rPr>
                        <a:t>1–3</a:t>
                      </a:r>
                    </a:p>
                  </a:txBody>
                  <a:tcPr marL="95250" marR="95250" marT="66675" marB="66675">
                    <a:solidFill>
                      <a:srgbClr val="DD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033"/>
                          </a:solidFill>
                          <a:latin typeface="Segoe UI"/>
                          <a:ea typeface="Segoe UI"/>
                          <a:cs typeface="Segoe UI"/>
                        </a:rPr>
                        <a:t>Scope and architecture</a:t>
                      </a:r>
                    </a:p>
                  </a:txBody>
                  <a:tcPr marL="95250" marR="95250" marT="66675" marB="66675">
                    <a:solidFill>
                      <a:srgbClr val="DD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033"/>
                          </a:solidFill>
                          <a:latin typeface="Segoe UI"/>
                          <a:ea typeface="Segoe UI"/>
                          <a:cs typeface="Segoe UI"/>
                        </a:rPr>
                        <a:t>Why batch and streaming share one platform</a:t>
                      </a:r>
                    </a:p>
                  </a:txBody>
                  <a:tcPr marL="95250" marR="95250" marT="66675" marB="66675">
                    <a:solidFill>
                      <a:srgbClr val="DDF6F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033"/>
                          </a:solidFill>
                          <a:latin typeface="Segoe UI"/>
                          <a:ea typeface="Segoe UI"/>
                          <a:cs typeface="Segoe UI"/>
                        </a:rPr>
                        <a:t>Aayush Chavanke</a:t>
                      </a:r>
                    </a:p>
                  </a:txBody>
                  <a:tcPr marL="95250" marR="95250" marT="66675" marB="66675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033"/>
                          </a:solidFill>
                          <a:latin typeface="Segoe UI"/>
                          <a:ea typeface="Segoe UI"/>
                          <a:cs typeface="Segoe UI"/>
                        </a:rPr>
                        <a:t>4–6</a:t>
                      </a:r>
                    </a:p>
                  </a:txBody>
                  <a:tcPr marL="95250" marR="95250" marT="66675" marB="66675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033"/>
                          </a:solidFill>
                          <a:latin typeface="Segoe UI"/>
                          <a:ea typeface="Segoe UI"/>
                          <a:cs typeface="Segoe UI"/>
                        </a:rPr>
                        <a:t>Cleaning, model and SQL</a:t>
                      </a:r>
                    </a:p>
                  </a:txBody>
                  <a:tcPr marL="95250" marR="95250" marT="66675" marB="66675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033"/>
                          </a:solidFill>
                          <a:latin typeface="Segoe UI"/>
                          <a:ea typeface="Segoe UI"/>
                          <a:cs typeface="Segoe UI"/>
                        </a:rPr>
                        <a:t>How quality rules create trusted metrics</a:t>
                      </a:r>
                    </a:p>
                  </a:txBody>
                  <a:tcPr marL="95250" marR="95250" marT="66675" marB="66675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033"/>
                          </a:solidFill>
                          <a:latin typeface="Segoe UI"/>
                          <a:ea typeface="Segoe UI"/>
                          <a:cs typeface="Segoe UI"/>
                        </a:rPr>
                        <a:t>Aniket Nikam</a:t>
                      </a:r>
                    </a:p>
                  </a:txBody>
                  <a:tcPr marL="95250" marR="95250" marT="66675" marB="66675">
                    <a:solidFill>
                      <a:srgbClr val="FFF0D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033"/>
                          </a:solidFill>
                          <a:latin typeface="Segoe UI"/>
                          <a:ea typeface="Segoe UI"/>
                          <a:cs typeface="Segoe UI"/>
                        </a:rPr>
                        <a:t>7–9</a:t>
                      </a:r>
                    </a:p>
                  </a:txBody>
                  <a:tcPr marL="95250" marR="95250" marT="66675" marB="66675">
                    <a:solidFill>
                      <a:srgbClr val="FFF0D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033"/>
                          </a:solidFill>
                          <a:latin typeface="Segoe UI"/>
                          <a:ea typeface="Segoe UI"/>
                          <a:cs typeface="Segoe UI"/>
                        </a:rPr>
                        <a:t>Performance, BI and RabbitMQ</a:t>
                      </a:r>
                    </a:p>
                  </a:txBody>
                  <a:tcPr marL="95250" marR="95250" marT="66675" marB="66675">
                    <a:solidFill>
                      <a:srgbClr val="FFF0D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033"/>
                          </a:solidFill>
                          <a:latin typeface="Segoe UI"/>
                          <a:ea typeface="Segoe UI"/>
                          <a:cs typeface="Segoe UI"/>
                        </a:rPr>
                        <a:t>Why the faster query and delivery guarantees matter</a:t>
                      </a:r>
                    </a:p>
                  </a:txBody>
                  <a:tcPr marL="95250" marR="95250" marT="66675" marB="66675">
                    <a:solidFill>
                      <a:srgbClr val="FFF0DB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033"/>
                          </a:solidFill>
                          <a:latin typeface="Segoe UI"/>
                          <a:ea typeface="Segoe UI"/>
                          <a:cs typeface="Segoe UI"/>
                        </a:rPr>
                        <a:t>Lokesh Ture</a:t>
                      </a:r>
                    </a:p>
                  </a:txBody>
                  <a:tcPr marL="95250" marR="95250" marT="66675" marB="66675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033"/>
                          </a:solidFill>
                          <a:latin typeface="Segoe UI"/>
                          <a:ea typeface="Segoe UI"/>
                          <a:cs typeface="Segoe UI"/>
                        </a:rPr>
                        <a:t>10–12</a:t>
                      </a:r>
                    </a:p>
                  </a:txBody>
                  <a:tcPr marL="95250" marR="95250" marT="66675" marB="66675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033"/>
                          </a:solidFill>
                          <a:latin typeface="Segoe UI"/>
                          <a:ea typeface="Segoe UI"/>
                          <a:cs typeface="Segoe UI"/>
                        </a:rPr>
                        <a:t>API, deployment and demo</a:t>
                      </a:r>
                    </a:p>
                  </a:txBody>
                  <a:tcPr marL="95250" marR="95250" marT="66675" marB="66675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033"/>
                          </a:solidFill>
                          <a:latin typeface="Segoe UI"/>
                          <a:ea typeface="Segoe UI"/>
                          <a:cs typeface="Segoe UI"/>
                        </a:rPr>
                        <a:t>How to run, verify and explain limitations</a:t>
                      </a:r>
                    </a:p>
                  </a:txBody>
                  <a:tcPr marL="95250" marR="95250" marT="66675" marB="66675"/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43894E-93CA-496B-ABBE-BF783D9F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1795"/>
          </a:bodyPr>
          <a:lstStyle xmlns:a="http://schemas.openxmlformats.org/drawingml/2006/main">
            <a:def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Live demonstration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DC595C-0683-4CE9-9958-F8A3FCD3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56197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01C33"/>
          </a:solidFill>
          <a:ln xmlns:a="http://schemas.openxmlformats.org/drawingml/2006/main" w="9525">
            <a:solidFill>
              <a:srgbClr val="2A3B5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3D9208-B108-44E4-BE01-754E65FD3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571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2F40F3-4EBE-4AD0-A5D3-2904A1C3C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38650"/>
            <a:ext cx="52768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docker compose --profile demo up -d --build</a:t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Dashboard  : http://127.0.0.1:8501</a:t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API docs   : http://127.0.0.1:8000/docs</a:t>
            </a:r>
          </a:p>
          <a:p xmlns:a="http://schemas.openxmlformats.org/drawingml/2006/main">
            <a:pPr algn="l">
              <a:defRPr sz="1350" b="0">
                <a:solidFill>
                  <a:srgbClr val="EAF0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AF0F8"/>
                </a:solidFill>
                <a:latin typeface="Consolas"/>
                <a:ea typeface="Consolas"/>
                <a:cs typeface="Consolas"/>
              </a:rPr>
              <a:t>RabbitMQ UI: http://127.0.0.1:15672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AAB6E9-880B-41AE-AA45-94E52ADC3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862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1795"/>
          </a:bodyPr>
          <a:lstStyle xmlns:a="http://schemas.openxmlformats.org/drawingml/2006/main">
            <a:def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Validation boundary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B93616-61D9-490C-80EC-A068E0A0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86250"/>
            <a:ext cx="47244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50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0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4 automated tests passed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0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Docker Compose configuration valid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0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Kubernetes Kustomize output valid</a:t>
            </a:r>
          </a:p>
          <a:p xmlns:a="http://schemas.openxmlformats.org/drawingml/2006/main">
            <a:pPr marL="228600" indent="-114300">
              <a:spcAft>
                <a:spcPts val="600"/>
              </a:spcAft>
              <a:buChar char="•"/>
              <a:defRPr sz="1500">
                <a:solidFill>
                  <a:srgbClr val="172033"/>
                </a:solidFill>
                <a:latin typeface="Segoe UI"/>
                <a:ea typeface="Segoe UI"/>
                <a:cs typeface="Segoe UI"/>
              </a:defRPr>
            </a:pPr>
            <a:r>
              <a:rPr sz="1500">
                <a:solidFill>
                  <a:srgbClr val="172033"/>
                </a:solidFill>
                <a:latin typeface="Segoe UI"/>
                <a:ea typeface="Segoe UI"/>
                <a:cs typeface="Segoe UI"/>
              </a:rPr>
              <a:t>Current host: Docker Linux engine requires repair before a broker screenshot can be claimed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FE377-3B3F-4353-BA64-5F047AF63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57900"/>
            <a:ext cx="10363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974"/>
          </a:bodyPr>
          <a:lstStyle xmlns:a="http://schemas.openxmlformats.org/drawingml/2006/main">
            <a:defPPr algn="ctr">
              <a:defRPr sz="1575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101C33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101C33"/>
                </a:solidFill>
                <a:latin typeface="Segoe UI"/>
                <a:ea typeface="Segoe UI"/>
                <a:cs typeface="Segoe UI"/>
              </a:rPr>
              <a:t>Conclusion: a reproducible analytical warehouse with a technically complete RabbitMQ streaming path and clear runtime evidence boundaries.</a:t>
            </a:r>
          </a:p>
        </p:txBody>
      </p:sp>
    </p:spTree>
    <p:extLst>
      <p:ext uri="{BB962C8B-B14F-4D97-AF65-F5344CB8AC3E}">
        <p14:creationId xmlns:p14="http://schemas.microsoft.com/office/powerpoint/2010/main" val="10296888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2026-10-09T07:32:17.7950000Z</dcterms:created>
  <dcterms:modified xsi:type="dcterms:W3CDTF">2026-10-09T07:32:17.7950000Z</dcterms:modified>
</coreProperties>
</file>