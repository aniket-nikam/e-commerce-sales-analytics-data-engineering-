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7394f88d8e4e2c" /><Relationship Type="http://schemas.openxmlformats.org/officeDocument/2006/relationships/extended-properties" Target="/docProps/app.xml" Id="Rba7ac27713914eed" /><Relationship Type="http://schemas.openxmlformats.org/officeDocument/2006/relationships/officeDocument" Target="/ppt/presentation.xml" Id="R0f1b9a0a443f42f3" /></Relationships>
</file>

<file path=ppt/presentation.xml><?xml version="1.0" encoding="utf-8"?>
<p:presentation xmlns:p="http://schemas.openxmlformats.org/presentationml/2006/main">
  <p:sldMasterIdLst>
    <p:sldMasterId xmlns:r="http://schemas.openxmlformats.org/officeDocument/2006/relationships" id="2147483648" r:id="R123923e7859f4c37"/>
  </p:sldMasterIdLst>
  <p:notesMasterIdLst>
    <p:notesMasterId xmlns:r="http://schemas.openxmlformats.org/officeDocument/2006/relationships" r:id="R0551347a530b4b00"/>
  </p:notesMasterIdLst>
  <p:sldIdLst>
    <p:sldId xmlns:r="http://schemas.openxmlformats.org/officeDocument/2006/relationships" id="256" r:id="R22d75aa2b9f44b08"/>
    <p:sldId xmlns:r="http://schemas.openxmlformats.org/officeDocument/2006/relationships" id="257" r:id="R2aef5cfadc934ab8"/>
    <p:sldId xmlns:r="http://schemas.openxmlformats.org/officeDocument/2006/relationships" id="258" r:id="R7eab6537ebc64b2b"/>
    <p:sldId xmlns:r="http://schemas.openxmlformats.org/officeDocument/2006/relationships" id="259" r:id="R1e00c279bb7b4324"/>
    <p:sldId xmlns:r="http://schemas.openxmlformats.org/officeDocument/2006/relationships" id="260" r:id="R796345f3c5e84a52"/>
    <p:sldId xmlns:r="http://schemas.openxmlformats.org/officeDocument/2006/relationships" id="261" r:id="R906b345855dd4711"/>
    <p:sldId xmlns:r="http://schemas.openxmlformats.org/officeDocument/2006/relationships" id="262" r:id="R5edfc3012dfa4234"/>
    <p:sldId xmlns:r="http://schemas.openxmlformats.org/officeDocument/2006/relationships" id="263" r:id="R14d1c6e19d9643b3"/>
    <p:sldId xmlns:r="http://schemas.openxmlformats.org/officeDocument/2006/relationships" id="264" r:id="R673bb371d8df40d3"/>
    <p:sldId xmlns:r="http://schemas.openxmlformats.org/officeDocument/2006/relationships" id="265" r:id="R6c80997a250b40c6"/>
    <p:sldId xmlns:r="http://schemas.openxmlformats.org/officeDocument/2006/relationships" id="266" r:id="R6531e7627b854a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78644897f44baa" /><Relationship Type="http://schemas.openxmlformats.org/officeDocument/2006/relationships/slideMaster" Target="/ppt/slideMasters/slideMaster1.xml" Id="R123923e7859f4c37" /><Relationship Type="http://schemas.openxmlformats.org/officeDocument/2006/relationships/notesMaster" Target="/ppt/notesMasters/notesMaster1.xml" Id="R0551347a530b4b00" /><Relationship Type="http://schemas.openxmlformats.org/officeDocument/2006/relationships/presProps" Target="/ppt/presProps.xml" Id="Refe71a00a818499b" /><Relationship Type="http://schemas.openxmlformats.org/officeDocument/2006/relationships/tableStyles" Target="/ppt/tableStyles.xml" Id="R08d6ffc8de734677" /><Relationship Type="http://schemas.openxmlformats.org/officeDocument/2006/relationships/slide" Target="/ppt/slides/slide1.xml" Id="R22d75aa2b9f44b08" /><Relationship Type="http://schemas.openxmlformats.org/officeDocument/2006/relationships/slide" Target="/ppt/slides/slide2.xml" Id="R2aef5cfadc934ab8" /><Relationship Type="http://schemas.openxmlformats.org/officeDocument/2006/relationships/slide" Target="/ppt/slides/slide3.xml" Id="R7eab6537ebc64b2b" /><Relationship Type="http://schemas.openxmlformats.org/officeDocument/2006/relationships/slide" Target="/ppt/slides/slide4.xml" Id="R1e00c279bb7b4324" /><Relationship Type="http://schemas.openxmlformats.org/officeDocument/2006/relationships/slide" Target="/ppt/slides/slide5.xml" Id="R796345f3c5e84a52" /><Relationship Type="http://schemas.openxmlformats.org/officeDocument/2006/relationships/slide" Target="/ppt/slides/slide6.xml" Id="R906b345855dd4711" /><Relationship Type="http://schemas.openxmlformats.org/officeDocument/2006/relationships/slide" Target="/ppt/slides/slide7.xml" Id="R5edfc3012dfa4234" /><Relationship Type="http://schemas.openxmlformats.org/officeDocument/2006/relationships/slide" Target="/ppt/slides/slide8.xml" Id="R14d1c6e19d9643b3" /><Relationship Type="http://schemas.openxmlformats.org/officeDocument/2006/relationships/slide" Target="/ppt/slides/slide9.xml" Id="R673bb371d8df40d3" /><Relationship Type="http://schemas.openxmlformats.org/officeDocument/2006/relationships/slide" Target="/ppt/slides/slide10.xml" Id="R6c80997a250b40c6" /><Relationship Type="http://schemas.openxmlformats.org/officeDocument/2006/relationships/slide" Target="/ppt/slides/slide11.xml" Id="R6531e7627b854a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ad600b8e5843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60d0ff2b434894" /><Relationship Type="http://schemas.openxmlformats.org/officeDocument/2006/relationships/notesMaster" Target="/ppt/notesMasters/notesMaster1.xml" Id="Ra815e97cfeb348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cd9db878d8442b" /><Relationship Type="http://schemas.openxmlformats.org/officeDocument/2006/relationships/notesMaster" Target="/ppt/notesMasters/notesMaster1.xml" Id="Rab0208053d3e4a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8cd0663f084695" /><Relationship Type="http://schemas.openxmlformats.org/officeDocument/2006/relationships/notesMaster" Target="/ppt/notesMasters/notesMaster1.xml" Id="R582539aa8e2c4b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84029b5e974cba" /><Relationship Type="http://schemas.openxmlformats.org/officeDocument/2006/relationships/notesMaster" Target="/ppt/notesMasters/notesMaster1.xml" Id="Rc817d7c3254d48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d949d9c7bc4e75" /><Relationship Type="http://schemas.openxmlformats.org/officeDocument/2006/relationships/notesMaster" Target="/ppt/notesMasters/notesMaster1.xml" Id="R7071d0bba8f94a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f0ef3212504e66" /><Relationship Type="http://schemas.openxmlformats.org/officeDocument/2006/relationships/notesMaster" Target="/ppt/notesMasters/notesMaster1.xml" Id="Ra569a116d98847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c5f92230844c0e" /><Relationship Type="http://schemas.openxmlformats.org/officeDocument/2006/relationships/notesMaster" Target="/ppt/notesMasters/notesMaster1.xml" Id="Rd6da8c739eda40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95837831a54bbd" /><Relationship Type="http://schemas.openxmlformats.org/officeDocument/2006/relationships/notesMaster" Target="/ppt/notesMasters/notesMaster1.xml" Id="Rff4466d90ad844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f2a73b32c624c7f" /><Relationship Type="http://schemas.openxmlformats.org/officeDocument/2006/relationships/notesMaster" Target="/ppt/notesMasters/notesMaster1.xml" Id="R6423430d990e421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0263205956d4f2c" /><Relationship Type="http://schemas.openxmlformats.org/officeDocument/2006/relationships/notesMaster" Target="/ppt/notesMasters/notesMaster1.xml" Id="R55599fd79ce44c3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05c85203e5e4236" /><Relationship Type="http://schemas.openxmlformats.org/officeDocument/2006/relationships/notesMaster" Target="/ppt/notesMasters/notesMaster1.xml" Id="R395dc1bfc5d147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Harsh Birje speaking guide</a:t>
            </a:r>
          </a:p>
          <a:p xmlns:a="http://schemas.openxmlformats.org/drawingml/2006/main">
            <a:r>
              <a:t>Introduce the selected practical topic: E-Commerce Sales Analytics using DuckDB, SQL and Python.</a:t>
            </a:r>
          </a:p>
          <a:p xmlns:a="http://schemas.openxmlformats.org/drawingml/2006/main">
            <a:r>
              <a:t>State the extension clearly: the project covers both batch analytics and strict event-driven ingestion through RabbitMQ.</a:t>
            </a:r>
          </a:p>
          <a:p xmlns:a="http://schemas.openxmlformats.org/drawingml/2006/main">
            <a:r>
              <a:t>Mention that the repository, report, evidence and runnable code are part of the submission.</a:t>
            </a:r>
          </a:p>
          <a:p xmlns:a="http://schemas.openxmlformats.org/drawingml/2006/main">
            <a:r>
              <a:t>Handoff: Harsh Birje continues with the problem and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Harsh Birje speaking guide</a:t>
            </a:r>
          </a:p>
          <a:p xmlns:a="http://schemas.openxmlformats.org/drawingml/2006/main">
            <a:r>
              <a:t>Explain that the historical dataset is synthetic and deterministic. It contains deliberate defects so cleaning can be demonstrated safely and repeatedly.</a:t>
            </a:r>
          </a:p>
          <a:p xmlns:a="http://schemas.openxmlformats.org/drawingml/2006/main">
            <a:r>
              <a:t>The public DummyJSON snapshot adds a current external API source. The streaming simulator adds new events continuously, but it does not represent a real company's orders.</a:t>
            </a:r>
          </a:p>
          <a:p xmlns:a="http://schemas.openxmlformats.org/drawingml/2006/main">
            <a:r>
              <a:t>Define success: valid data, reusable SQL, measurable query performance, visible business insights and idempotent live ingestion.</a:t>
            </a:r>
          </a:p>
          <a:p xmlns:a="http://schemas.openxmlformats.org/drawingml/2006/main">
            <a:r>
              <a:t>Rubric coverage: environment setup, dataset load, transformations, optimization, captured output and performance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Harsh Birje speaking guide</a:t>
            </a:r>
          </a:p>
          <a:p xmlns:a="http://schemas.openxmlformats.org/drawingml/2006/main">
            <a:r>
              <a:t>Walk through the upper lane first. CSV and API data enter a repeatable ETL job, then DuckDB stores the warehouse and Parquet holds a compressed analytical copy.</a:t>
            </a:r>
          </a:p>
          <a:p xmlns:a="http://schemas.openxmlformats.org/drawingml/2006/main">
            <a:r>
              <a:t>Walk through the lower lane second. FastAPI accepts an order only after RabbitMQ confirms publication. The consumer acknowledges it only after a successful DuckDB insert.</a:t>
            </a:r>
          </a:p>
          <a:p xmlns:a="http://schemas.openxmlformats.org/drawingml/2006/main">
            <a:r>
              <a:t>Explain why there are two DuckDB files: one read-mostly historical warehouse and one single-process real-time staging database.</a:t>
            </a:r>
          </a:p>
          <a:p xmlns:a="http://schemas.openxmlformats.org/drawingml/2006/main">
            <a:r>
              <a:t>Handoff to Aayush Chavanke: the next slides explain how the data becomes trustworthy and queryable.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Aayush Chavanke speaking guide</a:t>
            </a:r>
          </a:p>
          <a:p xmlns:a="http://schemas.openxmlformats.org/drawingml/2006/main">
            <a:r>
              <a:t>Start with profiling: 250,250 raw rows include 250 deliberate duplicate rows. Typing leaves 250,000 rows, and the business rules reject 1,445 rows.</a:t>
            </a:r>
          </a:p>
          <a:p xmlns:a="http://schemas.openxmlformats.org/drawingml/2006/main">
            <a:r>
              <a:t>Explain TRY_CAST: it prevents one malformed value from stopping the load. Instead, the row can be inspected and routed to rejected_orders.</a:t>
            </a:r>
          </a:p>
          <a:p xmlns:a="http://schemas.openxmlformats.org/drawingml/2006/main">
            <a:r>
              <a:t>The rejected table supports auditability because it stores the original fields and a concatenated rejection reason.</a:t>
            </a:r>
          </a:p>
          <a:p xmlns:a="http://schemas.openxmlformats.org/drawingml/2006/main">
            <a:r>
              <a:t>Source: evidence/data_quality.json and sql/schema.sql in the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Aayush Chavanke speaking guide</a:t>
            </a:r>
          </a:p>
          <a:p xmlns:a="http://schemas.openxmlformats.org/drawingml/2006/main">
            <a:r>
              <a:t>Define the grain before the tables: one fact row represents one accepted order line.</a:t>
            </a:r>
          </a:p>
          <a:p xmlns:a="http://schemas.openxmlformats.org/drawingml/2006/main">
            <a:r>
              <a:t>DuckDB generates surrogate product and customer keys with ROW_NUMBER. The date key uses YYYYMMDD so filtering and joins remain simple.</a:t>
            </a:r>
          </a:p>
          <a:p xmlns:a="http://schemas.openxmlformats.org/drawingml/2006/main">
            <a:r>
              <a:t>This design is intentionally dimensional for analytics. The rejected table remains separate so bad rows never contaminate the facts.</a:t>
            </a:r>
          </a:p>
          <a:p xmlns:a="http://schemas.openxmlformats.org/drawingml/2006/main">
            <a:r>
              <a:t>The pipeline exports the enriched dataset as ZSTD Parquet partitioned by year and month for column pruning and compression.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Aayush Chavanke speaking guide</a:t>
            </a:r>
          </a:p>
          <a:p xmlns:a="http://schemas.openxmlformats.org/drawingml/2006/main">
            <a:r>
              <a:t>Explain why views matter: the realized-revenue rule includes Delivered and Shipped orders and should not be retyped in every dashboard query.</a:t>
            </a:r>
          </a:p>
          <a:p xmlns:a="http://schemas.openxmlformats.org/drawingml/2006/main">
            <a:r>
              <a:t>LAG compares each month with the previous month. ROLLUP and CUBE produce subtotal combinations without manual UNION statements.</a:t>
            </a:r>
          </a:p>
          <a:p xmlns:a="http://schemas.openxmlformats.org/drawingml/2006/main">
            <a:r>
              <a:t>The grouping-sets output contains 30 region-category detail rows, 5 regional totals, 6 category totals and one grand total.</a:t>
            </a:r>
          </a:p>
          <a:p xmlns:a="http://schemas.openxmlformats.org/drawingml/2006/main">
            <a:r>
              <a:t>Handoff to Aniket Nikam: the next section evaluates speed and shows the BI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Aniket Nikam speaking guide</a:t>
            </a:r>
          </a:p>
          <a:p xmlns:a="http://schemas.openxmlformats.org/drawingml/2006/main">
            <a:r>
              <a:t>All bars use the same analytical query and five runs. The slide shows median milliseconds, so smaller bars mean faster execution.</a:t>
            </a:r>
          </a:p>
          <a:p xmlns:a="http://schemas.openxmlformats.org/drawingml/2006/main">
            <a:r>
              <a:t>At four threads, DuckDB took 29.319 ms, Parquet took 57.009 ms and CSV took 330.050 ms.</a:t>
            </a:r>
          </a:p>
          <a:p xmlns:a="http://schemas.openxmlformats.org/drawingml/2006/main">
            <a:r>
              <a:t>Do not call this a distributed cluster benchmark. It is a local scale-up comparison across storage formats and thread counts.</a:t>
            </a:r>
          </a:p>
          <a:p xmlns:a="http://schemas.openxmlformats.org/drawingml/2006/main">
            <a:r>
              <a:t>Source: evidence/tables/benchmark_results.csv and evidence/plans/category_revenue_explain_analyze.txt.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Aniket Nikam speaking guide</a:t>
            </a:r>
          </a:p>
          <a:p xmlns:a="http://schemas.openxmlformats.org/drawingml/2006/main">
            <a:r>
              <a:t>Demonstrate the filters for date, region and category. The KPI queries run against the enriched warehouse view, not raw CSV.</a:t>
            </a:r>
          </a:p>
          <a:p xmlns:a="http://schemas.openxmlformats.org/drawingml/2006/main">
            <a:r>
              <a:t>Explain the distinction between gross and realized revenue. Realized revenue includes only Delivered and Shipped status values.</a:t>
            </a:r>
          </a:p>
          <a:p xmlns:a="http://schemas.openxmlformats.org/drawingml/2006/main">
            <a:r>
              <a:t>Use the plots to answer business questions: trend over time, strongest categories, region and channel performance, return-rate risk and top products.</a:t>
            </a:r>
          </a:p>
          <a:p xmlns:a="http://schemas.openxmlformats.org/drawingml/2006/main">
            <a:r>
              <a:t>Source: evidence/dashboard_full.png and evidence/tables/kpis.json.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Aniket Nikam speaking guide</a:t>
            </a:r>
          </a:p>
          <a:p xmlns:a="http://schemas.openxmlformats.org/drawingml/2006/main">
            <a:r>
              <a:t>RabbitMQ sits between the API and database so short consumer interruptions do not lose accepted orders.</a:t>
            </a:r>
          </a:p>
          <a:p xmlns:a="http://schemas.openxmlformats.org/drawingml/2006/main">
            <a:r>
              <a:t>Durable queue and persistent messages address broker restarts. Publisher confirms address uncertainty during publication.</a:t>
            </a:r>
          </a:p>
          <a:p xmlns:a="http://schemas.openxmlformats.org/drawingml/2006/main">
            <a:r>
              <a:t>Manual acknowledgement changes the failure point: a message leaves the queue only after the database insert succeeds.</a:t>
            </a:r>
          </a:p>
          <a:p xmlns:a="http://schemas.openxmlformats.org/drawingml/2006/main">
            <a:r>
              <a:t>event_id is the idempotency key. A redelivered message reaches ON CONFLICT DO NOTHING and does not double revenue.</a:t>
            </a:r>
          </a:p>
          <a:p xmlns:a="http://schemas.openxmlformats.org/drawingml/2006/main">
            <a:r>
              <a:t>Handoff to Lokesh Ture: the remaining slides cover the API contract, deployment and live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Lokesh Ture speaking guide</a:t>
            </a:r>
          </a:p>
          <a:p xmlns:a="http://schemas.openxmlformats.org/drawingml/2006/main">
            <a:r>
              <a:t>Explain that Pydantic checks required IDs, quantity from 1 to 100, positive price and a fractional discount from 0 to 0.80.</a:t>
            </a:r>
          </a:p>
          <a:p xmlns:a="http://schemas.openxmlformats.org/drawingml/2006/main">
            <a:r>
              <a:t>The API returns 202 only after RabbitMQ confirms publication. The consumer may write the event a moment later.</a:t>
            </a:r>
          </a:p>
          <a:p xmlns:a="http://schemas.openxmlformats.org/drawingml/2006/main">
            <a:r>
              <a:t>Use http://127.0.0.1:8001/docs for the host demo. The container still listens on port 8000 internally.</a:t>
            </a:r>
          </a:p>
          <a:p xmlns:a="http://schemas.openxmlformats.org/drawingml/2006/main">
            <a:r>
              <a:t>Be precise about the word live: the transport and processing are real, while the order source is a continuous simulator.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Lokesh Ture speaking guide</a:t>
            </a:r>
          </a:p>
          <a:p xmlns:a="http://schemas.openxmlformats.org/drawingml/2006/main">
            <a:r>
              <a:t>Close by following the data from source to decision. Raw CSV and the public API snapshot enter the quality layer, accepted rows enter the warehouse and live orders enter through RabbitMQ.</a:t>
            </a:r>
          </a:p>
          <a:p xmlns:a="http://schemas.openxmlformats.org/drawingml/2006/main">
            <a:r>
              <a:t>The warehouse provides one definition for revenue, growth and repeat customers. This prevents each dashboard chart from applying different business rules.</a:t>
            </a:r>
          </a:p>
          <a:p xmlns:a="http://schemas.openxmlformats.org/drawingml/2006/main">
            <a:r>
              <a:t>The measured results prove that the pipeline completed at the intended scale and that columnar execution reduced the benchmark time.</a:t>
            </a:r>
          </a:p>
          <a:p xmlns:a="http://schemas.openxmlformats.org/drawingml/2006/main">
            <a:r>
              <a:t>The live source is simulated, while FastAPI validation, RabbitMQ transport, consumer processing, idempotent DuckDB storage and dashboard refresh form the actual near real time path.</a:t>
            </a:r>
          </a:p>
          <a:p xmlns:a="http://schemas.openxmlformats.org/drawingml/2006/main">
            <a:r>
              <a:t>End with the limitation: this is an educational local platform, not a hard real time production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c3ff28b485410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7c682e4140a408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3a00256743f432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2ea1b9e9987494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264a4b7e1a3485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977b51b875c47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B81DB5-DD74-4B97-B276-57BE25096EF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EC75211-BE36-4232-8752-CD294D4EDBE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7E94B54-DDB1-4274-94DA-C25C22F6793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11CFE9-71CD-4378-840D-2F8986E197E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DB7F465-1FFB-475C-9A41-3CDFA0CD13D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84F4729-D0E1-4706-BD8C-5F70295026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209E2E4-E664-4514-935F-76B8755521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554D541-2568-42AB-BB22-043C82095E8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ECCCE2-6415-4D82-AF9B-68C022BE0E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2860B4-98C9-42B7-8ADF-6C74F65496F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13282c01f154073" /><Relationship Type="http://schemas.openxmlformats.org/officeDocument/2006/relationships/slideLayout" Target="/ppt/slideLayouts/slideLayout1.xml" Id="R8ce72be36b214391" /><Relationship Type="http://schemas.openxmlformats.org/officeDocument/2006/relationships/slideLayout" Target="/ppt/slideLayouts/slideLayout2.xml" Id="R0fb70ea0da774bbc" /><Relationship Type="http://schemas.openxmlformats.org/officeDocument/2006/relationships/slideLayout" Target="/ppt/slideLayouts/slideLayout3.xml" Id="R662cff0afb4747f0" /><Relationship Type="http://schemas.openxmlformats.org/officeDocument/2006/relationships/slideLayout" Target="/ppt/slideLayouts/slideLayout4.xml" Id="R9676c34055b8437d" /><Relationship Type="http://schemas.openxmlformats.org/officeDocument/2006/relationships/slideLayout" Target="/ppt/slideLayouts/slideLayout5.xml" Id="Re9fda6d2117a4cc2" /><Relationship Type="http://schemas.openxmlformats.org/officeDocument/2006/relationships/slideLayout" Target="/ppt/slideLayouts/slideLayout6.xml" Id="Ra6a314d45b704a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e72be36b214391"/>
    <p:sldLayoutId xmlns:r="http://schemas.openxmlformats.org/officeDocument/2006/relationships" id="2147483650" r:id="R0fb70ea0da774bbc"/>
    <p:sldLayoutId xmlns:r="http://schemas.openxmlformats.org/officeDocument/2006/relationships" id="2147483651" r:id="R662cff0afb4747f0"/>
    <p:sldLayoutId xmlns:r="http://schemas.openxmlformats.org/officeDocument/2006/relationships" id="2147483652" r:id="R9676c34055b8437d"/>
    <p:sldLayoutId xmlns:r="http://schemas.openxmlformats.org/officeDocument/2006/relationships" id="2147483653" r:id="Re9fda6d2117a4cc2"/>
    <p:sldLayoutId xmlns:r="http://schemas.openxmlformats.org/officeDocument/2006/relationships" id="2147483654" r:id="Ra6a314d45b704a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721e35088374368" /><Relationship Type="http://schemas.openxmlformats.org/officeDocument/2006/relationships/notesSlide" Target="/ppt/notesSlides/notesSlide1.xml" Id="Rbdfb450db7d042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68c6b2b91d54592" /><Relationship Type="http://schemas.openxmlformats.org/officeDocument/2006/relationships/notesSlide" Target="/ppt/notesSlides/notesSlide2.xml" Id="R0d4d946f657c43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ec4cf656f024c30" /><Relationship Type="http://schemas.openxmlformats.org/officeDocument/2006/relationships/notesSlide" Target="/ppt/notesSlides/notesSlide3.xml" Id="R51f6714e009e41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2a528a5186e40cd" /><Relationship Type="http://schemas.openxmlformats.org/officeDocument/2006/relationships/notesSlide" Target="/ppt/notesSlides/notesSlide4.xml" Id="R3016b2b11dcd48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618052f1f334e43" /><Relationship Type="http://schemas.openxmlformats.org/officeDocument/2006/relationships/notesSlide" Target="/ppt/notesSlides/notesSlide5.xml" Id="R0a1f13d14ead4c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111597ec8a2441c" /><Relationship Type="http://schemas.openxmlformats.org/officeDocument/2006/relationships/notesSlide" Target="/ppt/notesSlides/notesSlide6.xml" Id="Rd770adda33534a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a557c5f21a044b0" /><Relationship Type="http://schemas.openxmlformats.org/officeDocument/2006/relationships/chart" Target="/ppt/slides/charts/chart1.xml" Id="R68ff78ee885144b7" /><Relationship Type="http://schemas.openxmlformats.org/officeDocument/2006/relationships/notesSlide" Target="/ppt/notesSlides/notesSlide7.xml" Id="R828ee947597c4d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30cf0c9239d49a2" /><Relationship Type="http://schemas.openxmlformats.org/officeDocument/2006/relationships/image" Target="/ppt/media/image.jpeg" Id="R9c1418f4e8924d81" /><Relationship Type="http://schemas.openxmlformats.org/officeDocument/2006/relationships/notesSlide" Target="/ppt/notesSlides/notesSlide8.xml" Id="R48778f484b92425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c0a2b62349f4495" /><Relationship Type="http://schemas.openxmlformats.org/officeDocument/2006/relationships/notesSlide" Target="/ppt/notesSlides/notesSlide9.xml" Id="R499be12467c94c5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f574c21ba204562" /><Relationship Type="http://schemas.openxmlformats.org/officeDocument/2006/relationships/notesSlide" Target="/ppt/notesSlides/notesSlide10.xml" Id="R5856447df442453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a563eaa62f9404b" /><Relationship Type="http://schemas.openxmlformats.org/officeDocument/2006/relationships/notesSlide" Target="/ppt/notesSlides/notesSlide11.xml" Id="Rede242bcfadf40db" /></Relationships>
</file>

<file path=ppt/slides/charts/chart1.xml><?xml version="1.0" encoding="utf-8"?>
<c:chartSpace xmlns:c="http://schemas.openxmlformats.org/drawingml/2006/chart">
  <c:lang val="en-US"/>
  <c:chart>
    <c:plotArea>
      <c:barChart>
        <c:barDir val="col"/>
        <c:grouping val="clustered"/>
        <c:varyColors val="0"/>
        <c:ser>
          <c:idx val="0"/>
          <c:order val="0"/>
          <c:tx>
            <c:v>1 thread</c:v>
          </c:tx>
          <c:spPr>
            <a:solidFill xmlns:a="http://schemas.openxmlformats.org/drawingml/2006/main">
              <a:srgbClr val="5267D7"/>
            </a:solidFill>
          </c:spPr>
          <c:invertIfNegative val="0"/>
          <c:cat>
            <c:strLit>
              <c:ptCount val="3"/>
              <c:pt idx="0">
                <c:v>CSV</c:v>
              </c:pt>
              <c:pt idx="1">
                <c:v>Parquet</c:v>
              </c:pt>
              <c:pt idx="2">
                <c:v>DuckDB</c:v>
              </c:pt>
            </c:strLit>
          </c:cat>
          <c:val>
            <c:numLit>
              <c:formatCode>0.0</c:formatCode>
              <c:ptCount val="3"/>
              <c:pt idx="0">
                <c:v>674.031</c:v>
              </c:pt>
              <c:pt idx="1">
                <c:v>104.65</c:v>
              </c:pt>
              <c:pt idx="2">
                <c:v>44.775</c:v>
              </c:pt>
            </c:numLit>
          </c:val>
        </c:ser>
        <c:ser>
          <c:idx val="1"/>
          <c:order val="1"/>
          <c:tx>
            <c:v>4 threads</c:v>
          </c:tx>
          <c:spPr>
            <a:solidFill xmlns:a="http://schemas.openxmlformats.org/drawingml/2006/main">
              <a:srgbClr val="16B8A6"/>
            </a:solidFill>
          </c:spPr>
          <c:invertIfNegative val="0"/>
          <c:cat>
            <c:strLit>
              <c:ptCount val="3"/>
              <c:pt idx="0">
                <c:v>CSV</c:v>
              </c:pt>
              <c:pt idx="1">
                <c:v>Parquet</c:v>
              </c:pt>
              <c:pt idx="2">
                <c:v>DuckDB</c:v>
              </c:pt>
            </c:strLit>
          </c:cat>
          <c:val>
            <c:numLit>
              <c:formatCode>0.0</c:formatCode>
              <c:ptCount val="3"/>
              <c:pt idx="0">
                <c:v>330.05</c:v>
              </c:pt>
              <c:pt idx="1">
                <c:v>57.009</c:v>
              </c:pt>
              <c:pt idx="2">
                <c:v>29.319</c:v>
              </c:pt>
            </c:numLit>
          </c:val>
        </c:ser>
        <c:dLbls>
          <c:numFmt formatCode="0.0" sourceLinked="0"/>
          <c:txPr>
            <a:bodyPr xmlns:a="http://schemas.openxmlformats.org/drawingml/2006/main" anchorCtr="1"/>
            <a:lstStyle xmlns:a="http://schemas.openxmlformats.org/drawingml/2006/main"/>
            <a:p xmlns:a="http://schemas.openxmlformats.org/drawingml/2006/main">
              <a:pPr>
                <a:defRPr sz="1125">
                  <a:solidFill>
                    <a:srgbClr val="172033"/>
                  </a:solidFill>
                  <a:latin typeface="Segoe UI"/>
                  <a:ea typeface="Segoe UI"/>
                  <a:cs typeface="Segoe U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172033"/>
                </a:solidFill>
                <a:latin typeface="Segoe UI"/>
                <a:ea typeface="Segoe UI"/>
                <a:cs typeface="Segoe UI"/>
              </a:defRPr>
            </a:pPr>
          </a:p>
        </c:txPr>
        <c:crossAx val="48672768"/>
      </c:catAx>
      <c:valAx>
        <c:axId val="48672768"/>
        <c:scaling>
          <c:orientation val="minMax"/>
        </c:scaling>
        <c:delete val="0"/>
        <c:axPos val="l"/>
        <c:majorGridlines>
          <c:spPr>
            <a:ln xmlns:a="http://schemas.openxmlformats.org/drawingml/2006/main" w="9525">
              <a:solidFill>
                <a:srgbClr val="DCE2EA"/>
              </a:solidFill>
              <a:prstDash val="solid"/>
            </a:ln>
          </c:spPr>
        </c:majorGridlines>
        <c:title>
          <c:tx>
            <c:rich>
              <a:bodyPr xmlns:a="http://schemas.openxmlformats.org/drawingml/2006/main"/>
              <a:lstStyle xmlns:a="http://schemas.openxmlformats.org/drawingml/2006/main"/>
              <a:p xmlns:a="http://schemas.openxmlformats.org/drawingml/2006/main">
                <a:r>
                  <a:rPr sz="1275">
                    <a:solidFill>
                      <a:srgbClr val="56657A"/>
                    </a:solidFill>
                    <a:latin typeface="Segoe UI"/>
                    <a:ea typeface="Segoe UI"/>
                    <a:cs typeface="Segoe UI"/>
                  </a:rPr>
                  <a:t>Median query time (ms)</a:t>
                </a:r>
              </a:p>
            </c:rich>
          </c:tx>
          <c:overlay val="0"/>
          <c:txPr>
            <a:bodyPr xmlns:a="http://schemas.openxmlformats.org/drawingml/2006/main" anchorCtr="1"/>
            <a:lstStyle xmlns:a="http://schemas.openxmlformats.org/drawingml/2006/main"/>
            <a:p xmlns:a="http://schemas.openxmlformats.org/drawingml/2006/main">
              <a:pPr>
                <a:defRPr sz="1275">
                  <a:solidFill>
                    <a:srgbClr val="56657A"/>
                  </a:solidFill>
                  <a:latin typeface="Segoe UI"/>
                  <a:ea typeface="Segoe UI"/>
                  <a:cs typeface="Segoe UI"/>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6657A"/>
                </a:solidFill>
                <a:latin typeface="Segoe UI"/>
                <a:ea typeface="Segoe UI"/>
                <a:cs typeface="Segoe UI"/>
              </a:defRPr>
            </a:pPr>
          </a:p>
        </c:txPr>
        <c:crossAx val="48650112"/>
        <c:crossBetween val="between"/>
      </c:valAx>
      <c:spPr>
        <a:solidFill xmlns:a="http://schemas.openxmlformats.org/drawingml/2006/main">
          <a:srgbClr val="FFFFFF"/>
        </a:solidFill>
        <a:ln xmlns:a="http://schemas.openxmlformats.org/drawingml/2006/main" w="9525">
          <a:solidFill>
            <a:srgbClr val="DCE2EA"/>
          </a:solidFill>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56657A"/>
              </a:solidFill>
              <a:latin typeface="Segoe UI"/>
              <a:ea typeface="Segoe UI"/>
              <a:cs typeface="Segoe UI"/>
            </a:defRPr>
          </a:pPr>
        </a:p>
      </c:txPr>
    </c:legend>
    <c:plotVisOnly val="1"/>
  </c:chart>
  <c:spPr>
    <a:solidFill xmlns:a="http://schemas.openxmlformats.org/drawingml/2006/main">
      <a:srgbClr val="F7F8FA"/>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01C3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FC27766-FBDF-48B4-98D4-4423F69B62E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2A03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F6F93E9-1701-47AE-8218-B928EC043A8C}"/>
              </a:ext>
            </a:extLst>
          </p:cNvPr>
          <p:cNvSpPr>
            <a:spLocks xmlns:a="http://schemas.openxmlformats.org/drawingml/2006/main" noGrp="1"/>
          </p:cNvSpPr>
          <p:nvPr/>
        </p:nvSpPr>
        <p:spPr>
          <a:xfrm xmlns:a="http://schemas.openxmlformats.org/drawingml/2006/main">
            <a:off x="762000" y="7239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defPPr algn="l">
              <a:defRPr sz="1350" b="1">
                <a:solidFill>
                  <a:srgbClr val="16B8A6"/>
                </a:solidFill>
                <a:latin typeface="Segoe UI"/>
                <a:ea typeface="Segoe UI"/>
                <a:cs typeface="Segoe UI"/>
              </a:defRPr>
            </a:defPPr>
          </a:lstStyle>
          <a:p xmlns:a="http://schemas.openxmlformats.org/drawingml/2006/main">
            <a:pPr algn="l">
              <a:defRPr sz="1350" b="1">
                <a:solidFill>
                  <a:srgbClr val="16B8A6"/>
                </a:solidFill>
                <a:latin typeface="Segoe UI"/>
                <a:ea typeface="Segoe UI"/>
                <a:cs typeface="Segoe UI"/>
              </a:defRPr>
            </a:pPr>
            <a:r>
              <a:rPr sz="1350" b="1">
                <a:solidFill>
                  <a:srgbClr val="16B8A6"/>
                </a:solidFill>
                <a:latin typeface="Segoe UI"/>
                <a:ea typeface="Segoe UI"/>
                <a:cs typeface="Segoe UI"/>
              </a:rPr>
              <a:t>PRACTICAL CASE STUDY 11</a:t>
            </a:r>
          </a:p>
        </p:txBody>
      </p:sp>
      <p:sp>
        <p:nvSpPr>
          <p:cNvPr id="3" name="">
            <a:extLst xmlns:a="http://schemas.openxmlformats.org/drawingml/2006/main">
              <a:ext uri="{FF2B5EF4-FFF2-40B4-BE49-F238E27FC236}">
                <a16:creationId xmlns:a16="http://schemas.microsoft.com/office/drawing/2014/main" id="{E145E4DF-7830-415F-B39C-9FFF29C79494}"/>
              </a:ext>
            </a:extLst>
          </p:cNvPr>
          <p:cNvSpPr>
            <a:spLocks xmlns:a="http://schemas.openxmlformats.org/drawingml/2006/main" noGrp="1"/>
          </p:cNvSpPr>
          <p:nvPr/>
        </p:nvSpPr>
        <p:spPr>
          <a:xfrm xmlns:a="http://schemas.openxmlformats.org/drawingml/2006/main">
            <a:off x="762000" y="1219200"/>
            <a:ext cx="72390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149"/>
          </a:bodyPr>
          <a:lstStyle xmlns:a="http://schemas.openxmlformats.org/drawingml/2006/main">
            <a:defPPr algn="l">
              <a:defRPr sz="4350" b="1">
                <a:solidFill>
                  <a:srgbClr val="FFFFFF"/>
                </a:solidFill>
                <a:latin typeface="Segoe UI"/>
                <a:ea typeface="Segoe UI"/>
                <a:cs typeface="Segoe UI"/>
              </a:defRPr>
            </a:defPPr>
          </a:lstStyle>
          <a:p xmlns:a="http://schemas.openxmlformats.org/drawingml/2006/main">
            <a:pPr algn="l">
              <a:defRPr sz="4350" b="1">
                <a:solidFill>
                  <a:srgbClr val="FFFFFF"/>
                </a:solidFill>
                <a:latin typeface="Segoe UI"/>
                <a:ea typeface="Segoe UI"/>
                <a:cs typeface="Segoe UI"/>
              </a:defRPr>
            </a:pPr>
            <a:r>
              <a:rPr sz="4350" b="1">
                <a:solidFill>
                  <a:srgbClr val="FFFFFF"/>
                </a:solidFill>
                <a:latin typeface="Segoe UI"/>
                <a:ea typeface="Segoe UI"/>
                <a:cs typeface="Segoe UI"/>
              </a:rPr>
              <a:t>E-Commerce Sales Analytics</a:t>
            </a:r>
          </a:p>
          <a:p xmlns:a="http://schemas.openxmlformats.org/drawingml/2006/main">
            <a:pPr algn="l">
              <a:defRPr sz="4350" b="1">
                <a:solidFill>
                  <a:srgbClr val="FFFFFF"/>
                </a:solidFill>
                <a:latin typeface="Segoe UI"/>
                <a:ea typeface="Segoe UI"/>
                <a:cs typeface="Segoe UI"/>
              </a:defRPr>
            </a:pPr>
            <a:r>
              <a:rPr sz="4350" b="1">
                <a:solidFill>
                  <a:srgbClr val="FFFFFF"/>
                </a:solidFill>
                <a:latin typeface="Segoe UI"/>
                <a:ea typeface="Segoe UI"/>
                <a:cs typeface="Segoe UI"/>
              </a:rPr>
              <a:t>using DuckDB</a:t>
            </a:r>
          </a:p>
        </p:txBody>
      </p:sp>
      <p:sp>
        <p:nvSpPr>
          <p:cNvPr id="4" name="">
            <a:extLst xmlns:a="http://schemas.openxmlformats.org/drawingml/2006/main">
              <a:ext uri="{FF2B5EF4-FFF2-40B4-BE49-F238E27FC236}">
                <a16:creationId xmlns:a16="http://schemas.microsoft.com/office/drawing/2014/main" id="{B3BE819A-CE22-4DFB-9867-7339B75CD01A}"/>
              </a:ext>
            </a:extLst>
          </p:cNvPr>
          <p:cNvSpPr>
            <a:spLocks xmlns:a="http://schemas.openxmlformats.org/drawingml/2006/main" noGrp="1"/>
          </p:cNvSpPr>
          <p:nvPr/>
        </p:nvSpPr>
        <p:spPr>
          <a:xfrm xmlns:a="http://schemas.openxmlformats.org/drawingml/2006/main">
            <a:off x="781050" y="2952750"/>
            <a:ext cx="8286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950" b="0">
                <a:solidFill>
                  <a:srgbClr val="C9D4E5"/>
                </a:solidFill>
                <a:latin typeface="Segoe UI"/>
                <a:ea typeface="Segoe UI"/>
                <a:cs typeface="Segoe UI"/>
              </a:defRPr>
            </a:defPPr>
          </a:lstStyle>
          <a:p xmlns:a="http://schemas.openxmlformats.org/drawingml/2006/main">
            <a:pPr algn="l">
              <a:defRPr sz="1950" b="0">
                <a:solidFill>
                  <a:srgbClr val="C9D4E5"/>
                </a:solidFill>
                <a:latin typeface="Segoe UI"/>
                <a:ea typeface="Segoe UI"/>
                <a:cs typeface="Segoe UI"/>
              </a:defRPr>
            </a:pPr>
            <a:r>
              <a:rPr sz="1950" b="0">
                <a:solidFill>
                  <a:srgbClr val="C9D4E5"/>
                </a:solidFill>
                <a:latin typeface="Segoe UI"/>
                <a:ea typeface="Segoe UI"/>
                <a:cs typeface="Segoe UI"/>
              </a:rPr>
              <a:t>A practical data platform that cleans historical sales, answers business questions and processes new orders through RabbitMQ</a:t>
            </a:r>
          </a:p>
        </p:txBody>
      </p:sp>
      <p:sp>
        <p:nvSpPr>
          <p:cNvPr id="5" name="">
            <a:extLst xmlns:a="http://schemas.openxmlformats.org/drawingml/2006/main">
              <a:ext uri="{FF2B5EF4-FFF2-40B4-BE49-F238E27FC236}">
                <a16:creationId xmlns:a16="http://schemas.microsoft.com/office/drawing/2014/main" id="{8441CC18-5E05-4AF6-BA24-1085251C892A}"/>
              </a:ext>
            </a:extLst>
          </p:cNvPr>
          <p:cNvSpPr>
            <a:spLocks xmlns:a="http://schemas.openxmlformats.org/drawingml/2006/main" noGrp="1"/>
          </p:cNvSpPr>
          <p:nvPr/>
        </p:nvSpPr>
        <p:spPr>
          <a:xfrm xmlns:a="http://schemas.openxmlformats.org/drawingml/2006/main">
            <a:off x="781050" y="3886200"/>
            <a:ext cx="10458450" cy="19050"/>
          </a:xfrm>
          <a:prstGeom xmlns:a="http://schemas.openxmlformats.org/drawingml/2006/main" prst="rect">
            <a:avLst/>
          </a:prstGeom>
          <a:solidFill xmlns:a="http://schemas.openxmlformats.org/drawingml/2006/main">
            <a:srgbClr val="34445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6EB5776-017D-4190-8FE7-5A91CFA4B6D3}"/>
              </a:ext>
            </a:extLst>
          </p:cNvPr>
          <p:cNvSpPr>
            <a:spLocks xmlns:a="http://schemas.openxmlformats.org/drawingml/2006/main" noGrp="1"/>
          </p:cNvSpPr>
          <p:nvPr/>
        </p:nvSpPr>
        <p:spPr>
          <a:xfrm xmlns:a="http://schemas.openxmlformats.org/drawingml/2006/main">
            <a:off x="781050" y="411480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defPPr algn="l">
              <a:defRPr sz="1275" b="1">
                <a:solidFill>
                  <a:srgbClr val="16B8A6"/>
                </a:solidFill>
                <a:latin typeface="Segoe UI"/>
                <a:ea typeface="Segoe UI"/>
                <a:cs typeface="Segoe UI"/>
              </a:defRPr>
            </a:defPPr>
          </a:lstStyle>
          <a:p xmlns:a="http://schemas.openxmlformats.org/drawingml/2006/main">
            <a:pPr algn="l">
              <a:defRPr sz="1275" b="1">
                <a:solidFill>
                  <a:srgbClr val="16B8A6"/>
                </a:solidFill>
                <a:latin typeface="Segoe UI"/>
                <a:ea typeface="Segoe UI"/>
                <a:cs typeface="Segoe UI"/>
              </a:defRPr>
            </a:pPr>
            <a:r>
              <a:rPr sz="1275" b="1">
                <a:solidFill>
                  <a:srgbClr val="16B8A6"/>
                </a:solidFill>
                <a:latin typeface="Segoe UI"/>
                <a:ea typeface="Segoe UI"/>
                <a:cs typeface="Segoe UI"/>
              </a:rPr>
              <a:t>TEAM MEMBERS</a:t>
            </a:r>
          </a:p>
        </p:txBody>
      </p:sp>
      <p:sp>
        <p:nvSpPr>
          <p:cNvPr id="7" name="">
            <a:extLst xmlns:a="http://schemas.openxmlformats.org/drawingml/2006/main">
              <a:ext uri="{FF2B5EF4-FFF2-40B4-BE49-F238E27FC236}">
                <a16:creationId xmlns:a16="http://schemas.microsoft.com/office/drawing/2014/main" id="{00C3A81D-ECAE-4DED-8948-5221C4E9D39A}"/>
              </a:ext>
            </a:extLst>
          </p:cNvPr>
          <p:cNvSpPr>
            <a:spLocks xmlns:a="http://schemas.openxmlformats.org/drawingml/2006/main" noGrp="1"/>
          </p:cNvSpPr>
          <p:nvPr/>
        </p:nvSpPr>
        <p:spPr>
          <a:xfrm xmlns:a="http://schemas.openxmlformats.org/drawingml/2006/main">
            <a:off x="781050" y="44767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Member 1  Harsh Birje</a:t>
            </a:r>
          </a:p>
        </p:txBody>
      </p:sp>
      <p:sp>
        <p:nvSpPr>
          <p:cNvPr id="8" name="">
            <a:extLst xmlns:a="http://schemas.openxmlformats.org/drawingml/2006/main">
              <a:ext uri="{FF2B5EF4-FFF2-40B4-BE49-F238E27FC236}">
                <a16:creationId xmlns:a16="http://schemas.microsoft.com/office/drawing/2014/main" id="{E6F55E82-0307-415F-8BAE-79D43FC57F02}"/>
              </a:ext>
            </a:extLst>
          </p:cNvPr>
          <p:cNvSpPr>
            <a:spLocks xmlns:a="http://schemas.openxmlformats.org/drawingml/2006/main" noGrp="1"/>
          </p:cNvSpPr>
          <p:nvPr/>
        </p:nvSpPr>
        <p:spPr>
          <a:xfrm xmlns:a="http://schemas.openxmlformats.org/drawingml/2006/main">
            <a:off x="3943350" y="447675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Member 2  Aayush Chavanke</a:t>
            </a:r>
          </a:p>
        </p:txBody>
      </p:sp>
      <p:sp>
        <p:nvSpPr>
          <p:cNvPr id="9" name="">
            <a:extLst xmlns:a="http://schemas.openxmlformats.org/drawingml/2006/main">
              <a:ext uri="{FF2B5EF4-FFF2-40B4-BE49-F238E27FC236}">
                <a16:creationId xmlns:a16="http://schemas.microsoft.com/office/drawing/2014/main" id="{E0CD14B2-980C-49BA-92B6-96C6133D4E3F}"/>
              </a:ext>
            </a:extLst>
          </p:cNvPr>
          <p:cNvSpPr>
            <a:spLocks xmlns:a="http://schemas.openxmlformats.org/drawingml/2006/main" noGrp="1"/>
          </p:cNvSpPr>
          <p:nvPr/>
        </p:nvSpPr>
        <p:spPr>
          <a:xfrm xmlns:a="http://schemas.openxmlformats.org/drawingml/2006/main">
            <a:off x="781050" y="48958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Member 3  Aniket Nikam</a:t>
            </a:r>
          </a:p>
        </p:txBody>
      </p:sp>
      <p:sp>
        <p:nvSpPr>
          <p:cNvPr id="10" name="">
            <a:extLst xmlns:a="http://schemas.openxmlformats.org/drawingml/2006/main">
              <a:ext uri="{FF2B5EF4-FFF2-40B4-BE49-F238E27FC236}">
                <a16:creationId xmlns:a16="http://schemas.microsoft.com/office/drawing/2014/main" id="{EA581398-FE1A-47DB-B73F-046810DAC4C0}"/>
              </a:ext>
            </a:extLst>
          </p:cNvPr>
          <p:cNvSpPr>
            <a:spLocks xmlns:a="http://schemas.openxmlformats.org/drawingml/2006/main" noGrp="1"/>
          </p:cNvSpPr>
          <p:nvPr/>
        </p:nvSpPr>
        <p:spPr>
          <a:xfrm xmlns:a="http://schemas.openxmlformats.org/drawingml/2006/main">
            <a:off x="3943350" y="489585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defRPr sz="1650" b="1">
                <a:solidFill>
                  <a:srgbClr val="FFFFFF"/>
                </a:solidFill>
                <a:latin typeface="Segoe UI"/>
                <a:ea typeface="Segoe UI"/>
                <a:cs typeface="Segoe UI"/>
              </a:defRPr>
            </a:pPr>
            <a:r>
              <a:rPr sz="1650" b="1">
                <a:solidFill>
                  <a:srgbClr val="FFFFFF"/>
                </a:solidFill>
                <a:latin typeface="Segoe UI"/>
                <a:ea typeface="Segoe UI"/>
                <a:cs typeface="Segoe UI"/>
              </a:rPr>
              <a:t>Member 4  Lokesh Ture</a:t>
            </a:r>
          </a:p>
        </p:txBody>
      </p:sp>
      <p:sp>
        <p:nvSpPr>
          <p:cNvPr id="11" name="">
            <a:extLst xmlns:a="http://schemas.openxmlformats.org/drawingml/2006/main">
              <a:ext uri="{FF2B5EF4-FFF2-40B4-BE49-F238E27FC236}">
                <a16:creationId xmlns:a16="http://schemas.microsoft.com/office/drawing/2014/main" id="{52577167-94A2-457A-BA30-B148C9EE94A9}"/>
              </a:ext>
            </a:extLst>
          </p:cNvPr>
          <p:cNvSpPr>
            <a:spLocks xmlns:a="http://schemas.openxmlformats.org/drawingml/2006/main" noGrp="1"/>
          </p:cNvSpPr>
          <p:nvPr/>
        </p:nvSpPr>
        <p:spPr>
          <a:xfrm xmlns:a="http://schemas.openxmlformats.org/drawingml/2006/main">
            <a:off x="781050" y="5467350"/>
            <a:ext cx="923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defPPr algn="l">
              <a:defRPr sz="1425" b="0">
                <a:solidFill>
                  <a:srgbClr val="F2A03D"/>
                </a:solidFill>
                <a:latin typeface="Segoe UI"/>
                <a:ea typeface="Segoe UI"/>
                <a:cs typeface="Segoe UI"/>
              </a:defRPr>
            </a:defPPr>
          </a:lstStyle>
          <a:p xmlns:a="http://schemas.openxmlformats.org/drawingml/2006/main">
            <a:pPr algn="l">
              <a:defRPr sz="1425" b="0">
                <a:solidFill>
                  <a:srgbClr val="F2A03D"/>
                </a:solidFill>
                <a:latin typeface="Segoe UI"/>
                <a:ea typeface="Segoe UI"/>
                <a:cs typeface="Segoe UI"/>
              </a:defRPr>
            </a:pPr>
            <a:r>
              <a:rPr sz="1425" b="0">
                <a:solidFill>
                  <a:srgbClr val="F2A03D"/>
                </a:solidFill>
                <a:latin typeface="Segoe UI"/>
                <a:ea typeface="Segoe UI"/>
                <a:cs typeface="Segoe UI"/>
              </a:rPr>
              <a:t>Python · DuckDB · SQL · Parquet · FastAPI · RabbitMQ · Streamlit</a:t>
            </a:r>
          </a:p>
        </p:txBody>
      </p:sp>
      <p:sp>
        <p:nvSpPr>
          <p:cNvPr id="12" name="">
            <a:extLst xmlns:a="http://schemas.openxmlformats.org/drawingml/2006/main">
              <a:ext uri="{FF2B5EF4-FFF2-40B4-BE49-F238E27FC236}">
                <a16:creationId xmlns:a16="http://schemas.microsoft.com/office/drawing/2014/main" id="{CC29F446-53DA-4888-9367-37320944E0CD}"/>
              </a:ext>
            </a:extLst>
          </p:cNvPr>
          <p:cNvSpPr>
            <a:spLocks xmlns:a="http://schemas.openxmlformats.org/drawingml/2006/main" noGrp="1"/>
          </p:cNvSpPr>
          <p:nvPr/>
        </p:nvSpPr>
        <p:spPr>
          <a:xfrm xmlns:a="http://schemas.openxmlformats.org/drawingml/2006/main">
            <a:off x="781050" y="590550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defPPr algn="l">
              <a:defRPr sz="1200" b="0">
                <a:solidFill>
                  <a:srgbClr val="C9D4E5"/>
                </a:solidFill>
                <a:latin typeface="Segoe UI"/>
                <a:ea typeface="Segoe UI"/>
                <a:cs typeface="Segoe UI"/>
              </a:defRPr>
            </a:defPPr>
          </a:lstStyle>
          <a:p xmlns:a="http://schemas.openxmlformats.org/drawingml/2006/main">
            <a:pPr algn="l">
              <a:defRPr sz="1200" b="0">
                <a:solidFill>
                  <a:srgbClr val="C9D4E5"/>
                </a:solidFill>
                <a:latin typeface="Segoe UI"/>
                <a:ea typeface="Segoe UI"/>
                <a:cs typeface="Segoe UI"/>
              </a:defRPr>
            </a:pPr>
            <a:r>
              <a:rPr sz="1200" b="0">
                <a:solidFill>
                  <a:srgbClr val="C9D4E5"/>
                </a:solidFill>
                <a:latin typeface="Segoe UI"/>
                <a:ea typeface="Segoe UI"/>
                <a:cs typeface="Segoe UI"/>
              </a:rPr>
              <a:t>github.com/Aniket-Nikam/E-Commerce-Sales-Analytics-Data-Engineering-</a:t>
            </a:r>
          </a:p>
        </p:txBody>
      </p:sp>
      <p:sp>
        <p:nvSpPr>
          <p:cNvPr id="13" name="">
            <a:extLst xmlns:a="http://schemas.openxmlformats.org/drawingml/2006/main">
              <a:ext uri="{FF2B5EF4-FFF2-40B4-BE49-F238E27FC236}">
                <a16:creationId xmlns:a16="http://schemas.microsoft.com/office/drawing/2014/main" id="{77179D63-2F2E-4580-845E-DE3EE4C16365}"/>
              </a:ext>
            </a:extLst>
          </p:cNvPr>
          <p:cNvSpPr>
            <a:spLocks xmlns:a="http://schemas.openxmlformats.org/drawingml/2006/main" noGrp="1"/>
          </p:cNvSpPr>
          <p:nvPr/>
        </p:nvSpPr>
        <p:spPr>
          <a:xfrm xmlns:a="http://schemas.openxmlformats.org/drawingml/2006/main">
            <a:off x="8724900" y="64389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r">
              <a:defRPr sz="1050" b="0">
                <a:solidFill>
                  <a:srgbClr val="B7C3D6"/>
                </a:solidFill>
                <a:latin typeface="Segoe UI"/>
                <a:ea typeface="Segoe UI"/>
                <a:cs typeface="Segoe UI"/>
              </a:defRPr>
            </a:defPPr>
          </a:lstStyle>
          <a:p xmlns:a="http://schemas.openxmlformats.org/drawingml/2006/main">
            <a:pPr algn="r">
              <a:defRPr sz="1050" b="0">
                <a:solidFill>
                  <a:srgbClr val="B7C3D6"/>
                </a:solidFill>
                <a:latin typeface="Segoe UI"/>
                <a:ea typeface="Segoe UI"/>
                <a:cs typeface="Segoe UI"/>
              </a:defRPr>
            </a:pPr>
            <a:r>
              <a:rPr sz="1050" b="0">
                <a:solidFill>
                  <a:srgbClr val="B7C3D6"/>
                </a:solidFill>
                <a:latin typeface="Segoe UI"/>
                <a:ea typeface="Segoe UI"/>
                <a:cs typeface="Segoe UI"/>
              </a:rPr>
              <a:t>Presenter: Harsh Birje</a:t>
            </a:r>
          </a:p>
        </p:txBody>
      </p:sp>
    </p:spTree>
    <p:extLst>
      <p:ext uri="{BB962C8B-B14F-4D97-AF65-F5344CB8AC3E}">
        <p14:creationId xmlns:p14="http://schemas.microsoft.com/office/powerpoint/2010/main" val="2027688597"/>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D4B0B01F-AA1D-4FCD-A782-A4B10157AE84}"/>
              </a:ext>
            </a:extLst>
          </p:cNvPr>
          <p:cNvSpPr>
            <a:spLocks xmlns:a="http://schemas.openxmlformats.org/drawingml/2006/main" noGrp="1"/>
          </p:cNvSpPr>
          <p:nvPr/>
        </p:nvSpPr>
        <p:spPr>
          <a:xfrm xmlns:a="http://schemas.openxmlformats.org/drawingml/2006/main">
            <a:off x="609600" y="3238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1">
                <a:solidFill>
                  <a:srgbClr val="F2A03D"/>
                </a:solidFill>
                <a:latin typeface="Segoe UI"/>
                <a:ea typeface="Segoe UI"/>
                <a:cs typeface="Segoe UI"/>
              </a:defRPr>
            </a:defPPr>
          </a:lstStyle>
          <a:p xmlns:a="http://schemas.openxmlformats.org/drawingml/2006/main">
            <a:pPr algn="l">
              <a:defRPr sz="1275" b="1">
                <a:solidFill>
                  <a:srgbClr val="F2A03D"/>
                </a:solidFill>
                <a:latin typeface="Segoe UI"/>
                <a:ea typeface="Segoe UI"/>
                <a:cs typeface="Segoe UI"/>
              </a:defRPr>
            </a:pPr>
            <a:r>
              <a:rPr sz="1275" b="1">
                <a:solidFill>
                  <a:srgbClr val="F2A03D"/>
                </a:solidFill>
                <a:latin typeface="Segoe UI"/>
                <a:ea typeface="Segoe UI"/>
                <a:cs typeface="Segoe UI"/>
              </a:rPr>
              <a:t>02</a:t>
            </a:r>
          </a:p>
        </p:txBody>
      </p:sp>
      <p:sp>
        <p:nvSpPr>
          <p:cNvPr id="2" name="">
            <a:extLst xmlns:a="http://schemas.openxmlformats.org/drawingml/2006/main">
              <a:ext uri="{FF2B5EF4-FFF2-40B4-BE49-F238E27FC236}">
                <a16:creationId xmlns:a16="http://schemas.microsoft.com/office/drawing/2014/main" id="{19E23AF0-CF7B-41E2-9205-AAB54811BD18}"/>
              </a:ext>
            </a:extLst>
          </p:cNvPr>
          <p:cNvSpPr>
            <a:spLocks xmlns:a="http://schemas.openxmlformats.org/drawingml/2006/main" noGrp="1"/>
          </p:cNvSpPr>
          <p:nvPr/>
        </p:nvSpPr>
        <p:spPr>
          <a:xfrm xmlns:a="http://schemas.openxmlformats.org/drawingml/2006/main">
            <a:off x="1181100" y="26670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defPPr algn="l">
              <a:defRPr sz="3150" b="1">
                <a:solidFill>
                  <a:srgbClr val="172033"/>
                </a:solidFill>
                <a:latin typeface="Segoe UI"/>
                <a:ea typeface="Segoe UI"/>
                <a:cs typeface="Segoe UI"/>
              </a:defRPr>
            </a:defPPr>
          </a:lstStyle>
          <a:p xmlns:a="http://schemas.openxmlformats.org/drawingml/2006/main">
            <a:pPr algn="l">
              <a:defRPr sz="3150" b="1">
                <a:solidFill>
                  <a:srgbClr val="172033"/>
                </a:solidFill>
                <a:latin typeface="Segoe UI"/>
                <a:ea typeface="Segoe UI"/>
                <a:cs typeface="Segoe UI"/>
              </a:defRPr>
            </a:pPr>
            <a:r>
              <a:rPr sz="3150" b="1">
                <a:solidFill>
                  <a:srgbClr val="172033"/>
                </a:solidFill>
                <a:latin typeface="Segoe UI"/>
                <a:ea typeface="Segoe UI"/>
                <a:cs typeface="Segoe UI"/>
              </a:rPr>
              <a:t>Why this data engineering project is needed</a:t>
            </a:r>
          </a:p>
        </p:txBody>
      </p:sp>
      <p:sp>
        <p:nvSpPr>
          <p:cNvPr id="3" name="">
            <a:extLst xmlns:a="http://schemas.openxmlformats.org/drawingml/2006/main">
              <a:ext uri="{FF2B5EF4-FFF2-40B4-BE49-F238E27FC236}">
                <a16:creationId xmlns:a16="http://schemas.microsoft.com/office/drawing/2014/main" id="{69208797-ED18-4B1B-A8D5-072DE79406D6}"/>
              </a:ext>
            </a:extLst>
          </p:cNvPr>
          <p:cNvSpPr>
            <a:spLocks xmlns:a="http://schemas.openxmlformats.org/drawingml/2006/main" noGrp="1"/>
          </p:cNvSpPr>
          <p:nvPr/>
        </p:nvSpPr>
        <p:spPr>
          <a:xfrm xmlns:a="http://schemas.openxmlformats.org/drawingml/2006/main">
            <a:off x="609600" y="914400"/>
            <a:ext cx="10972800" cy="19050"/>
          </a:xfrm>
          <a:prstGeom xmlns:a="http://schemas.openxmlformats.org/drawingml/2006/main" prst="rect">
            <a:avLst/>
          </a:prstGeom>
          <a:solidFill xmlns:a="http://schemas.openxmlformats.org/drawingml/2006/main">
            <a:srgbClr val="DCE2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FB32B56-0B1A-42E4-95BF-AECC8995DF56}"/>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0">
                <a:solidFill>
                  <a:srgbClr val="56657A"/>
                </a:solidFill>
                <a:latin typeface="Segoe UI"/>
                <a:ea typeface="Segoe UI"/>
                <a:cs typeface="Segoe UI"/>
              </a:defRPr>
            </a:defPPr>
          </a:lstStyle>
          <a:p xmlns:a="http://schemas.openxmlformats.org/drawingml/2006/main">
            <a:pPr algn="l">
              <a:defRPr sz="1050" b="0">
                <a:solidFill>
                  <a:srgbClr val="56657A"/>
                </a:solidFill>
                <a:latin typeface="Segoe UI"/>
                <a:ea typeface="Segoe UI"/>
                <a:cs typeface="Segoe UI"/>
              </a:defRPr>
            </a:pPr>
            <a:r>
              <a:rPr sz="1050" b="0">
                <a:solidFill>
                  <a:srgbClr val="56657A"/>
                </a:solidFill>
                <a:latin typeface="Segoe UI"/>
                <a:ea typeface="Segoe UI"/>
                <a:cs typeface="Segoe UI"/>
              </a:rPr>
              <a:t>Presenter: Harsh Birje</a:t>
            </a:r>
          </a:p>
        </p:txBody>
      </p:sp>
      <p:sp>
        <p:nvSpPr>
          <p:cNvPr id="5" name="">
            <a:extLst xmlns:a="http://schemas.openxmlformats.org/drawingml/2006/main">
              <a:ext uri="{FF2B5EF4-FFF2-40B4-BE49-F238E27FC236}">
                <a16:creationId xmlns:a16="http://schemas.microsoft.com/office/drawing/2014/main" id="{233F6799-B070-44F6-ADE5-86C2D9D716E9}"/>
              </a:ext>
            </a:extLst>
          </p:cNvPr>
          <p:cNvSpPr>
            <a:spLocks xmlns:a="http://schemas.openxmlformats.org/drawingml/2006/main" noGrp="1"/>
          </p:cNvSpPr>
          <p:nvPr/>
        </p:nvSpPr>
        <p:spPr>
          <a:xfrm xmlns:a="http://schemas.openxmlformats.org/drawingml/2006/main">
            <a:off x="7810500" y="6477000"/>
            <a:ext cx="3771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r">
              <a:defRPr sz="1050" b="0">
                <a:solidFill>
                  <a:srgbClr val="56657A"/>
                </a:solidFill>
                <a:latin typeface="Segoe UI"/>
                <a:ea typeface="Segoe UI"/>
                <a:cs typeface="Segoe UI"/>
              </a:defRPr>
            </a:defPPr>
          </a:lstStyle>
          <a:p xmlns:a="http://schemas.openxmlformats.org/drawingml/2006/main">
            <a:pPr algn="r">
              <a:defRPr sz="1050" b="0">
                <a:solidFill>
                  <a:srgbClr val="56657A"/>
                </a:solidFill>
                <a:latin typeface="Segoe UI"/>
                <a:ea typeface="Segoe UI"/>
                <a:cs typeface="Segoe UI"/>
              </a:defRPr>
            </a:pPr>
            <a:r>
              <a:rPr sz="1050" b="0">
                <a:solidFill>
                  <a:srgbClr val="56657A"/>
                </a:solidFill>
                <a:latin typeface="Segoe UI"/>
                <a:ea typeface="Segoe UI"/>
                <a:cs typeface="Segoe UI"/>
              </a:rPr>
              <a:t>E-Commerce Sales Analytics · DuckDB + RabbitMQ</a:t>
            </a:r>
          </a:p>
        </p:txBody>
      </p:sp>
      <p:sp>
        <p:nvSpPr>
          <p:cNvPr id="6" name="">
            <a:extLst xmlns:a="http://schemas.openxmlformats.org/drawingml/2006/main">
              <a:ext uri="{FF2B5EF4-FFF2-40B4-BE49-F238E27FC236}">
                <a16:creationId xmlns:a16="http://schemas.microsoft.com/office/drawing/2014/main" id="{0D72F191-757F-45B7-A7E3-A82C5D842F51}"/>
              </a:ext>
            </a:extLst>
          </p:cNvPr>
          <p:cNvSpPr>
            <a:spLocks xmlns:a="http://schemas.openxmlformats.org/drawingml/2006/main" noGrp="1"/>
          </p:cNvSpPr>
          <p:nvPr/>
        </p:nvSpPr>
        <p:spPr>
          <a:xfrm xmlns:a="http://schemas.openxmlformats.org/drawingml/2006/main">
            <a:off x="609600" y="11811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205"/>
          </a:bodyPr>
          <a:lstStyle xmlns:a="http://schemas.openxmlformats.org/drawingml/2006/main">
            <a:defPPr algn="l">
              <a:defRPr sz="1950" b="1">
                <a:solidFill>
                  <a:srgbClr val="101C33"/>
                </a:solidFill>
                <a:latin typeface="Segoe UI"/>
                <a:ea typeface="Segoe UI"/>
                <a:cs typeface="Segoe UI"/>
              </a:defRPr>
            </a:defPPr>
          </a:lstStyle>
          <a:p xmlns:a="http://schemas.openxmlformats.org/drawingml/2006/main">
            <a:pPr algn="l">
              <a:defRPr sz="1950" b="1">
                <a:solidFill>
                  <a:srgbClr val="101C33"/>
                </a:solidFill>
                <a:latin typeface="Segoe UI"/>
                <a:ea typeface="Segoe UI"/>
                <a:cs typeface="Segoe UI"/>
              </a:defRPr>
            </a:pPr>
            <a:r>
              <a:rPr sz="1950" b="1">
                <a:solidFill>
                  <a:srgbClr val="101C33"/>
                </a:solidFill>
                <a:latin typeface="Segoe UI"/>
                <a:ea typeface="Segoe UI"/>
                <a:cs typeface="Segoe UI"/>
              </a:rPr>
              <a:t>The business problem</a:t>
            </a:r>
          </a:p>
        </p:txBody>
      </p:sp>
      <p:sp>
        <p:nvSpPr>
          <p:cNvPr id="7" name="">
            <a:extLst xmlns:a="http://schemas.openxmlformats.org/drawingml/2006/main">
              <a:ext uri="{FF2B5EF4-FFF2-40B4-BE49-F238E27FC236}">
                <a16:creationId xmlns:a16="http://schemas.microsoft.com/office/drawing/2014/main" id="{08B310A5-FD76-421E-B7E0-89F5DA3CE0FB}"/>
              </a:ext>
            </a:extLst>
          </p:cNvPr>
          <p:cNvSpPr>
            <a:spLocks xmlns:a="http://schemas.openxmlformats.org/drawingml/2006/main" noGrp="1"/>
          </p:cNvSpPr>
          <p:nvPr/>
        </p:nvSpPr>
        <p:spPr>
          <a:xfrm xmlns:a="http://schemas.openxmlformats.org/drawingml/2006/main">
            <a:off x="609600" y="1638300"/>
            <a:ext cx="44958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800" b="0">
                <a:solidFill>
                  <a:srgbClr val="172033"/>
                </a:solidFill>
                <a:latin typeface="Segoe UI"/>
                <a:ea typeface="Segoe UI"/>
                <a:cs typeface="Segoe UI"/>
              </a:defRPr>
            </a:defPPr>
          </a:lstStyle>
          <a:p xmlns:a="http://schemas.openxmlformats.org/drawingml/2006/main">
            <a:pPr algn="l">
              <a:defRPr sz="1800" b="0">
                <a:solidFill>
                  <a:srgbClr val="172033"/>
                </a:solidFill>
                <a:latin typeface="Segoe UI"/>
                <a:ea typeface="Segoe UI"/>
                <a:cs typeface="Segoe UI"/>
              </a:defRPr>
            </a:pPr>
            <a:r>
              <a:rPr sz="1800" b="0">
                <a:solidFill>
                  <a:srgbClr val="172033"/>
                </a:solidFill>
                <a:latin typeface="Segoe UI"/>
                <a:ea typeface="Segoe UI"/>
                <a:cs typeface="Segoe UI"/>
              </a:rPr>
              <a:t>Raw sales files contain duplicates, missing IDs, invalid numbers and inconsistent labels. Direct analysis would produce incorrect revenue and unreliable decisions.</a:t>
            </a:r>
          </a:p>
        </p:txBody>
      </p:sp>
      <p:sp>
        <p:nvSpPr>
          <p:cNvPr id="8" name="">
            <a:extLst xmlns:a="http://schemas.openxmlformats.org/drawingml/2006/main">
              <a:ext uri="{FF2B5EF4-FFF2-40B4-BE49-F238E27FC236}">
                <a16:creationId xmlns:a16="http://schemas.microsoft.com/office/drawing/2014/main" id="{0621EC54-867B-45A2-B434-4E27958ADE97}"/>
              </a:ext>
            </a:extLst>
          </p:cNvPr>
          <p:cNvSpPr>
            <a:spLocks xmlns:a="http://schemas.openxmlformats.org/drawingml/2006/main" noGrp="1"/>
          </p:cNvSpPr>
          <p:nvPr/>
        </p:nvSpPr>
        <p:spPr>
          <a:xfrm xmlns:a="http://schemas.openxmlformats.org/drawingml/2006/main">
            <a:off x="609600" y="2933700"/>
            <a:ext cx="4495800" cy="685800"/>
          </a:xfrm>
          <a:prstGeom xmlns:a="http://schemas.openxmlformats.org/drawingml/2006/main" prst="roundRect">
            <a:avLst>
              <a:gd name="adj" fmla="val 11111"/>
            </a:avLst>
          </a:prstGeom>
          <a:solidFill xmlns:a="http://schemas.openxmlformats.org/drawingml/2006/main">
            <a:srgbClr val="FFF0D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16A28F7-8F53-4CAA-99DA-7629A90A3553}"/>
              </a:ext>
            </a:extLst>
          </p:cNvPr>
          <p:cNvSpPr>
            <a:spLocks xmlns:a="http://schemas.openxmlformats.org/drawingml/2006/main" noGrp="1"/>
          </p:cNvSpPr>
          <p:nvPr/>
        </p:nvSpPr>
        <p:spPr>
          <a:xfrm xmlns:a="http://schemas.openxmlformats.org/drawingml/2006/main">
            <a:off x="781050" y="30480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333"/>
          </a:bodyPr>
          <a:lstStyle xmlns:a="http://schemas.openxmlformats.org/drawingml/2006/main">
            <a:defPPr algn="l">
              <a:defRPr sz="1500" b="1">
                <a:solidFill>
                  <a:srgbClr val="F2A03D"/>
                </a:solidFill>
                <a:latin typeface="Segoe UI"/>
                <a:ea typeface="Segoe UI"/>
                <a:cs typeface="Segoe UI"/>
              </a:defRPr>
            </a:defPPr>
          </a:lstStyle>
          <a:p xmlns:a="http://schemas.openxmlformats.org/drawingml/2006/main">
            <a:pPr algn="l">
              <a:defRPr sz="1500" b="1">
                <a:solidFill>
                  <a:srgbClr val="F2A03D"/>
                </a:solidFill>
                <a:latin typeface="Segoe UI"/>
                <a:ea typeface="Segoe UI"/>
                <a:cs typeface="Segoe UI"/>
              </a:defRPr>
            </a:pPr>
            <a:r>
              <a:rPr sz="1500" b="1">
                <a:solidFill>
                  <a:srgbClr val="F2A03D"/>
                </a:solidFill>
                <a:latin typeface="Segoe UI"/>
                <a:ea typeface="Segoe UI"/>
                <a:cs typeface="Segoe UI"/>
              </a:rPr>
              <a:t>Why engineering is required</a:t>
            </a:r>
          </a:p>
        </p:txBody>
      </p:sp>
      <p:sp>
        <p:nvSpPr>
          <p:cNvPr id="10" name="">
            <a:extLst xmlns:a="http://schemas.openxmlformats.org/drawingml/2006/main">
              <a:ext uri="{FF2B5EF4-FFF2-40B4-BE49-F238E27FC236}">
                <a16:creationId xmlns:a16="http://schemas.microsoft.com/office/drawing/2014/main" id="{0374743C-0361-4E5C-A25D-DF3AAF289698}"/>
              </a:ext>
            </a:extLst>
          </p:cNvPr>
          <p:cNvSpPr>
            <a:spLocks xmlns:a="http://schemas.openxmlformats.org/drawingml/2006/main" noGrp="1"/>
          </p:cNvSpPr>
          <p:nvPr/>
        </p:nvSpPr>
        <p:spPr>
          <a:xfrm xmlns:a="http://schemas.openxmlformats.org/drawingml/2006/main">
            <a:off x="781050" y="3314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0208"/>
          </a:bodyPr>
          <a:lstStyle xmlns:a="http://schemas.openxmlformats.org/drawingml/2006/main">
            <a:defPPr algn="l">
              <a:defRPr sz="1350" b="0">
                <a:solidFill>
                  <a:srgbClr val="172033"/>
                </a:solidFill>
                <a:latin typeface="Segoe UI"/>
                <a:ea typeface="Segoe UI"/>
                <a:cs typeface="Segoe UI"/>
              </a:defRPr>
            </a:defPPr>
          </a:lstStyle>
          <a:p xmlns:a="http://schemas.openxmlformats.org/drawingml/2006/main">
            <a:pPr algn="l">
              <a:defRPr sz="1350" b="0">
                <a:solidFill>
                  <a:srgbClr val="172033"/>
                </a:solidFill>
                <a:latin typeface="Segoe UI"/>
                <a:ea typeface="Segoe UI"/>
                <a:cs typeface="Segoe UI"/>
              </a:defRPr>
            </a:pPr>
            <a:r>
              <a:rPr sz="1350" b="0">
                <a:solidFill>
                  <a:srgbClr val="172033"/>
                </a:solidFill>
                <a:latin typeface="Segoe UI"/>
                <a:ea typeface="Segoe UI"/>
                <a:cs typeface="Segoe UI"/>
              </a:rPr>
              <a:t>The pipeline creates one trusted definition of every metric before anyone sees a chart.</a:t>
            </a:r>
          </a:p>
        </p:txBody>
      </p:sp>
      <p:sp>
        <p:nvSpPr>
          <p:cNvPr id="11" name="">
            <a:extLst xmlns:a="http://schemas.openxmlformats.org/drawingml/2006/main">
              <a:ext uri="{FF2B5EF4-FFF2-40B4-BE49-F238E27FC236}">
                <a16:creationId xmlns:a16="http://schemas.microsoft.com/office/drawing/2014/main" id="{7B0AF277-80DD-4436-9ADE-8C3D05ED3225}"/>
              </a:ext>
            </a:extLst>
          </p:cNvPr>
          <p:cNvSpPr>
            <a:spLocks xmlns:a="http://schemas.openxmlformats.org/drawingml/2006/main" noGrp="1"/>
          </p:cNvSpPr>
          <p:nvPr/>
        </p:nvSpPr>
        <p:spPr>
          <a:xfrm xmlns:a="http://schemas.openxmlformats.org/drawingml/2006/main">
            <a:off x="609600" y="388620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205"/>
          </a:bodyPr>
          <a:lstStyle xmlns:a="http://schemas.openxmlformats.org/drawingml/2006/main">
            <a:defPPr algn="l">
              <a:defRPr sz="1950" b="1">
                <a:solidFill>
                  <a:srgbClr val="101C33"/>
                </a:solidFill>
                <a:latin typeface="Segoe UI"/>
                <a:ea typeface="Segoe UI"/>
                <a:cs typeface="Segoe UI"/>
              </a:defRPr>
            </a:defPPr>
          </a:lstStyle>
          <a:p xmlns:a="http://schemas.openxmlformats.org/drawingml/2006/main">
            <a:pPr algn="l">
              <a:defRPr sz="1950" b="1">
                <a:solidFill>
                  <a:srgbClr val="101C33"/>
                </a:solidFill>
                <a:latin typeface="Segoe UI"/>
                <a:ea typeface="Segoe UI"/>
                <a:cs typeface="Segoe UI"/>
              </a:defRPr>
            </a:pPr>
            <a:r>
              <a:rPr sz="1950" b="1">
                <a:solidFill>
                  <a:srgbClr val="101C33"/>
                </a:solidFill>
                <a:latin typeface="Segoe UI"/>
                <a:ea typeface="Segoe UI"/>
                <a:cs typeface="Segoe UI"/>
              </a:rPr>
              <a:t>Questions the platform answers</a:t>
            </a:r>
          </a:p>
        </p:txBody>
      </p:sp>
      <p:sp>
        <p:nvSpPr>
          <p:cNvPr id="12" name="">
            <a:extLst xmlns:a="http://schemas.openxmlformats.org/drawingml/2006/main">
              <a:ext uri="{FF2B5EF4-FFF2-40B4-BE49-F238E27FC236}">
                <a16:creationId xmlns:a16="http://schemas.microsoft.com/office/drawing/2014/main" id="{92CED553-D67D-468E-B37F-8AB4677A13CE}"/>
              </a:ext>
            </a:extLst>
          </p:cNvPr>
          <p:cNvSpPr>
            <a:spLocks xmlns:a="http://schemas.openxmlformats.org/drawingml/2006/main" noGrp="1"/>
          </p:cNvSpPr>
          <p:nvPr/>
        </p:nvSpPr>
        <p:spPr>
          <a:xfrm xmlns:a="http://schemas.openxmlformats.org/drawingml/2006/main">
            <a:off x="609600" y="4305300"/>
            <a:ext cx="47625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3517"/>
          </a:bodyPr>
          <a:lstStyle xmlns:a="http://schemas.openxmlformats.org/drawingml/2006/main">
            <a:defPPr>
              <a:defRPr sz="1500">
                <a:solidFill>
                  <a:srgbClr val="172033"/>
                </a:solidFill>
                <a:latin typeface="Segoe UI"/>
                <a:ea typeface="Segoe UI"/>
                <a:cs typeface="Segoe UI"/>
              </a:defRPr>
            </a:defPPr>
          </a:lstStyle>
          <a:p xmlns:a="http://schemas.openxmlformats.org/drawingml/2006/main">
            <a:pPr marL="228600" indent="-114300">
              <a:spcAft>
                <a:spcPts val="600"/>
              </a:spcAft>
              <a:buChar char="•"/>
              <a:defRPr sz="1500">
                <a:solidFill>
                  <a:srgbClr val="172033"/>
                </a:solidFill>
                <a:latin typeface="Segoe UI"/>
                <a:ea typeface="Segoe UI"/>
                <a:cs typeface="Segoe UI"/>
              </a:defRPr>
            </a:pPr>
            <a:r>
              <a:rPr sz="1500">
                <a:solidFill>
                  <a:srgbClr val="172033"/>
                </a:solidFill>
                <a:latin typeface="Segoe UI"/>
                <a:ea typeface="Segoe UI"/>
                <a:cs typeface="Segoe UI"/>
              </a:rPr>
              <a:t>How much realized revenue did the business generate?</a:t>
            </a:r>
          </a:p>
          <a:p xmlns:a="http://schemas.openxmlformats.org/drawingml/2006/main">
            <a:pPr marL="228600" indent="-114300">
              <a:spcAft>
                <a:spcPts val="600"/>
              </a:spcAft>
              <a:buChar char="•"/>
              <a:defRPr sz="1500">
                <a:solidFill>
                  <a:srgbClr val="172033"/>
                </a:solidFill>
                <a:latin typeface="Segoe UI"/>
                <a:ea typeface="Segoe UI"/>
                <a:cs typeface="Segoe UI"/>
              </a:defRPr>
            </a:pPr>
            <a:r>
              <a:rPr sz="1500">
                <a:solidFill>
                  <a:srgbClr val="172033"/>
                </a:solidFill>
                <a:latin typeface="Segoe UI"/>
                <a:ea typeface="Segoe UI"/>
                <a:cs typeface="Segoe UI"/>
              </a:rPr>
              <a:t>Which categories and regions drive performance?</a:t>
            </a:r>
          </a:p>
          <a:p xmlns:a="http://schemas.openxmlformats.org/drawingml/2006/main">
            <a:pPr marL="228600" indent="-114300">
              <a:spcAft>
                <a:spcPts val="600"/>
              </a:spcAft>
              <a:buChar char="•"/>
              <a:defRPr sz="1500">
                <a:solidFill>
                  <a:srgbClr val="172033"/>
                </a:solidFill>
                <a:latin typeface="Segoe UI"/>
                <a:ea typeface="Segoe UI"/>
                <a:cs typeface="Segoe UI"/>
              </a:defRPr>
            </a:pPr>
            <a:r>
              <a:rPr sz="1500">
                <a:solidFill>
                  <a:srgbClr val="172033"/>
                </a:solidFill>
                <a:latin typeface="Segoe UI"/>
                <a:ea typeface="Segoe UI"/>
                <a:cs typeface="Segoe UI"/>
              </a:rPr>
              <a:t>How quickly can storage formats answer the same query?</a:t>
            </a:r>
          </a:p>
          <a:p xmlns:a="http://schemas.openxmlformats.org/drawingml/2006/main">
            <a:pPr marL="228600" indent="-114300">
              <a:spcAft>
                <a:spcPts val="600"/>
              </a:spcAft>
              <a:buChar char="•"/>
              <a:defRPr sz="1500">
                <a:solidFill>
                  <a:srgbClr val="172033"/>
                </a:solidFill>
                <a:latin typeface="Segoe UI"/>
                <a:ea typeface="Segoe UI"/>
                <a:cs typeface="Segoe UI"/>
              </a:defRPr>
            </a:pPr>
            <a:r>
              <a:rPr sz="1500">
                <a:solidFill>
                  <a:srgbClr val="172033"/>
                </a:solidFill>
                <a:latin typeface="Segoe UI"/>
                <a:ea typeface="Segoe UI"/>
                <a:cs typeface="Segoe UI"/>
              </a:rPr>
              <a:t>Can a validated order survive a broker and reach the dashboard once?</a:t>
            </a:r>
          </a:p>
        </p:txBody>
      </p:sp>
      <p:sp>
        <p:nvSpPr>
          <p:cNvPr id="13" name="">
            <a:extLst xmlns:a="http://schemas.openxmlformats.org/drawingml/2006/main">
              <a:ext uri="{FF2B5EF4-FFF2-40B4-BE49-F238E27FC236}">
                <a16:creationId xmlns:a16="http://schemas.microsoft.com/office/drawing/2014/main" id="{0CE755B5-06EC-4AC8-9E50-A3CD46C97B02}"/>
              </a:ext>
            </a:extLst>
          </p:cNvPr>
          <p:cNvSpPr>
            <a:spLocks xmlns:a="http://schemas.openxmlformats.org/drawingml/2006/main" noGrp="1"/>
          </p:cNvSpPr>
          <p:nvPr/>
        </p:nvSpPr>
        <p:spPr>
          <a:xfrm xmlns:a="http://schemas.openxmlformats.org/drawingml/2006/main">
            <a:off x="5791200" y="1181100"/>
            <a:ext cx="19050" cy="4762500"/>
          </a:xfrm>
          <a:prstGeom xmlns:a="http://schemas.openxmlformats.org/drawingml/2006/main" prst="rect">
            <a:avLst/>
          </a:prstGeom>
          <a:solidFill xmlns:a="http://schemas.openxmlformats.org/drawingml/2006/main">
            <a:srgbClr val="DCE2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E223A0F-A971-4234-8193-2BAD4D088C1A}"/>
              </a:ext>
            </a:extLst>
          </p:cNvPr>
          <p:cNvSpPr>
            <a:spLocks xmlns:a="http://schemas.openxmlformats.org/drawingml/2006/main" noGrp="1"/>
          </p:cNvSpPr>
          <p:nvPr/>
        </p:nvSpPr>
        <p:spPr>
          <a:xfrm xmlns:a="http://schemas.openxmlformats.org/drawingml/2006/main">
            <a:off x="6229350" y="11811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205"/>
          </a:bodyPr>
          <a:lstStyle xmlns:a="http://schemas.openxmlformats.org/drawingml/2006/main">
            <a:defPPr algn="l">
              <a:defRPr sz="1950" b="1">
                <a:solidFill>
                  <a:srgbClr val="101C33"/>
                </a:solidFill>
                <a:latin typeface="Segoe UI"/>
                <a:ea typeface="Segoe UI"/>
                <a:cs typeface="Segoe UI"/>
              </a:defRPr>
            </a:defPPr>
          </a:lstStyle>
          <a:p xmlns:a="http://schemas.openxmlformats.org/drawingml/2006/main">
            <a:pPr algn="l">
              <a:defRPr sz="1950" b="1">
                <a:solidFill>
                  <a:srgbClr val="101C33"/>
                </a:solidFill>
                <a:latin typeface="Segoe UI"/>
                <a:ea typeface="Segoe UI"/>
                <a:cs typeface="Segoe UI"/>
              </a:defRPr>
            </a:pPr>
            <a:r>
              <a:rPr sz="1950" b="1">
                <a:solidFill>
                  <a:srgbClr val="101C33"/>
                </a:solidFill>
                <a:latin typeface="Segoe UI"/>
                <a:ea typeface="Segoe UI"/>
                <a:cs typeface="Segoe UI"/>
              </a:rPr>
              <a:t>What we built and why</a:t>
            </a:r>
          </a:p>
        </p:txBody>
      </p:sp>
      <p:sp>
        <p:nvSpPr>
          <p:cNvPr id="15" name="">
            <a:extLst xmlns:a="http://schemas.openxmlformats.org/drawingml/2006/main">
              <a:ext uri="{FF2B5EF4-FFF2-40B4-BE49-F238E27FC236}">
                <a16:creationId xmlns:a16="http://schemas.microsoft.com/office/drawing/2014/main" id="{58F93512-5517-419C-B22A-2358D99626F1}"/>
              </a:ext>
            </a:extLst>
          </p:cNvPr>
          <p:cNvSpPr>
            <a:spLocks xmlns:a="http://schemas.openxmlformats.org/drawingml/2006/main" noGrp="1"/>
          </p:cNvSpPr>
          <p:nvPr/>
        </p:nvSpPr>
        <p:spPr>
          <a:xfrm xmlns:a="http://schemas.openxmlformats.org/drawingml/2006/main">
            <a:off x="6229350" y="1676400"/>
            <a:ext cx="4953000" cy="800100"/>
          </a:xfrm>
          <a:prstGeom xmlns:a="http://schemas.openxmlformats.org/drawingml/2006/main" prst="roundRect">
            <a:avLst>
              <a:gd name="adj" fmla="val 9524"/>
            </a:avLst>
          </a:prstGeom>
          <a:solidFill xmlns:a="http://schemas.openxmlformats.org/drawingml/2006/main">
            <a:srgbClr val="DDF6F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FE2FF9E-6D14-47D2-BE20-87729D1DEA72}"/>
              </a:ext>
            </a:extLst>
          </p:cNvPr>
          <p:cNvSpPr>
            <a:spLocks xmlns:a="http://schemas.openxmlformats.org/drawingml/2006/main" noGrp="1"/>
          </p:cNvSpPr>
          <p:nvPr/>
        </p:nvSpPr>
        <p:spPr>
          <a:xfrm xmlns:a="http://schemas.openxmlformats.org/drawingml/2006/main">
            <a:off x="6400800" y="18669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defPPr algn="l">
              <a:defRPr sz="1425" b="1">
                <a:solidFill>
                  <a:srgbClr val="16B8A6"/>
                </a:solidFill>
                <a:latin typeface="Segoe UI"/>
                <a:ea typeface="Segoe UI"/>
                <a:cs typeface="Segoe UI"/>
              </a:defRPr>
            </a:defPPr>
          </a:lstStyle>
          <a:p xmlns:a="http://schemas.openxmlformats.org/drawingml/2006/main">
            <a:pPr algn="l">
              <a:defRPr sz="1425" b="1">
                <a:solidFill>
                  <a:srgbClr val="16B8A6"/>
                </a:solidFill>
                <a:latin typeface="Segoe UI"/>
                <a:ea typeface="Segoe UI"/>
                <a:cs typeface="Segoe UI"/>
              </a:defRPr>
            </a:pPr>
            <a:r>
              <a:rPr sz="1425" b="1">
                <a:solidFill>
                  <a:srgbClr val="16B8A6"/>
                </a:solidFill>
                <a:latin typeface="Segoe UI"/>
                <a:ea typeface="Segoe UI"/>
                <a:cs typeface="Segoe UI"/>
              </a:rPr>
              <a:t>01</a:t>
            </a:r>
          </a:p>
        </p:txBody>
      </p:sp>
      <p:sp>
        <p:nvSpPr>
          <p:cNvPr id="17" name="">
            <a:extLst xmlns:a="http://schemas.openxmlformats.org/drawingml/2006/main">
              <a:ext uri="{FF2B5EF4-FFF2-40B4-BE49-F238E27FC236}">
                <a16:creationId xmlns:a16="http://schemas.microsoft.com/office/drawing/2014/main" id="{A0DF7C9C-9B69-4637-B93F-3BD442438601}"/>
              </a:ext>
            </a:extLst>
          </p:cNvPr>
          <p:cNvSpPr>
            <a:spLocks xmlns:a="http://schemas.openxmlformats.org/drawingml/2006/main" noGrp="1"/>
          </p:cNvSpPr>
          <p:nvPr/>
        </p:nvSpPr>
        <p:spPr>
          <a:xfrm xmlns:a="http://schemas.openxmlformats.org/drawingml/2006/main">
            <a:off x="6953250" y="17907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913"/>
          </a:bodyPr>
          <a:lstStyle xmlns:a="http://schemas.openxmlformats.org/drawingml/2006/main">
            <a:defPPr algn="l">
              <a:defRPr sz="1725" b="1">
                <a:solidFill>
                  <a:srgbClr val="172033"/>
                </a:solidFill>
                <a:latin typeface="Segoe UI"/>
                <a:ea typeface="Segoe UI"/>
                <a:cs typeface="Segoe UI"/>
              </a:defRPr>
            </a:defPPr>
          </a:lstStyle>
          <a:p xmlns:a="http://schemas.openxmlformats.org/drawingml/2006/main">
            <a:pPr algn="l">
              <a:defRPr sz="1725" b="1">
                <a:solidFill>
                  <a:srgbClr val="172033"/>
                </a:solidFill>
                <a:latin typeface="Segoe UI"/>
                <a:ea typeface="Segoe UI"/>
                <a:cs typeface="Segoe UI"/>
              </a:defRPr>
            </a:pPr>
            <a:r>
              <a:rPr sz="1725" b="1">
                <a:solidFill>
                  <a:srgbClr val="172033"/>
                </a:solidFill>
                <a:latin typeface="Segoe UI"/>
                <a:ea typeface="Segoe UI"/>
                <a:cs typeface="Segoe UI"/>
              </a:rPr>
              <a:t>Clean historical data</a:t>
            </a:r>
          </a:p>
        </p:txBody>
      </p:sp>
      <p:sp>
        <p:nvSpPr>
          <p:cNvPr id="18" name="">
            <a:extLst xmlns:a="http://schemas.openxmlformats.org/drawingml/2006/main">
              <a:ext uri="{FF2B5EF4-FFF2-40B4-BE49-F238E27FC236}">
                <a16:creationId xmlns:a16="http://schemas.microsoft.com/office/drawing/2014/main" id="{EA584AD2-5E1A-47B8-8922-5E5CFD9172F0}"/>
              </a:ext>
            </a:extLst>
          </p:cNvPr>
          <p:cNvSpPr>
            <a:spLocks xmlns:a="http://schemas.openxmlformats.org/drawingml/2006/main" noGrp="1"/>
          </p:cNvSpPr>
          <p:nvPr/>
        </p:nvSpPr>
        <p:spPr>
          <a:xfrm xmlns:a="http://schemas.openxmlformats.org/drawingml/2006/main">
            <a:off x="6953250" y="2105025"/>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l">
              <a:defRPr sz="1350" b="0">
                <a:solidFill>
                  <a:srgbClr val="56657A"/>
                </a:solidFill>
                <a:latin typeface="Segoe UI"/>
                <a:ea typeface="Segoe UI"/>
                <a:cs typeface="Segoe UI"/>
              </a:defRPr>
            </a:defPPr>
          </a:lstStyle>
          <a:p xmlns:a="http://schemas.openxmlformats.org/drawingml/2006/main">
            <a:pPr algn="l">
              <a:defRPr sz="1350" b="0">
                <a:solidFill>
                  <a:srgbClr val="56657A"/>
                </a:solidFill>
                <a:latin typeface="Segoe UI"/>
                <a:ea typeface="Segoe UI"/>
                <a:cs typeface="Segoe UI"/>
              </a:defRPr>
            </a:pPr>
            <a:r>
              <a:rPr sz="1350" b="0">
                <a:solidFill>
                  <a:srgbClr val="56657A"/>
                </a:solidFill>
                <a:latin typeface="Segoe UI"/>
                <a:ea typeface="Segoe UI"/>
                <a:cs typeface="Segoe UI"/>
              </a:rPr>
              <a:t>Prevents bad rows from changing KPIs</a:t>
            </a:r>
          </a:p>
        </p:txBody>
      </p:sp>
      <p:sp>
        <p:nvSpPr>
          <p:cNvPr id="19" name="">
            <a:extLst xmlns:a="http://schemas.openxmlformats.org/drawingml/2006/main">
              <a:ext uri="{FF2B5EF4-FFF2-40B4-BE49-F238E27FC236}">
                <a16:creationId xmlns:a16="http://schemas.microsoft.com/office/drawing/2014/main" id="{1FE577B3-B83B-4B1A-91E8-0DDD6496C3F0}"/>
              </a:ext>
            </a:extLst>
          </p:cNvPr>
          <p:cNvSpPr>
            <a:spLocks xmlns:a="http://schemas.openxmlformats.org/drawingml/2006/main" noGrp="1"/>
          </p:cNvSpPr>
          <p:nvPr/>
        </p:nvSpPr>
        <p:spPr>
          <a:xfrm xmlns:a="http://schemas.openxmlformats.org/drawingml/2006/main">
            <a:off x="6229350" y="2667000"/>
            <a:ext cx="4953000" cy="800100"/>
          </a:xfrm>
          <a:prstGeom xmlns:a="http://schemas.openxmlformats.org/drawingml/2006/main" prst="roundRect">
            <a:avLst>
              <a:gd name="adj" fmla="val 9524"/>
            </a:avLst>
          </a:prstGeom>
          <a:solidFill xmlns:a="http://schemas.openxmlformats.org/drawingml/2006/main">
            <a:srgbClr val="E8EBF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232BEF4-9BE9-44E7-B0A0-CC11B0AD1525}"/>
              </a:ext>
            </a:extLst>
          </p:cNvPr>
          <p:cNvSpPr>
            <a:spLocks xmlns:a="http://schemas.openxmlformats.org/drawingml/2006/main" noGrp="1"/>
          </p:cNvSpPr>
          <p:nvPr/>
        </p:nvSpPr>
        <p:spPr>
          <a:xfrm xmlns:a="http://schemas.openxmlformats.org/drawingml/2006/main">
            <a:off x="6400800" y="28575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defPPr algn="l">
              <a:defRPr sz="1425" b="1">
                <a:solidFill>
                  <a:srgbClr val="5267D7"/>
                </a:solidFill>
                <a:latin typeface="Segoe UI"/>
                <a:ea typeface="Segoe UI"/>
                <a:cs typeface="Segoe UI"/>
              </a:defRPr>
            </a:defPPr>
          </a:lstStyle>
          <a:p xmlns:a="http://schemas.openxmlformats.org/drawingml/2006/main">
            <a:pPr algn="l">
              <a:defRPr sz="1425" b="1">
                <a:solidFill>
                  <a:srgbClr val="5267D7"/>
                </a:solidFill>
                <a:latin typeface="Segoe UI"/>
                <a:ea typeface="Segoe UI"/>
                <a:cs typeface="Segoe UI"/>
              </a:defRPr>
            </a:pPr>
            <a:r>
              <a:rPr sz="1425" b="1">
                <a:solidFill>
                  <a:srgbClr val="5267D7"/>
                </a:solidFill>
                <a:latin typeface="Segoe UI"/>
                <a:ea typeface="Segoe UI"/>
                <a:cs typeface="Segoe UI"/>
              </a:rPr>
              <a:t>02</a:t>
            </a:r>
          </a:p>
        </p:txBody>
      </p:sp>
      <p:sp>
        <p:nvSpPr>
          <p:cNvPr id="21" name="">
            <a:extLst xmlns:a="http://schemas.openxmlformats.org/drawingml/2006/main">
              <a:ext uri="{FF2B5EF4-FFF2-40B4-BE49-F238E27FC236}">
                <a16:creationId xmlns:a16="http://schemas.microsoft.com/office/drawing/2014/main" id="{FFDD3B57-1ABD-46D2-A3CF-2CD230C4CA07}"/>
              </a:ext>
            </a:extLst>
          </p:cNvPr>
          <p:cNvSpPr>
            <a:spLocks xmlns:a="http://schemas.openxmlformats.org/drawingml/2006/main" noGrp="1"/>
          </p:cNvSpPr>
          <p:nvPr/>
        </p:nvSpPr>
        <p:spPr>
          <a:xfrm xmlns:a="http://schemas.openxmlformats.org/drawingml/2006/main">
            <a:off x="6953250" y="27813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913"/>
          </a:bodyPr>
          <a:lstStyle xmlns:a="http://schemas.openxmlformats.org/drawingml/2006/main">
            <a:defPPr algn="l">
              <a:defRPr sz="1725" b="1">
                <a:solidFill>
                  <a:srgbClr val="172033"/>
                </a:solidFill>
                <a:latin typeface="Segoe UI"/>
                <a:ea typeface="Segoe UI"/>
                <a:cs typeface="Segoe UI"/>
              </a:defRPr>
            </a:defPPr>
          </a:lstStyle>
          <a:p xmlns:a="http://schemas.openxmlformats.org/drawingml/2006/main">
            <a:pPr algn="l">
              <a:defRPr sz="1725" b="1">
                <a:solidFill>
                  <a:srgbClr val="172033"/>
                </a:solidFill>
                <a:latin typeface="Segoe UI"/>
                <a:ea typeface="Segoe UI"/>
                <a:cs typeface="Segoe UI"/>
              </a:defRPr>
            </a:pPr>
            <a:r>
              <a:rPr sz="1725" b="1">
                <a:solidFill>
                  <a:srgbClr val="172033"/>
                </a:solidFill>
                <a:latin typeface="Segoe UI"/>
                <a:ea typeface="Segoe UI"/>
                <a:cs typeface="Segoe UI"/>
              </a:rPr>
              <a:t>Model a warehouse</a:t>
            </a:r>
          </a:p>
        </p:txBody>
      </p:sp>
      <p:sp>
        <p:nvSpPr>
          <p:cNvPr id="22" name="">
            <a:extLst xmlns:a="http://schemas.openxmlformats.org/drawingml/2006/main">
              <a:ext uri="{FF2B5EF4-FFF2-40B4-BE49-F238E27FC236}">
                <a16:creationId xmlns:a16="http://schemas.microsoft.com/office/drawing/2014/main" id="{62D9105C-3512-4603-938A-EB86BA38B87B}"/>
              </a:ext>
            </a:extLst>
          </p:cNvPr>
          <p:cNvSpPr>
            <a:spLocks xmlns:a="http://schemas.openxmlformats.org/drawingml/2006/main" noGrp="1"/>
          </p:cNvSpPr>
          <p:nvPr/>
        </p:nvSpPr>
        <p:spPr>
          <a:xfrm xmlns:a="http://schemas.openxmlformats.org/drawingml/2006/main">
            <a:off x="6953250" y="3095625"/>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l">
              <a:defRPr sz="1350" b="0">
                <a:solidFill>
                  <a:srgbClr val="56657A"/>
                </a:solidFill>
                <a:latin typeface="Segoe UI"/>
                <a:ea typeface="Segoe UI"/>
                <a:cs typeface="Segoe UI"/>
              </a:defRPr>
            </a:defPPr>
          </a:lstStyle>
          <a:p xmlns:a="http://schemas.openxmlformats.org/drawingml/2006/main">
            <a:pPr algn="l">
              <a:defRPr sz="1350" b="0">
                <a:solidFill>
                  <a:srgbClr val="56657A"/>
                </a:solidFill>
                <a:latin typeface="Segoe UI"/>
                <a:ea typeface="Segoe UI"/>
                <a:cs typeface="Segoe UI"/>
              </a:defRPr>
            </a:pPr>
            <a:r>
              <a:rPr sz="1350" b="0">
                <a:solidFill>
                  <a:srgbClr val="56657A"/>
                </a:solidFill>
                <a:latin typeface="Segoe UI"/>
                <a:ea typeface="Segoe UI"/>
                <a:cs typeface="Segoe UI"/>
              </a:rPr>
              <a:t>Makes repeated analysis fast and consistent</a:t>
            </a:r>
          </a:p>
        </p:txBody>
      </p:sp>
      <p:sp>
        <p:nvSpPr>
          <p:cNvPr id="23" name="">
            <a:extLst xmlns:a="http://schemas.openxmlformats.org/drawingml/2006/main">
              <a:ext uri="{FF2B5EF4-FFF2-40B4-BE49-F238E27FC236}">
                <a16:creationId xmlns:a16="http://schemas.microsoft.com/office/drawing/2014/main" id="{8A1C510F-F64C-484B-B856-5D569A007794}"/>
              </a:ext>
            </a:extLst>
          </p:cNvPr>
          <p:cNvSpPr>
            <a:spLocks xmlns:a="http://schemas.openxmlformats.org/drawingml/2006/main" noGrp="1"/>
          </p:cNvSpPr>
          <p:nvPr/>
        </p:nvSpPr>
        <p:spPr>
          <a:xfrm xmlns:a="http://schemas.openxmlformats.org/drawingml/2006/main">
            <a:off x="6229350" y="3657600"/>
            <a:ext cx="4953000" cy="800100"/>
          </a:xfrm>
          <a:prstGeom xmlns:a="http://schemas.openxmlformats.org/drawingml/2006/main" prst="roundRect">
            <a:avLst>
              <a:gd name="adj" fmla="val 9524"/>
            </a:avLst>
          </a:prstGeom>
          <a:solidFill xmlns:a="http://schemas.openxmlformats.org/drawingml/2006/main">
            <a:srgbClr val="FFF0D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0E23CB3-6919-43B5-9EE7-443CBCCC3E01}"/>
              </a:ext>
            </a:extLst>
          </p:cNvPr>
          <p:cNvSpPr>
            <a:spLocks xmlns:a="http://schemas.openxmlformats.org/drawingml/2006/main" noGrp="1"/>
          </p:cNvSpPr>
          <p:nvPr/>
        </p:nvSpPr>
        <p:spPr>
          <a:xfrm xmlns:a="http://schemas.openxmlformats.org/drawingml/2006/main">
            <a:off x="6400800" y="38481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defPPr algn="l">
              <a:defRPr sz="1425" b="1">
                <a:solidFill>
                  <a:srgbClr val="F2A03D"/>
                </a:solidFill>
                <a:latin typeface="Segoe UI"/>
                <a:ea typeface="Segoe UI"/>
                <a:cs typeface="Segoe UI"/>
              </a:defRPr>
            </a:defPPr>
          </a:lstStyle>
          <a:p xmlns:a="http://schemas.openxmlformats.org/drawingml/2006/main">
            <a:pPr algn="l">
              <a:defRPr sz="1425" b="1">
                <a:solidFill>
                  <a:srgbClr val="F2A03D"/>
                </a:solidFill>
                <a:latin typeface="Segoe UI"/>
                <a:ea typeface="Segoe UI"/>
                <a:cs typeface="Segoe UI"/>
              </a:defRPr>
            </a:pPr>
            <a:r>
              <a:rPr sz="1425" b="1">
                <a:solidFill>
                  <a:srgbClr val="F2A03D"/>
                </a:solidFill>
                <a:latin typeface="Segoe UI"/>
                <a:ea typeface="Segoe UI"/>
                <a:cs typeface="Segoe UI"/>
              </a:rPr>
              <a:t>03</a:t>
            </a:r>
          </a:p>
        </p:txBody>
      </p:sp>
      <p:sp>
        <p:nvSpPr>
          <p:cNvPr id="25" name="">
            <a:extLst xmlns:a="http://schemas.openxmlformats.org/drawingml/2006/main">
              <a:ext uri="{FF2B5EF4-FFF2-40B4-BE49-F238E27FC236}">
                <a16:creationId xmlns:a16="http://schemas.microsoft.com/office/drawing/2014/main" id="{11424275-BC91-42B4-8C0A-0E4D5D7D5BCB}"/>
              </a:ext>
            </a:extLst>
          </p:cNvPr>
          <p:cNvSpPr>
            <a:spLocks xmlns:a="http://schemas.openxmlformats.org/drawingml/2006/main" noGrp="1"/>
          </p:cNvSpPr>
          <p:nvPr/>
        </p:nvSpPr>
        <p:spPr>
          <a:xfrm xmlns:a="http://schemas.openxmlformats.org/drawingml/2006/main">
            <a:off x="6953250" y="37719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913"/>
          </a:bodyPr>
          <a:lstStyle xmlns:a="http://schemas.openxmlformats.org/drawingml/2006/main">
            <a:defPPr algn="l">
              <a:defRPr sz="1725" b="1">
                <a:solidFill>
                  <a:srgbClr val="172033"/>
                </a:solidFill>
                <a:latin typeface="Segoe UI"/>
                <a:ea typeface="Segoe UI"/>
                <a:cs typeface="Segoe UI"/>
              </a:defRPr>
            </a:defPPr>
          </a:lstStyle>
          <a:p xmlns:a="http://schemas.openxmlformats.org/drawingml/2006/main">
            <a:pPr algn="l">
              <a:defRPr sz="1725" b="1">
                <a:solidFill>
                  <a:srgbClr val="172033"/>
                </a:solidFill>
                <a:latin typeface="Segoe UI"/>
                <a:ea typeface="Segoe UI"/>
                <a:cs typeface="Segoe UI"/>
              </a:defRPr>
            </a:pPr>
            <a:r>
              <a:rPr sz="1725" b="1">
                <a:solidFill>
                  <a:srgbClr val="172033"/>
                </a:solidFill>
                <a:latin typeface="Segoe UI"/>
                <a:ea typeface="Segoe UI"/>
                <a:cs typeface="Segoe UI"/>
              </a:rPr>
              <a:t>Explain business results</a:t>
            </a:r>
          </a:p>
        </p:txBody>
      </p:sp>
      <p:sp>
        <p:nvSpPr>
          <p:cNvPr id="26" name="">
            <a:extLst xmlns:a="http://schemas.openxmlformats.org/drawingml/2006/main">
              <a:ext uri="{FF2B5EF4-FFF2-40B4-BE49-F238E27FC236}">
                <a16:creationId xmlns:a16="http://schemas.microsoft.com/office/drawing/2014/main" id="{0917BC5F-056E-4028-9F57-908D5BCBADDE}"/>
              </a:ext>
            </a:extLst>
          </p:cNvPr>
          <p:cNvSpPr>
            <a:spLocks xmlns:a="http://schemas.openxmlformats.org/drawingml/2006/main" noGrp="1"/>
          </p:cNvSpPr>
          <p:nvPr/>
        </p:nvSpPr>
        <p:spPr>
          <a:xfrm xmlns:a="http://schemas.openxmlformats.org/drawingml/2006/main">
            <a:off x="6953250" y="4086225"/>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l">
              <a:defRPr sz="1350" b="0">
                <a:solidFill>
                  <a:srgbClr val="56657A"/>
                </a:solidFill>
                <a:latin typeface="Segoe UI"/>
                <a:ea typeface="Segoe UI"/>
                <a:cs typeface="Segoe UI"/>
              </a:defRPr>
            </a:defPPr>
          </a:lstStyle>
          <a:p xmlns:a="http://schemas.openxmlformats.org/drawingml/2006/main">
            <a:pPr algn="l">
              <a:defRPr sz="1350" b="0">
                <a:solidFill>
                  <a:srgbClr val="56657A"/>
                </a:solidFill>
                <a:latin typeface="Segoe UI"/>
                <a:ea typeface="Segoe UI"/>
                <a:cs typeface="Segoe UI"/>
              </a:defRPr>
            </a:pPr>
            <a:r>
              <a:rPr sz="1350" b="0">
                <a:solidFill>
                  <a:srgbClr val="56657A"/>
                </a:solidFill>
                <a:latin typeface="Segoe UI"/>
                <a:ea typeface="Segoe UI"/>
                <a:cs typeface="Segoe UI"/>
              </a:rPr>
              <a:t>Turns SQL output into decisions</a:t>
            </a:r>
          </a:p>
        </p:txBody>
      </p:sp>
      <p:sp>
        <p:nvSpPr>
          <p:cNvPr id="27" name="">
            <a:extLst xmlns:a="http://schemas.openxmlformats.org/drawingml/2006/main">
              <a:ext uri="{FF2B5EF4-FFF2-40B4-BE49-F238E27FC236}">
                <a16:creationId xmlns:a16="http://schemas.microsoft.com/office/drawing/2014/main" id="{F5B8CA9D-4D40-40EA-9979-5CB158541B97}"/>
              </a:ext>
            </a:extLst>
          </p:cNvPr>
          <p:cNvSpPr>
            <a:spLocks xmlns:a="http://schemas.openxmlformats.org/drawingml/2006/main" noGrp="1"/>
          </p:cNvSpPr>
          <p:nvPr/>
        </p:nvSpPr>
        <p:spPr>
          <a:xfrm xmlns:a="http://schemas.openxmlformats.org/drawingml/2006/main">
            <a:off x="6229350" y="4648200"/>
            <a:ext cx="4953000" cy="800100"/>
          </a:xfrm>
          <a:prstGeom xmlns:a="http://schemas.openxmlformats.org/drawingml/2006/main" prst="roundRect">
            <a:avLst>
              <a:gd name="adj" fmla="val 9524"/>
            </a:avLst>
          </a:prstGeom>
          <a:solidFill xmlns:a="http://schemas.openxmlformats.org/drawingml/2006/main">
            <a:srgbClr val="FCE8E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3199CE0-A8F7-4CF2-8F41-41AC7E7FE5FA}"/>
              </a:ext>
            </a:extLst>
          </p:cNvPr>
          <p:cNvSpPr>
            <a:spLocks xmlns:a="http://schemas.openxmlformats.org/drawingml/2006/main" noGrp="1"/>
          </p:cNvSpPr>
          <p:nvPr/>
        </p:nvSpPr>
        <p:spPr>
          <a:xfrm xmlns:a="http://schemas.openxmlformats.org/drawingml/2006/main">
            <a:off x="6400800" y="48387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defPPr algn="l">
              <a:defRPr sz="1425" b="1">
                <a:solidFill>
                  <a:srgbClr val="E65B65"/>
                </a:solidFill>
                <a:latin typeface="Segoe UI"/>
                <a:ea typeface="Segoe UI"/>
                <a:cs typeface="Segoe UI"/>
              </a:defRPr>
            </a:defPPr>
          </a:lstStyle>
          <a:p xmlns:a="http://schemas.openxmlformats.org/drawingml/2006/main">
            <a:pPr algn="l">
              <a:defRPr sz="1425" b="1">
                <a:solidFill>
                  <a:srgbClr val="E65B65"/>
                </a:solidFill>
                <a:latin typeface="Segoe UI"/>
                <a:ea typeface="Segoe UI"/>
                <a:cs typeface="Segoe UI"/>
              </a:defRPr>
            </a:pPr>
            <a:r>
              <a:rPr sz="1425" b="1">
                <a:solidFill>
                  <a:srgbClr val="E65B65"/>
                </a:solidFill>
                <a:latin typeface="Segoe UI"/>
                <a:ea typeface="Segoe UI"/>
                <a:cs typeface="Segoe UI"/>
              </a:rPr>
              <a:t>04</a:t>
            </a:r>
          </a:p>
        </p:txBody>
      </p:sp>
      <p:sp>
        <p:nvSpPr>
          <p:cNvPr id="29" name="">
            <a:extLst xmlns:a="http://schemas.openxmlformats.org/drawingml/2006/main">
              <a:ext uri="{FF2B5EF4-FFF2-40B4-BE49-F238E27FC236}">
                <a16:creationId xmlns:a16="http://schemas.microsoft.com/office/drawing/2014/main" id="{0C7D99E4-614D-444A-A3CE-396097D86BE4}"/>
              </a:ext>
            </a:extLst>
          </p:cNvPr>
          <p:cNvSpPr>
            <a:spLocks xmlns:a="http://schemas.openxmlformats.org/drawingml/2006/main" noGrp="1"/>
          </p:cNvSpPr>
          <p:nvPr/>
        </p:nvSpPr>
        <p:spPr>
          <a:xfrm xmlns:a="http://schemas.openxmlformats.org/drawingml/2006/main">
            <a:off x="6953250" y="47625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913"/>
          </a:bodyPr>
          <a:lstStyle xmlns:a="http://schemas.openxmlformats.org/drawingml/2006/main">
            <a:defPPr algn="l">
              <a:defRPr sz="1725" b="1">
                <a:solidFill>
                  <a:srgbClr val="172033"/>
                </a:solidFill>
                <a:latin typeface="Segoe UI"/>
                <a:ea typeface="Segoe UI"/>
                <a:cs typeface="Segoe UI"/>
              </a:defRPr>
            </a:defPPr>
          </a:lstStyle>
          <a:p xmlns:a="http://schemas.openxmlformats.org/drawingml/2006/main">
            <a:pPr algn="l">
              <a:defRPr sz="1725" b="1">
                <a:solidFill>
                  <a:srgbClr val="172033"/>
                </a:solidFill>
                <a:latin typeface="Segoe UI"/>
                <a:ea typeface="Segoe UI"/>
                <a:cs typeface="Segoe UI"/>
              </a:defRPr>
            </a:pPr>
            <a:r>
              <a:rPr sz="1725" b="1">
                <a:solidFill>
                  <a:srgbClr val="172033"/>
                </a:solidFill>
                <a:latin typeface="Segoe UI"/>
                <a:ea typeface="Segoe UI"/>
                <a:cs typeface="Segoe UI"/>
              </a:rPr>
              <a:t>Process new orders</a:t>
            </a:r>
          </a:p>
        </p:txBody>
      </p:sp>
      <p:sp>
        <p:nvSpPr>
          <p:cNvPr id="30" name="">
            <a:extLst xmlns:a="http://schemas.openxmlformats.org/drawingml/2006/main">
              <a:ext uri="{FF2B5EF4-FFF2-40B4-BE49-F238E27FC236}">
                <a16:creationId xmlns:a16="http://schemas.microsoft.com/office/drawing/2014/main" id="{47681AAE-5396-4EF5-9002-03236D6CEA62}"/>
              </a:ext>
            </a:extLst>
          </p:cNvPr>
          <p:cNvSpPr>
            <a:spLocks xmlns:a="http://schemas.openxmlformats.org/drawingml/2006/main" noGrp="1"/>
          </p:cNvSpPr>
          <p:nvPr/>
        </p:nvSpPr>
        <p:spPr>
          <a:xfrm xmlns:a="http://schemas.openxmlformats.org/drawingml/2006/main">
            <a:off x="6953250" y="5076825"/>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l">
              <a:defRPr sz="1350" b="0">
                <a:solidFill>
                  <a:srgbClr val="56657A"/>
                </a:solidFill>
                <a:latin typeface="Segoe UI"/>
                <a:ea typeface="Segoe UI"/>
                <a:cs typeface="Segoe UI"/>
              </a:defRPr>
            </a:defPPr>
          </a:lstStyle>
          <a:p xmlns:a="http://schemas.openxmlformats.org/drawingml/2006/main">
            <a:pPr algn="l">
              <a:defRPr sz="1350" b="0">
                <a:solidFill>
                  <a:srgbClr val="56657A"/>
                </a:solidFill>
                <a:latin typeface="Segoe UI"/>
                <a:ea typeface="Segoe UI"/>
                <a:cs typeface="Segoe UI"/>
              </a:defRPr>
            </a:pPr>
            <a:r>
              <a:rPr sz="1350" b="0">
                <a:solidFill>
                  <a:srgbClr val="56657A"/>
                </a:solidFill>
                <a:latin typeface="Segoe UI"/>
                <a:ea typeface="Segoe UI"/>
                <a:cs typeface="Segoe UI"/>
              </a:rPr>
              <a:t>Keeps ingestion working during traffic bursts</a:t>
            </a:r>
          </a:p>
        </p:txBody>
      </p:sp>
      <p:sp>
        <p:nvSpPr>
          <p:cNvPr id="31" name="">
            <a:extLst xmlns:a="http://schemas.openxmlformats.org/drawingml/2006/main">
              <a:ext uri="{FF2B5EF4-FFF2-40B4-BE49-F238E27FC236}">
                <a16:creationId xmlns:a16="http://schemas.microsoft.com/office/drawing/2014/main" id="{64502BB0-4ACC-437C-A9D4-11F1651DBADF}"/>
              </a:ext>
            </a:extLst>
          </p:cNvPr>
          <p:cNvSpPr>
            <a:spLocks xmlns:a="http://schemas.openxmlformats.org/drawingml/2006/main" noGrp="1"/>
          </p:cNvSpPr>
          <p:nvPr/>
        </p:nvSpPr>
        <p:spPr>
          <a:xfrm xmlns:a="http://schemas.openxmlformats.org/drawingml/2006/main">
            <a:off x="6229350" y="57531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091"/>
          </a:bodyPr>
          <a:lstStyle xmlns:a="http://schemas.openxmlformats.org/drawingml/2006/main">
            <a:defPPr algn="l">
              <a:defRPr sz="1275" b="0">
                <a:solidFill>
                  <a:srgbClr val="56657A"/>
                </a:solidFill>
                <a:latin typeface="Segoe UI"/>
                <a:ea typeface="Segoe UI"/>
                <a:cs typeface="Segoe UI"/>
              </a:defRPr>
            </a:defPPr>
          </a:lstStyle>
          <a:p xmlns:a="http://schemas.openxmlformats.org/drawingml/2006/main">
            <a:pPr algn="l">
              <a:defRPr sz="1275" b="0">
                <a:solidFill>
                  <a:srgbClr val="56657A"/>
                </a:solidFill>
                <a:latin typeface="Segoe UI"/>
                <a:ea typeface="Segoe UI"/>
                <a:cs typeface="Segoe UI"/>
              </a:defRPr>
            </a:pPr>
            <a:r>
              <a:rPr sz="1275" b="0">
                <a:solidFill>
                  <a:srgbClr val="56657A"/>
                </a:solidFill>
                <a:latin typeface="Segoe UI"/>
                <a:ea typeface="Segoe UI"/>
                <a:cs typeface="Segoe UI"/>
              </a:rPr>
              <a:t>Inputs: reproducible CSV, public API snapshot and continuously generated demo events</a:t>
            </a:r>
          </a:p>
        </p:txBody>
      </p:sp>
    </p:spTree>
    <p:extLst>
      <p:ext uri="{BB962C8B-B14F-4D97-AF65-F5344CB8AC3E}">
        <p14:creationId xmlns:p14="http://schemas.microsoft.com/office/powerpoint/2010/main" val="2141391827"/>
      </p:ext>
    </p:extLst>
  </p:cSld>
</p:sld>
</file>

<file path=ppt/slides/slide3.xml><?xml version="1.0" encoding="utf-8"?>
<p:sld xmlns:p="http://schemas.openxmlformats.org/presentationml/2006/main">
  <p:cSld>
    <p:bg>
      <p:bgPr>
        <a:solidFill xmlns:a="http://schemas.openxmlformats.org/drawingml/2006/main">
          <a:srgbClr val="101C33"/>
        </a:solidFill>
      </p:bgPr>
    </p:bg>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13982C37-3346-48D0-8790-0662CC06F408}"/>
              </a:ext>
            </a:extLst>
          </p:cNvPr>
          <p:cNvSpPr>
            <a:spLocks xmlns:a="http://schemas.openxmlformats.org/drawingml/2006/main" noGrp="1"/>
          </p:cNvSpPr>
          <p:nvPr/>
        </p:nvSpPr>
        <p:spPr>
          <a:xfrm xmlns:a="http://schemas.openxmlformats.org/drawingml/2006/main">
            <a:off x="609600" y="3238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1">
                <a:solidFill>
                  <a:srgbClr val="F2A03D"/>
                </a:solidFill>
                <a:latin typeface="Segoe UI"/>
                <a:ea typeface="Segoe UI"/>
                <a:cs typeface="Segoe UI"/>
              </a:defRPr>
            </a:defPPr>
          </a:lstStyle>
          <a:p xmlns:a="http://schemas.openxmlformats.org/drawingml/2006/main">
            <a:pPr algn="l">
              <a:defRPr sz="1275" b="1">
                <a:solidFill>
                  <a:srgbClr val="F2A03D"/>
                </a:solidFill>
                <a:latin typeface="Segoe UI"/>
                <a:ea typeface="Segoe UI"/>
                <a:cs typeface="Segoe UI"/>
              </a:defRPr>
            </a:pPr>
            <a:r>
              <a:rPr sz="1275" b="1">
                <a:solidFill>
                  <a:srgbClr val="F2A03D"/>
                </a:solidFill>
                <a:latin typeface="Segoe UI"/>
                <a:ea typeface="Segoe UI"/>
                <a:cs typeface="Segoe UI"/>
              </a:rPr>
              <a:t>03</a:t>
            </a:r>
          </a:p>
        </p:txBody>
      </p:sp>
      <p:sp>
        <p:nvSpPr>
          <p:cNvPr id="2" name="">
            <a:extLst xmlns:a="http://schemas.openxmlformats.org/drawingml/2006/main">
              <a:ext uri="{FF2B5EF4-FFF2-40B4-BE49-F238E27FC236}">
                <a16:creationId xmlns:a16="http://schemas.microsoft.com/office/drawing/2014/main" id="{B0A37104-0172-4FAD-9739-1A3445535988}"/>
              </a:ext>
            </a:extLst>
          </p:cNvPr>
          <p:cNvSpPr>
            <a:spLocks xmlns:a="http://schemas.openxmlformats.org/drawingml/2006/main" noGrp="1"/>
          </p:cNvSpPr>
          <p:nvPr/>
        </p:nvSpPr>
        <p:spPr>
          <a:xfrm xmlns:a="http://schemas.openxmlformats.org/drawingml/2006/main">
            <a:off x="1181100" y="26670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defPPr algn="l">
              <a:defRPr sz="3150" b="1">
                <a:solidFill>
                  <a:srgbClr val="FFFFFF"/>
                </a:solidFill>
                <a:latin typeface="Segoe UI"/>
                <a:ea typeface="Segoe UI"/>
                <a:cs typeface="Segoe UI"/>
              </a:defRPr>
            </a:defPPr>
          </a:lstStyle>
          <a:p xmlns:a="http://schemas.openxmlformats.org/drawingml/2006/main">
            <a:pPr algn="l">
              <a:defRPr sz="3150" b="1">
                <a:solidFill>
                  <a:srgbClr val="FFFFFF"/>
                </a:solidFill>
                <a:latin typeface="Segoe UI"/>
                <a:ea typeface="Segoe UI"/>
                <a:cs typeface="Segoe UI"/>
              </a:defRPr>
            </a:pPr>
            <a:r>
              <a:rPr sz="3150" b="1">
                <a:solidFill>
                  <a:srgbClr val="FFFFFF"/>
                </a:solidFill>
                <a:latin typeface="Segoe UI"/>
                <a:ea typeface="Segoe UI"/>
                <a:cs typeface="Segoe UI"/>
              </a:rPr>
              <a:t>Batch and streaming serve different timing needs</a:t>
            </a:r>
          </a:p>
        </p:txBody>
      </p:sp>
      <p:sp>
        <p:nvSpPr>
          <p:cNvPr id="3" name="">
            <a:extLst xmlns:a="http://schemas.openxmlformats.org/drawingml/2006/main">
              <a:ext uri="{FF2B5EF4-FFF2-40B4-BE49-F238E27FC236}">
                <a16:creationId xmlns:a16="http://schemas.microsoft.com/office/drawing/2014/main" id="{28A1088A-D051-4826-9357-A18A03BF2899}"/>
              </a:ext>
            </a:extLst>
          </p:cNvPr>
          <p:cNvSpPr>
            <a:spLocks xmlns:a="http://schemas.openxmlformats.org/drawingml/2006/main" noGrp="1"/>
          </p:cNvSpPr>
          <p:nvPr/>
        </p:nvSpPr>
        <p:spPr>
          <a:xfrm xmlns:a="http://schemas.openxmlformats.org/drawingml/2006/main">
            <a:off x="609600" y="914400"/>
            <a:ext cx="10972800" cy="19050"/>
          </a:xfrm>
          <a:prstGeom xmlns:a="http://schemas.openxmlformats.org/drawingml/2006/main" prst="rect">
            <a:avLst/>
          </a:prstGeom>
          <a:solidFill xmlns:a="http://schemas.openxmlformats.org/drawingml/2006/main">
            <a:srgbClr val="34445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BE2E333-FEC1-4DDB-BD75-56692C80E627}"/>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0">
                <a:solidFill>
                  <a:srgbClr val="B7C3D6"/>
                </a:solidFill>
                <a:latin typeface="Segoe UI"/>
                <a:ea typeface="Segoe UI"/>
                <a:cs typeface="Segoe UI"/>
              </a:defRPr>
            </a:defPPr>
          </a:lstStyle>
          <a:p xmlns:a="http://schemas.openxmlformats.org/drawingml/2006/main">
            <a:pPr algn="l">
              <a:defRPr sz="1050" b="0">
                <a:solidFill>
                  <a:srgbClr val="B7C3D6"/>
                </a:solidFill>
                <a:latin typeface="Segoe UI"/>
                <a:ea typeface="Segoe UI"/>
                <a:cs typeface="Segoe UI"/>
              </a:defRPr>
            </a:pPr>
            <a:r>
              <a:rPr sz="1050" b="0">
                <a:solidFill>
                  <a:srgbClr val="B7C3D6"/>
                </a:solidFill>
                <a:latin typeface="Segoe UI"/>
                <a:ea typeface="Segoe UI"/>
                <a:cs typeface="Segoe UI"/>
              </a:rPr>
              <a:t>Presenter: Harsh Birje</a:t>
            </a:r>
          </a:p>
        </p:txBody>
      </p:sp>
      <p:sp>
        <p:nvSpPr>
          <p:cNvPr id="5" name="">
            <a:extLst xmlns:a="http://schemas.openxmlformats.org/drawingml/2006/main">
              <a:ext uri="{FF2B5EF4-FFF2-40B4-BE49-F238E27FC236}">
                <a16:creationId xmlns:a16="http://schemas.microsoft.com/office/drawing/2014/main" id="{834BF82F-C220-41FC-8644-D42446A58DC8}"/>
              </a:ext>
            </a:extLst>
          </p:cNvPr>
          <p:cNvSpPr>
            <a:spLocks xmlns:a="http://schemas.openxmlformats.org/drawingml/2006/main" noGrp="1"/>
          </p:cNvSpPr>
          <p:nvPr/>
        </p:nvSpPr>
        <p:spPr>
          <a:xfrm xmlns:a="http://schemas.openxmlformats.org/drawingml/2006/main">
            <a:off x="7810500" y="6477000"/>
            <a:ext cx="3771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r">
              <a:defRPr sz="1050" b="0">
                <a:solidFill>
                  <a:srgbClr val="B7C3D6"/>
                </a:solidFill>
                <a:latin typeface="Segoe UI"/>
                <a:ea typeface="Segoe UI"/>
                <a:cs typeface="Segoe UI"/>
              </a:defRPr>
            </a:defPPr>
          </a:lstStyle>
          <a:p xmlns:a="http://schemas.openxmlformats.org/drawingml/2006/main">
            <a:pPr algn="r">
              <a:defRPr sz="1050" b="0">
                <a:solidFill>
                  <a:srgbClr val="B7C3D6"/>
                </a:solidFill>
                <a:latin typeface="Segoe UI"/>
                <a:ea typeface="Segoe UI"/>
                <a:cs typeface="Segoe UI"/>
              </a:defRPr>
            </a:pPr>
            <a:r>
              <a:rPr sz="1050" b="0">
                <a:solidFill>
                  <a:srgbClr val="B7C3D6"/>
                </a:solidFill>
                <a:latin typeface="Segoe UI"/>
                <a:ea typeface="Segoe UI"/>
                <a:cs typeface="Segoe UI"/>
              </a:rPr>
              <a:t>E-Commerce Sales Analytics · DuckDB + RabbitMQ</a:t>
            </a:r>
          </a:p>
        </p:txBody>
      </p:sp>
      <p:sp>
        <p:nvSpPr>
          <p:cNvPr id="6" name="">
            <a:extLst xmlns:a="http://schemas.openxmlformats.org/drawingml/2006/main">
              <a:ext uri="{FF2B5EF4-FFF2-40B4-BE49-F238E27FC236}">
                <a16:creationId xmlns:a16="http://schemas.microsoft.com/office/drawing/2014/main" id="{66CC8401-B639-48FD-8858-B3176FDB9268}"/>
              </a:ext>
            </a:extLst>
          </p:cNvPr>
          <p:cNvSpPr>
            <a:spLocks xmlns:a="http://schemas.openxmlformats.org/drawingml/2006/main" noGrp="1"/>
          </p:cNvSpPr>
          <p:nvPr/>
        </p:nvSpPr>
        <p:spPr>
          <a:xfrm xmlns:a="http://schemas.openxmlformats.org/drawingml/2006/main">
            <a:off x="609600" y="12001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defPPr algn="l">
              <a:defRPr sz="1275" b="1">
                <a:solidFill>
                  <a:srgbClr val="16B8A6"/>
                </a:solidFill>
                <a:latin typeface="Segoe UI"/>
                <a:ea typeface="Segoe UI"/>
                <a:cs typeface="Segoe UI"/>
              </a:defRPr>
            </a:defPPr>
          </a:lstStyle>
          <a:p xmlns:a="http://schemas.openxmlformats.org/drawingml/2006/main">
            <a:pPr algn="l">
              <a:defRPr sz="1275" b="1">
                <a:solidFill>
                  <a:srgbClr val="16B8A6"/>
                </a:solidFill>
                <a:latin typeface="Segoe UI"/>
                <a:ea typeface="Segoe UI"/>
                <a:cs typeface="Segoe UI"/>
              </a:defRPr>
            </a:pPr>
            <a:r>
              <a:rPr sz="1275" b="1">
                <a:solidFill>
                  <a:srgbClr val="16B8A6"/>
                </a:solidFill>
                <a:latin typeface="Segoe UI"/>
                <a:ea typeface="Segoe UI"/>
                <a:cs typeface="Segoe UI"/>
              </a:rPr>
              <a:t>BATCH LANE</a:t>
            </a:r>
          </a:p>
        </p:txBody>
      </p:sp>
      <p:sp>
        <p:nvSpPr>
          <p:cNvPr id="7" name="">
            <a:extLst xmlns:a="http://schemas.openxmlformats.org/drawingml/2006/main">
              <a:ext uri="{FF2B5EF4-FFF2-40B4-BE49-F238E27FC236}">
                <a16:creationId xmlns:a16="http://schemas.microsoft.com/office/drawing/2014/main" id="{DDB0BB66-3306-4FD6-A835-C1C7956D51B8}"/>
              </a:ext>
            </a:extLst>
          </p:cNvPr>
          <p:cNvSpPr>
            <a:spLocks xmlns:a="http://schemas.openxmlformats.org/drawingml/2006/main" noGrp="1"/>
          </p:cNvSpPr>
          <p:nvPr/>
        </p:nvSpPr>
        <p:spPr>
          <a:xfrm xmlns:a="http://schemas.openxmlformats.org/drawingml/2006/main">
            <a:off x="609600" y="1600200"/>
            <a:ext cx="1504950" cy="857250"/>
          </a:xfrm>
          <a:prstGeom xmlns:a="http://schemas.openxmlformats.org/drawingml/2006/main" prst="roundRect">
            <a:avLst>
              <a:gd name="adj" fmla="val 8889"/>
            </a:avLst>
          </a:prstGeom>
          <a:solidFill xmlns:a="http://schemas.openxmlformats.org/drawingml/2006/main">
            <a:srgbClr val="1829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A480F8A-FDEA-4271-9452-B2EFFC63CE01}"/>
              </a:ext>
            </a:extLst>
          </p:cNvPr>
          <p:cNvSpPr>
            <a:spLocks xmlns:a="http://schemas.openxmlformats.org/drawingml/2006/main" noGrp="1"/>
          </p:cNvSpPr>
          <p:nvPr/>
        </p:nvSpPr>
        <p:spPr>
          <a:xfrm xmlns:a="http://schemas.openxmlformats.org/drawingml/2006/main">
            <a:off x="723900" y="16954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FFFFFF"/>
                </a:solidFill>
                <a:latin typeface="Segoe UI"/>
                <a:ea typeface="Segoe UI"/>
                <a:cs typeface="Segoe UI"/>
              </a:defRPr>
            </a:defPPr>
          </a:lstStyle>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CSV + API</a:t>
            </a:r>
          </a:p>
        </p:txBody>
      </p:sp>
      <p:sp>
        <p:nvSpPr>
          <p:cNvPr id="9" name="">
            <a:extLst xmlns:a="http://schemas.openxmlformats.org/drawingml/2006/main">
              <a:ext uri="{FF2B5EF4-FFF2-40B4-BE49-F238E27FC236}">
                <a16:creationId xmlns:a16="http://schemas.microsoft.com/office/drawing/2014/main" id="{A301C9C4-312F-4D90-8D92-36BDB58DB595}"/>
              </a:ext>
            </a:extLst>
          </p:cNvPr>
          <p:cNvSpPr>
            <a:spLocks xmlns:a="http://schemas.openxmlformats.org/drawingml/2006/main" noGrp="1"/>
          </p:cNvSpPr>
          <p:nvPr/>
        </p:nvSpPr>
        <p:spPr>
          <a:xfrm xmlns:a="http://schemas.openxmlformats.org/drawingml/2006/main">
            <a:off x="704850" y="200025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75" b="0">
                <a:solidFill>
                  <a:srgbClr val="FFFFFF"/>
                </a:solidFill>
                <a:latin typeface="Segoe UI"/>
                <a:ea typeface="Segoe UI"/>
                <a:cs typeface="Segoe UI"/>
              </a:defRPr>
            </a:defPPr>
          </a:lstStyle>
          <a:p xmlns:a="http://schemas.openxmlformats.org/drawingml/2006/main">
            <a:pPr algn="ctr">
              <a:defRPr sz="1275" b="0">
                <a:solidFill>
                  <a:srgbClr val="FFFFFF"/>
                </a:solidFill>
                <a:latin typeface="Segoe UI"/>
                <a:ea typeface="Segoe UI"/>
                <a:cs typeface="Segoe UI"/>
              </a:defRPr>
            </a:pPr>
            <a:r>
              <a:rPr sz="1275" b="0">
                <a:solidFill>
                  <a:srgbClr val="FFFFFF"/>
                </a:solidFill>
                <a:latin typeface="Segoe UI"/>
                <a:ea typeface="Segoe UI"/>
                <a:cs typeface="Segoe UI"/>
              </a:rPr>
              <a:t>raw inputs</a:t>
            </a:r>
          </a:p>
        </p:txBody>
      </p:sp>
      <p:sp>
        <p:nvSpPr>
          <p:cNvPr id="10" name="">
            <a:extLst xmlns:a="http://schemas.openxmlformats.org/drawingml/2006/main">
              <a:ext uri="{FF2B5EF4-FFF2-40B4-BE49-F238E27FC236}">
                <a16:creationId xmlns:a16="http://schemas.microsoft.com/office/drawing/2014/main" id="{CD72584D-768B-45C2-B01A-D93B78613E78}"/>
              </a:ext>
            </a:extLst>
          </p:cNvPr>
          <p:cNvSpPr>
            <a:spLocks xmlns:a="http://schemas.openxmlformats.org/drawingml/2006/main" noGrp="1"/>
          </p:cNvSpPr>
          <p:nvPr/>
        </p:nvSpPr>
        <p:spPr>
          <a:xfrm xmlns:a="http://schemas.openxmlformats.org/drawingml/2006/main">
            <a:off x="2114550" y="2009775"/>
            <a:ext cx="114300" cy="38100"/>
          </a:xfrm>
          <a:prstGeom xmlns:a="http://schemas.openxmlformats.org/drawingml/2006/main" prst="rect">
            <a:avLst/>
          </a:prstGeom>
          <a:solidFill xmlns:a="http://schemas.openxmlformats.org/drawingml/2006/main">
            <a:srgbClr val="16B8A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3938886-780C-4860-AFC4-6A7CE8FB5F13}"/>
              </a:ext>
            </a:extLst>
          </p:cNvPr>
          <p:cNvSpPr>
            <a:spLocks xmlns:a="http://schemas.openxmlformats.org/drawingml/2006/main" noGrp="1"/>
          </p:cNvSpPr>
          <p:nvPr/>
        </p:nvSpPr>
        <p:spPr>
          <a:xfrm xmlns:a="http://schemas.openxmlformats.org/drawingml/2006/main">
            <a:off x="2209800" y="1943100"/>
            <a:ext cx="171450" cy="171450"/>
          </a:xfrm>
          <a:prstGeom xmlns:a="http://schemas.openxmlformats.org/drawingml/2006/main" prst="chevron">
            <a:avLst/>
          </a:prstGeom>
          <a:solidFill xmlns:a="http://schemas.openxmlformats.org/drawingml/2006/main">
            <a:srgbClr val="16B8A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1AB174A-49FD-4112-BC80-ED226F2C7CC8}"/>
              </a:ext>
            </a:extLst>
          </p:cNvPr>
          <p:cNvSpPr>
            <a:spLocks xmlns:a="http://schemas.openxmlformats.org/drawingml/2006/main" noGrp="1"/>
          </p:cNvSpPr>
          <p:nvPr/>
        </p:nvSpPr>
        <p:spPr>
          <a:xfrm xmlns:a="http://schemas.openxmlformats.org/drawingml/2006/main">
            <a:off x="2381250" y="1600200"/>
            <a:ext cx="1504950" cy="857250"/>
          </a:xfrm>
          <a:prstGeom xmlns:a="http://schemas.openxmlformats.org/drawingml/2006/main" prst="roundRect">
            <a:avLst>
              <a:gd name="adj" fmla="val 8889"/>
            </a:avLst>
          </a:prstGeom>
          <a:solidFill xmlns:a="http://schemas.openxmlformats.org/drawingml/2006/main">
            <a:srgbClr val="18294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1535513-FEB9-4CF4-B20B-0FAF21A520EF}"/>
              </a:ext>
            </a:extLst>
          </p:cNvPr>
          <p:cNvSpPr>
            <a:spLocks xmlns:a="http://schemas.openxmlformats.org/drawingml/2006/main" noGrp="1"/>
          </p:cNvSpPr>
          <p:nvPr/>
        </p:nvSpPr>
        <p:spPr>
          <a:xfrm xmlns:a="http://schemas.openxmlformats.org/drawingml/2006/main">
            <a:off x="2495550" y="16954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FFFFFF"/>
                </a:solidFill>
                <a:latin typeface="Segoe UI"/>
                <a:ea typeface="Segoe UI"/>
                <a:cs typeface="Segoe UI"/>
              </a:defRPr>
            </a:defPPr>
          </a:lstStyle>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Python + SQL</a:t>
            </a:r>
          </a:p>
        </p:txBody>
      </p:sp>
      <p:sp>
        <p:nvSpPr>
          <p:cNvPr id="14" name="">
            <a:extLst xmlns:a="http://schemas.openxmlformats.org/drawingml/2006/main">
              <a:ext uri="{FF2B5EF4-FFF2-40B4-BE49-F238E27FC236}">
                <a16:creationId xmlns:a16="http://schemas.microsoft.com/office/drawing/2014/main" id="{0B57E999-731A-4B54-9914-785259A6FE0F}"/>
              </a:ext>
            </a:extLst>
          </p:cNvPr>
          <p:cNvSpPr>
            <a:spLocks xmlns:a="http://schemas.openxmlformats.org/drawingml/2006/main" noGrp="1"/>
          </p:cNvSpPr>
          <p:nvPr/>
        </p:nvSpPr>
        <p:spPr>
          <a:xfrm xmlns:a="http://schemas.openxmlformats.org/drawingml/2006/main">
            <a:off x="2476500" y="200025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75" b="0">
                <a:solidFill>
                  <a:srgbClr val="FFFFFF"/>
                </a:solidFill>
                <a:latin typeface="Segoe UI"/>
                <a:ea typeface="Segoe UI"/>
                <a:cs typeface="Segoe UI"/>
              </a:defRPr>
            </a:defPPr>
          </a:lstStyle>
          <a:p xmlns:a="http://schemas.openxmlformats.org/drawingml/2006/main">
            <a:pPr algn="ctr">
              <a:defRPr sz="1275" b="0">
                <a:solidFill>
                  <a:srgbClr val="FFFFFF"/>
                </a:solidFill>
                <a:latin typeface="Segoe UI"/>
                <a:ea typeface="Segoe UI"/>
                <a:cs typeface="Segoe UI"/>
              </a:defRPr>
            </a:pPr>
            <a:r>
              <a:rPr sz="1275" b="0">
                <a:solidFill>
                  <a:srgbClr val="FFFFFF"/>
                </a:solidFill>
                <a:latin typeface="Segoe UI"/>
                <a:ea typeface="Segoe UI"/>
                <a:cs typeface="Segoe UI"/>
              </a:rPr>
              <a:t>clean and type</a:t>
            </a:r>
          </a:p>
        </p:txBody>
      </p:sp>
      <p:sp>
        <p:nvSpPr>
          <p:cNvPr id="15" name="">
            <a:extLst xmlns:a="http://schemas.openxmlformats.org/drawingml/2006/main">
              <a:ext uri="{FF2B5EF4-FFF2-40B4-BE49-F238E27FC236}">
                <a16:creationId xmlns:a16="http://schemas.microsoft.com/office/drawing/2014/main" id="{20764445-E00C-4A1A-AB30-DC76B518C801}"/>
              </a:ext>
            </a:extLst>
          </p:cNvPr>
          <p:cNvSpPr>
            <a:spLocks xmlns:a="http://schemas.openxmlformats.org/drawingml/2006/main" noGrp="1"/>
          </p:cNvSpPr>
          <p:nvPr/>
        </p:nvSpPr>
        <p:spPr>
          <a:xfrm xmlns:a="http://schemas.openxmlformats.org/drawingml/2006/main">
            <a:off x="3886200" y="2009775"/>
            <a:ext cx="114300" cy="38100"/>
          </a:xfrm>
          <a:prstGeom xmlns:a="http://schemas.openxmlformats.org/drawingml/2006/main" prst="rect">
            <a:avLst/>
          </a:prstGeom>
          <a:solidFill xmlns:a="http://schemas.openxmlformats.org/drawingml/2006/main">
            <a:srgbClr val="16B8A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89C36AA-F74D-47CC-A916-63EA05D5B820}"/>
              </a:ext>
            </a:extLst>
          </p:cNvPr>
          <p:cNvSpPr>
            <a:spLocks xmlns:a="http://schemas.openxmlformats.org/drawingml/2006/main" noGrp="1"/>
          </p:cNvSpPr>
          <p:nvPr/>
        </p:nvSpPr>
        <p:spPr>
          <a:xfrm xmlns:a="http://schemas.openxmlformats.org/drawingml/2006/main">
            <a:off x="3981450" y="1943100"/>
            <a:ext cx="171450" cy="171450"/>
          </a:xfrm>
          <a:prstGeom xmlns:a="http://schemas.openxmlformats.org/drawingml/2006/main" prst="chevron">
            <a:avLst/>
          </a:prstGeom>
          <a:solidFill xmlns:a="http://schemas.openxmlformats.org/drawingml/2006/main">
            <a:srgbClr val="16B8A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0785AE9-9AA0-4351-85B5-F74989ED0FF6}"/>
              </a:ext>
            </a:extLst>
          </p:cNvPr>
          <p:cNvSpPr>
            <a:spLocks xmlns:a="http://schemas.openxmlformats.org/drawingml/2006/main" noGrp="1"/>
          </p:cNvSpPr>
          <p:nvPr/>
        </p:nvSpPr>
        <p:spPr>
          <a:xfrm xmlns:a="http://schemas.openxmlformats.org/drawingml/2006/main">
            <a:off x="4152900" y="1600200"/>
            <a:ext cx="1504950" cy="857250"/>
          </a:xfrm>
          <a:prstGeom xmlns:a="http://schemas.openxmlformats.org/drawingml/2006/main" prst="roundRect">
            <a:avLst>
              <a:gd name="adj" fmla="val 8889"/>
            </a:avLst>
          </a:prstGeom>
          <a:solidFill xmlns:a="http://schemas.openxmlformats.org/drawingml/2006/main">
            <a:srgbClr val="16B8A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C3BEF9F-56CD-44CA-8558-5B3E29175475}"/>
              </a:ext>
            </a:extLst>
          </p:cNvPr>
          <p:cNvSpPr>
            <a:spLocks xmlns:a="http://schemas.openxmlformats.org/drawingml/2006/main" noGrp="1"/>
          </p:cNvSpPr>
          <p:nvPr/>
        </p:nvSpPr>
        <p:spPr>
          <a:xfrm xmlns:a="http://schemas.openxmlformats.org/drawingml/2006/main">
            <a:off x="4267200" y="16954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FFFFFF"/>
                </a:solidFill>
                <a:latin typeface="Segoe UI"/>
                <a:ea typeface="Segoe UI"/>
                <a:cs typeface="Segoe UI"/>
              </a:defRPr>
            </a:defPPr>
          </a:lstStyle>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DuckDB</a:t>
            </a:r>
          </a:p>
        </p:txBody>
      </p:sp>
      <p:sp>
        <p:nvSpPr>
          <p:cNvPr id="19" name="">
            <a:extLst xmlns:a="http://schemas.openxmlformats.org/drawingml/2006/main">
              <a:ext uri="{FF2B5EF4-FFF2-40B4-BE49-F238E27FC236}">
                <a16:creationId xmlns:a16="http://schemas.microsoft.com/office/drawing/2014/main" id="{2041A8EA-8482-4D2F-9AFE-F7630467C8C6}"/>
              </a:ext>
            </a:extLst>
          </p:cNvPr>
          <p:cNvSpPr>
            <a:spLocks xmlns:a="http://schemas.openxmlformats.org/drawingml/2006/main" noGrp="1"/>
          </p:cNvSpPr>
          <p:nvPr/>
        </p:nvSpPr>
        <p:spPr>
          <a:xfrm xmlns:a="http://schemas.openxmlformats.org/drawingml/2006/main">
            <a:off x="4248150" y="200025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75" b="0">
                <a:solidFill>
                  <a:srgbClr val="FFFFFF"/>
                </a:solidFill>
                <a:latin typeface="Segoe UI"/>
                <a:ea typeface="Segoe UI"/>
                <a:cs typeface="Segoe UI"/>
              </a:defRPr>
            </a:defPPr>
          </a:lstStyle>
          <a:p xmlns:a="http://schemas.openxmlformats.org/drawingml/2006/main">
            <a:pPr algn="ctr">
              <a:defRPr sz="1275" b="0">
                <a:solidFill>
                  <a:srgbClr val="FFFFFF"/>
                </a:solidFill>
                <a:latin typeface="Segoe UI"/>
                <a:ea typeface="Segoe UI"/>
                <a:cs typeface="Segoe UI"/>
              </a:defRPr>
            </a:pPr>
            <a:r>
              <a:rPr sz="1275" b="0">
                <a:solidFill>
                  <a:srgbClr val="FFFFFF"/>
                </a:solidFill>
                <a:latin typeface="Segoe UI"/>
                <a:ea typeface="Segoe UI"/>
                <a:cs typeface="Segoe UI"/>
              </a:rPr>
              <a:t>star schema</a:t>
            </a:r>
          </a:p>
        </p:txBody>
      </p:sp>
      <p:sp>
        <p:nvSpPr>
          <p:cNvPr id="20" name="">
            <a:extLst xmlns:a="http://schemas.openxmlformats.org/drawingml/2006/main">
              <a:ext uri="{FF2B5EF4-FFF2-40B4-BE49-F238E27FC236}">
                <a16:creationId xmlns:a16="http://schemas.microsoft.com/office/drawing/2014/main" id="{79D7D9DE-DC24-4787-A153-4261CB33021B}"/>
              </a:ext>
            </a:extLst>
          </p:cNvPr>
          <p:cNvSpPr>
            <a:spLocks xmlns:a="http://schemas.openxmlformats.org/drawingml/2006/main" noGrp="1"/>
          </p:cNvSpPr>
          <p:nvPr/>
        </p:nvSpPr>
        <p:spPr>
          <a:xfrm xmlns:a="http://schemas.openxmlformats.org/drawingml/2006/main">
            <a:off x="5657850" y="2009775"/>
            <a:ext cx="114300" cy="38100"/>
          </a:xfrm>
          <a:prstGeom xmlns:a="http://schemas.openxmlformats.org/drawingml/2006/main" prst="rect">
            <a:avLst/>
          </a:prstGeom>
          <a:solidFill xmlns:a="http://schemas.openxmlformats.org/drawingml/2006/main">
            <a:srgbClr val="16B8A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E153EF9-3EBA-4649-AFCC-BD41C4C3A31F}"/>
              </a:ext>
            </a:extLst>
          </p:cNvPr>
          <p:cNvSpPr>
            <a:spLocks xmlns:a="http://schemas.openxmlformats.org/drawingml/2006/main" noGrp="1"/>
          </p:cNvSpPr>
          <p:nvPr/>
        </p:nvSpPr>
        <p:spPr>
          <a:xfrm xmlns:a="http://schemas.openxmlformats.org/drawingml/2006/main">
            <a:off x="5753100" y="1943100"/>
            <a:ext cx="171450" cy="171450"/>
          </a:xfrm>
          <a:prstGeom xmlns:a="http://schemas.openxmlformats.org/drawingml/2006/main" prst="chevron">
            <a:avLst/>
          </a:prstGeom>
          <a:solidFill xmlns:a="http://schemas.openxmlformats.org/drawingml/2006/main">
            <a:srgbClr val="16B8A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069AE19-C7AC-4287-A73F-84E52AA83900}"/>
              </a:ext>
            </a:extLst>
          </p:cNvPr>
          <p:cNvSpPr>
            <a:spLocks xmlns:a="http://schemas.openxmlformats.org/drawingml/2006/main" noGrp="1"/>
          </p:cNvSpPr>
          <p:nvPr/>
        </p:nvSpPr>
        <p:spPr>
          <a:xfrm xmlns:a="http://schemas.openxmlformats.org/drawingml/2006/main">
            <a:off x="5924550" y="1600200"/>
            <a:ext cx="1504950" cy="857250"/>
          </a:xfrm>
          <a:prstGeom xmlns:a="http://schemas.openxmlformats.org/drawingml/2006/main" prst="roundRect">
            <a:avLst>
              <a:gd name="adj" fmla="val 8889"/>
            </a:avLst>
          </a:prstGeom>
          <a:solidFill xmlns:a="http://schemas.openxmlformats.org/drawingml/2006/main">
            <a:srgbClr val="18294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6E93B47-BF50-4D90-98E0-A1E9FACEC4B0}"/>
              </a:ext>
            </a:extLst>
          </p:cNvPr>
          <p:cNvSpPr>
            <a:spLocks xmlns:a="http://schemas.openxmlformats.org/drawingml/2006/main" noGrp="1"/>
          </p:cNvSpPr>
          <p:nvPr/>
        </p:nvSpPr>
        <p:spPr>
          <a:xfrm xmlns:a="http://schemas.openxmlformats.org/drawingml/2006/main">
            <a:off x="6038850" y="16954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FFFFFF"/>
                </a:solidFill>
                <a:latin typeface="Segoe UI"/>
                <a:ea typeface="Segoe UI"/>
                <a:cs typeface="Segoe UI"/>
              </a:defRPr>
            </a:defPPr>
          </a:lstStyle>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Parquet</a:t>
            </a:r>
          </a:p>
        </p:txBody>
      </p:sp>
      <p:sp>
        <p:nvSpPr>
          <p:cNvPr id="24" name="">
            <a:extLst xmlns:a="http://schemas.openxmlformats.org/drawingml/2006/main">
              <a:ext uri="{FF2B5EF4-FFF2-40B4-BE49-F238E27FC236}">
                <a16:creationId xmlns:a16="http://schemas.microsoft.com/office/drawing/2014/main" id="{24545D18-6B8B-4A69-A502-A5E957E4586A}"/>
              </a:ext>
            </a:extLst>
          </p:cNvPr>
          <p:cNvSpPr>
            <a:spLocks xmlns:a="http://schemas.openxmlformats.org/drawingml/2006/main" noGrp="1"/>
          </p:cNvSpPr>
          <p:nvPr/>
        </p:nvSpPr>
        <p:spPr>
          <a:xfrm xmlns:a="http://schemas.openxmlformats.org/drawingml/2006/main">
            <a:off x="6019800" y="200025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75" b="0">
                <a:solidFill>
                  <a:srgbClr val="FFFFFF"/>
                </a:solidFill>
                <a:latin typeface="Segoe UI"/>
                <a:ea typeface="Segoe UI"/>
                <a:cs typeface="Segoe UI"/>
              </a:defRPr>
            </a:defPPr>
          </a:lstStyle>
          <a:p xmlns:a="http://schemas.openxmlformats.org/drawingml/2006/main">
            <a:pPr algn="ctr">
              <a:defRPr sz="1275" b="0">
                <a:solidFill>
                  <a:srgbClr val="FFFFFF"/>
                </a:solidFill>
                <a:latin typeface="Segoe UI"/>
                <a:ea typeface="Segoe UI"/>
                <a:cs typeface="Segoe UI"/>
              </a:defRPr>
            </a:pPr>
            <a:r>
              <a:rPr sz="1275" b="0">
                <a:solidFill>
                  <a:srgbClr val="FFFFFF"/>
                </a:solidFill>
                <a:latin typeface="Segoe UI"/>
                <a:ea typeface="Segoe UI"/>
                <a:cs typeface="Segoe UI"/>
              </a:rPr>
              <a:t>year/month</a:t>
            </a:r>
          </a:p>
        </p:txBody>
      </p:sp>
      <p:sp>
        <p:nvSpPr>
          <p:cNvPr id="25" name="">
            <a:extLst xmlns:a="http://schemas.openxmlformats.org/drawingml/2006/main">
              <a:ext uri="{FF2B5EF4-FFF2-40B4-BE49-F238E27FC236}">
                <a16:creationId xmlns:a16="http://schemas.microsoft.com/office/drawing/2014/main" id="{AD2C9E4D-1434-4C02-A4F4-6C8365A65595}"/>
              </a:ext>
            </a:extLst>
          </p:cNvPr>
          <p:cNvSpPr>
            <a:spLocks xmlns:a="http://schemas.openxmlformats.org/drawingml/2006/main" noGrp="1"/>
          </p:cNvSpPr>
          <p:nvPr/>
        </p:nvSpPr>
        <p:spPr>
          <a:xfrm xmlns:a="http://schemas.openxmlformats.org/drawingml/2006/main">
            <a:off x="7429500" y="2009775"/>
            <a:ext cx="114300" cy="38100"/>
          </a:xfrm>
          <a:prstGeom xmlns:a="http://schemas.openxmlformats.org/drawingml/2006/main" prst="rect">
            <a:avLst/>
          </a:prstGeom>
          <a:solidFill xmlns:a="http://schemas.openxmlformats.org/drawingml/2006/main">
            <a:srgbClr val="16B8A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F3642B3-245D-46EF-A489-FB589C389482}"/>
              </a:ext>
            </a:extLst>
          </p:cNvPr>
          <p:cNvSpPr>
            <a:spLocks xmlns:a="http://schemas.openxmlformats.org/drawingml/2006/main" noGrp="1"/>
          </p:cNvSpPr>
          <p:nvPr/>
        </p:nvSpPr>
        <p:spPr>
          <a:xfrm xmlns:a="http://schemas.openxmlformats.org/drawingml/2006/main">
            <a:off x="7524750" y="1943100"/>
            <a:ext cx="171450" cy="171450"/>
          </a:xfrm>
          <a:prstGeom xmlns:a="http://schemas.openxmlformats.org/drawingml/2006/main" prst="chevron">
            <a:avLst/>
          </a:prstGeom>
          <a:solidFill xmlns:a="http://schemas.openxmlformats.org/drawingml/2006/main">
            <a:srgbClr val="16B8A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AD9675D-2368-4B60-A83D-4EB8252A00A3}"/>
              </a:ext>
            </a:extLst>
          </p:cNvPr>
          <p:cNvSpPr>
            <a:spLocks xmlns:a="http://schemas.openxmlformats.org/drawingml/2006/main" noGrp="1"/>
          </p:cNvSpPr>
          <p:nvPr/>
        </p:nvSpPr>
        <p:spPr>
          <a:xfrm xmlns:a="http://schemas.openxmlformats.org/drawingml/2006/main">
            <a:off x="7696200" y="1600200"/>
            <a:ext cx="1504950" cy="857250"/>
          </a:xfrm>
          <a:prstGeom xmlns:a="http://schemas.openxmlformats.org/drawingml/2006/main" prst="roundRect">
            <a:avLst>
              <a:gd name="adj" fmla="val 8889"/>
            </a:avLst>
          </a:prstGeom>
          <a:solidFill xmlns:a="http://schemas.openxmlformats.org/drawingml/2006/main">
            <a:srgbClr val="18294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7343DFB-C512-48D0-89DA-B818455AF43D}"/>
              </a:ext>
            </a:extLst>
          </p:cNvPr>
          <p:cNvSpPr>
            <a:spLocks xmlns:a="http://schemas.openxmlformats.org/drawingml/2006/main" noGrp="1"/>
          </p:cNvSpPr>
          <p:nvPr/>
        </p:nvSpPr>
        <p:spPr>
          <a:xfrm xmlns:a="http://schemas.openxmlformats.org/drawingml/2006/main">
            <a:off x="7810500" y="16954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FFFFFF"/>
                </a:solidFill>
                <a:latin typeface="Segoe UI"/>
                <a:ea typeface="Segoe UI"/>
                <a:cs typeface="Segoe UI"/>
              </a:defRPr>
            </a:defPPr>
          </a:lstStyle>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SQL views</a:t>
            </a:r>
          </a:p>
        </p:txBody>
      </p:sp>
      <p:sp>
        <p:nvSpPr>
          <p:cNvPr id="29" name="">
            <a:extLst xmlns:a="http://schemas.openxmlformats.org/drawingml/2006/main">
              <a:ext uri="{FF2B5EF4-FFF2-40B4-BE49-F238E27FC236}">
                <a16:creationId xmlns:a16="http://schemas.microsoft.com/office/drawing/2014/main" id="{FFA0F3CE-8B34-4C22-A8EB-C19CDEAF02BE}"/>
              </a:ext>
            </a:extLst>
          </p:cNvPr>
          <p:cNvSpPr>
            <a:spLocks xmlns:a="http://schemas.openxmlformats.org/drawingml/2006/main" noGrp="1"/>
          </p:cNvSpPr>
          <p:nvPr/>
        </p:nvSpPr>
        <p:spPr>
          <a:xfrm xmlns:a="http://schemas.openxmlformats.org/drawingml/2006/main">
            <a:off x="7791450" y="200025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75" b="0">
                <a:solidFill>
                  <a:srgbClr val="FFFFFF"/>
                </a:solidFill>
                <a:latin typeface="Segoe UI"/>
                <a:ea typeface="Segoe UI"/>
                <a:cs typeface="Segoe UI"/>
              </a:defRPr>
            </a:defPPr>
          </a:lstStyle>
          <a:p xmlns:a="http://schemas.openxmlformats.org/drawingml/2006/main">
            <a:pPr algn="ctr">
              <a:defRPr sz="1275" b="0">
                <a:solidFill>
                  <a:srgbClr val="FFFFFF"/>
                </a:solidFill>
                <a:latin typeface="Segoe UI"/>
                <a:ea typeface="Segoe UI"/>
                <a:cs typeface="Segoe UI"/>
              </a:defRPr>
            </a:pPr>
            <a:r>
              <a:rPr sz="1275" b="0">
                <a:solidFill>
                  <a:srgbClr val="FFFFFF"/>
                </a:solidFill>
                <a:latin typeface="Segoe UI"/>
                <a:ea typeface="Segoe UI"/>
                <a:cs typeface="Segoe UI"/>
              </a:rPr>
              <a:t>OLAP metrics</a:t>
            </a:r>
          </a:p>
        </p:txBody>
      </p:sp>
      <p:sp>
        <p:nvSpPr>
          <p:cNvPr id="30" name="">
            <a:extLst xmlns:a="http://schemas.openxmlformats.org/drawingml/2006/main">
              <a:ext uri="{FF2B5EF4-FFF2-40B4-BE49-F238E27FC236}">
                <a16:creationId xmlns:a16="http://schemas.microsoft.com/office/drawing/2014/main" id="{42350404-A6FD-442C-A863-DAC1ED7BDF60}"/>
              </a:ext>
            </a:extLst>
          </p:cNvPr>
          <p:cNvSpPr>
            <a:spLocks xmlns:a="http://schemas.openxmlformats.org/drawingml/2006/main" noGrp="1"/>
          </p:cNvSpPr>
          <p:nvPr/>
        </p:nvSpPr>
        <p:spPr>
          <a:xfrm xmlns:a="http://schemas.openxmlformats.org/drawingml/2006/main">
            <a:off x="9201150" y="2009775"/>
            <a:ext cx="114300" cy="38100"/>
          </a:xfrm>
          <a:prstGeom xmlns:a="http://schemas.openxmlformats.org/drawingml/2006/main" prst="rect">
            <a:avLst/>
          </a:prstGeom>
          <a:solidFill xmlns:a="http://schemas.openxmlformats.org/drawingml/2006/main">
            <a:srgbClr val="16B8A6"/>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B926ED0F-6F92-43B1-8F5E-F0940E719C0D}"/>
              </a:ext>
            </a:extLst>
          </p:cNvPr>
          <p:cNvSpPr>
            <a:spLocks xmlns:a="http://schemas.openxmlformats.org/drawingml/2006/main" noGrp="1"/>
          </p:cNvSpPr>
          <p:nvPr/>
        </p:nvSpPr>
        <p:spPr>
          <a:xfrm xmlns:a="http://schemas.openxmlformats.org/drawingml/2006/main">
            <a:off x="9296400" y="1943100"/>
            <a:ext cx="171450" cy="171450"/>
          </a:xfrm>
          <a:prstGeom xmlns:a="http://schemas.openxmlformats.org/drawingml/2006/main" prst="chevron">
            <a:avLst/>
          </a:prstGeom>
          <a:solidFill xmlns:a="http://schemas.openxmlformats.org/drawingml/2006/main">
            <a:srgbClr val="16B8A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6D22877-6EF9-478D-A876-4483B52439F6}"/>
              </a:ext>
            </a:extLst>
          </p:cNvPr>
          <p:cNvSpPr>
            <a:spLocks xmlns:a="http://schemas.openxmlformats.org/drawingml/2006/main" noGrp="1"/>
          </p:cNvSpPr>
          <p:nvPr/>
        </p:nvSpPr>
        <p:spPr>
          <a:xfrm xmlns:a="http://schemas.openxmlformats.org/drawingml/2006/main">
            <a:off x="9467850" y="1600200"/>
            <a:ext cx="1504950" cy="857250"/>
          </a:xfrm>
          <a:prstGeom xmlns:a="http://schemas.openxmlformats.org/drawingml/2006/main" prst="roundRect">
            <a:avLst>
              <a:gd name="adj" fmla="val 8889"/>
            </a:avLst>
          </a:prstGeom>
          <a:solidFill xmlns:a="http://schemas.openxmlformats.org/drawingml/2006/main">
            <a:srgbClr val="18294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BE88EC1-C4B8-4383-94D9-69534C764CFF}"/>
              </a:ext>
            </a:extLst>
          </p:cNvPr>
          <p:cNvSpPr>
            <a:spLocks xmlns:a="http://schemas.openxmlformats.org/drawingml/2006/main" noGrp="1"/>
          </p:cNvSpPr>
          <p:nvPr/>
        </p:nvSpPr>
        <p:spPr>
          <a:xfrm xmlns:a="http://schemas.openxmlformats.org/drawingml/2006/main">
            <a:off x="9582150" y="16954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FFFFFF"/>
                </a:solidFill>
                <a:latin typeface="Segoe UI"/>
                <a:ea typeface="Segoe UI"/>
                <a:cs typeface="Segoe UI"/>
              </a:defRPr>
            </a:defPPr>
          </a:lstStyle>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Streamlit</a:t>
            </a:r>
          </a:p>
        </p:txBody>
      </p:sp>
      <p:sp>
        <p:nvSpPr>
          <p:cNvPr id="34" name="">
            <a:extLst xmlns:a="http://schemas.openxmlformats.org/drawingml/2006/main">
              <a:ext uri="{FF2B5EF4-FFF2-40B4-BE49-F238E27FC236}">
                <a16:creationId xmlns:a16="http://schemas.microsoft.com/office/drawing/2014/main" id="{FD9EAB6C-FA8A-42CC-AE5C-AB14467761F8}"/>
              </a:ext>
            </a:extLst>
          </p:cNvPr>
          <p:cNvSpPr>
            <a:spLocks xmlns:a="http://schemas.openxmlformats.org/drawingml/2006/main" noGrp="1"/>
          </p:cNvSpPr>
          <p:nvPr/>
        </p:nvSpPr>
        <p:spPr>
          <a:xfrm xmlns:a="http://schemas.openxmlformats.org/drawingml/2006/main">
            <a:off x="9563100" y="200025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75" b="0">
                <a:solidFill>
                  <a:srgbClr val="FFFFFF"/>
                </a:solidFill>
                <a:latin typeface="Segoe UI"/>
                <a:ea typeface="Segoe UI"/>
                <a:cs typeface="Segoe UI"/>
              </a:defRPr>
            </a:defPPr>
          </a:lstStyle>
          <a:p xmlns:a="http://schemas.openxmlformats.org/drawingml/2006/main">
            <a:pPr algn="ctr">
              <a:defRPr sz="1275" b="0">
                <a:solidFill>
                  <a:srgbClr val="FFFFFF"/>
                </a:solidFill>
                <a:latin typeface="Segoe UI"/>
                <a:ea typeface="Segoe UI"/>
                <a:cs typeface="Segoe UI"/>
              </a:defRPr>
            </a:pPr>
            <a:r>
              <a:rPr sz="1275" b="0">
                <a:solidFill>
                  <a:srgbClr val="FFFFFF"/>
                </a:solidFill>
                <a:latin typeface="Segoe UI"/>
                <a:ea typeface="Segoe UI"/>
                <a:cs typeface="Segoe UI"/>
              </a:rPr>
              <a:t>decisions</a:t>
            </a:r>
          </a:p>
        </p:txBody>
      </p:sp>
      <p:sp>
        <p:nvSpPr>
          <p:cNvPr id="35" name="">
            <a:extLst xmlns:a="http://schemas.openxmlformats.org/drawingml/2006/main">
              <a:ext uri="{FF2B5EF4-FFF2-40B4-BE49-F238E27FC236}">
                <a16:creationId xmlns:a16="http://schemas.microsoft.com/office/drawing/2014/main" id="{75EBD64D-4DE8-40EE-B98E-F1871252C73D}"/>
              </a:ext>
            </a:extLst>
          </p:cNvPr>
          <p:cNvSpPr>
            <a:spLocks xmlns:a="http://schemas.openxmlformats.org/drawingml/2006/main" noGrp="1"/>
          </p:cNvSpPr>
          <p:nvPr/>
        </p:nvSpPr>
        <p:spPr>
          <a:xfrm xmlns:a="http://schemas.openxmlformats.org/drawingml/2006/main">
            <a:off x="609600" y="31051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defPPr algn="l">
              <a:defRPr sz="1275" b="1">
                <a:solidFill>
                  <a:srgbClr val="F2A03D"/>
                </a:solidFill>
                <a:latin typeface="Segoe UI"/>
                <a:ea typeface="Segoe UI"/>
                <a:cs typeface="Segoe UI"/>
              </a:defRPr>
            </a:defPPr>
          </a:lstStyle>
          <a:p xmlns:a="http://schemas.openxmlformats.org/drawingml/2006/main">
            <a:pPr algn="l">
              <a:defRPr sz="1275" b="1">
                <a:solidFill>
                  <a:srgbClr val="F2A03D"/>
                </a:solidFill>
                <a:latin typeface="Segoe UI"/>
                <a:ea typeface="Segoe UI"/>
                <a:cs typeface="Segoe UI"/>
              </a:defRPr>
            </a:pPr>
            <a:r>
              <a:rPr sz="1275" b="1">
                <a:solidFill>
                  <a:srgbClr val="F2A03D"/>
                </a:solidFill>
                <a:latin typeface="Segoe UI"/>
                <a:ea typeface="Segoe UI"/>
                <a:cs typeface="Segoe UI"/>
              </a:rPr>
              <a:t>STREAMING LANE</a:t>
            </a:r>
          </a:p>
        </p:txBody>
      </p:sp>
      <p:sp>
        <p:nvSpPr>
          <p:cNvPr id="36" name="">
            <a:extLst xmlns:a="http://schemas.openxmlformats.org/drawingml/2006/main">
              <a:ext uri="{FF2B5EF4-FFF2-40B4-BE49-F238E27FC236}">
                <a16:creationId xmlns:a16="http://schemas.microsoft.com/office/drawing/2014/main" id="{27DADEC3-3F98-44C0-8F95-3CC7A211BE94}"/>
              </a:ext>
            </a:extLst>
          </p:cNvPr>
          <p:cNvSpPr>
            <a:spLocks xmlns:a="http://schemas.openxmlformats.org/drawingml/2006/main" noGrp="1"/>
          </p:cNvSpPr>
          <p:nvPr/>
        </p:nvSpPr>
        <p:spPr>
          <a:xfrm xmlns:a="http://schemas.openxmlformats.org/drawingml/2006/main">
            <a:off x="609600" y="3505200"/>
            <a:ext cx="1504950" cy="857250"/>
          </a:xfrm>
          <a:prstGeom xmlns:a="http://schemas.openxmlformats.org/drawingml/2006/main" prst="roundRect">
            <a:avLst>
              <a:gd name="adj" fmla="val 8889"/>
            </a:avLst>
          </a:prstGeom>
          <a:solidFill xmlns:a="http://schemas.openxmlformats.org/drawingml/2006/main">
            <a:srgbClr val="18294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56817FD0-BDBA-4509-BBDA-DE4A7D13DDB7}"/>
              </a:ext>
            </a:extLst>
          </p:cNvPr>
          <p:cNvSpPr>
            <a:spLocks xmlns:a="http://schemas.openxmlformats.org/drawingml/2006/main" noGrp="1"/>
          </p:cNvSpPr>
          <p:nvPr/>
        </p:nvSpPr>
        <p:spPr>
          <a:xfrm xmlns:a="http://schemas.openxmlformats.org/drawingml/2006/main">
            <a:off x="723900" y="36004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FFFFFF"/>
                </a:solidFill>
                <a:latin typeface="Segoe UI"/>
                <a:ea typeface="Segoe UI"/>
                <a:cs typeface="Segoe UI"/>
              </a:defRPr>
            </a:defPPr>
          </a:lstStyle>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Simulator</a:t>
            </a:r>
          </a:p>
        </p:txBody>
      </p:sp>
      <p:sp>
        <p:nvSpPr>
          <p:cNvPr id="38" name="">
            <a:extLst xmlns:a="http://schemas.openxmlformats.org/drawingml/2006/main">
              <a:ext uri="{FF2B5EF4-FFF2-40B4-BE49-F238E27FC236}">
                <a16:creationId xmlns:a16="http://schemas.microsoft.com/office/drawing/2014/main" id="{2586220C-1937-4010-88E6-09BF4841B488}"/>
              </a:ext>
            </a:extLst>
          </p:cNvPr>
          <p:cNvSpPr>
            <a:spLocks xmlns:a="http://schemas.openxmlformats.org/drawingml/2006/main" noGrp="1"/>
          </p:cNvSpPr>
          <p:nvPr/>
        </p:nvSpPr>
        <p:spPr>
          <a:xfrm xmlns:a="http://schemas.openxmlformats.org/drawingml/2006/main">
            <a:off x="704850" y="390525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75" b="0">
                <a:solidFill>
                  <a:srgbClr val="FFFFFF"/>
                </a:solidFill>
                <a:latin typeface="Segoe UI"/>
                <a:ea typeface="Segoe UI"/>
                <a:cs typeface="Segoe UI"/>
              </a:defRPr>
            </a:defPPr>
          </a:lstStyle>
          <a:p xmlns:a="http://schemas.openxmlformats.org/drawingml/2006/main">
            <a:pPr algn="ctr">
              <a:defRPr sz="1275" b="0">
                <a:solidFill>
                  <a:srgbClr val="FFFFFF"/>
                </a:solidFill>
                <a:latin typeface="Segoe UI"/>
                <a:ea typeface="Segoe UI"/>
                <a:cs typeface="Segoe UI"/>
              </a:defRPr>
            </a:pPr>
            <a:r>
              <a:rPr sz="1275" b="0">
                <a:solidFill>
                  <a:srgbClr val="FFFFFF"/>
                </a:solidFill>
                <a:latin typeface="Segoe UI"/>
                <a:ea typeface="Segoe UI"/>
                <a:cs typeface="Segoe UI"/>
              </a:rPr>
              <a:t>1 event/sec</a:t>
            </a:r>
          </a:p>
        </p:txBody>
      </p:sp>
      <p:sp>
        <p:nvSpPr>
          <p:cNvPr id="39" name="">
            <a:extLst xmlns:a="http://schemas.openxmlformats.org/drawingml/2006/main">
              <a:ext uri="{FF2B5EF4-FFF2-40B4-BE49-F238E27FC236}">
                <a16:creationId xmlns:a16="http://schemas.microsoft.com/office/drawing/2014/main" id="{8D7F940E-926B-4C77-A52D-9FAEDC72DEFF}"/>
              </a:ext>
            </a:extLst>
          </p:cNvPr>
          <p:cNvSpPr>
            <a:spLocks xmlns:a="http://schemas.openxmlformats.org/drawingml/2006/main" noGrp="1"/>
          </p:cNvSpPr>
          <p:nvPr/>
        </p:nvSpPr>
        <p:spPr>
          <a:xfrm xmlns:a="http://schemas.openxmlformats.org/drawingml/2006/main">
            <a:off x="2114550" y="3914775"/>
            <a:ext cx="114300" cy="38100"/>
          </a:xfrm>
          <a:prstGeom xmlns:a="http://schemas.openxmlformats.org/drawingml/2006/main" prst="rect">
            <a:avLst/>
          </a:prstGeom>
          <a:solidFill xmlns:a="http://schemas.openxmlformats.org/drawingml/2006/main">
            <a:srgbClr val="F2A03D"/>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CADE2A7A-8AD8-4222-AD51-216BB8047D01}"/>
              </a:ext>
            </a:extLst>
          </p:cNvPr>
          <p:cNvSpPr>
            <a:spLocks xmlns:a="http://schemas.openxmlformats.org/drawingml/2006/main" noGrp="1"/>
          </p:cNvSpPr>
          <p:nvPr/>
        </p:nvSpPr>
        <p:spPr>
          <a:xfrm xmlns:a="http://schemas.openxmlformats.org/drawingml/2006/main">
            <a:off x="2209800" y="3848100"/>
            <a:ext cx="171450" cy="171450"/>
          </a:xfrm>
          <a:prstGeom xmlns:a="http://schemas.openxmlformats.org/drawingml/2006/main" prst="chevron">
            <a:avLst/>
          </a:prstGeom>
          <a:solidFill xmlns:a="http://schemas.openxmlformats.org/drawingml/2006/main">
            <a:srgbClr val="F2A03D"/>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2942F7C-9180-40F6-97B7-9FFB603B7456}"/>
              </a:ext>
            </a:extLst>
          </p:cNvPr>
          <p:cNvSpPr>
            <a:spLocks xmlns:a="http://schemas.openxmlformats.org/drawingml/2006/main" noGrp="1"/>
          </p:cNvSpPr>
          <p:nvPr/>
        </p:nvSpPr>
        <p:spPr>
          <a:xfrm xmlns:a="http://schemas.openxmlformats.org/drawingml/2006/main">
            <a:off x="2381250" y="3505200"/>
            <a:ext cx="1504950" cy="857250"/>
          </a:xfrm>
          <a:prstGeom xmlns:a="http://schemas.openxmlformats.org/drawingml/2006/main" prst="roundRect">
            <a:avLst>
              <a:gd name="adj" fmla="val 8889"/>
            </a:avLst>
          </a:prstGeom>
          <a:solidFill xmlns:a="http://schemas.openxmlformats.org/drawingml/2006/main">
            <a:srgbClr val="18294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CD6E47C2-55CA-481B-9A94-80AF3201FEDD}"/>
              </a:ext>
            </a:extLst>
          </p:cNvPr>
          <p:cNvSpPr>
            <a:spLocks xmlns:a="http://schemas.openxmlformats.org/drawingml/2006/main" noGrp="1"/>
          </p:cNvSpPr>
          <p:nvPr/>
        </p:nvSpPr>
        <p:spPr>
          <a:xfrm xmlns:a="http://schemas.openxmlformats.org/drawingml/2006/main">
            <a:off x="2495550" y="36004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FFFFFF"/>
                </a:solidFill>
                <a:latin typeface="Segoe UI"/>
                <a:ea typeface="Segoe UI"/>
                <a:cs typeface="Segoe UI"/>
              </a:defRPr>
            </a:defPPr>
          </a:lstStyle>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FastAPI</a:t>
            </a:r>
          </a:p>
        </p:txBody>
      </p:sp>
      <p:sp>
        <p:nvSpPr>
          <p:cNvPr id="43" name="">
            <a:extLst xmlns:a="http://schemas.openxmlformats.org/drawingml/2006/main">
              <a:ext uri="{FF2B5EF4-FFF2-40B4-BE49-F238E27FC236}">
                <a16:creationId xmlns:a16="http://schemas.microsoft.com/office/drawing/2014/main" id="{CB8405F1-F128-40AE-9CB1-E65498311192}"/>
              </a:ext>
            </a:extLst>
          </p:cNvPr>
          <p:cNvSpPr>
            <a:spLocks xmlns:a="http://schemas.openxmlformats.org/drawingml/2006/main" noGrp="1"/>
          </p:cNvSpPr>
          <p:nvPr/>
        </p:nvSpPr>
        <p:spPr>
          <a:xfrm xmlns:a="http://schemas.openxmlformats.org/drawingml/2006/main">
            <a:off x="2476500" y="390525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75" b="0">
                <a:solidFill>
                  <a:srgbClr val="FFFFFF"/>
                </a:solidFill>
                <a:latin typeface="Segoe UI"/>
                <a:ea typeface="Segoe UI"/>
                <a:cs typeface="Segoe UI"/>
              </a:defRPr>
            </a:defPPr>
          </a:lstStyle>
          <a:p xmlns:a="http://schemas.openxmlformats.org/drawingml/2006/main">
            <a:pPr algn="ctr">
              <a:defRPr sz="1275" b="0">
                <a:solidFill>
                  <a:srgbClr val="FFFFFF"/>
                </a:solidFill>
                <a:latin typeface="Segoe UI"/>
                <a:ea typeface="Segoe UI"/>
                <a:cs typeface="Segoe UI"/>
              </a:defRPr>
            </a:pPr>
            <a:r>
              <a:rPr sz="1275" b="0">
                <a:solidFill>
                  <a:srgbClr val="FFFFFF"/>
                </a:solidFill>
                <a:latin typeface="Segoe UI"/>
                <a:ea typeface="Segoe UI"/>
                <a:cs typeface="Segoe UI"/>
              </a:rPr>
              <a:t>validate + 202</a:t>
            </a:r>
          </a:p>
        </p:txBody>
      </p:sp>
      <p:sp>
        <p:nvSpPr>
          <p:cNvPr id="44" name="">
            <a:extLst xmlns:a="http://schemas.openxmlformats.org/drawingml/2006/main">
              <a:ext uri="{FF2B5EF4-FFF2-40B4-BE49-F238E27FC236}">
                <a16:creationId xmlns:a16="http://schemas.microsoft.com/office/drawing/2014/main" id="{E1D4B9D5-F319-4E3C-A785-AA084BCE529F}"/>
              </a:ext>
            </a:extLst>
          </p:cNvPr>
          <p:cNvSpPr>
            <a:spLocks xmlns:a="http://schemas.openxmlformats.org/drawingml/2006/main" noGrp="1"/>
          </p:cNvSpPr>
          <p:nvPr/>
        </p:nvSpPr>
        <p:spPr>
          <a:xfrm xmlns:a="http://schemas.openxmlformats.org/drawingml/2006/main">
            <a:off x="3886200" y="3914775"/>
            <a:ext cx="114300" cy="38100"/>
          </a:xfrm>
          <a:prstGeom xmlns:a="http://schemas.openxmlformats.org/drawingml/2006/main" prst="rect">
            <a:avLst/>
          </a:prstGeom>
          <a:solidFill xmlns:a="http://schemas.openxmlformats.org/drawingml/2006/main">
            <a:srgbClr val="F2A03D"/>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9E66E50D-0C92-46CE-8E07-DF0C9F79B9DF}"/>
              </a:ext>
            </a:extLst>
          </p:cNvPr>
          <p:cNvSpPr>
            <a:spLocks xmlns:a="http://schemas.openxmlformats.org/drawingml/2006/main" noGrp="1"/>
          </p:cNvSpPr>
          <p:nvPr/>
        </p:nvSpPr>
        <p:spPr>
          <a:xfrm xmlns:a="http://schemas.openxmlformats.org/drawingml/2006/main">
            <a:off x="3981450" y="3848100"/>
            <a:ext cx="171450" cy="171450"/>
          </a:xfrm>
          <a:prstGeom xmlns:a="http://schemas.openxmlformats.org/drawingml/2006/main" prst="chevron">
            <a:avLst/>
          </a:prstGeom>
          <a:solidFill xmlns:a="http://schemas.openxmlformats.org/drawingml/2006/main">
            <a:srgbClr val="F2A03D"/>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E76BDCEF-D1D3-4BB0-AE63-A7ACF2F977E5}"/>
              </a:ext>
            </a:extLst>
          </p:cNvPr>
          <p:cNvSpPr>
            <a:spLocks xmlns:a="http://schemas.openxmlformats.org/drawingml/2006/main" noGrp="1"/>
          </p:cNvSpPr>
          <p:nvPr/>
        </p:nvSpPr>
        <p:spPr>
          <a:xfrm xmlns:a="http://schemas.openxmlformats.org/drawingml/2006/main">
            <a:off x="4152900" y="3505200"/>
            <a:ext cx="1504950" cy="857250"/>
          </a:xfrm>
          <a:prstGeom xmlns:a="http://schemas.openxmlformats.org/drawingml/2006/main" prst="roundRect">
            <a:avLst>
              <a:gd name="adj" fmla="val 8889"/>
            </a:avLst>
          </a:prstGeom>
          <a:solidFill xmlns:a="http://schemas.openxmlformats.org/drawingml/2006/main">
            <a:srgbClr val="F2A03D"/>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1BFCA397-3891-49C5-BC63-C76832926BF8}"/>
              </a:ext>
            </a:extLst>
          </p:cNvPr>
          <p:cNvSpPr>
            <a:spLocks xmlns:a="http://schemas.openxmlformats.org/drawingml/2006/main" noGrp="1"/>
          </p:cNvSpPr>
          <p:nvPr/>
        </p:nvSpPr>
        <p:spPr>
          <a:xfrm xmlns:a="http://schemas.openxmlformats.org/drawingml/2006/main">
            <a:off x="4267200" y="36004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FFFFFF"/>
                </a:solidFill>
                <a:latin typeface="Segoe UI"/>
                <a:ea typeface="Segoe UI"/>
                <a:cs typeface="Segoe UI"/>
              </a:defRPr>
            </a:defPPr>
          </a:lstStyle>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RabbitMQ</a:t>
            </a:r>
          </a:p>
        </p:txBody>
      </p:sp>
      <p:sp>
        <p:nvSpPr>
          <p:cNvPr id="48" name="">
            <a:extLst xmlns:a="http://schemas.openxmlformats.org/drawingml/2006/main">
              <a:ext uri="{FF2B5EF4-FFF2-40B4-BE49-F238E27FC236}">
                <a16:creationId xmlns:a16="http://schemas.microsoft.com/office/drawing/2014/main" id="{1EC94576-384A-4810-A978-A64D17E20323}"/>
              </a:ext>
            </a:extLst>
          </p:cNvPr>
          <p:cNvSpPr>
            <a:spLocks xmlns:a="http://schemas.openxmlformats.org/drawingml/2006/main" noGrp="1"/>
          </p:cNvSpPr>
          <p:nvPr/>
        </p:nvSpPr>
        <p:spPr>
          <a:xfrm xmlns:a="http://schemas.openxmlformats.org/drawingml/2006/main">
            <a:off x="4248150" y="390525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75" b="0">
                <a:solidFill>
                  <a:srgbClr val="FFFFFF"/>
                </a:solidFill>
                <a:latin typeface="Segoe UI"/>
                <a:ea typeface="Segoe UI"/>
                <a:cs typeface="Segoe UI"/>
              </a:defRPr>
            </a:defPPr>
          </a:lstStyle>
          <a:p xmlns:a="http://schemas.openxmlformats.org/drawingml/2006/main">
            <a:pPr algn="ctr">
              <a:defRPr sz="1275" b="0">
                <a:solidFill>
                  <a:srgbClr val="FFFFFF"/>
                </a:solidFill>
                <a:latin typeface="Segoe UI"/>
                <a:ea typeface="Segoe UI"/>
                <a:cs typeface="Segoe UI"/>
              </a:defRPr>
            </a:pPr>
            <a:r>
              <a:rPr sz="1275" b="0">
                <a:solidFill>
                  <a:srgbClr val="FFFFFF"/>
                </a:solidFill>
                <a:latin typeface="Segoe UI"/>
                <a:ea typeface="Segoe UI"/>
                <a:cs typeface="Segoe UI"/>
              </a:rPr>
              <a:t>durable queue</a:t>
            </a:r>
          </a:p>
        </p:txBody>
      </p:sp>
      <p:sp>
        <p:nvSpPr>
          <p:cNvPr id="49" name="">
            <a:extLst xmlns:a="http://schemas.openxmlformats.org/drawingml/2006/main">
              <a:ext uri="{FF2B5EF4-FFF2-40B4-BE49-F238E27FC236}">
                <a16:creationId xmlns:a16="http://schemas.microsoft.com/office/drawing/2014/main" id="{71AFA5B4-255F-4600-9951-D1B0B2735836}"/>
              </a:ext>
            </a:extLst>
          </p:cNvPr>
          <p:cNvSpPr>
            <a:spLocks xmlns:a="http://schemas.openxmlformats.org/drawingml/2006/main" noGrp="1"/>
          </p:cNvSpPr>
          <p:nvPr/>
        </p:nvSpPr>
        <p:spPr>
          <a:xfrm xmlns:a="http://schemas.openxmlformats.org/drawingml/2006/main">
            <a:off x="5657850" y="3914775"/>
            <a:ext cx="114300" cy="38100"/>
          </a:xfrm>
          <a:prstGeom xmlns:a="http://schemas.openxmlformats.org/drawingml/2006/main" prst="rect">
            <a:avLst/>
          </a:prstGeom>
          <a:solidFill xmlns:a="http://schemas.openxmlformats.org/drawingml/2006/main">
            <a:srgbClr val="F2A03D"/>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B264379D-E5A0-4954-91F5-23AD54499CB6}"/>
              </a:ext>
            </a:extLst>
          </p:cNvPr>
          <p:cNvSpPr>
            <a:spLocks xmlns:a="http://schemas.openxmlformats.org/drawingml/2006/main" noGrp="1"/>
          </p:cNvSpPr>
          <p:nvPr/>
        </p:nvSpPr>
        <p:spPr>
          <a:xfrm xmlns:a="http://schemas.openxmlformats.org/drawingml/2006/main">
            <a:off x="5753100" y="3848100"/>
            <a:ext cx="171450" cy="171450"/>
          </a:xfrm>
          <a:prstGeom xmlns:a="http://schemas.openxmlformats.org/drawingml/2006/main" prst="chevron">
            <a:avLst/>
          </a:prstGeom>
          <a:solidFill xmlns:a="http://schemas.openxmlformats.org/drawingml/2006/main">
            <a:srgbClr val="F2A03D"/>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BE6FCC22-0EDE-4E69-B03D-3EEC9A629782}"/>
              </a:ext>
            </a:extLst>
          </p:cNvPr>
          <p:cNvSpPr>
            <a:spLocks xmlns:a="http://schemas.openxmlformats.org/drawingml/2006/main" noGrp="1"/>
          </p:cNvSpPr>
          <p:nvPr/>
        </p:nvSpPr>
        <p:spPr>
          <a:xfrm xmlns:a="http://schemas.openxmlformats.org/drawingml/2006/main">
            <a:off x="5924550" y="3505200"/>
            <a:ext cx="1504950" cy="857250"/>
          </a:xfrm>
          <a:prstGeom xmlns:a="http://schemas.openxmlformats.org/drawingml/2006/main" prst="roundRect">
            <a:avLst>
              <a:gd name="adj" fmla="val 8889"/>
            </a:avLst>
          </a:prstGeom>
          <a:solidFill xmlns:a="http://schemas.openxmlformats.org/drawingml/2006/main">
            <a:srgbClr val="18294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8F57FD5B-E806-4840-BEA5-907F9838C1B4}"/>
              </a:ext>
            </a:extLst>
          </p:cNvPr>
          <p:cNvSpPr>
            <a:spLocks xmlns:a="http://schemas.openxmlformats.org/drawingml/2006/main" noGrp="1"/>
          </p:cNvSpPr>
          <p:nvPr/>
        </p:nvSpPr>
        <p:spPr>
          <a:xfrm xmlns:a="http://schemas.openxmlformats.org/drawingml/2006/main">
            <a:off x="6038850" y="36004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FFFFFF"/>
                </a:solidFill>
                <a:latin typeface="Segoe UI"/>
                <a:ea typeface="Segoe UI"/>
                <a:cs typeface="Segoe UI"/>
              </a:defRPr>
            </a:defPPr>
          </a:lstStyle>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Consumer</a:t>
            </a:r>
          </a:p>
        </p:txBody>
      </p:sp>
      <p:sp>
        <p:nvSpPr>
          <p:cNvPr id="53" name="">
            <a:extLst xmlns:a="http://schemas.openxmlformats.org/drawingml/2006/main">
              <a:ext uri="{FF2B5EF4-FFF2-40B4-BE49-F238E27FC236}">
                <a16:creationId xmlns:a16="http://schemas.microsoft.com/office/drawing/2014/main" id="{938FBE03-BF2D-47EA-BADB-5DA372EA31D1}"/>
              </a:ext>
            </a:extLst>
          </p:cNvPr>
          <p:cNvSpPr>
            <a:spLocks xmlns:a="http://schemas.openxmlformats.org/drawingml/2006/main" noGrp="1"/>
          </p:cNvSpPr>
          <p:nvPr/>
        </p:nvSpPr>
        <p:spPr>
          <a:xfrm xmlns:a="http://schemas.openxmlformats.org/drawingml/2006/main">
            <a:off x="6019800" y="390525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75" b="0">
                <a:solidFill>
                  <a:srgbClr val="FFFFFF"/>
                </a:solidFill>
                <a:latin typeface="Segoe UI"/>
                <a:ea typeface="Segoe UI"/>
                <a:cs typeface="Segoe UI"/>
              </a:defRPr>
            </a:defPPr>
          </a:lstStyle>
          <a:p xmlns:a="http://schemas.openxmlformats.org/drawingml/2006/main">
            <a:pPr algn="ctr">
              <a:defRPr sz="1275" b="0">
                <a:solidFill>
                  <a:srgbClr val="FFFFFF"/>
                </a:solidFill>
                <a:latin typeface="Segoe UI"/>
                <a:ea typeface="Segoe UI"/>
                <a:cs typeface="Segoe UI"/>
              </a:defRPr>
            </a:pPr>
            <a:r>
              <a:rPr sz="1275" b="0">
                <a:solidFill>
                  <a:srgbClr val="FFFFFF"/>
                </a:solidFill>
                <a:latin typeface="Segoe UI"/>
                <a:ea typeface="Segoe UI"/>
                <a:cs typeface="Segoe UI"/>
              </a:rPr>
              <a:t>manual ACK</a:t>
            </a:r>
          </a:p>
        </p:txBody>
      </p:sp>
      <p:sp>
        <p:nvSpPr>
          <p:cNvPr id="54" name="">
            <a:extLst xmlns:a="http://schemas.openxmlformats.org/drawingml/2006/main">
              <a:ext uri="{FF2B5EF4-FFF2-40B4-BE49-F238E27FC236}">
                <a16:creationId xmlns:a16="http://schemas.microsoft.com/office/drawing/2014/main" id="{06E029F5-4580-4D97-9C74-14798E9E7D6B}"/>
              </a:ext>
            </a:extLst>
          </p:cNvPr>
          <p:cNvSpPr>
            <a:spLocks xmlns:a="http://schemas.openxmlformats.org/drawingml/2006/main" noGrp="1"/>
          </p:cNvSpPr>
          <p:nvPr/>
        </p:nvSpPr>
        <p:spPr>
          <a:xfrm xmlns:a="http://schemas.openxmlformats.org/drawingml/2006/main">
            <a:off x="7429500" y="3914775"/>
            <a:ext cx="114300" cy="38100"/>
          </a:xfrm>
          <a:prstGeom xmlns:a="http://schemas.openxmlformats.org/drawingml/2006/main" prst="rect">
            <a:avLst/>
          </a:prstGeom>
          <a:solidFill xmlns:a="http://schemas.openxmlformats.org/drawingml/2006/main">
            <a:srgbClr val="F2A03D"/>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65FE3884-59FA-44C7-BF73-0F906DC4C99A}"/>
              </a:ext>
            </a:extLst>
          </p:cNvPr>
          <p:cNvSpPr>
            <a:spLocks xmlns:a="http://schemas.openxmlformats.org/drawingml/2006/main" noGrp="1"/>
          </p:cNvSpPr>
          <p:nvPr/>
        </p:nvSpPr>
        <p:spPr>
          <a:xfrm xmlns:a="http://schemas.openxmlformats.org/drawingml/2006/main">
            <a:off x="7524750" y="3848100"/>
            <a:ext cx="171450" cy="171450"/>
          </a:xfrm>
          <a:prstGeom xmlns:a="http://schemas.openxmlformats.org/drawingml/2006/main" prst="chevron">
            <a:avLst/>
          </a:prstGeom>
          <a:solidFill xmlns:a="http://schemas.openxmlformats.org/drawingml/2006/main">
            <a:srgbClr val="F2A03D"/>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FC9461BA-CECE-4C92-8360-DBAC3C557F9A}"/>
              </a:ext>
            </a:extLst>
          </p:cNvPr>
          <p:cNvSpPr>
            <a:spLocks xmlns:a="http://schemas.openxmlformats.org/drawingml/2006/main" noGrp="1"/>
          </p:cNvSpPr>
          <p:nvPr/>
        </p:nvSpPr>
        <p:spPr>
          <a:xfrm xmlns:a="http://schemas.openxmlformats.org/drawingml/2006/main">
            <a:off x="7696200" y="3505200"/>
            <a:ext cx="1504950" cy="857250"/>
          </a:xfrm>
          <a:prstGeom xmlns:a="http://schemas.openxmlformats.org/drawingml/2006/main" prst="roundRect">
            <a:avLst>
              <a:gd name="adj" fmla="val 8889"/>
            </a:avLst>
          </a:prstGeom>
          <a:solidFill xmlns:a="http://schemas.openxmlformats.org/drawingml/2006/main">
            <a:srgbClr val="182945"/>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F1BA5ED5-3A2A-4998-972D-452D98721E96}"/>
              </a:ext>
            </a:extLst>
          </p:cNvPr>
          <p:cNvSpPr>
            <a:spLocks xmlns:a="http://schemas.openxmlformats.org/drawingml/2006/main" noGrp="1"/>
          </p:cNvSpPr>
          <p:nvPr/>
        </p:nvSpPr>
        <p:spPr>
          <a:xfrm xmlns:a="http://schemas.openxmlformats.org/drawingml/2006/main">
            <a:off x="7810500" y="36004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FFFFFF"/>
                </a:solidFill>
                <a:latin typeface="Segoe UI"/>
                <a:ea typeface="Segoe UI"/>
                <a:cs typeface="Segoe UI"/>
              </a:defRPr>
            </a:defPPr>
          </a:lstStyle>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DuckDB</a:t>
            </a:r>
          </a:p>
        </p:txBody>
      </p:sp>
      <p:sp>
        <p:nvSpPr>
          <p:cNvPr id="58" name="">
            <a:extLst xmlns:a="http://schemas.openxmlformats.org/drawingml/2006/main">
              <a:ext uri="{FF2B5EF4-FFF2-40B4-BE49-F238E27FC236}">
                <a16:creationId xmlns:a16="http://schemas.microsoft.com/office/drawing/2014/main" id="{1484B5E5-3B8E-444C-BE70-FB4D21F520F6}"/>
              </a:ext>
            </a:extLst>
          </p:cNvPr>
          <p:cNvSpPr>
            <a:spLocks xmlns:a="http://schemas.openxmlformats.org/drawingml/2006/main" noGrp="1"/>
          </p:cNvSpPr>
          <p:nvPr/>
        </p:nvSpPr>
        <p:spPr>
          <a:xfrm xmlns:a="http://schemas.openxmlformats.org/drawingml/2006/main">
            <a:off x="7791450" y="390525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226"/>
          </a:bodyPr>
          <a:lstStyle xmlns:a="http://schemas.openxmlformats.org/drawingml/2006/main">
            <a:defPPr algn="ctr">
              <a:defRPr sz="1275" b="0">
                <a:solidFill>
                  <a:srgbClr val="FFFFFF"/>
                </a:solidFill>
                <a:latin typeface="Segoe UI"/>
                <a:ea typeface="Segoe UI"/>
                <a:cs typeface="Segoe UI"/>
              </a:defRPr>
            </a:defPPr>
          </a:lstStyle>
          <a:p xmlns:a="http://schemas.openxmlformats.org/drawingml/2006/main">
            <a:pPr algn="ctr">
              <a:defRPr sz="1275" b="0">
                <a:solidFill>
                  <a:srgbClr val="FFFFFF"/>
                </a:solidFill>
                <a:latin typeface="Segoe UI"/>
                <a:ea typeface="Segoe UI"/>
                <a:cs typeface="Segoe UI"/>
              </a:defRPr>
            </a:pPr>
            <a:r>
              <a:rPr sz="1275" b="0">
                <a:solidFill>
                  <a:srgbClr val="FFFFFF"/>
                </a:solidFill>
                <a:latin typeface="Segoe UI"/>
                <a:ea typeface="Segoe UI"/>
                <a:cs typeface="Segoe UI"/>
              </a:rPr>
              <a:t>idempotent stage</a:t>
            </a:r>
          </a:p>
        </p:txBody>
      </p:sp>
      <p:sp>
        <p:nvSpPr>
          <p:cNvPr id="59" name="">
            <a:extLst xmlns:a="http://schemas.openxmlformats.org/drawingml/2006/main">
              <a:ext uri="{FF2B5EF4-FFF2-40B4-BE49-F238E27FC236}">
                <a16:creationId xmlns:a16="http://schemas.microsoft.com/office/drawing/2014/main" id="{F8254520-062A-4C43-82D6-70D47BAEE541}"/>
              </a:ext>
            </a:extLst>
          </p:cNvPr>
          <p:cNvSpPr>
            <a:spLocks xmlns:a="http://schemas.openxmlformats.org/drawingml/2006/main" noGrp="1"/>
          </p:cNvSpPr>
          <p:nvPr/>
        </p:nvSpPr>
        <p:spPr>
          <a:xfrm xmlns:a="http://schemas.openxmlformats.org/drawingml/2006/main">
            <a:off x="9201150" y="3914775"/>
            <a:ext cx="114300" cy="38100"/>
          </a:xfrm>
          <a:prstGeom xmlns:a="http://schemas.openxmlformats.org/drawingml/2006/main" prst="rect">
            <a:avLst/>
          </a:prstGeom>
          <a:solidFill xmlns:a="http://schemas.openxmlformats.org/drawingml/2006/main">
            <a:srgbClr val="F2A03D"/>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C7138882-AFA1-44B2-8D2A-8766D13A6A86}"/>
              </a:ext>
            </a:extLst>
          </p:cNvPr>
          <p:cNvSpPr>
            <a:spLocks xmlns:a="http://schemas.openxmlformats.org/drawingml/2006/main" noGrp="1"/>
          </p:cNvSpPr>
          <p:nvPr/>
        </p:nvSpPr>
        <p:spPr>
          <a:xfrm xmlns:a="http://schemas.openxmlformats.org/drawingml/2006/main">
            <a:off x="9296400" y="3848100"/>
            <a:ext cx="171450" cy="171450"/>
          </a:xfrm>
          <a:prstGeom xmlns:a="http://schemas.openxmlformats.org/drawingml/2006/main" prst="chevron">
            <a:avLst/>
          </a:prstGeom>
          <a:solidFill xmlns:a="http://schemas.openxmlformats.org/drawingml/2006/main">
            <a:srgbClr val="F2A03D"/>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10ED9D66-A655-4A76-B498-A87BDF789909}"/>
              </a:ext>
            </a:extLst>
          </p:cNvPr>
          <p:cNvSpPr>
            <a:spLocks xmlns:a="http://schemas.openxmlformats.org/drawingml/2006/main" noGrp="1"/>
          </p:cNvSpPr>
          <p:nvPr/>
        </p:nvSpPr>
        <p:spPr>
          <a:xfrm xmlns:a="http://schemas.openxmlformats.org/drawingml/2006/main">
            <a:off x="9467850" y="3505200"/>
            <a:ext cx="1504950" cy="857250"/>
          </a:xfrm>
          <a:prstGeom xmlns:a="http://schemas.openxmlformats.org/drawingml/2006/main" prst="roundRect">
            <a:avLst>
              <a:gd name="adj" fmla="val 8889"/>
            </a:avLst>
          </a:prstGeom>
          <a:solidFill xmlns:a="http://schemas.openxmlformats.org/drawingml/2006/main">
            <a:srgbClr val="182945"/>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7327D68D-6112-457D-A28A-49264DE567FB}"/>
              </a:ext>
            </a:extLst>
          </p:cNvPr>
          <p:cNvSpPr>
            <a:spLocks xmlns:a="http://schemas.openxmlformats.org/drawingml/2006/main" noGrp="1"/>
          </p:cNvSpPr>
          <p:nvPr/>
        </p:nvSpPr>
        <p:spPr>
          <a:xfrm xmlns:a="http://schemas.openxmlformats.org/drawingml/2006/main">
            <a:off x="9582150" y="36004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FFFFFF"/>
                </a:solidFill>
                <a:latin typeface="Segoe UI"/>
                <a:ea typeface="Segoe UI"/>
                <a:cs typeface="Segoe UI"/>
              </a:defRPr>
            </a:defPPr>
          </a:lstStyle>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Streamlit</a:t>
            </a:r>
          </a:p>
        </p:txBody>
      </p:sp>
      <p:sp>
        <p:nvSpPr>
          <p:cNvPr id="63" name="">
            <a:extLst xmlns:a="http://schemas.openxmlformats.org/drawingml/2006/main">
              <a:ext uri="{FF2B5EF4-FFF2-40B4-BE49-F238E27FC236}">
                <a16:creationId xmlns:a16="http://schemas.microsoft.com/office/drawing/2014/main" id="{47498AD0-095A-427F-94BB-DCDE54ADC104}"/>
              </a:ext>
            </a:extLst>
          </p:cNvPr>
          <p:cNvSpPr>
            <a:spLocks xmlns:a="http://schemas.openxmlformats.org/drawingml/2006/main" noGrp="1"/>
          </p:cNvSpPr>
          <p:nvPr/>
        </p:nvSpPr>
        <p:spPr>
          <a:xfrm xmlns:a="http://schemas.openxmlformats.org/drawingml/2006/main">
            <a:off x="9563100" y="3905250"/>
            <a:ext cx="1314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75" b="0">
                <a:solidFill>
                  <a:srgbClr val="FFFFFF"/>
                </a:solidFill>
                <a:latin typeface="Segoe UI"/>
                <a:ea typeface="Segoe UI"/>
                <a:cs typeface="Segoe UI"/>
              </a:defRPr>
            </a:defPPr>
          </a:lstStyle>
          <a:p xmlns:a="http://schemas.openxmlformats.org/drawingml/2006/main">
            <a:pPr algn="ctr">
              <a:defRPr sz="1275" b="0">
                <a:solidFill>
                  <a:srgbClr val="FFFFFF"/>
                </a:solidFill>
                <a:latin typeface="Segoe UI"/>
                <a:ea typeface="Segoe UI"/>
                <a:cs typeface="Segoe UI"/>
              </a:defRPr>
            </a:pPr>
            <a:r>
              <a:rPr sz="1275" b="0">
                <a:solidFill>
                  <a:srgbClr val="FFFFFF"/>
                </a:solidFill>
                <a:latin typeface="Segoe UI"/>
                <a:ea typeface="Segoe UI"/>
                <a:cs typeface="Segoe UI"/>
              </a:rPr>
              <a:t>5 sec refresh</a:t>
            </a:r>
          </a:p>
        </p:txBody>
      </p:sp>
      <p:sp>
        <p:nvSpPr>
          <p:cNvPr id="64" name="">
            <a:extLst xmlns:a="http://schemas.openxmlformats.org/drawingml/2006/main">
              <a:ext uri="{FF2B5EF4-FFF2-40B4-BE49-F238E27FC236}">
                <a16:creationId xmlns:a16="http://schemas.microsoft.com/office/drawing/2014/main" id="{78E27529-4919-49F8-818C-F7AB75348DDD}"/>
              </a:ext>
            </a:extLst>
          </p:cNvPr>
          <p:cNvSpPr>
            <a:spLocks xmlns:a="http://schemas.openxmlformats.org/drawingml/2006/main" noGrp="1"/>
          </p:cNvSpPr>
          <p:nvPr/>
        </p:nvSpPr>
        <p:spPr>
          <a:xfrm xmlns:a="http://schemas.openxmlformats.org/drawingml/2006/main">
            <a:off x="609600" y="4953000"/>
            <a:ext cx="10648950" cy="990600"/>
          </a:xfrm>
          <a:prstGeom xmlns:a="http://schemas.openxmlformats.org/drawingml/2006/main" prst="roundRect">
            <a:avLst>
              <a:gd name="adj" fmla="val 7692"/>
            </a:avLst>
          </a:prstGeom>
          <a:solidFill xmlns:a="http://schemas.openxmlformats.org/drawingml/2006/main">
            <a:srgbClr val="223651"/>
          </a:solidFill>
          <a:ln xmlns:a="http://schemas.openxmlformats.org/drawingml/2006/main" w="9525">
            <a:solidFill>
              <a:srgbClr val="344B6B"/>
            </a:solidFill>
            <a:prstDash val="solid"/>
          </a:ln>
        </p:spPr>
      </p:sp>
      <p:sp>
        <p:nvSpPr>
          <p:cNvPr id="65" name="">
            <a:extLst xmlns:a="http://schemas.openxmlformats.org/drawingml/2006/main">
              <a:ext uri="{FF2B5EF4-FFF2-40B4-BE49-F238E27FC236}">
                <a16:creationId xmlns:a16="http://schemas.microsoft.com/office/drawing/2014/main" id="{FDA54DE0-60E6-44BA-82BD-749CCAF0E0CB}"/>
              </a:ext>
            </a:extLst>
          </p:cNvPr>
          <p:cNvSpPr>
            <a:spLocks xmlns:a="http://schemas.openxmlformats.org/drawingml/2006/main" noGrp="1"/>
          </p:cNvSpPr>
          <p:nvPr/>
        </p:nvSpPr>
        <p:spPr>
          <a:xfrm xmlns:a="http://schemas.openxmlformats.org/drawingml/2006/main">
            <a:off x="800100" y="51435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016"/>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Why two lanes</a:t>
            </a:r>
          </a:p>
        </p:txBody>
      </p:sp>
      <p:sp>
        <p:nvSpPr>
          <p:cNvPr id="66" name="">
            <a:extLst xmlns:a="http://schemas.openxmlformats.org/drawingml/2006/main">
              <a:ext uri="{FF2B5EF4-FFF2-40B4-BE49-F238E27FC236}">
                <a16:creationId xmlns:a16="http://schemas.microsoft.com/office/drawing/2014/main" id="{A7809D3A-F538-48B0-9AE1-0B5381FF5D7F}"/>
              </a:ext>
            </a:extLst>
          </p:cNvPr>
          <p:cNvSpPr>
            <a:spLocks xmlns:a="http://schemas.openxmlformats.org/drawingml/2006/main" noGrp="1"/>
          </p:cNvSpPr>
          <p:nvPr/>
        </p:nvSpPr>
        <p:spPr>
          <a:xfrm xmlns:a="http://schemas.openxmlformats.org/drawingml/2006/main">
            <a:off x="2590800" y="5067300"/>
            <a:ext cx="8343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293"/>
          </a:bodyPr>
          <a:lstStyle xmlns:a="http://schemas.openxmlformats.org/drawingml/2006/main">
            <a:defPPr algn="l">
              <a:defRPr sz="1575" b="0">
                <a:solidFill>
                  <a:srgbClr val="D7E0EC"/>
                </a:solidFill>
                <a:latin typeface="Segoe UI"/>
                <a:ea typeface="Segoe UI"/>
                <a:cs typeface="Segoe UI"/>
              </a:defRPr>
            </a:defPPr>
          </a:lstStyle>
          <a:p xmlns:a="http://schemas.openxmlformats.org/drawingml/2006/main">
            <a:pPr algn="l">
              <a:defRPr sz="1575" b="0">
                <a:solidFill>
                  <a:srgbClr val="D7E0EC"/>
                </a:solidFill>
                <a:latin typeface="Segoe UI"/>
                <a:ea typeface="Segoe UI"/>
                <a:cs typeface="Segoe UI"/>
              </a:defRPr>
            </a:pPr>
            <a:r>
              <a:rPr sz="1575" b="0">
                <a:solidFill>
                  <a:srgbClr val="D7E0EC"/>
                </a:solidFill>
                <a:latin typeface="Segoe UI"/>
                <a:ea typeface="Segoe UI"/>
                <a:cs typeface="Segoe UI"/>
              </a:rPr>
              <a:t>Batch processing rebuilds accurate history in bulk. Streaming processes one new event at a time within seconds. Separate DuckDB files avoid write contention, while the dashboard presents both views together.</a:t>
            </a:r>
          </a:p>
        </p:txBody>
      </p:sp>
    </p:spTree>
    <p:extLst>
      <p:ext uri="{BB962C8B-B14F-4D97-AF65-F5344CB8AC3E}">
        <p14:creationId xmlns:p14="http://schemas.microsoft.com/office/powerpoint/2010/main" val="1432104867"/>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E4A80C6-0E64-4D08-9DFE-381976CBDCA6}"/>
              </a:ext>
            </a:extLst>
          </p:cNvPr>
          <p:cNvSpPr>
            <a:spLocks xmlns:a="http://schemas.openxmlformats.org/drawingml/2006/main" noGrp="1"/>
          </p:cNvSpPr>
          <p:nvPr/>
        </p:nvSpPr>
        <p:spPr>
          <a:xfrm xmlns:a="http://schemas.openxmlformats.org/drawingml/2006/main">
            <a:off x="609600" y="3238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1">
                <a:solidFill>
                  <a:srgbClr val="F2A03D"/>
                </a:solidFill>
                <a:latin typeface="Segoe UI"/>
                <a:ea typeface="Segoe UI"/>
                <a:cs typeface="Segoe UI"/>
              </a:defRPr>
            </a:defPPr>
          </a:lstStyle>
          <a:p xmlns:a="http://schemas.openxmlformats.org/drawingml/2006/main">
            <a:pPr algn="l">
              <a:defRPr sz="1275" b="1">
                <a:solidFill>
                  <a:srgbClr val="F2A03D"/>
                </a:solidFill>
                <a:latin typeface="Segoe UI"/>
                <a:ea typeface="Segoe UI"/>
                <a:cs typeface="Segoe UI"/>
              </a:defRPr>
            </a:pPr>
            <a:r>
              <a:rPr sz="1275" b="1">
                <a:solidFill>
                  <a:srgbClr val="F2A03D"/>
                </a:solidFill>
                <a:latin typeface="Segoe UI"/>
                <a:ea typeface="Segoe UI"/>
                <a:cs typeface="Segoe UI"/>
              </a:rPr>
              <a:t>04</a:t>
            </a:r>
          </a:p>
        </p:txBody>
      </p:sp>
      <p:sp>
        <p:nvSpPr>
          <p:cNvPr id="2" name="">
            <a:extLst xmlns:a="http://schemas.openxmlformats.org/drawingml/2006/main">
              <a:ext uri="{FF2B5EF4-FFF2-40B4-BE49-F238E27FC236}">
                <a16:creationId xmlns:a16="http://schemas.microsoft.com/office/drawing/2014/main" id="{2D4A3648-6260-4117-B967-3DA627F5772B}"/>
              </a:ext>
            </a:extLst>
          </p:cNvPr>
          <p:cNvSpPr>
            <a:spLocks xmlns:a="http://schemas.openxmlformats.org/drawingml/2006/main" noGrp="1"/>
          </p:cNvSpPr>
          <p:nvPr/>
        </p:nvSpPr>
        <p:spPr>
          <a:xfrm xmlns:a="http://schemas.openxmlformats.org/drawingml/2006/main">
            <a:off x="1181100" y="26670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defPPr algn="l">
              <a:defRPr sz="3150" b="1">
                <a:solidFill>
                  <a:srgbClr val="172033"/>
                </a:solidFill>
                <a:latin typeface="Segoe UI"/>
                <a:ea typeface="Segoe UI"/>
                <a:cs typeface="Segoe UI"/>
              </a:defRPr>
            </a:defPPr>
          </a:lstStyle>
          <a:p xmlns:a="http://schemas.openxmlformats.org/drawingml/2006/main">
            <a:pPr algn="l">
              <a:defRPr sz="3150" b="1">
                <a:solidFill>
                  <a:srgbClr val="172033"/>
                </a:solidFill>
                <a:latin typeface="Segoe UI"/>
                <a:ea typeface="Segoe UI"/>
                <a:cs typeface="Segoe UI"/>
              </a:defRPr>
            </a:pPr>
            <a:r>
              <a:rPr sz="3150" b="1">
                <a:solidFill>
                  <a:srgbClr val="172033"/>
                </a:solidFill>
                <a:latin typeface="Segoe UI"/>
                <a:ea typeface="Segoe UI"/>
                <a:cs typeface="Segoe UI"/>
              </a:rPr>
              <a:t>Cleaning turns raw rows into trusted facts</a:t>
            </a:r>
          </a:p>
        </p:txBody>
      </p:sp>
      <p:sp>
        <p:nvSpPr>
          <p:cNvPr id="3" name="">
            <a:extLst xmlns:a="http://schemas.openxmlformats.org/drawingml/2006/main">
              <a:ext uri="{FF2B5EF4-FFF2-40B4-BE49-F238E27FC236}">
                <a16:creationId xmlns:a16="http://schemas.microsoft.com/office/drawing/2014/main" id="{125D7E1C-3266-4B4E-AC75-4B3D9E06A333}"/>
              </a:ext>
            </a:extLst>
          </p:cNvPr>
          <p:cNvSpPr>
            <a:spLocks xmlns:a="http://schemas.openxmlformats.org/drawingml/2006/main" noGrp="1"/>
          </p:cNvSpPr>
          <p:nvPr/>
        </p:nvSpPr>
        <p:spPr>
          <a:xfrm xmlns:a="http://schemas.openxmlformats.org/drawingml/2006/main">
            <a:off x="609600" y="914400"/>
            <a:ext cx="10972800" cy="19050"/>
          </a:xfrm>
          <a:prstGeom xmlns:a="http://schemas.openxmlformats.org/drawingml/2006/main" prst="rect">
            <a:avLst/>
          </a:prstGeom>
          <a:solidFill xmlns:a="http://schemas.openxmlformats.org/drawingml/2006/main">
            <a:srgbClr val="DCE2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95AAC1F-A057-4507-9583-D19983D9DBCA}"/>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0">
                <a:solidFill>
                  <a:srgbClr val="56657A"/>
                </a:solidFill>
                <a:latin typeface="Segoe UI"/>
                <a:ea typeface="Segoe UI"/>
                <a:cs typeface="Segoe UI"/>
              </a:defRPr>
            </a:defPPr>
          </a:lstStyle>
          <a:p xmlns:a="http://schemas.openxmlformats.org/drawingml/2006/main">
            <a:pPr algn="l">
              <a:defRPr sz="1050" b="0">
                <a:solidFill>
                  <a:srgbClr val="56657A"/>
                </a:solidFill>
                <a:latin typeface="Segoe UI"/>
                <a:ea typeface="Segoe UI"/>
                <a:cs typeface="Segoe UI"/>
              </a:defRPr>
            </a:pPr>
            <a:r>
              <a:rPr sz="1050" b="0">
                <a:solidFill>
                  <a:srgbClr val="56657A"/>
                </a:solidFill>
                <a:latin typeface="Segoe UI"/>
                <a:ea typeface="Segoe UI"/>
                <a:cs typeface="Segoe UI"/>
              </a:rPr>
              <a:t>Presenter: Aayush Chavanke</a:t>
            </a:r>
          </a:p>
        </p:txBody>
      </p:sp>
      <p:sp>
        <p:nvSpPr>
          <p:cNvPr id="5" name="">
            <a:extLst xmlns:a="http://schemas.openxmlformats.org/drawingml/2006/main">
              <a:ext uri="{FF2B5EF4-FFF2-40B4-BE49-F238E27FC236}">
                <a16:creationId xmlns:a16="http://schemas.microsoft.com/office/drawing/2014/main" id="{355A7B39-C753-4378-8879-2A921266BB5B}"/>
              </a:ext>
            </a:extLst>
          </p:cNvPr>
          <p:cNvSpPr>
            <a:spLocks xmlns:a="http://schemas.openxmlformats.org/drawingml/2006/main" noGrp="1"/>
          </p:cNvSpPr>
          <p:nvPr/>
        </p:nvSpPr>
        <p:spPr>
          <a:xfrm xmlns:a="http://schemas.openxmlformats.org/drawingml/2006/main">
            <a:off x="7810500" y="6477000"/>
            <a:ext cx="3771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r">
              <a:defRPr sz="1050" b="0">
                <a:solidFill>
                  <a:srgbClr val="56657A"/>
                </a:solidFill>
                <a:latin typeface="Segoe UI"/>
                <a:ea typeface="Segoe UI"/>
                <a:cs typeface="Segoe UI"/>
              </a:defRPr>
            </a:defPPr>
          </a:lstStyle>
          <a:p xmlns:a="http://schemas.openxmlformats.org/drawingml/2006/main">
            <a:pPr algn="r">
              <a:defRPr sz="1050" b="0">
                <a:solidFill>
                  <a:srgbClr val="56657A"/>
                </a:solidFill>
                <a:latin typeface="Segoe UI"/>
                <a:ea typeface="Segoe UI"/>
                <a:cs typeface="Segoe UI"/>
              </a:defRPr>
            </a:pPr>
            <a:r>
              <a:rPr sz="1050" b="0">
                <a:solidFill>
                  <a:srgbClr val="56657A"/>
                </a:solidFill>
                <a:latin typeface="Segoe UI"/>
                <a:ea typeface="Segoe UI"/>
                <a:cs typeface="Segoe UI"/>
              </a:rPr>
              <a:t>E-Commerce Sales Analytics · DuckDB + RabbitMQ</a:t>
            </a:r>
          </a:p>
        </p:txBody>
      </p:sp>
      <p:sp>
        <p:nvSpPr>
          <p:cNvPr id="6" name="">
            <a:extLst xmlns:a="http://schemas.openxmlformats.org/drawingml/2006/main">
              <a:ext uri="{FF2B5EF4-FFF2-40B4-BE49-F238E27FC236}">
                <a16:creationId xmlns:a16="http://schemas.microsoft.com/office/drawing/2014/main" id="{963B9018-8322-4FE2-980C-ACAC4DAFD9E4}"/>
              </a:ext>
            </a:extLst>
          </p:cNvPr>
          <p:cNvSpPr>
            <a:spLocks xmlns:a="http://schemas.openxmlformats.org/drawingml/2006/main" noGrp="1"/>
          </p:cNvSpPr>
          <p:nvPr/>
        </p:nvSpPr>
        <p:spPr>
          <a:xfrm xmlns:a="http://schemas.openxmlformats.org/drawingml/2006/main">
            <a:off x="609600" y="1181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795"/>
          </a:bodyPr>
          <a:lstStyle xmlns:a="http://schemas.openxmlformats.org/drawingml/2006/main">
            <a:defPPr algn="l">
              <a:defRPr sz="1950" b="1">
                <a:solidFill>
                  <a:srgbClr val="101C33"/>
                </a:solidFill>
                <a:latin typeface="Segoe UI"/>
                <a:ea typeface="Segoe UI"/>
                <a:cs typeface="Segoe UI"/>
              </a:defRPr>
            </a:defPPr>
          </a:lstStyle>
          <a:p xmlns:a="http://schemas.openxmlformats.org/drawingml/2006/main">
            <a:pPr algn="l">
              <a:defRPr sz="1950" b="1">
                <a:solidFill>
                  <a:srgbClr val="101C33"/>
                </a:solidFill>
                <a:latin typeface="Segoe UI"/>
                <a:ea typeface="Segoe UI"/>
                <a:cs typeface="Segoe UI"/>
              </a:defRPr>
            </a:pPr>
            <a:r>
              <a:rPr sz="1950" b="1">
                <a:solidFill>
                  <a:srgbClr val="101C33"/>
                </a:solidFill>
                <a:latin typeface="Segoe UI"/>
                <a:ea typeface="Segoe UI"/>
                <a:cs typeface="Segoe UI"/>
              </a:rPr>
              <a:t>Row movement</a:t>
            </a:r>
          </a:p>
        </p:txBody>
      </p:sp>
      <p:sp>
        <p:nvSpPr>
          <p:cNvPr id="7" name="">
            <a:extLst xmlns:a="http://schemas.openxmlformats.org/drawingml/2006/main">
              <a:ext uri="{FF2B5EF4-FFF2-40B4-BE49-F238E27FC236}">
                <a16:creationId xmlns:a16="http://schemas.microsoft.com/office/drawing/2014/main" id="{6472966E-463E-42B2-9898-F1104B3B3FA1}"/>
              </a:ext>
            </a:extLst>
          </p:cNvPr>
          <p:cNvSpPr>
            <a:spLocks xmlns:a="http://schemas.openxmlformats.org/drawingml/2006/main" noGrp="1"/>
          </p:cNvSpPr>
          <p:nvPr/>
        </p:nvSpPr>
        <p:spPr>
          <a:xfrm xmlns:a="http://schemas.openxmlformats.org/drawingml/2006/main">
            <a:off x="609600" y="1638300"/>
            <a:ext cx="4095750" cy="552450"/>
          </a:xfrm>
          <a:prstGeom xmlns:a="http://schemas.openxmlformats.org/drawingml/2006/main" prst="roundRect">
            <a:avLst>
              <a:gd name="adj" fmla="val 13793"/>
            </a:avLst>
          </a:prstGeom>
          <a:solidFill xmlns:a="http://schemas.openxmlformats.org/drawingml/2006/main">
            <a:srgbClr val="5267D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A75AC46-75C5-4BB7-8C77-EBDA73D6A718}"/>
              </a:ext>
            </a:extLst>
          </p:cNvPr>
          <p:cNvSpPr>
            <a:spLocks xmlns:a="http://schemas.openxmlformats.org/drawingml/2006/main" noGrp="1"/>
          </p:cNvSpPr>
          <p:nvPr/>
        </p:nvSpPr>
        <p:spPr>
          <a:xfrm xmlns:a="http://schemas.openxmlformats.org/drawingml/2006/main">
            <a:off x="723900" y="1714500"/>
            <a:ext cx="155638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833"/>
          </a:bodyPr>
          <a:lstStyle xmlns:a="http://schemas.openxmlformats.org/drawingml/2006/main">
            <a:defPPr algn="ctr">
              <a:defRPr sz="1800" b="1">
                <a:solidFill>
                  <a:srgbClr val="FFFFFF"/>
                </a:solidFill>
                <a:latin typeface="Segoe UI"/>
                <a:ea typeface="Segoe UI"/>
                <a:cs typeface="Segoe UI"/>
              </a:defRPr>
            </a:defPPr>
          </a:lstStyle>
          <a:p xmlns:a="http://schemas.openxmlformats.org/drawingml/2006/main">
            <a:pPr algn="ctr">
              <a:defRPr sz="1800" b="1">
                <a:solidFill>
                  <a:srgbClr val="FFFFFF"/>
                </a:solidFill>
                <a:latin typeface="Segoe UI"/>
                <a:ea typeface="Segoe UI"/>
                <a:cs typeface="Segoe UI"/>
              </a:defRPr>
            </a:pPr>
            <a:r>
              <a:rPr sz="1800" b="1">
                <a:solidFill>
                  <a:srgbClr val="FFFFFF"/>
                </a:solidFill>
                <a:latin typeface="Segoe UI"/>
                <a:ea typeface="Segoe UI"/>
                <a:cs typeface="Segoe UI"/>
              </a:rPr>
              <a:t>250,250</a:t>
            </a:r>
          </a:p>
        </p:txBody>
      </p:sp>
      <p:sp>
        <p:nvSpPr>
          <p:cNvPr id="9" name="">
            <a:extLst xmlns:a="http://schemas.openxmlformats.org/drawingml/2006/main">
              <a:ext uri="{FF2B5EF4-FFF2-40B4-BE49-F238E27FC236}">
                <a16:creationId xmlns:a16="http://schemas.microsoft.com/office/drawing/2014/main" id="{631F6189-B676-45CC-AAD0-4DB64503E703}"/>
              </a:ext>
            </a:extLst>
          </p:cNvPr>
          <p:cNvSpPr>
            <a:spLocks xmlns:a="http://schemas.openxmlformats.org/drawingml/2006/main" noGrp="1"/>
          </p:cNvSpPr>
          <p:nvPr/>
        </p:nvSpPr>
        <p:spPr>
          <a:xfrm xmlns:a="http://schemas.openxmlformats.org/drawingml/2006/main">
            <a:off x="2165985" y="1733550"/>
            <a:ext cx="237553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defPPr algn="ctr">
              <a:defRPr sz="1350" b="0">
                <a:solidFill>
                  <a:srgbClr val="FFFFFF"/>
                </a:solidFill>
                <a:latin typeface="Segoe UI"/>
                <a:ea typeface="Segoe UI"/>
                <a:cs typeface="Segoe UI"/>
              </a:defRPr>
            </a:defPPr>
          </a:lstStyle>
          <a:p xmlns:a="http://schemas.openxmlformats.org/drawingml/2006/main">
            <a:pPr algn="ctr">
              <a:defRPr sz="1350" b="0">
                <a:solidFill>
                  <a:srgbClr val="FFFFFF"/>
                </a:solidFill>
                <a:latin typeface="Segoe UI"/>
                <a:ea typeface="Segoe UI"/>
                <a:cs typeface="Segoe UI"/>
              </a:defRPr>
            </a:pPr>
            <a:r>
              <a:rPr sz="1350" b="0">
                <a:solidFill>
                  <a:srgbClr val="FFFFFF"/>
                </a:solidFill>
                <a:latin typeface="Segoe UI"/>
                <a:ea typeface="Segoe UI"/>
                <a:cs typeface="Segoe UI"/>
              </a:rPr>
              <a:t>raw CSV rows</a:t>
            </a:r>
          </a:p>
        </p:txBody>
      </p:sp>
      <p:sp>
        <p:nvSpPr>
          <p:cNvPr id="10" name="">
            <a:extLst xmlns:a="http://schemas.openxmlformats.org/drawingml/2006/main">
              <a:ext uri="{FF2B5EF4-FFF2-40B4-BE49-F238E27FC236}">
                <a16:creationId xmlns:a16="http://schemas.microsoft.com/office/drawing/2014/main" id="{FFF4B51E-0B11-4F52-8F22-0963B7AFE85F}"/>
              </a:ext>
            </a:extLst>
          </p:cNvPr>
          <p:cNvSpPr>
            <a:spLocks xmlns:a="http://schemas.openxmlformats.org/drawingml/2006/main" noGrp="1"/>
          </p:cNvSpPr>
          <p:nvPr/>
        </p:nvSpPr>
        <p:spPr>
          <a:xfrm xmlns:a="http://schemas.openxmlformats.org/drawingml/2006/main">
            <a:off x="895350" y="2381250"/>
            <a:ext cx="3524250" cy="552450"/>
          </a:xfrm>
          <a:prstGeom xmlns:a="http://schemas.openxmlformats.org/drawingml/2006/main" prst="roundRect">
            <a:avLst>
              <a:gd name="adj" fmla="val 13793"/>
            </a:avLst>
          </a:prstGeom>
          <a:solidFill xmlns:a="http://schemas.openxmlformats.org/drawingml/2006/main">
            <a:srgbClr val="16B8A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9ACE292-AB6D-4EA4-98AA-541798F89AC1}"/>
              </a:ext>
            </a:extLst>
          </p:cNvPr>
          <p:cNvSpPr>
            <a:spLocks xmlns:a="http://schemas.openxmlformats.org/drawingml/2006/main" noGrp="1"/>
          </p:cNvSpPr>
          <p:nvPr/>
        </p:nvSpPr>
        <p:spPr>
          <a:xfrm xmlns:a="http://schemas.openxmlformats.org/drawingml/2006/main">
            <a:off x="1009650" y="2457450"/>
            <a:ext cx="133921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833"/>
          </a:bodyPr>
          <a:lstStyle xmlns:a="http://schemas.openxmlformats.org/drawingml/2006/main">
            <a:defPPr algn="ctr">
              <a:defRPr sz="1800" b="1">
                <a:solidFill>
                  <a:srgbClr val="FFFFFF"/>
                </a:solidFill>
                <a:latin typeface="Segoe UI"/>
                <a:ea typeface="Segoe UI"/>
                <a:cs typeface="Segoe UI"/>
              </a:defRPr>
            </a:defPPr>
          </a:lstStyle>
          <a:p xmlns:a="http://schemas.openxmlformats.org/drawingml/2006/main">
            <a:pPr algn="ctr">
              <a:defRPr sz="1800" b="1">
                <a:solidFill>
                  <a:srgbClr val="FFFFFF"/>
                </a:solidFill>
                <a:latin typeface="Segoe UI"/>
                <a:ea typeface="Segoe UI"/>
                <a:cs typeface="Segoe UI"/>
              </a:defRPr>
            </a:pPr>
            <a:r>
              <a:rPr sz="1800" b="1">
                <a:solidFill>
                  <a:srgbClr val="FFFFFF"/>
                </a:solidFill>
                <a:latin typeface="Segoe UI"/>
                <a:ea typeface="Segoe UI"/>
                <a:cs typeface="Segoe UI"/>
              </a:rPr>
              <a:t>250,000</a:t>
            </a:r>
          </a:p>
        </p:txBody>
      </p:sp>
      <p:sp>
        <p:nvSpPr>
          <p:cNvPr id="12" name="">
            <a:extLst xmlns:a="http://schemas.openxmlformats.org/drawingml/2006/main">
              <a:ext uri="{FF2B5EF4-FFF2-40B4-BE49-F238E27FC236}">
                <a16:creationId xmlns:a16="http://schemas.microsoft.com/office/drawing/2014/main" id="{ACED81B3-9809-4720-814F-273BE7C9DAC3}"/>
              </a:ext>
            </a:extLst>
          </p:cNvPr>
          <p:cNvSpPr>
            <a:spLocks xmlns:a="http://schemas.openxmlformats.org/drawingml/2006/main" noGrp="1"/>
          </p:cNvSpPr>
          <p:nvPr/>
        </p:nvSpPr>
        <p:spPr>
          <a:xfrm xmlns:a="http://schemas.openxmlformats.org/drawingml/2006/main">
            <a:off x="2234565" y="2476500"/>
            <a:ext cx="204406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defPPr algn="ctr">
              <a:defRPr sz="1350" b="0">
                <a:solidFill>
                  <a:srgbClr val="FFFFFF"/>
                </a:solidFill>
                <a:latin typeface="Segoe UI"/>
                <a:ea typeface="Segoe UI"/>
                <a:cs typeface="Segoe UI"/>
              </a:defRPr>
            </a:defPPr>
          </a:lstStyle>
          <a:p xmlns:a="http://schemas.openxmlformats.org/drawingml/2006/main">
            <a:pPr algn="ctr">
              <a:defRPr sz="1350" b="0">
                <a:solidFill>
                  <a:srgbClr val="FFFFFF"/>
                </a:solidFill>
                <a:latin typeface="Segoe UI"/>
                <a:ea typeface="Segoe UI"/>
                <a:cs typeface="Segoe UI"/>
              </a:defRPr>
            </a:pPr>
            <a:r>
              <a:rPr sz="1350" b="0">
                <a:solidFill>
                  <a:srgbClr val="FFFFFF"/>
                </a:solidFill>
                <a:latin typeface="Segoe UI"/>
                <a:ea typeface="Segoe UI"/>
                <a:cs typeface="Segoe UI"/>
              </a:rPr>
              <a:t>typed after deduplication</a:t>
            </a:r>
          </a:p>
        </p:txBody>
      </p:sp>
      <p:sp>
        <p:nvSpPr>
          <p:cNvPr id="13" name="">
            <a:extLst xmlns:a="http://schemas.openxmlformats.org/drawingml/2006/main">
              <a:ext uri="{FF2B5EF4-FFF2-40B4-BE49-F238E27FC236}">
                <a16:creationId xmlns:a16="http://schemas.microsoft.com/office/drawing/2014/main" id="{50808772-F896-4418-A9C4-394A9E607618}"/>
              </a:ext>
            </a:extLst>
          </p:cNvPr>
          <p:cNvSpPr>
            <a:spLocks xmlns:a="http://schemas.openxmlformats.org/drawingml/2006/main" noGrp="1"/>
          </p:cNvSpPr>
          <p:nvPr/>
        </p:nvSpPr>
        <p:spPr>
          <a:xfrm xmlns:a="http://schemas.openxmlformats.org/drawingml/2006/main">
            <a:off x="1133475" y="3124200"/>
            <a:ext cx="3048000" cy="552450"/>
          </a:xfrm>
          <a:prstGeom xmlns:a="http://schemas.openxmlformats.org/drawingml/2006/main" prst="roundRect">
            <a:avLst>
              <a:gd name="adj" fmla="val 13793"/>
            </a:avLst>
          </a:prstGeom>
          <a:solidFill xmlns:a="http://schemas.openxmlformats.org/drawingml/2006/main">
            <a:srgbClr val="2D9D7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E5CEB70-1972-49D2-AE90-EA8EC656CF4F}"/>
              </a:ext>
            </a:extLst>
          </p:cNvPr>
          <p:cNvSpPr>
            <a:spLocks xmlns:a="http://schemas.openxmlformats.org/drawingml/2006/main" noGrp="1"/>
          </p:cNvSpPr>
          <p:nvPr/>
        </p:nvSpPr>
        <p:spPr>
          <a:xfrm xmlns:a="http://schemas.openxmlformats.org/drawingml/2006/main">
            <a:off x="1247775" y="3200400"/>
            <a:ext cx="115824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833"/>
          </a:bodyPr>
          <a:lstStyle xmlns:a="http://schemas.openxmlformats.org/drawingml/2006/main">
            <a:defPPr algn="ctr">
              <a:defRPr sz="1800" b="1">
                <a:solidFill>
                  <a:srgbClr val="FFFFFF"/>
                </a:solidFill>
                <a:latin typeface="Segoe UI"/>
                <a:ea typeface="Segoe UI"/>
                <a:cs typeface="Segoe UI"/>
              </a:defRPr>
            </a:defPPr>
          </a:lstStyle>
          <a:p xmlns:a="http://schemas.openxmlformats.org/drawingml/2006/main">
            <a:pPr algn="ctr">
              <a:defRPr sz="1800" b="1">
                <a:solidFill>
                  <a:srgbClr val="FFFFFF"/>
                </a:solidFill>
                <a:latin typeface="Segoe UI"/>
                <a:ea typeface="Segoe UI"/>
                <a:cs typeface="Segoe UI"/>
              </a:defRPr>
            </a:pPr>
            <a:r>
              <a:rPr sz="1800" b="1">
                <a:solidFill>
                  <a:srgbClr val="FFFFFF"/>
                </a:solidFill>
                <a:latin typeface="Segoe UI"/>
                <a:ea typeface="Segoe UI"/>
                <a:cs typeface="Segoe UI"/>
              </a:rPr>
              <a:t>248,555</a:t>
            </a:r>
          </a:p>
        </p:txBody>
      </p:sp>
      <p:sp>
        <p:nvSpPr>
          <p:cNvPr id="15" name="">
            <a:extLst xmlns:a="http://schemas.openxmlformats.org/drawingml/2006/main">
              <a:ext uri="{FF2B5EF4-FFF2-40B4-BE49-F238E27FC236}">
                <a16:creationId xmlns:a16="http://schemas.microsoft.com/office/drawing/2014/main" id="{84E53089-15D7-4438-A4A0-BE318AB9063B}"/>
              </a:ext>
            </a:extLst>
          </p:cNvPr>
          <p:cNvSpPr>
            <a:spLocks xmlns:a="http://schemas.openxmlformats.org/drawingml/2006/main" noGrp="1"/>
          </p:cNvSpPr>
          <p:nvPr/>
        </p:nvSpPr>
        <p:spPr>
          <a:xfrm xmlns:a="http://schemas.openxmlformats.org/drawingml/2006/main">
            <a:off x="2291715" y="3219450"/>
            <a:ext cx="176784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defPPr algn="ctr">
              <a:defRPr sz="1350" b="0">
                <a:solidFill>
                  <a:srgbClr val="FFFFFF"/>
                </a:solidFill>
                <a:latin typeface="Segoe UI"/>
                <a:ea typeface="Segoe UI"/>
                <a:cs typeface="Segoe UI"/>
              </a:defRPr>
            </a:defPPr>
          </a:lstStyle>
          <a:p xmlns:a="http://schemas.openxmlformats.org/drawingml/2006/main">
            <a:pPr algn="ctr">
              <a:defRPr sz="1350" b="0">
                <a:solidFill>
                  <a:srgbClr val="FFFFFF"/>
                </a:solidFill>
                <a:latin typeface="Segoe UI"/>
                <a:ea typeface="Segoe UI"/>
                <a:cs typeface="Segoe UI"/>
              </a:defRPr>
            </a:pPr>
            <a:r>
              <a:rPr sz="1350" b="0">
                <a:solidFill>
                  <a:srgbClr val="FFFFFF"/>
                </a:solidFill>
                <a:latin typeface="Segoe UI"/>
                <a:ea typeface="Segoe UI"/>
                <a:cs typeface="Segoe UI"/>
              </a:rPr>
              <a:t>accepted fact rows</a:t>
            </a:r>
          </a:p>
        </p:txBody>
      </p:sp>
      <p:sp>
        <p:nvSpPr>
          <p:cNvPr id="16" name="">
            <a:extLst xmlns:a="http://schemas.openxmlformats.org/drawingml/2006/main">
              <a:ext uri="{FF2B5EF4-FFF2-40B4-BE49-F238E27FC236}">
                <a16:creationId xmlns:a16="http://schemas.microsoft.com/office/drawing/2014/main" id="{C278AC62-9C7A-4FC9-B9E9-D85C30746417}"/>
              </a:ext>
            </a:extLst>
          </p:cNvPr>
          <p:cNvSpPr>
            <a:spLocks xmlns:a="http://schemas.openxmlformats.org/drawingml/2006/main" noGrp="1"/>
          </p:cNvSpPr>
          <p:nvPr/>
        </p:nvSpPr>
        <p:spPr>
          <a:xfrm xmlns:a="http://schemas.openxmlformats.org/drawingml/2006/main">
            <a:off x="1657350" y="3867150"/>
            <a:ext cx="2000250" cy="552450"/>
          </a:xfrm>
          <a:prstGeom xmlns:a="http://schemas.openxmlformats.org/drawingml/2006/main" prst="roundRect">
            <a:avLst>
              <a:gd name="adj" fmla="val 13793"/>
            </a:avLst>
          </a:prstGeom>
          <a:solidFill xmlns:a="http://schemas.openxmlformats.org/drawingml/2006/main">
            <a:srgbClr val="E65B6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ED57941-AE32-4540-AEC0-F25D47FA6569}"/>
              </a:ext>
            </a:extLst>
          </p:cNvPr>
          <p:cNvSpPr>
            <a:spLocks xmlns:a="http://schemas.openxmlformats.org/drawingml/2006/main" noGrp="1"/>
          </p:cNvSpPr>
          <p:nvPr/>
        </p:nvSpPr>
        <p:spPr>
          <a:xfrm xmlns:a="http://schemas.openxmlformats.org/drawingml/2006/main">
            <a:off x="1771650" y="3943350"/>
            <a:ext cx="76009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833"/>
          </a:bodyPr>
          <a:lstStyle xmlns:a="http://schemas.openxmlformats.org/drawingml/2006/main">
            <a:defPPr algn="ctr">
              <a:defRPr sz="1800" b="1">
                <a:solidFill>
                  <a:srgbClr val="FFFFFF"/>
                </a:solidFill>
                <a:latin typeface="Segoe UI"/>
                <a:ea typeface="Segoe UI"/>
                <a:cs typeface="Segoe UI"/>
              </a:defRPr>
            </a:defPPr>
          </a:lstStyle>
          <a:p xmlns:a="http://schemas.openxmlformats.org/drawingml/2006/main">
            <a:pPr algn="ctr">
              <a:defRPr sz="1800" b="1">
                <a:solidFill>
                  <a:srgbClr val="FFFFFF"/>
                </a:solidFill>
                <a:latin typeface="Segoe UI"/>
                <a:ea typeface="Segoe UI"/>
                <a:cs typeface="Segoe UI"/>
              </a:defRPr>
            </a:pPr>
            <a:r>
              <a:rPr sz="1800" b="1">
                <a:solidFill>
                  <a:srgbClr val="FFFFFF"/>
                </a:solidFill>
                <a:latin typeface="Segoe UI"/>
                <a:ea typeface="Segoe UI"/>
                <a:cs typeface="Segoe UI"/>
              </a:rPr>
              <a:t>1,445</a:t>
            </a:r>
          </a:p>
        </p:txBody>
      </p:sp>
      <p:sp>
        <p:nvSpPr>
          <p:cNvPr id="18" name="">
            <a:extLst xmlns:a="http://schemas.openxmlformats.org/drawingml/2006/main">
              <a:ext uri="{FF2B5EF4-FFF2-40B4-BE49-F238E27FC236}">
                <a16:creationId xmlns:a16="http://schemas.microsoft.com/office/drawing/2014/main" id="{263383AB-5E39-43C9-9EC6-99BE917B5ABE}"/>
              </a:ext>
            </a:extLst>
          </p:cNvPr>
          <p:cNvSpPr>
            <a:spLocks xmlns:a="http://schemas.openxmlformats.org/drawingml/2006/main" noGrp="1"/>
          </p:cNvSpPr>
          <p:nvPr/>
        </p:nvSpPr>
        <p:spPr>
          <a:xfrm xmlns:a="http://schemas.openxmlformats.org/drawingml/2006/main">
            <a:off x="2417445" y="3962400"/>
            <a:ext cx="116014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036"/>
          </a:bodyPr>
          <a:lstStyle xmlns:a="http://schemas.openxmlformats.org/drawingml/2006/main">
            <a:defPPr algn="ctr">
              <a:defRPr sz="1350" b="0">
                <a:solidFill>
                  <a:srgbClr val="FFFFFF"/>
                </a:solidFill>
                <a:latin typeface="Segoe UI"/>
                <a:ea typeface="Segoe UI"/>
                <a:cs typeface="Segoe UI"/>
              </a:defRPr>
            </a:defPPr>
          </a:lstStyle>
          <a:p xmlns:a="http://schemas.openxmlformats.org/drawingml/2006/main">
            <a:pPr algn="ctr">
              <a:defRPr sz="1350" b="0">
                <a:solidFill>
                  <a:srgbClr val="FFFFFF"/>
                </a:solidFill>
                <a:latin typeface="Segoe UI"/>
                <a:ea typeface="Segoe UI"/>
                <a:cs typeface="Segoe UI"/>
              </a:defRPr>
            </a:pPr>
            <a:r>
              <a:rPr sz="1350" b="0">
                <a:solidFill>
                  <a:srgbClr val="FFFFFF"/>
                </a:solidFill>
                <a:latin typeface="Segoe UI"/>
                <a:ea typeface="Segoe UI"/>
                <a:cs typeface="Segoe UI"/>
              </a:rPr>
              <a:t>rejected with reasons</a:t>
            </a:r>
          </a:p>
        </p:txBody>
      </p:sp>
      <p:sp>
        <p:nvSpPr>
          <p:cNvPr id="19" name="">
            <a:extLst xmlns:a="http://schemas.openxmlformats.org/drawingml/2006/main">
              <a:ext uri="{FF2B5EF4-FFF2-40B4-BE49-F238E27FC236}">
                <a16:creationId xmlns:a16="http://schemas.microsoft.com/office/drawing/2014/main" id="{10AD3271-1FE5-4ADE-A2C6-DAF70D0B0A9A}"/>
              </a:ext>
            </a:extLst>
          </p:cNvPr>
          <p:cNvSpPr>
            <a:spLocks xmlns:a="http://schemas.openxmlformats.org/drawingml/2006/main" noGrp="1"/>
          </p:cNvSpPr>
          <p:nvPr/>
        </p:nvSpPr>
        <p:spPr>
          <a:xfrm xmlns:a="http://schemas.openxmlformats.org/drawingml/2006/main">
            <a:off x="609600" y="47244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ctr">
              <a:defRPr sz="1725" b="1">
                <a:solidFill>
                  <a:srgbClr val="E65B65"/>
                </a:solidFill>
                <a:latin typeface="Segoe UI"/>
                <a:ea typeface="Segoe UI"/>
                <a:cs typeface="Segoe UI"/>
              </a:defRPr>
            </a:defPPr>
          </a:lstStyle>
          <a:p xmlns:a="http://schemas.openxmlformats.org/drawingml/2006/main">
            <a:pPr algn="ctr">
              <a:defRPr sz="1725" b="1">
                <a:solidFill>
                  <a:srgbClr val="E65B65"/>
                </a:solidFill>
                <a:latin typeface="Segoe UI"/>
                <a:ea typeface="Segoe UI"/>
                <a:cs typeface="Segoe UI"/>
              </a:defRPr>
            </a:pPr>
            <a:r>
              <a:rPr sz="1725" b="1">
                <a:solidFill>
                  <a:srgbClr val="E65B65"/>
                </a:solidFill>
                <a:latin typeface="Segoe UI"/>
                <a:ea typeface="Segoe UI"/>
                <a:cs typeface="Segoe UI"/>
              </a:rPr>
              <a:t>0.58% of typed rows were rejected</a:t>
            </a:r>
          </a:p>
        </p:txBody>
      </p:sp>
      <p:sp>
        <p:nvSpPr>
          <p:cNvPr id="20" name="">
            <a:extLst xmlns:a="http://schemas.openxmlformats.org/drawingml/2006/main">
              <a:ext uri="{FF2B5EF4-FFF2-40B4-BE49-F238E27FC236}">
                <a16:creationId xmlns:a16="http://schemas.microsoft.com/office/drawing/2014/main" id="{7C00367F-FE18-4066-885C-910FA78E499F}"/>
              </a:ext>
            </a:extLst>
          </p:cNvPr>
          <p:cNvSpPr>
            <a:spLocks xmlns:a="http://schemas.openxmlformats.org/drawingml/2006/main" noGrp="1"/>
          </p:cNvSpPr>
          <p:nvPr/>
        </p:nvSpPr>
        <p:spPr>
          <a:xfrm xmlns:a="http://schemas.openxmlformats.org/drawingml/2006/main">
            <a:off x="609600" y="52768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l">
              <a:defRPr sz="1500" b="1">
                <a:solidFill>
                  <a:srgbClr val="101C33"/>
                </a:solidFill>
                <a:latin typeface="Segoe UI"/>
                <a:ea typeface="Segoe UI"/>
                <a:cs typeface="Segoe UI"/>
              </a:defRPr>
            </a:defPPr>
          </a:lstStyle>
          <a:p xmlns:a="http://schemas.openxmlformats.org/drawingml/2006/main">
            <a:pPr algn="l">
              <a:defRPr sz="1500" b="1">
                <a:solidFill>
                  <a:srgbClr val="101C33"/>
                </a:solidFill>
                <a:latin typeface="Segoe UI"/>
                <a:ea typeface="Segoe UI"/>
                <a:cs typeface="Segoe UI"/>
              </a:defRPr>
            </a:pPr>
            <a:r>
              <a:rPr sz="1500" b="1">
                <a:solidFill>
                  <a:srgbClr val="101C33"/>
                </a:solidFill>
                <a:latin typeface="Segoe UI"/>
                <a:ea typeface="Segoe UI"/>
                <a:cs typeface="Segoe UI"/>
              </a:rPr>
              <a:t>Build evidence</a:t>
            </a:r>
          </a:p>
        </p:txBody>
      </p:sp>
      <p:sp>
        <p:nvSpPr>
          <p:cNvPr id="21" name="">
            <a:extLst xmlns:a="http://schemas.openxmlformats.org/drawingml/2006/main">
              <a:ext uri="{FF2B5EF4-FFF2-40B4-BE49-F238E27FC236}">
                <a16:creationId xmlns:a16="http://schemas.microsoft.com/office/drawing/2014/main" id="{3FE159C4-1F2C-4D68-9B8A-6E17FA868898}"/>
              </a:ext>
            </a:extLst>
          </p:cNvPr>
          <p:cNvSpPr>
            <a:spLocks xmlns:a="http://schemas.openxmlformats.org/drawingml/2006/main" noGrp="1"/>
          </p:cNvSpPr>
          <p:nvPr/>
        </p:nvSpPr>
        <p:spPr>
          <a:xfrm xmlns:a="http://schemas.openxmlformats.org/drawingml/2006/main">
            <a:off x="609600" y="56197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defPPr algn="l">
              <a:defRPr sz="1350" b="0">
                <a:solidFill>
                  <a:srgbClr val="56657A"/>
                </a:solidFill>
                <a:latin typeface="Segoe UI"/>
                <a:ea typeface="Segoe UI"/>
                <a:cs typeface="Segoe UI"/>
              </a:defRPr>
            </a:defPPr>
          </a:lstStyle>
          <a:p xmlns:a="http://schemas.openxmlformats.org/drawingml/2006/main">
            <a:pPr algn="l">
              <a:defRPr sz="1350" b="0">
                <a:solidFill>
                  <a:srgbClr val="56657A"/>
                </a:solidFill>
                <a:latin typeface="Segoe UI"/>
                <a:ea typeface="Segoe UI"/>
                <a:cs typeface="Segoe UI"/>
              </a:defRPr>
            </a:pPr>
            <a:r>
              <a:rPr sz="1350" b="0">
                <a:solidFill>
                  <a:srgbClr val="56657A"/>
                </a:solidFill>
                <a:latin typeface="Segoe UI"/>
                <a:ea typeface="Segoe UI"/>
                <a:cs typeface="Segoe UI"/>
              </a:rPr>
              <a:t>7.061 s build · 22.012 MB DuckDB · 6.666 MB Parquet</a:t>
            </a:r>
          </a:p>
        </p:txBody>
      </p:sp>
      <p:sp>
        <p:nvSpPr>
          <p:cNvPr id="22" name="">
            <a:extLst xmlns:a="http://schemas.openxmlformats.org/drawingml/2006/main">
              <a:ext uri="{FF2B5EF4-FFF2-40B4-BE49-F238E27FC236}">
                <a16:creationId xmlns:a16="http://schemas.microsoft.com/office/drawing/2014/main" id="{334EF8FF-8BA0-4B54-90D1-59DA8B759BF3}"/>
              </a:ext>
            </a:extLst>
          </p:cNvPr>
          <p:cNvSpPr>
            <a:spLocks xmlns:a="http://schemas.openxmlformats.org/drawingml/2006/main" noGrp="1"/>
          </p:cNvSpPr>
          <p:nvPr/>
        </p:nvSpPr>
        <p:spPr>
          <a:xfrm xmlns:a="http://schemas.openxmlformats.org/drawingml/2006/main">
            <a:off x="5562600" y="11811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795"/>
          </a:bodyPr>
          <a:lstStyle xmlns:a="http://schemas.openxmlformats.org/drawingml/2006/main">
            <a:defPPr algn="l">
              <a:defRPr sz="1950" b="1">
                <a:solidFill>
                  <a:srgbClr val="101C33"/>
                </a:solidFill>
                <a:latin typeface="Segoe UI"/>
                <a:ea typeface="Segoe UI"/>
                <a:cs typeface="Segoe UI"/>
              </a:defRPr>
            </a:defPPr>
          </a:lstStyle>
          <a:p xmlns:a="http://schemas.openxmlformats.org/drawingml/2006/main">
            <a:pPr algn="l">
              <a:defRPr sz="1950" b="1">
                <a:solidFill>
                  <a:srgbClr val="101C33"/>
                </a:solidFill>
                <a:latin typeface="Segoe UI"/>
                <a:ea typeface="Segoe UI"/>
                <a:cs typeface="Segoe UI"/>
              </a:defRPr>
            </a:pPr>
            <a:r>
              <a:rPr sz="1950" b="1">
                <a:solidFill>
                  <a:srgbClr val="101C33"/>
                </a:solidFill>
                <a:latin typeface="Segoe UI"/>
                <a:ea typeface="Segoe UI"/>
                <a:cs typeface="Segoe UI"/>
              </a:rPr>
              <a:t>Control and reason</a:t>
            </a:r>
          </a:p>
        </p:txBody>
      </p:sp>
      <p:sp>
        <p:nvSpPr>
          <p:cNvPr id="23" name="">
            <a:extLst xmlns:a="http://schemas.openxmlformats.org/drawingml/2006/main">
              <a:ext uri="{FF2B5EF4-FFF2-40B4-BE49-F238E27FC236}">
                <a16:creationId xmlns:a16="http://schemas.microsoft.com/office/drawing/2014/main" id="{E9AA5EF8-B14A-4C18-BB17-4999E89B42FD}"/>
              </a:ext>
            </a:extLst>
          </p:cNvPr>
          <p:cNvSpPr>
            <a:spLocks xmlns:a="http://schemas.openxmlformats.org/drawingml/2006/main" noGrp="1"/>
          </p:cNvSpPr>
          <p:nvPr/>
        </p:nvSpPr>
        <p:spPr>
          <a:xfrm xmlns:a="http://schemas.openxmlformats.org/drawingml/2006/main">
            <a:off x="5562600" y="1581150"/>
            <a:ext cx="590550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defRPr sz="1500">
                <a:solidFill>
                  <a:srgbClr val="172033"/>
                </a:solidFill>
                <a:latin typeface="Segoe UI"/>
                <a:ea typeface="Segoe UI"/>
                <a:cs typeface="Segoe UI"/>
              </a:defRPr>
            </a:defPPr>
          </a:lstStyle>
          <a:p xmlns:a="http://schemas.openxmlformats.org/drawingml/2006/main">
            <a:pPr marL="228600" indent="-114300">
              <a:spcAft>
                <a:spcPts val="600"/>
              </a:spcAft>
              <a:buChar char="•"/>
              <a:defRPr sz="1500">
                <a:solidFill>
                  <a:srgbClr val="172033"/>
                </a:solidFill>
                <a:latin typeface="Segoe UI"/>
                <a:ea typeface="Segoe UI"/>
                <a:cs typeface="Segoe UI"/>
              </a:defRPr>
            </a:pPr>
            <a:r>
              <a:rPr sz="1500">
                <a:solidFill>
                  <a:srgbClr val="172033"/>
                </a:solidFill>
                <a:latin typeface="Segoe UI"/>
                <a:ea typeface="Segoe UI"/>
                <a:cs typeface="Segoe UI"/>
              </a:rPr>
              <a:t>Standardize labels so South and south form one group</a:t>
            </a:r>
          </a:p>
          <a:p xmlns:a="http://schemas.openxmlformats.org/drawingml/2006/main">
            <a:pPr marL="228600" indent="-114300">
              <a:spcAft>
                <a:spcPts val="600"/>
              </a:spcAft>
              <a:buChar char="•"/>
              <a:defRPr sz="1500">
                <a:solidFill>
                  <a:srgbClr val="172033"/>
                </a:solidFill>
                <a:latin typeface="Segoe UI"/>
                <a:ea typeface="Segoe UI"/>
                <a:cs typeface="Segoe UI"/>
              </a:defRPr>
            </a:pPr>
            <a:r>
              <a:rPr sz="1500">
                <a:solidFill>
                  <a:srgbClr val="172033"/>
                </a:solidFill>
                <a:latin typeface="Segoe UI"/>
                <a:ea typeface="Segoe UI"/>
                <a:cs typeface="Segoe UI"/>
              </a:rPr>
              <a:t>TRY_CAST isolates bad values instead of stopping the full load</a:t>
            </a:r>
          </a:p>
          <a:p xmlns:a="http://schemas.openxmlformats.org/drawingml/2006/main">
            <a:pPr marL="228600" indent="-114300">
              <a:spcAft>
                <a:spcPts val="600"/>
              </a:spcAft>
              <a:buChar char="•"/>
              <a:defRPr sz="1500">
                <a:solidFill>
                  <a:srgbClr val="172033"/>
                </a:solidFill>
                <a:latin typeface="Segoe UI"/>
                <a:ea typeface="Segoe UI"/>
                <a:cs typeface="Segoe UI"/>
              </a:defRPr>
            </a:pPr>
            <a:r>
              <a:rPr sz="1500">
                <a:solidFill>
                  <a:srgbClr val="172033"/>
                </a:solidFill>
                <a:latin typeface="Segoe UI"/>
                <a:ea typeface="Segoe UI"/>
                <a:cs typeface="Segoe UI"/>
              </a:rPr>
              <a:t>ROW_NUMBER removes duplicate line IDs and prevents double counting</a:t>
            </a:r>
          </a:p>
          <a:p xmlns:a="http://schemas.openxmlformats.org/drawingml/2006/main">
            <a:pPr marL="228600" indent="-114300">
              <a:spcAft>
                <a:spcPts val="600"/>
              </a:spcAft>
              <a:buChar char="•"/>
              <a:defRPr sz="1500">
                <a:solidFill>
                  <a:srgbClr val="172033"/>
                </a:solidFill>
                <a:latin typeface="Segoe UI"/>
                <a:ea typeface="Segoe UI"/>
                <a:cs typeface="Segoe UI"/>
              </a:defRPr>
            </a:pPr>
            <a:r>
              <a:rPr sz="1500">
                <a:solidFill>
                  <a:srgbClr val="172033"/>
                </a:solidFill>
                <a:latin typeface="Segoe UI"/>
                <a:ea typeface="Segoe UI"/>
                <a:cs typeface="Segoe UI"/>
              </a:rPr>
              <a:t>Range checks keep impossible quantity, price and discount values out of KPIs</a:t>
            </a:r>
          </a:p>
          <a:p xmlns:a="http://schemas.openxmlformats.org/drawingml/2006/main">
            <a:pPr marL="228600" indent="-114300">
              <a:spcAft>
                <a:spcPts val="600"/>
              </a:spcAft>
              <a:buChar char="•"/>
              <a:defRPr sz="1500">
                <a:solidFill>
                  <a:srgbClr val="172033"/>
                </a:solidFill>
                <a:latin typeface="Segoe UI"/>
                <a:ea typeface="Segoe UI"/>
                <a:cs typeface="Segoe UI"/>
              </a:defRPr>
            </a:pPr>
            <a:r>
              <a:rPr sz="1500">
                <a:solidFill>
                  <a:srgbClr val="172033"/>
                </a:solidFill>
                <a:latin typeface="Segoe UI"/>
                <a:ea typeface="Segoe UI"/>
                <a:cs typeface="Segoe UI"/>
              </a:rPr>
              <a:t>rejected_orders keeps the failed row and reason for audit and correction</a:t>
            </a:r>
          </a:p>
        </p:txBody>
      </p:sp>
      <p:sp>
        <p:nvSpPr>
          <p:cNvPr id="24" name="">
            <a:extLst xmlns:a="http://schemas.openxmlformats.org/drawingml/2006/main">
              <a:ext uri="{FF2B5EF4-FFF2-40B4-BE49-F238E27FC236}">
                <a16:creationId xmlns:a16="http://schemas.microsoft.com/office/drawing/2014/main" id="{1116E907-FDEF-42E9-B34C-833929E683C9}"/>
              </a:ext>
            </a:extLst>
          </p:cNvPr>
          <p:cNvSpPr>
            <a:spLocks xmlns:a="http://schemas.openxmlformats.org/drawingml/2006/main" noGrp="1"/>
          </p:cNvSpPr>
          <p:nvPr/>
        </p:nvSpPr>
        <p:spPr>
          <a:xfrm xmlns:a="http://schemas.openxmlformats.org/drawingml/2006/main">
            <a:off x="5562600" y="4171950"/>
            <a:ext cx="5905500" cy="1752600"/>
          </a:xfrm>
          <a:prstGeom xmlns:a="http://schemas.openxmlformats.org/drawingml/2006/main" prst="roundRect">
            <a:avLst>
              <a:gd name="adj" fmla="val 4348"/>
            </a:avLst>
          </a:prstGeom>
          <a:solidFill xmlns:a="http://schemas.openxmlformats.org/drawingml/2006/main">
            <a:srgbClr val="101C33"/>
          </a:solidFill>
          <a:ln xmlns:a="http://schemas.openxmlformats.org/drawingml/2006/main" w="9525">
            <a:solidFill>
              <a:srgbClr val="2A3B59"/>
            </a:solidFill>
            <a:prstDash val="solid"/>
          </a:ln>
        </p:spPr>
      </p:sp>
      <p:sp>
        <p:nvSpPr>
          <p:cNvPr id="25" name="">
            <a:extLst xmlns:a="http://schemas.openxmlformats.org/drawingml/2006/main">
              <a:ext uri="{FF2B5EF4-FFF2-40B4-BE49-F238E27FC236}">
                <a16:creationId xmlns:a16="http://schemas.microsoft.com/office/drawing/2014/main" id="{B189E02F-D51F-45AC-8234-9DC7C15E6711}"/>
              </a:ext>
            </a:extLst>
          </p:cNvPr>
          <p:cNvSpPr>
            <a:spLocks xmlns:a="http://schemas.openxmlformats.org/drawingml/2006/main" noGrp="1"/>
          </p:cNvSpPr>
          <p:nvPr/>
        </p:nvSpPr>
        <p:spPr>
          <a:xfrm xmlns:a="http://schemas.openxmlformats.org/drawingml/2006/main">
            <a:off x="5562600" y="4171950"/>
            <a:ext cx="57150" cy="1752600"/>
          </a:xfrm>
          <a:prstGeom xmlns:a="http://schemas.openxmlformats.org/drawingml/2006/main" prst="rect">
            <a:avLst/>
          </a:prstGeom>
          <a:solidFill xmlns:a="http://schemas.openxmlformats.org/drawingml/2006/main">
            <a:srgbClr val="16B8A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5441E41-C5CC-47F7-A0DF-D16EB7373BFE}"/>
              </a:ext>
            </a:extLst>
          </p:cNvPr>
          <p:cNvSpPr>
            <a:spLocks xmlns:a="http://schemas.openxmlformats.org/drawingml/2006/main" noGrp="1"/>
          </p:cNvSpPr>
          <p:nvPr/>
        </p:nvSpPr>
        <p:spPr>
          <a:xfrm xmlns:a="http://schemas.openxmlformats.org/drawingml/2006/main">
            <a:off x="5753100" y="4324350"/>
            <a:ext cx="55626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350" b="0">
                <a:solidFill>
                  <a:srgbClr val="EAF0F8"/>
                </a:solidFill>
                <a:latin typeface="Consolas"/>
                <a:ea typeface="Consolas"/>
                <a:cs typeface="Consolas"/>
              </a:defRPr>
            </a:defPPr>
          </a:lstStyle>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TRY_CAST(order_date AS TIMESTAMP)</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QUALIFY ROW_NUMBER() OVER (PARTITION BY line_id) = 1</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WHERE quantity BETWEEN 1 AND 20</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  AND unit_price &gt; 0</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  AND discount_pct BETWEEN 0 AND 80</a:t>
            </a:r>
          </a:p>
        </p:txBody>
      </p:sp>
    </p:spTree>
    <p:extLst>
      <p:ext uri="{BB962C8B-B14F-4D97-AF65-F5344CB8AC3E}">
        <p14:creationId xmlns:p14="http://schemas.microsoft.com/office/powerpoint/2010/main" val="940810789"/>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E233EE8A-F57F-4753-811A-A71F3AE86C35}"/>
              </a:ext>
            </a:extLst>
          </p:cNvPr>
          <p:cNvSpPr>
            <a:spLocks xmlns:a="http://schemas.openxmlformats.org/drawingml/2006/main" noGrp="1"/>
          </p:cNvSpPr>
          <p:nvPr/>
        </p:nvSpPr>
        <p:spPr>
          <a:xfrm xmlns:a="http://schemas.openxmlformats.org/drawingml/2006/main">
            <a:off x="609600" y="3238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1">
                <a:solidFill>
                  <a:srgbClr val="F2A03D"/>
                </a:solidFill>
                <a:latin typeface="Segoe UI"/>
                <a:ea typeface="Segoe UI"/>
                <a:cs typeface="Segoe UI"/>
              </a:defRPr>
            </a:defPPr>
          </a:lstStyle>
          <a:p xmlns:a="http://schemas.openxmlformats.org/drawingml/2006/main">
            <a:pPr algn="l">
              <a:defRPr sz="1275" b="1">
                <a:solidFill>
                  <a:srgbClr val="F2A03D"/>
                </a:solidFill>
                <a:latin typeface="Segoe UI"/>
                <a:ea typeface="Segoe UI"/>
                <a:cs typeface="Segoe UI"/>
              </a:defRPr>
            </a:pPr>
            <a:r>
              <a:rPr sz="1275" b="1">
                <a:solidFill>
                  <a:srgbClr val="F2A03D"/>
                </a:solidFill>
                <a:latin typeface="Segoe UI"/>
                <a:ea typeface="Segoe UI"/>
                <a:cs typeface="Segoe UI"/>
              </a:rPr>
              <a:t>05</a:t>
            </a:r>
          </a:p>
        </p:txBody>
      </p:sp>
      <p:sp>
        <p:nvSpPr>
          <p:cNvPr id="2" name="">
            <a:extLst xmlns:a="http://schemas.openxmlformats.org/drawingml/2006/main">
              <a:ext uri="{FF2B5EF4-FFF2-40B4-BE49-F238E27FC236}">
                <a16:creationId xmlns:a16="http://schemas.microsoft.com/office/drawing/2014/main" id="{B15BBC79-AA5F-418C-8320-D03A67324988}"/>
              </a:ext>
            </a:extLst>
          </p:cNvPr>
          <p:cNvSpPr>
            <a:spLocks xmlns:a="http://schemas.openxmlformats.org/drawingml/2006/main" noGrp="1"/>
          </p:cNvSpPr>
          <p:nvPr/>
        </p:nvSpPr>
        <p:spPr>
          <a:xfrm xmlns:a="http://schemas.openxmlformats.org/drawingml/2006/main">
            <a:off x="1181100" y="26670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defPPr algn="l">
              <a:defRPr sz="3150" b="1">
                <a:solidFill>
                  <a:srgbClr val="172033"/>
                </a:solidFill>
                <a:latin typeface="Segoe UI"/>
                <a:ea typeface="Segoe UI"/>
                <a:cs typeface="Segoe UI"/>
              </a:defRPr>
            </a:defPPr>
          </a:lstStyle>
          <a:p xmlns:a="http://schemas.openxmlformats.org/drawingml/2006/main">
            <a:pPr algn="l">
              <a:defRPr sz="3150" b="1">
                <a:solidFill>
                  <a:srgbClr val="172033"/>
                </a:solidFill>
                <a:latin typeface="Segoe UI"/>
                <a:ea typeface="Segoe UI"/>
                <a:cs typeface="Segoe UI"/>
              </a:defRPr>
            </a:pPr>
            <a:r>
              <a:rPr sz="3150" b="1">
                <a:solidFill>
                  <a:srgbClr val="172033"/>
                </a:solidFill>
                <a:latin typeface="Segoe UI"/>
                <a:ea typeface="Segoe UI"/>
                <a:cs typeface="Segoe UI"/>
              </a:rPr>
              <a:t>The star schema keeps metrics consistent</a:t>
            </a:r>
          </a:p>
        </p:txBody>
      </p:sp>
      <p:sp>
        <p:nvSpPr>
          <p:cNvPr id="3" name="">
            <a:extLst xmlns:a="http://schemas.openxmlformats.org/drawingml/2006/main">
              <a:ext uri="{FF2B5EF4-FFF2-40B4-BE49-F238E27FC236}">
                <a16:creationId xmlns:a16="http://schemas.microsoft.com/office/drawing/2014/main" id="{89AB3083-9ACF-44D2-AEA9-EFB5BD05DB15}"/>
              </a:ext>
            </a:extLst>
          </p:cNvPr>
          <p:cNvSpPr>
            <a:spLocks xmlns:a="http://schemas.openxmlformats.org/drawingml/2006/main" noGrp="1"/>
          </p:cNvSpPr>
          <p:nvPr/>
        </p:nvSpPr>
        <p:spPr>
          <a:xfrm xmlns:a="http://schemas.openxmlformats.org/drawingml/2006/main">
            <a:off x="609600" y="914400"/>
            <a:ext cx="10972800" cy="19050"/>
          </a:xfrm>
          <a:prstGeom xmlns:a="http://schemas.openxmlformats.org/drawingml/2006/main" prst="rect">
            <a:avLst/>
          </a:prstGeom>
          <a:solidFill xmlns:a="http://schemas.openxmlformats.org/drawingml/2006/main">
            <a:srgbClr val="DCE2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BFBF1F7-FD3A-4991-907C-1F36A1B11A15}"/>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0">
                <a:solidFill>
                  <a:srgbClr val="56657A"/>
                </a:solidFill>
                <a:latin typeface="Segoe UI"/>
                <a:ea typeface="Segoe UI"/>
                <a:cs typeface="Segoe UI"/>
              </a:defRPr>
            </a:defPPr>
          </a:lstStyle>
          <a:p xmlns:a="http://schemas.openxmlformats.org/drawingml/2006/main">
            <a:pPr algn="l">
              <a:defRPr sz="1050" b="0">
                <a:solidFill>
                  <a:srgbClr val="56657A"/>
                </a:solidFill>
                <a:latin typeface="Segoe UI"/>
                <a:ea typeface="Segoe UI"/>
                <a:cs typeface="Segoe UI"/>
              </a:defRPr>
            </a:pPr>
            <a:r>
              <a:rPr sz="1050" b="0">
                <a:solidFill>
                  <a:srgbClr val="56657A"/>
                </a:solidFill>
                <a:latin typeface="Segoe UI"/>
                <a:ea typeface="Segoe UI"/>
                <a:cs typeface="Segoe UI"/>
              </a:rPr>
              <a:t>Presenter: Aayush Chavanke</a:t>
            </a:r>
          </a:p>
        </p:txBody>
      </p:sp>
      <p:sp>
        <p:nvSpPr>
          <p:cNvPr id="5" name="">
            <a:extLst xmlns:a="http://schemas.openxmlformats.org/drawingml/2006/main">
              <a:ext uri="{FF2B5EF4-FFF2-40B4-BE49-F238E27FC236}">
                <a16:creationId xmlns:a16="http://schemas.microsoft.com/office/drawing/2014/main" id="{2BDCB254-64AF-4BCC-9F4C-7F4CEC74B079}"/>
              </a:ext>
            </a:extLst>
          </p:cNvPr>
          <p:cNvSpPr>
            <a:spLocks xmlns:a="http://schemas.openxmlformats.org/drawingml/2006/main" noGrp="1"/>
          </p:cNvSpPr>
          <p:nvPr/>
        </p:nvSpPr>
        <p:spPr>
          <a:xfrm xmlns:a="http://schemas.openxmlformats.org/drawingml/2006/main">
            <a:off x="7810500" y="6477000"/>
            <a:ext cx="3771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r">
              <a:defRPr sz="1050" b="0">
                <a:solidFill>
                  <a:srgbClr val="56657A"/>
                </a:solidFill>
                <a:latin typeface="Segoe UI"/>
                <a:ea typeface="Segoe UI"/>
                <a:cs typeface="Segoe UI"/>
              </a:defRPr>
            </a:defPPr>
          </a:lstStyle>
          <a:p xmlns:a="http://schemas.openxmlformats.org/drawingml/2006/main">
            <a:pPr algn="r">
              <a:defRPr sz="1050" b="0">
                <a:solidFill>
                  <a:srgbClr val="56657A"/>
                </a:solidFill>
                <a:latin typeface="Segoe UI"/>
                <a:ea typeface="Segoe UI"/>
                <a:cs typeface="Segoe UI"/>
              </a:defRPr>
            </a:pPr>
            <a:r>
              <a:rPr sz="1050" b="0">
                <a:solidFill>
                  <a:srgbClr val="56657A"/>
                </a:solidFill>
                <a:latin typeface="Segoe UI"/>
                <a:ea typeface="Segoe UI"/>
                <a:cs typeface="Segoe UI"/>
              </a:rPr>
              <a:t>E-Commerce Sales Analytics · DuckDB + RabbitMQ</a:t>
            </a:r>
          </a:p>
        </p:txBody>
      </p:sp>
      <p:sp>
        <p:nvSpPr>
          <p:cNvPr id="6" name="">
            <a:extLst xmlns:a="http://schemas.openxmlformats.org/drawingml/2006/main">
              <a:ext uri="{FF2B5EF4-FFF2-40B4-BE49-F238E27FC236}">
                <a16:creationId xmlns:a16="http://schemas.microsoft.com/office/drawing/2014/main" id="{DEE1A04D-721C-4829-8C29-4217D72F9B62}"/>
              </a:ext>
            </a:extLst>
          </p:cNvPr>
          <p:cNvSpPr>
            <a:spLocks xmlns:a="http://schemas.openxmlformats.org/drawingml/2006/main" noGrp="1"/>
          </p:cNvSpPr>
          <p:nvPr/>
        </p:nvSpPr>
        <p:spPr>
          <a:xfrm xmlns:a="http://schemas.openxmlformats.org/drawingml/2006/main">
            <a:off x="609600" y="11049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667"/>
          </a:bodyPr>
          <a:lstStyle xmlns:a="http://schemas.openxmlformats.org/drawingml/2006/main">
            <a:defPPr algn="l">
              <a:defRPr sz="1875" b="1">
                <a:solidFill>
                  <a:srgbClr val="101C33"/>
                </a:solidFill>
                <a:latin typeface="Segoe UI"/>
                <a:ea typeface="Segoe UI"/>
                <a:cs typeface="Segoe UI"/>
              </a:defRPr>
            </a:defPPr>
          </a:lstStyle>
          <a:p xmlns:a="http://schemas.openxmlformats.org/drawingml/2006/main">
            <a:pPr algn="l">
              <a:defRPr sz="1875" b="1">
                <a:solidFill>
                  <a:srgbClr val="101C33"/>
                </a:solidFill>
                <a:latin typeface="Segoe UI"/>
                <a:ea typeface="Segoe UI"/>
                <a:cs typeface="Segoe UI"/>
              </a:defRPr>
            </a:pPr>
            <a:r>
              <a:rPr sz="1875" b="1">
                <a:solidFill>
                  <a:srgbClr val="101C33"/>
                </a:solidFill>
                <a:latin typeface="Segoe UI"/>
                <a:ea typeface="Segoe UI"/>
                <a:cs typeface="Segoe UI"/>
              </a:rPr>
              <a:t>Analytical star schema</a:t>
            </a:r>
          </a:p>
        </p:txBody>
      </p:sp>
      <p:sp>
        <p:nvSpPr>
          <p:cNvPr id="7" name="">
            <a:extLst xmlns:a="http://schemas.openxmlformats.org/drawingml/2006/main">
              <a:ext uri="{FF2B5EF4-FFF2-40B4-BE49-F238E27FC236}">
                <a16:creationId xmlns:a16="http://schemas.microsoft.com/office/drawing/2014/main" id="{4DB1D0A1-63FC-4D76-BB77-C11AEBB973E9}"/>
              </a:ext>
            </a:extLst>
          </p:cNvPr>
          <p:cNvSpPr>
            <a:spLocks xmlns:a="http://schemas.openxmlformats.org/drawingml/2006/main" noGrp="1"/>
          </p:cNvSpPr>
          <p:nvPr/>
        </p:nvSpPr>
        <p:spPr>
          <a:xfrm xmlns:a="http://schemas.openxmlformats.org/drawingml/2006/main">
            <a:off x="6324600" y="1143000"/>
            <a:ext cx="525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r">
              <a:defRPr sz="1125" b="0">
                <a:solidFill>
                  <a:srgbClr val="56657A"/>
                </a:solidFill>
                <a:latin typeface="Segoe UI"/>
                <a:ea typeface="Segoe UI"/>
                <a:cs typeface="Segoe UI"/>
              </a:defRPr>
            </a:defPPr>
          </a:lstStyle>
          <a:p xmlns:a="http://schemas.openxmlformats.org/drawingml/2006/main">
            <a:pPr algn="r">
              <a:defRPr sz="1125" b="0">
                <a:solidFill>
                  <a:srgbClr val="56657A"/>
                </a:solidFill>
                <a:latin typeface="Segoe UI"/>
                <a:ea typeface="Segoe UI"/>
                <a:cs typeface="Segoe UI"/>
              </a:defRPr>
            </a:pPr>
            <a:r>
              <a:rPr sz="1125" b="0">
                <a:solidFill>
                  <a:srgbClr val="56657A"/>
                </a:solidFill>
                <a:latin typeface="Segoe UI"/>
                <a:ea typeface="Segoe UI"/>
                <a:cs typeface="Segoe UI"/>
              </a:rPr>
              <a:t>1 : many joins · PK = primary key · FK = foreign key · DD = degenerate dimension</a:t>
            </a:r>
          </a:p>
        </p:txBody>
      </p:sp>
      <p:sp>
        <p:nvSpPr>
          <p:cNvPr id="8" name="">
            <a:extLst xmlns:a="http://schemas.openxmlformats.org/drawingml/2006/main">
              <a:ext uri="{FF2B5EF4-FFF2-40B4-BE49-F238E27FC236}">
                <a16:creationId xmlns:a16="http://schemas.microsoft.com/office/drawing/2014/main" id="{AEEBEE95-A96C-46DA-B8A4-20F4430EE4B4}"/>
              </a:ext>
            </a:extLst>
          </p:cNvPr>
          <p:cNvSpPr>
            <a:spLocks xmlns:a="http://schemas.openxmlformats.org/drawingml/2006/main" noGrp="1"/>
          </p:cNvSpPr>
          <p:nvPr/>
        </p:nvSpPr>
        <p:spPr>
          <a:xfrm xmlns:a="http://schemas.openxmlformats.org/drawingml/2006/main">
            <a:off x="609600" y="1562100"/>
            <a:ext cx="2857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14288">
            <a:solidFill>
              <a:srgbClr val="AEB8E8"/>
            </a:solidFill>
            <a:prstDash val="solid"/>
          </a:ln>
        </p:spPr>
      </p:sp>
      <p:sp>
        <p:nvSpPr>
          <p:cNvPr id="9" name="">
            <a:extLst xmlns:a="http://schemas.openxmlformats.org/drawingml/2006/main">
              <a:ext uri="{FF2B5EF4-FFF2-40B4-BE49-F238E27FC236}">
                <a16:creationId xmlns:a16="http://schemas.microsoft.com/office/drawing/2014/main" id="{796C015C-8F2E-4ACB-826F-7011A9C26B94}"/>
              </a:ext>
            </a:extLst>
          </p:cNvPr>
          <p:cNvSpPr>
            <a:spLocks xmlns:a="http://schemas.openxmlformats.org/drawingml/2006/main" noGrp="1"/>
          </p:cNvSpPr>
          <p:nvPr/>
        </p:nvSpPr>
        <p:spPr>
          <a:xfrm xmlns:a="http://schemas.openxmlformats.org/drawingml/2006/main">
            <a:off x="609600" y="1562100"/>
            <a:ext cx="2857500" cy="361950"/>
          </a:xfrm>
          <a:prstGeom xmlns:a="http://schemas.openxmlformats.org/drawingml/2006/main" prst="roundRect">
            <a:avLst>
              <a:gd name="adj" fmla="val 21053"/>
            </a:avLst>
          </a:prstGeom>
          <a:solidFill xmlns:a="http://schemas.openxmlformats.org/drawingml/2006/main">
            <a:srgbClr val="5267D7"/>
          </a:solidFill>
          <a:ln xmlns:a="http://schemas.openxmlformats.org/drawingml/2006/main" w="9525">
            <a:solidFill>
              <a:srgbClr val="5267D7"/>
            </a:solidFill>
            <a:prstDash val="solid"/>
          </a:ln>
        </p:spPr>
      </p:sp>
      <p:sp>
        <p:nvSpPr>
          <p:cNvPr id="10" name="">
            <a:extLst xmlns:a="http://schemas.openxmlformats.org/drawingml/2006/main">
              <a:ext uri="{FF2B5EF4-FFF2-40B4-BE49-F238E27FC236}">
                <a16:creationId xmlns:a16="http://schemas.microsoft.com/office/drawing/2014/main" id="{5ECAC14B-D057-4097-A3FA-945CF2E8B37B}"/>
              </a:ext>
            </a:extLst>
          </p:cNvPr>
          <p:cNvSpPr>
            <a:spLocks xmlns:a="http://schemas.openxmlformats.org/drawingml/2006/main" noGrp="1"/>
          </p:cNvSpPr>
          <p:nvPr/>
        </p:nvSpPr>
        <p:spPr>
          <a:xfrm xmlns:a="http://schemas.openxmlformats.org/drawingml/2006/main">
            <a:off x="781050" y="1628775"/>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158"/>
          </a:bodyPr>
          <a:lstStyle xmlns:a="http://schemas.openxmlformats.org/drawingml/2006/main">
            <a:defPPr algn="l">
              <a:defRPr sz="1425" b="1">
                <a:solidFill>
                  <a:srgbClr val="FFFFFF"/>
                </a:solidFill>
                <a:latin typeface="Segoe UI"/>
                <a:ea typeface="Segoe UI"/>
                <a:cs typeface="Segoe UI"/>
              </a:defRPr>
            </a:defPPr>
          </a:lstStyle>
          <a:p xmlns:a="http://schemas.openxmlformats.org/drawingml/2006/main">
            <a:pPr algn="l">
              <a:defRPr sz="1425" b="1">
                <a:solidFill>
                  <a:srgbClr val="FFFFFF"/>
                </a:solidFill>
                <a:latin typeface="Segoe UI"/>
                <a:ea typeface="Segoe UI"/>
                <a:cs typeface="Segoe UI"/>
              </a:defRPr>
            </a:pPr>
            <a:r>
              <a:rPr sz="1425" b="1">
                <a:solidFill>
                  <a:srgbClr val="FFFFFF"/>
                </a:solidFill>
                <a:latin typeface="Segoe UI"/>
                <a:ea typeface="Segoe UI"/>
                <a:cs typeface="Segoe UI"/>
              </a:rPr>
              <a:t>DIM_DATE</a:t>
            </a:r>
          </a:p>
        </p:txBody>
      </p:sp>
      <p:sp>
        <p:nvSpPr>
          <p:cNvPr id="11" name="">
            <a:extLst xmlns:a="http://schemas.openxmlformats.org/drawingml/2006/main">
              <a:ext uri="{FF2B5EF4-FFF2-40B4-BE49-F238E27FC236}">
                <a16:creationId xmlns:a16="http://schemas.microsoft.com/office/drawing/2014/main" id="{356965ED-62B2-4E4E-BD06-772478DAC4FF}"/>
              </a:ext>
            </a:extLst>
          </p:cNvPr>
          <p:cNvSpPr>
            <a:spLocks xmlns:a="http://schemas.openxmlformats.org/drawingml/2006/main" noGrp="1"/>
          </p:cNvSpPr>
          <p:nvPr/>
        </p:nvSpPr>
        <p:spPr>
          <a:xfrm xmlns:a="http://schemas.openxmlformats.org/drawingml/2006/main">
            <a:off x="781050" y="2000250"/>
            <a:ext cx="25146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00" b="0">
                <a:solidFill>
                  <a:srgbClr val="172033"/>
                </a:solidFill>
                <a:latin typeface="Segoe UI"/>
                <a:ea typeface="Segoe UI"/>
                <a:cs typeface="Segoe UI"/>
              </a:defRPr>
            </a:defPPr>
          </a:lstStyle>
          <a:p xmlns:a="http://schemas.openxmlformats.org/drawingml/2006/main">
            <a:pPr algn="l">
              <a:defRPr sz="1200" b="0">
                <a:solidFill>
                  <a:srgbClr val="172033"/>
                </a:solidFill>
                <a:latin typeface="Segoe UI"/>
                <a:ea typeface="Segoe UI"/>
                <a:cs typeface="Segoe UI"/>
              </a:defRPr>
            </a:pPr>
            <a:r>
              <a:rPr sz="1200" b="0">
                <a:solidFill>
                  <a:srgbClr val="172033"/>
                </a:solidFill>
                <a:latin typeface="Segoe UI"/>
                <a:ea typeface="Segoe UI"/>
                <a:cs typeface="Segoe UI"/>
              </a:rPr>
              <a:t>PK  date_key</a:t>
            </a:r>
          </a:p>
          <a:p xmlns:a="http://schemas.openxmlformats.org/drawingml/2006/main">
            <a:pPr algn="l">
              <a:defRPr sz="1200" b="0">
                <a:solidFill>
                  <a:srgbClr val="172033"/>
                </a:solidFill>
                <a:latin typeface="Segoe UI"/>
                <a:ea typeface="Segoe UI"/>
                <a:cs typeface="Segoe UI"/>
              </a:defRPr>
            </a:pPr>
            <a:r>
              <a:rPr sz="1200" b="0">
                <a:solidFill>
                  <a:srgbClr val="172033"/>
                </a:solidFill>
                <a:latin typeface="Segoe UI"/>
                <a:ea typeface="Segoe UI"/>
                <a:cs typeface="Segoe UI"/>
              </a:rPr>
              <a:t>     full_date</a:t>
            </a:r>
          </a:p>
          <a:p xmlns:a="http://schemas.openxmlformats.org/drawingml/2006/main">
            <a:pPr algn="l">
              <a:defRPr sz="1200" b="0">
                <a:solidFill>
                  <a:srgbClr val="172033"/>
                </a:solidFill>
                <a:latin typeface="Segoe UI"/>
                <a:ea typeface="Segoe UI"/>
                <a:cs typeface="Segoe UI"/>
              </a:defRPr>
            </a:pPr>
            <a:r>
              <a:rPr sz="1200" b="0">
                <a:solidFill>
                  <a:srgbClr val="172033"/>
                </a:solidFill>
                <a:latin typeface="Segoe UI"/>
                <a:ea typeface="Segoe UI"/>
                <a:cs typeface="Segoe UI"/>
              </a:rPr>
              <a:t>     year · quarter · month</a:t>
            </a:r>
          </a:p>
          <a:p xmlns:a="http://schemas.openxmlformats.org/drawingml/2006/main">
            <a:pPr algn="l">
              <a:defRPr sz="1200" b="0">
                <a:solidFill>
                  <a:srgbClr val="172033"/>
                </a:solidFill>
                <a:latin typeface="Segoe UI"/>
                <a:ea typeface="Segoe UI"/>
                <a:cs typeface="Segoe UI"/>
              </a:defRPr>
            </a:pPr>
            <a:r>
              <a:rPr sz="1200" b="0">
                <a:solidFill>
                  <a:srgbClr val="172033"/>
                </a:solidFill>
                <a:latin typeface="Segoe UI"/>
                <a:ea typeface="Segoe UI"/>
                <a:cs typeface="Segoe UI"/>
              </a:rPr>
              <a:t>     week_of_year · day_of_week</a:t>
            </a:r>
          </a:p>
        </p:txBody>
      </p:sp>
      <p:sp>
        <p:nvSpPr>
          <p:cNvPr id="12" name="">
            <a:extLst xmlns:a="http://schemas.openxmlformats.org/drawingml/2006/main">
              <a:ext uri="{FF2B5EF4-FFF2-40B4-BE49-F238E27FC236}">
                <a16:creationId xmlns:a16="http://schemas.microsoft.com/office/drawing/2014/main" id="{37147D4F-DB7F-4D8E-B6A3-5BAB5C524EAA}"/>
              </a:ext>
            </a:extLst>
          </p:cNvPr>
          <p:cNvSpPr>
            <a:spLocks xmlns:a="http://schemas.openxmlformats.org/drawingml/2006/main" noGrp="1"/>
          </p:cNvSpPr>
          <p:nvPr/>
        </p:nvSpPr>
        <p:spPr>
          <a:xfrm xmlns:a="http://schemas.openxmlformats.org/drawingml/2006/main">
            <a:off x="609600" y="3543300"/>
            <a:ext cx="2857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14288">
            <a:solidFill>
              <a:srgbClr val="82DACE"/>
            </a:solidFill>
            <a:prstDash val="solid"/>
          </a:ln>
        </p:spPr>
      </p:sp>
      <p:sp>
        <p:nvSpPr>
          <p:cNvPr id="13" name="">
            <a:extLst xmlns:a="http://schemas.openxmlformats.org/drawingml/2006/main">
              <a:ext uri="{FF2B5EF4-FFF2-40B4-BE49-F238E27FC236}">
                <a16:creationId xmlns:a16="http://schemas.microsoft.com/office/drawing/2014/main" id="{62CF2AD9-9A7D-48B4-8FBA-A94296FAC876}"/>
              </a:ext>
            </a:extLst>
          </p:cNvPr>
          <p:cNvSpPr>
            <a:spLocks xmlns:a="http://schemas.openxmlformats.org/drawingml/2006/main" noGrp="1"/>
          </p:cNvSpPr>
          <p:nvPr/>
        </p:nvSpPr>
        <p:spPr>
          <a:xfrm xmlns:a="http://schemas.openxmlformats.org/drawingml/2006/main">
            <a:off x="609600" y="3543300"/>
            <a:ext cx="2857500" cy="361950"/>
          </a:xfrm>
          <a:prstGeom xmlns:a="http://schemas.openxmlformats.org/drawingml/2006/main" prst="roundRect">
            <a:avLst>
              <a:gd name="adj" fmla="val 21053"/>
            </a:avLst>
          </a:prstGeom>
          <a:solidFill xmlns:a="http://schemas.openxmlformats.org/drawingml/2006/main">
            <a:srgbClr val="16B8A6"/>
          </a:solidFill>
          <a:ln xmlns:a="http://schemas.openxmlformats.org/drawingml/2006/main" w="9525">
            <a:solidFill>
              <a:srgbClr val="16B8A6"/>
            </a:solidFill>
            <a:prstDash val="solid"/>
          </a:ln>
        </p:spPr>
      </p:sp>
      <p:sp>
        <p:nvSpPr>
          <p:cNvPr id="14" name="">
            <a:extLst xmlns:a="http://schemas.openxmlformats.org/drawingml/2006/main">
              <a:ext uri="{FF2B5EF4-FFF2-40B4-BE49-F238E27FC236}">
                <a16:creationId xmlns:a16="http://schemas.microsoft.com/office/drawing/2014/main" id="{5D34540F-B80B-4F90-8384-F08DEC6AB739}"/>
              </a:ext>
            </a:extLst>
          </p:cNvPr>
          <p:cNvSpPr>
            <a:spLocks xmlns:a="http://schemas.openxmlformats.org/drawingml/2006/main" noGrp="1"/>
          </p:cNvSpPr>
          <p:nvPr/>
        </p:nvSpPr>
        <p:spPr>
          <a:xfrm xmlns:a="http://schemas.openxmlformats.org/drawingml/2006/main">
            <a:off x="781050" y="3609975"/>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158"/>
          </a:bodyPr>
          <a:lstStyle xmlns:a="http://schemas.openxmlformats.org/drawingml/2006/main">
            <a:defPPr algn="l">
              <a:defRPr sz="1425" b="1">
                <a:solidFill>
                  <a:srgbClr val="FFFFFF"/>
                </a:solidFill>
                <a:latin typeface="Segoe UI"/>
                <a:ea typeface="Segoe UI"/>
                <a:cs typeface="Segoe UI"/>
              </a:defRPr>
            </a:defPPr>
          </a:lstStyle>
          <a:p xmlns:a="http://schemas.openxmlformats.org/drawingml/2006/main">
            <a:pPr algn="l">
              <a:defRPr sz="1425" b="1">
                <a:solidFill>
                  <a:srgbClr val="FFFFFF"/>
                </a:solidFill>
                <a:latin typeface="Segoe UI"/>
                <a:ea typeface="Segoe UI"/>
                <a:cs typeface="Segoe UI"/>
              </a:defRPr>
            </a:pPr>
            <a:r>
              <a:rPr sz="1425" b="1">
                <a:solidFill>
                  <a:srgbClr val="FFFFFF"/>
                </a:solidFill>
                <a:latin typeface="Segoe UI"/>
                <a:ea typeface="Segoe UI"/>
                <a:cs typeface="Segoe UI"/>
              </a:rPr>
              <a:t>DIM_CUSTOMER</a:t>
            </a:r>
          </a:p>
        </p:txBody>
      </p:sp>
      <p:sp>
        <p:nvSpPr>
          <p:cNvPr id="15" name="">
            <a:extLst xmlns:a="http://schemas.openxmlformats.org/drawingml/2006/main">
              <a:ext uri="{FF2B5EF4-FFF2-40B4-BE49-F238E27FC236}">
                <a16:creationId xmlns:a16="http://schemas.microsoft.com/office/drawing/2014/main" id="{305AD6C4-794E-4F7E-A1BF-577113D77E4B}"/>
              </a:ext>
            </a:extLst>
          </p:cNvPr>
          <p:cNvSpPr>
            <a:spLocks xmlns:a="http://schemas.openxmlformats.org/drawingml/2006/main" noGrp="1"/>
          </p:cNvSpPr>
          <p:nvPr/>
        </p:nvSpPr>
        <p:spPr>
          <a:xfrm xmlns:a="http://schemas.openxmlformats.org/drawingml/2006/main">
            <a:off x="781050" y="3981450"/>
            <a:ext cx="2514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00" b="0">
                <a:solidFill>
                  <a:srgbClr val="172033"/>
                </a:solidFill>
                <a:latin typeface="Segoe UI"/>
                <a:ea typeface="Segoe UI"/>
                <a:cs typeface="Segoe UI"/>
              </a:defRPr>
            </a:defPPr>
          </a:lstStyle>
          <a:p xmlns:a="http://schemas.openxmlformats.org/drawingml/2006/main">
            <a:pPr algn="l">
              <a:defRPr sz="1200" b="0">
                <a:solidFill>
                  <a:srgbClr val="172033"/>
                </a:solidFill>
                <a:latin typeface="Segoe UI"/>
                <a:ea typeface="Segoe UI"/>
                <a:cs typeface="Segoe UI"/>
              </a:defRPr>
            </a:pPr>
            <a:r>
              <a:rPr sz="1200" b="0">
                <a:solidFill>
                  <a:srgbClr val="172033"/>
                </a:solidFill>
                <a:latin typeface="Segoe UI"/>
                <a:ea typeface="Segoe UI"/>
                <a:cs typeface="Segoe UI"/>
              </a:rPr>
              <a:t>PK  customer_key</a:t>
            </a:r>
          </a:p>
          <a:p xmlns:a="http://schemas.openxmlformats.org/drawingml/2006/main">
            <a:pPr algn="l">
              <a:defRPr sz="1200" b="0">
                <a:solidFill>
                  <a:srgbClr val="172033"/>
                </a:solidFill>
                <a:latin typeface="Segoe UI"/>
                <a:ea typeface="Segoe UI"/>
                <a:cs typeface="Segoe UI"/>
              </a:defRPr>
            </a:pPr>
            <a:r>
              <a:rPr sz="1200" b="0">
                <a:solidFill>
                  <a:srgbClr val="172033"/>
                </a:solidFill>
                <a:latin typeface="Segoe UI"/>
                <a:ea typeface="Segoe UI"/>
                <a:cs typeface="Segoe UI"/>
              </a:rPr>
              <a:t>     customer_id</a:t>
            </a:r>
          </a:p>
          <a:p xmlns:a="http://schemas.openxmlformats.org/drawingml/2006/main">
            <a:pPr algn="l">
              <a:defRPr sz="1200" b="0">
                <a:solidFill>
                  <a:srgbClr val="172033"/>
                </a:solidFill>
                <a:latin typeface="Segoe UI"/>
                <a:ea typeface="Segoe UI"/>
                <a:cs typeface="Segoe UI"/>
              </a:defRPr>
            </a:pPr>
            <a:r>
              <a:rPr sz="1200" b="0">
                <a:solidFill>
                  <a:srgbClr val="172033"/>
                </a:solidFill>
                <a:latin typeface="Segoe UI"/>
                <a:ea typeface="Segoe UI"/>
                <a:cs typeface="Segoe UI"/>
              </a:rPr>
              <a:t>     customer_segment</a:t>
            </a:r>
          </a:p>
          <a:p xmlns:a="http://schemas.openxmlformats.org/drawingml/2006/main">
            <a:pPr algn="l">
              <a:defRPr sz="1200" b="0">
                <a:solidFill>
                  <a:srgbClr val="172033"/>
                </a:solidFill>
                <a:latin typeface="Segoe UI"/>
                <a:ea typeface="Segoe UI"/>
                <a:cs typeface="Segoe UI"/>
              </a:defRPr>
            </a:pPr>
            <a:r>
              <a:rPr sz="1200" b="0">
                <a:solidFill>
                  <a:srgbClr val="172033"/>
                </a:solidFill>
                <a:latin typeface="Segoe UI"/>
                <a:ea typeface="Segoe UI"/>
                <a:cs typeface="Segoe UI"/>
              </a:rPr>
              <a:t>     region</a:t>
            </a:r>
          </a:p>
        </p:txBody>
      </p:sp>
      <p:sp>
        <p:nvSpPr>
          <p:cNvPr id="16" name="">
            <a:extLst xmlns:a="http://schemas.openxmlformats.org/drawingml/2006/main">
              <a:ext uri="{FF2B5EF4-FFF2-40B4-BE49-F238E27FC236}">
                <a16:creationId xmlns:a16="http://schemas.microsoft.com/office/drawing/2014/main" id="{52F7CC19-2826-43ED-AF4E-D36FAA277FDE}"/>
              </a:ext>
            </a:extLst>
          </p:cNvPr>
          <p:cNvSpPr>
            <a:spLocks xmlns:a="http://schemas.openxmlformats.org/drawingml/2006/main" noGrp="1"/>
          </p:cNvSpPr>
          <p:nvPr/>
        </p:nvSpPr>
        <p:spPr>
          <a:xfrm xmlns:a="http://schemas.openxmlformats.org/drawingml/2006/main">
            <a:off x="4324350" y="2095500"/>
            <a:ext cx="3543300" cy="2571750"/>
          </a:xfrm>
          <a:prstGeom xmlns:a="http://schemas.openxmlformats.org/drawingml/2006/main" prst="roundRect">
            <a:avLst>
              <a:gd name="adj" fmla="val 2963"/>
            </a:avLst>
          </a:prstGeom>
          <a:solidFill xmlns:a="http://schemas.openxmlformats.org/drawingml/2006/main">
            <a:srgbClr val="101C33"/>
          </a:solidFill>
          <a:ln xmlns:a="http://schemas.openxmlformats.org/drawingml/2006/main" w="9525">
            <a:solidFill>
              <a:srgbClr val="101C33"/>
            </a:solidFill>
            <a:prstDash val="solid"/>
          </a:ln>
        </p:spPr>
      </p:sp>
      <p:sp>
        <p:nvSpPr>
          <p:cNvPr id="17" name="">
            <a:extLst xmlns:a="http://schemas.openxmlformats.org/drawingml/2006/main">
              <a:ext uri="{FF2B5EF4-FFF2-40B4-BE49-F238E27FC236}">
                <a16:creationId xmlns:a16="http://schemas.microsoft.com/office/drawing/2014/main" id="{F954F723-BC14-4EC7-87CE-7A0B9A2A060F}"/>
              </a:ext>
            </a:extLst>
          </p:cNvPr>
          <p:cNvSpPr>
            <a:spLocks xmlns:a="http://schemas.openxmlformats.org/drawingml/2006/main" noGrp="1"/>
          </p:cNvSpPr>
          <p:nvPr/>
        </p:nvSpPr>
        <p:spPr>
          <a:xfrm xmlns:a="http://schemas.openxmlformats.org/drawingml/2006/main">
            <a:off x="4324350" y="2095500"/>
            <a:ext cx="76200" cy="2571750"/>
          </a:xfrm>
          <a:prstGeom xmlns:a="http://schemas.openxmlformats.org/drawingml/2006/main" prst="rect">
            <a:avLst/>
          </a:prstGeom>
          <a:solidFill xmlns:a="http://schemas.openxmlformats.org/drawingml/2006/main">
            <a:srgbClr val="F2A03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B9ABF58-A219-48AD-B6C2-554416C1D0F4}"/>
              </a:ext>
            </a:extLst>
          </p:cNvPr>
          <p:cNvSpPr>
            <a:spLocks xmlns:a="http://schemas.openxmlformats.org/drawingml/2006/main" noGrp="1"/>
          </p:cNvSpPr>
          <p:nvPr/>
        </p:nvSpPr>
        <p:spPr>
          <a:xfrm xmlns:a="http://schemas.openxmlformats.org/drawingml/2006/main">
            <a:off x="4572000" y="22288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667"/>
          </a:bodyPr>
          <a:lstStyle xmlns:a="http://schemas.openxmlformats.org/drawingml/2006/main">
            <a:defPPr algn="l">
              <a:defRPr sz="1875" b="1">
                <a:solidFill>
                  <a:srgbClr val="FFFFFF"/>
                </a:solidFill>
                <a:latin typeface="Segoe UI"/>
                <a:ea typeface="Segoe UI"/>
                <a:cs typeface="Segoe UI"/>
              </a:defRPr>
            </a:defPPr>
          </a:lstStyle>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FACT_SALES</a:t>
            </a:r>
          </a:p>
        </p:txBody>
      </p:sp>
      <p:sp>
        <p:nvSpPr>
          <p:cNvPr id="19" name="">
            <a:extLst xmlns:a="http://schemas.openxmlformats.org/drawingml/2006/main">
              <a:ext uri="{FF2B5EF4-FFF2-40B4-BE49-F238E27FC236}">
                <a16:creationId xmlns:a16="http://schemas.microsoft.com/office/drawing/2014/main" id="{832E6B75-5793-448C-BEC9-4817B4C7158F}"/>
              </a:ext>
            </a:extLst>
          </p:cNvPr>
          <p:cNvSpPr>
            <a:spLocks xmlns:a="http://schemas.openxmlformats.org/drawingml/2006/main" noGrp="1"/>
          </p:cNvSpPr>
          <p:nvPr/>
        </p:nvSpPr>
        <p:spPr>
          <a:xfrm xmlns:a="http://schemas.openxmlformats.org/drawingml/2006/main">
            <a:off x="4572000" y="25908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defPPr algn="l">
              <a:defRPr sz="1200" b="1">
                <a:solidFill>
                  <a:srgbClr val="F2A03D"/>
                </a:solidFill>
                <a:latin typeface="Segoe UI"/>
                <a:ea typeface="Segoe UI"/>
                <a:cs typeface="Segoe UI"/>
              </a:defRPr>
            </a:defPPr>
          </a:lstStyle>
          <a:p xmlns:a="http://schemas.openxmlformats.org/drawingml/2006/main">
            <a:pPr algn="l">
              <a:defRPr sz="1200" b="1">
                <a:solidFill>
                  <a:srgbClr val="F2A03D"/>
                </a:solidFill>
                <a:latin typeface="Segoe UI"/>
                <a:ea typeface="Segoe UI"/>
                <a:cs typeface="Segoe UI"/>
              </a:defRPr>
            </a:pPr>
            <a:r>
              <a:rPr sz="1200" b="1">
                <a:solidFill>
                  <a:srgbClr val="F2A03D"/>
                </a:solidFill>
                <a:latin typeface="Segoe UI"/>
                <a:ea typeface="Segoe UI"/>
                <a:cs typeface="Segoe UI"/>
              </a:rPr>
              <a:t>GRAIN  one accepted order line</a:t>
            </a:r>
          </a:p>
        </p:txBody>
      </p:sp>
      <p:sp>
        <p:nvSpPr>
          <p:cNvPr id="20" name="">
            <a:extLst xmlns:a="http://schemas.openxmlformats.org/drawingml/2006/main">
              <a:ext uri="{FF2B5EF4-FFF2-40B4-BE49-F238E27FC236}">
                <a16:creationId xmlns:a16="http://schemas.microsoft.com/office/drawing/2014/main" id="{6A2640DE-27C0-4245-B390-3F03E77B48EB}"/>
              </a:ext>
            </a:extLst>
          </p:cNvPr>
          <p:cNvSpPr>
            <a:spLocks xmlns:a="http://schemas.openxmlformats.org/drawingml/2006/main" noGrp="1"/>
          </p:cNvSpPr>
          <p:nvPr/>
        </p:nvSpPr>
        <p:spPr>
          <a:xfrm xmlns:a="http://schemas.openxmlformats.org/drawingml/2006/main">
            <a:off x="4572000" y="2952750"/>
            <a:ext cx="1524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00" b="0">
                <a:solidFill>
                  <a:srgbClr val="EAF0F8"/>
                </a:solidFill>
                <a:latin typeface="Segoe UI"/>
                <a:ea typeface="Segoe UI"/>
                <a:cs typeface="Segoe UI"/>
              </a:defRPr>
            </a:defPPr>
          </a:lstStyle>
          <a:p xmlns:a="http://schemas.openxmlformats.org/drawingml/2006/main">
            <a:pPr algn="l">
              <a:defRPr sz="1200" b="0">
                <a:solidFill>
                  <a:srgbClr val="EAF0F8"/>
                </a:solidFill>
                <a:latin typeface="Segoe UI"/>
                <a:ea typeface="Segoe UI"/>
                <a:cs typeface="Segoe UI"/>
              </a:defRPr>
            </a:pPr>
            <a:r>
              <a:rPr sz="1200" b="0">
                <a:solidFill>
                  <a:srgbClr val="EAF0F8"/>
                </a:solidFill>
                <a:latin typeface="Segoe UI"/>
                <a:ea typeface="Segoe UI"/>
                <a:cs typeface="Segoe UI"/>
              </a:rPr>
              <a:t>PK   line_id</a:t>
            </a:r>
          </a:p>
          <a:p xmlns:a="http://schemas.openxmlformats.org/drawingml/2006/main">
            <a:pPr algn="l">
              <a:defRPr sz="1200" b="0">
                <a:solidFill>
                  <a:srgbClr val="EAF0F8"/>
                </a:solidFill>
                <a:latin typeface="Segoe UI"/>
                <a:ea typeface="Segoe UI"/>
                <a:cs typeface="Segoe UI"/>
              </a:defRPr>
            </a:pPr>
            <a:r>
              <a:rPr sz="1200" b="0">
                <a:solidFill>
                  <a:srgbClr val="EAF0F8"/>
                </a:solidFill>
                <a:latin typeface="Segoe UI"/>
                <a:ea typeface="Segoe UI"/>
                <a:cs typeface="Segoe UI"/>
              </a:rPr>
              <a:t>DD   order_id · order_date</a:t>
            </a:r>
          </a:p>
          <a:p xmlns:a="http://schemas.openxmlformats.org/drawingml/2006/main">
            <a:pPr algn="l">
              <a:defRPr sz="1200" b="0">
                <a:solidFill>
                  <a:srgbClr val="EAF0F8"/>
                </a:solidFill>
                <a:latin typeface="Segoe UI"/>
                <a:ea typeface="Segoe UI"/>
                <a:cs typeface="Segoe UI"/>
              </a:defRPr>
            </a:pPr>
            <a:r>
              <a:rPr sz="1200" b="0">
                <a:solidFill>
                  <a:srgbClr val="EAF0F8"/>
                </a:solidFill>
                <a:latin typeface="Segoe UI"/>
                <a:ea typeface="Segoe UI"/>
                <a:cs typeface="Segoe UI"/>
              </a:rPr>
              <a:t>FK   date_key</a:t>
            </a:r>
          </a:p>
          <a:p xmlns:a="http://schemas.openxmlformats.org/drawingml/2006/main">
            <a:pPr algn="l">
              <a:defRPr sz="1200" b="0">
                <a:solidFill>
                  <a:srgbClr val="EAF0F8"/>
                </a:solidFill>
                <a:latin typeface="Segoe UI"/>
                <a:ea typeface="Segoe UI"/>
                <a:cs typeface="Segoe UI"/>
              </a:defRPr>
            </a:pPr>
            <a:r>
              <a:rPr sz="1200" b="0">
                <a:solidFill>
                  <a:srgbClr val="EAF0F8"/>
                </a:solidFill>
                <a:latin typeface="Segoe UI"/>
                <a:ea typeface="Segoe UI"/>
                <a:cs typeface="Segoe UI"/>
              </a:rPr>
              <a:t>FK   customer_key</a:t>
            </a:r>
          </a:p>
          <a:p xmlns:a="http://schemas.openxmlformats.org/drawingml/2006/main">
            <a:pPr algn="l">
              <a:defRPr sz="1200" b="0">
                <a:solidFill>
                  <a:srgbClr val="EAF0F8"/>
                </a:solidFill>
                <a:latin typeface="Segoe UI"/>
                <a:ea typeface="Segoe UI"/>
                <a:cs typeface="Segoe UI"/>
              </a:defRPr>
            </a:pPr>
            <a:r>
              <a:rPr sz="1200" b="0">
                <a:solidFill>
                  <a:srgbClr val="EAF0F8"/>
                </a:solidFill>
                <a:latin typeface="Segoe UI"/>
                <a:ea typeface="Segoe UI"/>
                <a:cs typeface="Segoe UI"/>
              </a:rPr>
              <a:t>FK   product_key</a:t>
            </a:r>
          </a:p>
        </p:txBody>
      </p:sp>
      <p:sp>
        <p:nvSpPr>
          <p:cNvPr id="21" name="">
            <a:extLst xmlns:a="http://schemas.openxmlformats.org/drawingml/2006/main">
              <a:ext uri="{FF2B5EF4-FFF2-40B4-BE49-F238E27FC236}">
                <a16:creationId xmlns:a16="http://schemas.microsoft.com/office/drawing/2014/main" id="{C718284B-FEFF-4571-959B-55F2B524E3D2}"/>
              </a:ext>
            </a:extLst>
          </p:cNvPr>
          <p:cNvSpPr>
            <a:spLocks xmlns:a="http://schemas.openxmlformats.org/drawingml/2006/main" noGrp="1"/>
          </p:cNvSpPr>
          <p:nvPr/>
        </p:nvSpPr>
        <p:spPr>
          <a:xfrm xmlns:a="http://schemas.openxmlformats.org/drawingml/2006/main">
            <a:off x="6115050" y="2952750"/>
            <a:ext cx="15240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722"/>
          </a:bodyPr>
          <a:lstStyle xmlns:a="http://schemas.openxmlformats.org/drawingml/2006/main">
            <a:defPPr algn="l">
              <a:defRPr sz="1125" b="0">
                <a:solidFill>
                  <a:srgbClr val="EAF0F8"/>
                </a:solidFill>
                <a:latin typeface="Segoe UI"/>
                <a:ea typeface="Segoe UI"/>
                <a:cs typeface="Segoe UI"/>
              </a:defRPr>
            </a:defPPr>
          </a:lstStyle>
          <a:p xmlns:a="http://schemas.openxmlformats.org/drawingml/2006/main">
            <a:pPr algn="l">
              <a:defRPr sz="1125" b="0">
                <a:solidFill>
                  <a:srgbClr val="EAF0F8"/>
                </a:solidFill>
                <a:latin typeface="Segoe UI"/>
                <a:ea typeface="Segoe UI"/>
                <a:cs typeface="Segoe UI"/>
              </a:defRPr>
            </a:pPr>
            <a:r>
              <a:rPr sz="1125" b="0">
                <a:solidFill>
                  <a:srgbClr val="EAF0F8"/>
                </a:solidFill>
                <a:latin typeface="Segoe UI"/>
                <a:ea typeface="Segoe UI"/>
                <a:cs typeface="Segoe UI"/>
              </a:rPr>
              <a:t>MEASURES</a:t>
            </a:r>
          </a:p>
          <a:p xmlns:a="http://schemas.openxmlformats.org/drawingml/2006/main">
            <a:pPr algn="l">
              <a:defRPr sz="1125" b="0">
                <a:solidFill>
                  <a:srgbClr val="EAF0F8"/>
                </a:solidFill>
                <a:latin typeface="Segoe UI"/>
                <a:ea typeface="Segoe UI"/>
                <a:cs typeface="Segoe UI"/>
              </a:defRPr>
            </a:pPr>
            <a:r>
              <a:rPr sz="1125" b="0">
                <a:solidFill>
                  <a:srgbClr val="EAF0F8"/>
                </a:solidFill>
                <a:latin typeface="Segoe UI"/>
                <a:ea typeface="Segoe UI"/>
                <a:cs typeface="Segoe UI"/>
              </a:rPr>
              <a:t>quantity · unit_price</a:t>
            </a:r>
          </a:p>
          <a:p xmlns:a="http://schemas.openxmlformats.org/drawingml/2006/main">
            <a:pPr algn="l">
              <a:defRPr sz="1125" b="0">
                <a:solidFill>
                  <a:srgbClr val="EAF0F8"/>
                </a:solidFill>
                <a:latin typeface="Segoe UI"/>
                <a:ea typeface="Segoe UI"/>
                <a:cs typeface="Segoe UI"/>
              </a:defRPr>
            </a:pPr>
            <a:r>
              <a:rPr sz="1125" b="0">
                <a:solidFill>
                  <a:srgbClr val="EAF0F8"/>
                </a:solidFill>
                <a:latin typeface="Segoe UI"/>
                <a:ea typeface="Segoe UI"/>
                <a:cs typeface="Segoe UI"/>
              </a:rPr>
              <a:t>gross_amount · net_revenue</a:t>
            </a:r>
          </a:p>
          <a:p xmlns:a="http://schemas.openxmlformats.org/drawingml/2006/main">
            <a:r>
              <a:t/>
            </a:r>
          </a:p>
          <a:p xmlns:a="http://schemas.openxmlformats.org/drawingml/2006/main">
            <a:pPr algn="l">
              <a:defRPr sz="1125" b="0">
                <a:solidFill>
                  <a:srgbClr val="EAF0F8"/>
                </a:solidFill>
                <a:latin typeface="Segoe UI"/>
                <a:ea typeface="Segoe UI"/>
                <a:cs typeface="Segoe UI"/>
              </a:defRPr>
            </a:pPr>
            <a:r>
              <a:rPr sz="1125" b="0">
                <a:solidFill>
                  <a:srgbClr val="EAF0F8"/>
                </a:solidFill>
                <a:latin typeface="Segoe UI"/>
                <a:ea typeface="Segoe UI"/>
                <a:cs typeface="Segoe UI"/>
              </a:rPr>
              <a:t>ATTRIBUTES</a:t>
            </a:r>
          </a:p>
          <a:p xmlns:a="http://schemas.openxmlformats.org/drawingml/2006/main">
            <a:pPr algn="l">
              <a:defRPr sz="1125" b="0">
                <a:solidFill>
                  <a:srgbClr val="EAF0F8"/>
                </a:solidFill>
                <a:latin typeface="Segoe UI"/>
                <a:ea typeface="Segoe UI"/>
                <a:cs typeface="Segoe UI"/>
              </a:defRPr>
            </a:pPr>
            <a:r>
              <a:rPr sz="1125" b="0">
                <a:solidFill>
                  <a:srgbClr val="EAF0F8"/>
                </a:solidFill>
                <a:latin typeface="Segoe UI"/>
                <a:ea typeface="Segoe UI"/>
                <a:cs typeface="Segoe UI"/>
              </a:rPr>
              <a:t>channel · payment · status</a:t>
            </a:r>
          </a:p>
        </p:txBody>
      </p:sp>
      <p:sp>
        <p:nvSpPr>
          <p:cNvPr id="22" name="">
            <a:extLst xmlns:a="http://schemas.openxmlformats.org/drawingml/2006/main">
              <a:ext uri="{FF2B5EF4-FFF2-40B4-BE49-F238E27FC236}">
                <a16:creationId xmlns:a16="http://schemas.microsoft.com/office/drawing/2014/main" id="{C1B35875-5553-4AAD-A3A1-4410FF4FC17E}"/>
              </a:ext>
            </a:extLst>
          </p:cNvPr>
          <p:cNvSpPr>
            <a:spLocks xmlns:a="http://schemas.openxmlformats.org/drawingml/2006/main" noGrp="1"/>
          </p:cNvSpPr>
          <p:nvPr/>
        </p:nvSpPr>
        <p:spPr>
          <a:xfrm xmlns:a="http://schemas.openxmlformats.org/drawingml/2006/main">
            <a:off x="4572000" y="43243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ctr">
              <a:defRPr sz="1275" b="1">
                <a:solidFill>
                  <a:srgbClr val="16B8A6"/>
                </a:solidFill>
                <a:latin typeface="Segoe UI"/>
                <a:ea typeface="Segoe UI"/>
                <a:cs typeface="Segoe UI"/>
              </a:defRPr>
            </a:defPPr>
          </a:lstStyle>
          <a:p xmlns:a="http://schemas.openxmlformats.org/drawingml/2006/main">
            <a:pPr algn="ctr">
              <a:defRPr sz="1275" b="1">
                <a:solidFill>
                  <a:srgbClr val="16B8A6"/>
                </a:solidFill>
                <a:latin typeface="Segoe UI"/>
                <a:ea typeface="Segoe UI"/>
                <a:cs typeface="Segoe UI"/>
              </a:defRPr>
            </a:pPr>
            <a:r>
              <a:rPr sz="1275" b="1">
                <a:solidFill>
                  <a:srgbClr val="16B8A6"/>
                </a:solidFill>
                <a:latin typeface="Segoe UI"/>
                <a:ea typeface="Segoe UI"/>
                <a:cs typeface="Segoe UI"/>
              </a:rPr>
              <a:t>248,555 trusted rows</a:t>
            </a:r>
          </a:p>
        </p:txBody>
      </p:sp>
      <p:sp>
        <p:nvSpPr>
          <p:cNvPr id="23" name="">
            <a:extLst xmlns:a="http://schemas.openxmlformats.org/drawingml/2006/main">
              <a:ext uri="{FF2B5EF4-FFF2-40B4-BE49-F238E27FC236}">
                <a16:creationId xmlns:a16="http://schemas.microsoft.com/office/drawing/2014/main" id="{78F716C0-504F-4A3F-9BDB-C3D6D5ED6080}"/>
              </a:ext>
            </a:extLst>
          </p:cNvPr>
          <p:cNvSpPr>
            <a:spLocks xmlns:a="http://schemas.openxmlformats.org/drawingml/2006/main" noGrp="1"/>
          </p:cNvSpPr>
          <p:nvPr/>
        </p:nvSpPr>
        <p:spPr>
          <a:xfrm xmlns:a="http://schemas.openxmlformats.org/drawingml/2006/main">
            <a:off x="8724900" y="1562100"/>
            <a:ext cx="2857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14288">
            <a:solidFill>
              <a:srgbClr val="F4C37F"/>
            </a:solidFill>
            <a:prstDash val="solid"/>
          </a:ln>
        </p:spPr>
      </p:sp>
      <p:sp>
        <p:nvSpPr>
          <p:cNvPr id="24" name="">
            <a:extLst xmlns:a="http://schemas.openxmlformats.org/drawingml/2006/main">
              <a:ext uri="{FF2B5EF4-FFF2-40B4-BE49-F238E27FC236}">
                <a16:creationId xmlns:a16="http://schemas.microsoft.com/office/drawing/2014/main" id="{0B535F90-3884-4C5F-8D1C-9A91B4C17CFA}"/>
              </a:ext>
            </a:extLst>
          </p:cNvPr>
          <p:cNvSpPr>
            <a:spLocks xmlns:a="http://schemas.openxmlformats.org/drawingml/2006/main" noGrp="1"/>
          </p:cNvSpPr>
          <p:nvPr/>
        </p:nvSpPr>
        <p:spPr>
          <a:xfrm xmlns:a="http://schemas.openxmlformats.org/drawingml/2006/main">
            <a:off x="8724900" y="1562100"/>
            <a:ext cx="2857500" cy="361950"/>
          </a:xfrm>
          <a:prstGeom xmlns:a="http://schemas.openxmlformats.org/drawingml/2006/main" prst="roundRect">
            <a:avLst>
              <a:gd name="adj" fmla="val 21053"/>
            </a:avLst>
          </a:prstGeom>
          <a:solidFill xmlns:a="http://schemas.openxmlformats.org/drawingml/2006/main">
            <a:srgbClr val="F2A03D"/>
          </a:solidFill>
          <a:ln xmlns:a="http://schemas.openxmlformats.org/drawingml/2006/main" w="9525">
            <a:solidFill>
              <a:srgbClr val="F2A03D"/>
            </a:solidFill>
            <a:prstDash val="solid"/>
          </a:ln>
        </p:spPr>
      </p:sp>
      <p:sp>
        <p:nvSpPr>
          <p:cNvPr id="25" name="">
            <a:extLst xmlns:a="http://schemas.openxmlformats.org/drawingml/2006/main">
              <a:ext uri="{FF2B5EF4-FFF2-40B4-BE49-F238E27FC236}">
                <a16:creationId xmlns:a16="http://schemas.microsoft.com/office/drawing/2014/main" id="{16DFBB38-8DB2-4D67-BB3B-E1C5DB35693A}"/>
              </a:ext>
            </a:extLst>
          </p:cNvPr>
          <p:cNvSpPr>
            <a:spLocks xmlns:a="http://schemas.openxmlformats.org/drawingml/2006/main" noGrp="1"/>
          </p:cNvSpPr>
          <p:nvPr/>
        </p:nvSpPr>
        <p:spPr>
          <a:xfrm xmlns:a="http://schemas.openxmlformats.org/drawingml/2006/main">
            <a:off x="8896350" y="1628775"/>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158"/>
          </a:bodyPr>
          <a:lstStyle xmlns:a="http://schemas.openxmlformats.org/drawingml/2006/main">
            <a:defPPr algn="l">
              <a:defRPr sz="1425" b="1">
                <a:solidFill>
                  <a:srgbClr val="FFFFFF"/>
                </a:solidFill>
                <a:latin typeface="Segoe UI"/>
                <a:ea typeface="Segoe UI"/>
                <a:cs typeface="Segoe UI"/>
              </a:defRPr>
            </a:defPPr>
          </a:lstStyle>
          <a:p xmlns:a="http://schemas.openxmlformats.org/drawingml/2006/main">
            <a:pPr algn="l">
              <a:defRPr sz="1425" b="1">
                <a:solidFill>
                  <a:srgbClr val="FFFFFF"/>
                </a:solidFill>
                <a:latin typeface="Segoe UI"/>
                <a:ea typeface="Segoe UI"/>
                <a:cs typeface="Segoe UI"/>
              </a:defRPr>
            </a:pPr>
            <a:r>
              <a:rPr sz="1425" b="1">
                <a:solidFill>
                  <a:srgbClr val="FFFFFF"/>
                </a:solidFill>
                <a:latin typeface="Segoe UI"/>
                <a:ea typeface="Segoe UI"/>
                <a:cs typeface="Segoe UI"/>
              </a:rPr>
              <a:t>DIM_PRODUCT</a:t>
            </a:r>
          </a:p>
        </p:txBody>
      </p:sp>
      <p:sp>
        <p:nvSpPr>
          <p:cNvPr id="26" name="">
            <a:extLst xmlns:a="http://schemas.openxmlformats.org/drawingml/2006/main">
              <a:ext uri="{FF2B5EF4-FFF2-40B4-BE49-F238E27FC236}">
                <a16:creationId xmlns:a16="http://schemas.microsoft.com/office/drawing/2014/main" id="{4604FF96-B8CB-47E8-8F17-9CE241DA64F6}"/>
              </a:ext>
            </a:extLst>
          </p:cNvPr>
          <p:cNvSpPr>
            <a:spLocks xmlns:a="http://schemas.openxmlformats.org/drawingml/2006/main" noGrp="1"/>
          </p:cNvSpPr>
          <p:nvPr/>
        </p:nvSpPr>
        <p:spPr>
          <a:xfrm xmlns:a="http://schemas.openxmlformats.org/drawingml/2006/main">
            <a:off x="8896350" y="2000250"/>
            <a:ext cx="2514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00" b="0">
                <a:solidFill>
                  <a:srgbClr val="172033"/>
                </a:solidFill>
                <a:latin typeface="Segoe UI"/>
                <a:ea typeface="Segoe UI"/>
                <a:cs typeface="Segoe UI"/>
              </a:defRPr>
            </a:defPPr>
          </a:lstStyle>
          <a:p xmlns:a="http://schemas.openxmlformats.org/drawingml/2006/main">
            <a:pPr algn="l">
              <a:defRPr sz="1200" b="0">
                <a:solidFill>
                  <a:srgbClr val="172033"/>
                </a:solidFill>
                <a:latin typeface="Segoe UI"/>
                <a:ea typeface="Segoe UI"/>
                <a:cs typeface="Segoe UI"/>
              </a:defRPr>
            </a:pPr>
            <a:r>
              <a:rPr sz="1200" b="0">
                <a:solidFill>
                  <a:srgbClr val="172033"/>
                </a:solidFill>
                <a:latin typeface="Segoe UI"/>
                <a:ea typeface="Segoe UI"/>
                <a:cs typeface="Segoe UI"/>
              </a:rPr>
              <a:t>PK  product_key</a:t>
            </a:r>
          </a:p>
          <a:p xmlns:a="http://schemas.openxmlformats.org/drawingml/2006/main">
            <a:pPr algn="l">
              <a:defRPr sz="1200" b="0">
                <a:solidFill>
                  <a:srgbClr val="172033"/>
                </a:solidFill>
                <a:latin typeface="Segoe UI"/>
                <a:ea typeface="Segoe UI"/>
                <a:cs typeface="Segoe UI"/>
              </a:defRPr>
            </a:pPr>
            <a:r>
              <a:rPr sz="1200" b="0">
                <a:solidFill>
                  <a:srgbClr val="172033"/>
                </a:solidFill>
                <a:latin typeface="Segoe UI"/>
                <a:ea typeface="Segoe UI"/>
                <a:cs typeface="Segoe UI"/>
              </a:rPr>
              <a:t>     product_id</a:t>
            </a:r>
          </a:p>
          <a:p xmlns:a="http://schemas.openxmlformats.org/drawingml/2006/main">
            <a:pPr algn="l">
              <a:defRPr sz="1200" b="0">
                <a:solidFill>
                  <a:srgbClr val="172033"/>
                </a:solidFill>
                <a:latin typeface="Segoe UI"/>
                <a:ea typeface="Segoe UI"/>
                <a:cs typeface="Segoe UI"/>
              </a:defRPr>
            </a:pPr>
            <a:r>
              <a:rPr sz="1200" b="0">
                <a:solidFill>
                  <a:srgbClr val="172033"/>
                </a:solidFill>
                <a:latin typeface="Segoe UI"/>
                <a:ea typeface="Segoe UI"/>
                <a:cs typeface="Segoe UI"/>
              </a:rPr>
              <a:t>     product_name</a:t>
            </a:r>
          </a:p>
          <a:p xmlns:a="http://schemas.openxmlformats.org/drawingml/2006/main">
            <a:pPr algn="l">
              <a:defRPr sz="1200" b="0">
                <a:solidFill>
                  <a:srgbClr val="172033"/>
                </a:solidFill>
                <a:latin typeface="Segoe UI"/>
                <a:ea typeface="Segoe UI"/>
                <a:cs typeface="Segoe UI"/>
              </a:defRPr>
            </a:pPr>
            <a:r>
              <a:rPr sz="1200" b="0">
                <a:solidFill>
                  <a:srgbClr val="172033"/>
                </a:solidFill>
                <a:latin typeface="Segoe UI"/>
                <a:ea typeface="Segoe UI"/>
                <a:cs typeface="Segoe UI"/>
              </a:rPr>
              <a:t>     category</a:t>
            </a:r>
          </a:p>
        </p:txBody>
      </p:sp>
      <p:sp>
        <p:nvSpPr>
          <p:cNvPr id="27" name="">
            <a:extLst xmlns:a="http://schemas.openxmlformats.org/drawingml/2006/main">
              <a:ext uri="{FF2B5EF4-FFF2-40B4-BE49-F238E27FC236}">
                <a16:creationId xmlns:a16="http://schemas.microsoft.com/office/drawing/2014/main" id="{8CC2423B-CDF1-4B1B-AB84-337144120AA8}"/>
              </a:ext>
            </a:extLst>
          </p:cNvPr>
          <p:cNvSpPr>
            <a:spLocks xmlns:a="http://schemas.openxmlformats.org/drawingml/2006/main" noGrp="1"/>
          </p:cNvSpPr>
          <p:nvPr/>
        </p:nvSpPr>
        <p:spPr>
          <a:xfrm xmlns:a="http://schemas.openxmlformats.org/drawingml/2006/main">
            <a:off x="8724900" y="3543300"/>
            <a:ext cx="2857500" cy="1428750"/>
          </a:xfrm>
          <a:prstGeom xmlns:a="http://schemas.openxmlformats.org/drawingml/2006/main" prst="roundRect">
            <a:avLst>
              <a:gd name="adj" fmla="val 5333"/>
            </a:avLst>
          </a:prstGeom>
          <a:solidFill xmlns:a="http://schemas.openxmlformats.org/drawingml/2006/main">
            <a:srgbClr val="FCE8EA"/>
          </a:solidFill>
          <a:ln xmlns:a="http://schemas.openxmlformats.org/drawingml/2006/main" w="14288">
            <a:solidFill>
              <a:srgbClr val="F3ABB1"/>
            </a:solidFill>
            <a:prstDash val="solid"/>
          </a:ln>
        </p:spPr>
      </p:sp>
      <p:sp>
        <p:nvSpPr>
          <p:cNvPr id="28" name="">
            <a:extLst xmlns:a="http://schemas.openxmlformats.org/drawingml/2006/main">
              <a:ext uri="{FF2B5EF4-FFF2-40B4-BE49-F238E27FC236}">
                <a16:creationId xmlns:a16="http://schemas.microsoft.com/office/drawing/2014/main" id="{C516E767-83DB-42B7-903E-C2BB3E31EC88}"/>
              </a:ext>
            </a:extLst>
          </p:cNvPr>
          <p:cNvSpPr>
            <a:spLocks xmlns:a="http://schemas.openxmlformats.org/drawingml/2006/main" noGrp="1"/>
          </p:cNvSpPr>
          <p:nvPr/>
        </p:nvSpPr>
        <p:spPr>
          <a:xfrm xmlns:a="http://schemas.openxmlformats.org/drawingml/2006/main">
            <a:off x="8724900" y="3543300"/>
            <a:ext cx="2857500" cy="361950"/>
          </a:xfrm>
          <a:prstGeom xmlns:a="http://schemas.openxmlformats.org/drawingml/2006/main" prst="roundRect">
            <a:avLst>
              <a:gd name="adj" fmla="val 21053"/>
            </a:avLst>
          </a:prstGeom>
          <a:solidFill xmlns:a="http://schemas.openxmlformats.org/drawingml/2006/main">
            <a:srgbClr val="E65B65"/>
          </a:solidFill>
          <a:ln xmlns:a="http://schemas.openxmlformats.org/drawingml/2006/main" w="9525">
            <a:solidFill>
              <a:srgbClr val="E65B65"/>
            </a:solidFill>
            <a:prstDash val="solid"/>
          </a:ln>
        </p:spPr>
      </p:sp>
      <p:sp>
        <p:nvSpPr>
          <p:cNvPr id="29" name="">
            <a:extLst xmlns:a="http://schemas.openxmlformats.org/drawingml/2006/main">
              <a:ext uri="{FF2B5EF4-FFF2-40B4-BE49-F238E27FC236}">
                <a16:creationId xmlns:a16="http://schemas.microsoft.com/office/drawing/2014/main" id="{2EDF25BC-E66F-4E48-846F-0203A691C8E3}"/>
              </a:ext>
            </a:extLst>
          </p:cNvPr>
          <p:cNvSpPr>
            <a:spLocks xmlns:a="http://schemas.openxmlformats.org/drawingml/2006/main" noGrp="1"/>
          </p:cNvSpPr>
          <p:nvPr/>
        </p:nvSpPr>
        <p:spPr>
          <a:xfrm xmlns:a="http://schemas.openxmlformats.org/drawingml/2006/main">
            <a:off x="8896350" y="3609975"/>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158"/>
          </a:bodyPr>
          <a:lstStyle xmlns:a="http://schemas.openxmlformats.org/drawingml/2006/main">
            <a:defPPr algn="l">
              <a:defRPr sz="1425" b="1">
                <a:solidFill>
                  <a:srgbClr val="FFFFFF"/>
                </a:solidFill>
                <a:latin typeface="Segoe UI"/>
                <a:ea typeface="Segoe UI"/>
                <a:cs typeface="Segoe UI"/>
              </a:defRPr>
            </a:defPPr>
          </a:lstStyle>
          <a:p xmlns:a="http://schemas.openxmlformats.org/drawingml/2006/main">
            <a:pPr algn="l">
              <a:defRPr sz="1425" b="1">
                <a:solidFill>
                  <a:srgbClr val="FFFFFF"/>
                </a:solidFill>
                <a:latin typeface="Segoe UI"/>
                <a:ea typeface="Segoe UI"/>
                <a:cs typeface="Segoe UI"/>
              </a:defRPr>
            </a:pPr>
            <a:r>
              <a:rPr sz="1425" b="1">
                <a:solidFill>
                  <a:srgbClr val="FFFFFF"/>
                </a:solidFill>
                <a:latin typeface="Segoe UI"/>
                <a:ea typeface="Segoe UI"/>
                <a:cs typeface="Segoe UI"/>
              </a:rPr>
              <a:t>REJECTED_ORDERS</a:t>
            </a:r>
          </a:p>
        </p:txBody>
      </p:sp>
      <p:sp>
        <p:nvSpPr>
          <p:cNvPr id="30" name="">
            <a:extLst xmlns:a="http://schemas.openxmlformats.org/drawingml/2006/main">
              <a:ext uri="{FF2B5EF4-FFF2-40B4-BE49-F238E27FC236}">
                <a16:creationId xmlns:a16="http://schemas.microsoft.com/office/drawing/2014/main" id="{8C0322A9-2DF2-406E-B873-4EDBE2BB9CD9}"/>
              </a:ext>
            </a:extLst>
          </p:cNvPr>
          <p:cNvSpPr>
            <a:spLocks xmlns:a="http://schemas.openxmlformats.org/drawingml/2006/main" noGrp="1"/>
          </p:cNvSpPr>
          <p:nvPr/>
        </p:nvSpPr>
        <p:spPr>
          <a:xfrm xmlns:a="http://schemas.openxmlformats.org/drawingml/2006/main">
            <a:off x="8896350" y="3981450"/>
            <a:ext cx="2514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556"/>
          </a:bodyPr>
          <a:lstStyle xmlns:a="http://schemas.openxmlformats.org/drawingml/2006/main">
            <a:defPPr algn="l">
              <a:defRPr sz="1125" b="0">
                <a:solidFill>
                  <a:srgbClr val="172033"/>
                </a:solidFill>
                <a:latin typeface="Segoe UI"/>
                <a:ea typeface="Segoe UI"/>
                <a:cs typeface="Segoe UI"/>
              </a:defRPr>
            </a:defPPr>
          </a:lstStyle>
          <a:p xmlns:a="http://schemas.openxmlformats.org/drawingml/2006/main">
            <a:pPr algn="l">
              <a:defRPr sz="1125" b="0">
                <a:solidFill>
                  <a:srgbClr val="172033"/>
                </a:solidFill>
                <a:latin typeface="Segoe UI"/>
                <a:ea typeface="Segoe UI"/>
                <a:cs typeface="Segoe UI"/>
              </a:defRPr>
            </a:pPr>
            <a:r>
              <a:rPr sz="1125" b="0">
                <a:solidFill>
                  <a:srgbClr val="172033"/>
                </a:solidFill>
                <a:latin typeface="Segoe UI"/>
                <a:ea typeface="Segoe UI"/>
                <a:cs typeface="Segoe UI"/>
              </a:rPr>
              <a:t>line_id · original values</a:t>
            </a:r>
          </a:p>
          <a:p xmlns:a="http://schemas.openxmlformats.org/drawingml/2006/main">
            <a:pPr algn="l">
              <a:defRPr sz="1125" b="0">
                <a:solidFill>
                  <a:srgbClr val="172033"/>
                </a:solidFill>
                <a:latin typeface="Segoe UI"/>
                <a:ea typeface="Segoe UI"/>
                <a:cs typeface="Segoe UI"/>
              </a:defRPr>
            </a:pPr>
            <a:r>
              <a:rPr sz="1125" b="0">
                <a:solidFill>
                  <a:srgbClr val="172033"/>
                </a:solidFill>
                <a:latin typeface="Segoe UI"/>
                <a:ea typeface="Segoe UI"/>
                <a:cs typeface="Segoe UI"/>
              </a:rPr>
              <a:t>rejection_reason</a:t>
            </a:r>
          </a:p>
          <a:p xmlns:a="http://schemas.openxmlformats.org/drawingml/2006/main">
            <a:r>
              <a:t/>
            </a:r>
          </a:p>
          <a:p xmlns:a="http://schemas.openxmlformats.org/drawingml/2006/main">
            <a:pPr algn="l">
              <a:defRPr sz="1125" b="0">
                <a:solidFill>
                  <a:srgbClr val="172033"/>
                </a:solidFill>
                <a:latin typeface="Segoe UI"/>
                <a:ea typeface="Segoe UI"/>
                <a:cs typeface="Segoe UI"/>
              </a:defRPr>
            </a:pPr>
            <a:r>
              <a:rPr sz="1125" b="0">
                <a:solidFill>
                  <a:srgbClr val="172033"/>
                </a:solidFill>
                <a:latin typeface="Segoe UI"/>
                <a:ea typeface="Segoe UI"/>
                <a:cs typeface="Segoe UI"/>
              </a:rPr>
              <a:t>QUALITY SIDE OUTPUT</a:t>
            </a:r>
          </a:p>
          <a:p xmlns:a="http://schemas.openxmlformats.org/drawingml/2006/main">
            <a:pPr algn="l">
              <a:defRPr sz="1125" b="0">
                <a:solidFill>
                  <a:srgbClr val="172033"/>
                </a:solidFill>
                <a:latin typeface="Segoe UI"/>
                <a:ea typeface="Segoe UI"/>
                <a:cs typeface="Segoe UI"/>
              </a:defRPr>
            </a:pPr>
            <a:r>
              <a:rPr sz="1125" b="0">
                <a:solidFill>
                  <a:srgbClr val="172033"/>
                </a:solidFill>
                <a:latin typeface="Segoe UI"/>
                <a:ea typeface="Segoe UI"/>
                <a:cs typeface="Segoe UI"/>
              </a:rPr>
              <a:t>Excluded from analytical KPIs</a:t>
            </a:r>
          </a:p>
        </p:txBody>
      </p:sp>
      <p:sp>
        <p:nvSpPr>
          <p:cNvPr id="31" name="">
            <a:extLst xmlns:a="http://schemas.openxmlformats.org/drawingml/2006/main">
              <a:ext uri="{FF2B5EF4-FFF2-40B4-BE49-F238E27FC236}">
                <a16:creationId xmlns:a16="http://schemas.microsoft.com/office/drawing/2014/main" id="{E95C7C33-13C5-44FF-B188-C43BEEB8E108}"/>
              </a:ext>
            </a:extLst>
          </p:cNvPr>
          <p:cNvSpPr>
            <a:spLocks xmlns:a="http://schemas.openxmlformats.org/drawingml/2006/main" noGrp="1"/>
          </p:cNvSpPr>
          <p:nvPr/>
        </p:nvSpPr>
        <p:spPr>
          <a:xfrm xmlns:a="http://schemas.openxmlformats.org/drawingml/2006/main">
            <a:off x="3467100" y="2266950"/>
            <a:ext cx="857250" cy="38100"/>
          </a:xfrm>
          <a:prstGeom xmlns:a="http://schemas.openxmlformats.org/drawingml/2006/main" prst="rect">
            <a:avLst/>
          </a:prstGeom>
          <a:solidFill xmlns:a="http://schemas.openxmlformats.org/drawingml/2006/main">
            <a:srgbClr val="5267D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C478586-3674-4E31-B945-DB68277E568D}"/>
              </a:ext>
            </a:extLst>
          </p:cNvPr>
          <p:cNvSpPr>
            <a:spLocks xmlns:a="http://schemas.openxmlformats.org/drawingml/2006/main" noGrp="1"/>
          </p:cNvSpPr>
          <p:nvPr/>
        </p:nvSpPr>
        <p:spPr>
          <a:xfrm xmlns:a="http://schemas.openxmlformats.org/drawingml/2006/main">
            <a:off x="3524250" y="20097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4997"/>
          </a:bodyPr>
          <a:lstStyle xmlns:a="http://schemas.openxmlformats.org/drawingml/2006/main">
            <a:defPPr algn="ctr">
              <a:defRPr sz="1125" b="1">
                <a:solidFill>
                  <a:srgbClr val="5267D7"/>
                </a:solidFill>
                <a:latin typeface="Segoe UI"/>
                <a:ea typeface="Segoe UI"/>
                <a:cs typeface="Segoe UI"/>
              </a:defRPr>
            </a:defPPr>
          </a:lstStyle>
          <a:p xmlns:a="http://schemas.openxmlformats.org/drawingml/2006/main">
            <a:pPr algn="ctr">
              <a:defRPr sz="1125" b="1">
                <a:solidFill>
                  <a:srgbClr val="5267D7"/>
                </a:solidFill>
                <a:latin typeface="Segoe UI"/>
                <a:ea typeface="Segoe UI"/>
                <a:cs typeface="Segoe UI"/>
              </a:defRPr>
            </a:pPr>
            <a:r>
              <a:rPr sz="1125" b="1">
                <a:solidFill>
                  <a:srgbClr val="5267D7"/>
                </a:solidFill>
                <a:latin typeface="Segoe UI"/>
                <a:ea typeface="Segoe UI"/>
                <a:cs typeface="Segoe UI"/>
              </a:rPr>
              <a:t>1</a:t>
            </a:r>
          </a:p>
        </p:txBody>
      </p:sp>
      <p:sp>
        <p:nvSpPr>
          <p:cNvPr id="33" name="">
            <a:extLst xmlns:a="http://schemas.openxmlformats.org/drawingml/2006/main">
              <a:ext uri="{FF2B5EF4-FFF2-40B4-BE49-F238E27FC236}">
                <a16:creationId xmlns:a16="http://schemas.microsoft.com/office/drawing/2014/main" id="{25B155CF-784F-41B1-AF8B-A0B14E6FAB44}"/>
              </a:ext>
            </a:extLst>
          </p:cNvPr>
          <p:cNvSpPr>
            <a:spLocks xmlns:a="http://schemas.openxmlformats.org/drawingml/2006/main" noGrp="1"/>
          </p:cNvSpPr>
          <p:nvPr/>
        </p:nvSpPr>
        <p:spPr>
          <a:xfrm xmlns:a="http://schemas.openxmlformats.org/drawingml/2006/main">
            <a:off x="4038600" y="200977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3692"/>
          </a:bodyPr>
          <a:lstStyle xmlns:a="http://schemas.openxmlformats.org/drawingml/2006/main">
            <a:defPPr algn="ctr">
              <a:defRPr sz="1425" b="1">
                <a:solidFill>
                  <a:srgbClr val="101C33"/>
                </a:solidFill>
                <a:latin typeface="Segoe UI"/>
                <a:ea typeface="Segoe UI"/>
                <a:cs typeface="Segoe UI"/>
              </a:defRPr>
            </a:defPPr>
          </a:lstStyle>
          <a:p xmlns:a="http://schemas.openxmlformats.org/drawingml/2006/main">
            <a:pPr algn="ctr">
              <a:defRPr sz="1425" b="1">
                <a:solidFill>
                  <a:srgbClr val="101C33"/>
                </a:solidFill>
                <a:latin typeface="Segoe UI"/>
                <a:ea typeface="Segoe UI"/>
                <a:cs typeface="Segoe UI"/>
              </a:defRPr>
            </a:pPr>
            <a:r>
              <a:rPr sz="1425" b="1">
                <a:solidFill>
                  <a:srgbClr val="101C33"/>
                </a:solidFill>
                <a:latin typeface="Segoe UI"/>
                <a:ea typeface="Segoe UI"/>
                <a:cs typeface="Segoe UI"/>
              </a:rPr>
              <a:t>∞</a:t>
            </a:r>
          </a:p>
        </p:txBody>
      </p:sp>
      <p:sp>
        <p:nvSpPr>
          <p:cNvPr id="34" name="">
            <a:extLst xmlns:a="http://schemas.openxmlformats.org/drawingml/2006/main">
              <a:ext uri="{FF2B5EF4-FFF2-40B4-BE49-F238E27FC236}">
                <a16:creationId xmlns:a16="http://schemas.microsoft.com/office/drawing/2014/main" id="{F9BFB892-6DE9-4116-A813-ECA8D64A1E64}"/>
              </a:ext>
            </a:extLst>
          </p:cNvPr>
          <p:cNvSpPr>
            <a:spLocks xmlns:a="http://schemas.openxmlformats.org/drawingml/2006/main" noGrp="1"/>
          </p:cNvSpPr>
          <p:nvPr/>
        </p:nvSpPr>
        <p:spPr>
          <a:xfrm xmlns:a="http://schemas.openxmlformats.org/drawingml/2006/main">
            <a:off x="3505200" y="23431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0">
                <a:solidFill>
                  <a:srgbClr val="56657A"/>
                </a:solidFill>
                <a:latin typeface="Segoe UI"/>
                <a:ea typeface="Segoe UI"/>
                <a:cs typeface="Segoe UI"/>
              </a:defRPr>
            </a:defPPr>
          </a:lstStyle>
          <a:p xmlns:a="http://schemas.openxmlformats.org/drawingml/2006/main">
            <a:pPr algn="ctr">
              <a:defRPr sz="975" b="0">
                <a:solidFill>
                  <a:srgbClr val="56657A"/>
                </a:solidFill>
                <a:latin typeface="Segoe UI"/>
                <a:ea typeface="Segoe UI"/>
                <a:cs typeface="Segoe UI"/>
              </a:defRPr>
            </a:pPr>
            <a:r>
              <a:rPr sz="975" b="0">
                <a:solidFill>
                  <a:srgbClr val="56657A"/>
                </a:solidFill>
                <a:latin typeface="Segoe UI"/>
                <a:ea typeface="Segoe UI"/>
                <a:cs typeface="Segoe UI"/>
              </a:rPr>
              <a:t>date_key</a:t>
            </a:r>
          </a:p>
        </p:txBody>
      </p:sp>
      <p:sp>
        <p:nvSpPr>
          <p:cNvPr id="35" name="">
            <a:extLst xmlns:a="http://schemas.openxmlformats.org/drawingml/2006/main">
              <a:ext uri="{FF2B5EF4-FFF2-40B4-BE49-F238E27FC236}">
                <a16:creationId xmlns:a16="http://schemas.microsoft.com/office/drawing/2014/main" id="{CCE429C9-E5D5-4843-9D4E-504185763BC7}"/>
              </a:ext>
            </a:extLst>
          </p:cNvPr>
          <p:cNvSpPr>
            <a:spLocks xmlns:a="http://schemas.openxmlformats.org/drawingml/2006/main" noGrp="1"/>
          </p:cNvSpPr>
          <p:nvPr/>
        </p:nvSpPr>
        <p:spPr>
          <a:xfrm xmlns:a="http://schemas.openxmlformats.org/drawingml/2006/main">
            <a:off x="3467100" y="4248150"/>
            <a:ext cx="857250" cy="38100"/>
          </a:xfrm>
          <a:prstGeom xmlns:a="http://schemas.openxmlformats.org/drawingml/2006/main" prst="rect">
            <a:avLst/>
          </a:prstGeom>
          <a:solidFill xmlns:a="http://schemas.openxmlformats.org/drawingml/2006/main">
            <a:srgbClr val="16B8A6"/>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F11ADE8B-55D5-4252-99A0-332B0F639B05}"/>
              </a:ext>
            </a:extLst>
          </p:cNvPr>
          <p:cNvSpPr>
            <a:spLocks xmlns:a="http://schemas.openxmlformats.org/drawingml/2006/main" noGrp="1"/>
          </p:cNvSpPr>
          <p:nvPr/>
        </p:nvSpPr>
        <p:spPr>
          <a:xfrm xmlns:a="http://schemas.openxmlformats.org/drawingml/2006/main">
            <a:off x="3524250" y="3990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4997"/>
          </a:bodyPr>
          <a:lstStyle xmlns:a="http://schemas.openxmlformats.org/drawingml/2006/main">
            <a:defPPr algn="ctr">
              <a:defRPr sz="1125" b="1">
                <a:solidFill>
                  <a:srgbClr val="16B8A6"/>
                </a:solidFill>
                <a:latin typeface="Segoe UI"/>
                <a:ea typeface="Segoe UI"/>
                <a:cs typeface="Segoe UI"/>
              </a:defRPr>
            </a:defPPr>
          </a:lstStyle>
          <a:p xmlns:a="http://schemas.openxmlformats.org/drawingml/2006/main">
            <a:pPr algn="ctr">
              <a:defRPr sz="1125" b="1">
                <a:solidFill>
                  <a:srgbClr val="16B8A6"/>
                </a:solidFill>
                <a:latin typeface="Segoe UI"/>
                <a:ea typeface="Segoe UI"/>
                <a:cs typeface="Segoe UI"/>
              </a:defRPr>
            </a:pPr>
            <a:r>
              <a:rPr sz="1125" b="1">
                <a:solidFill>
                  <a:srgbClr val="16B8A6"/>
                </a:solidFill>
                <a:latin typeface="Segoe UI"/>
                <a:ea typeface="Segoe UI"/>
                <a:cs typeface="Segoe UI"/>
              </a:rPr>
              <a:t>1</a:t>
            </a:r>
          </a:p>
        </p:txBody>
      </p:sp>
      <p:sp>
        <p:nvSpPr>
          <p:cNvPr id="37" name="">
            <a:extLst xmlns:a="http://schemas.openxmlformats.org/drawingml/2006/main">
              <a:ext uri="{FF2B5EF4-FFF2-40B4-BE49-F238E27FC236}">
                <a16:creationId xmlns:a16="http://schemas.microsoft.com/office/drawing/2014/main" id="{F87723BE-E958-45E1-A01C-BD78A32A9DA1}"/>
              </a:ext>
            </a:extLst>
          </p:cNvPr>
          <p:cNvSpPr>
            <a:spLocks xmlns:a="http://schemas.openxmlformats.org/drawingml/2006/main" noGrp="1"/>
          </p:cNvSpPr>
          <p:nvPr/>
        </p:nvSpPr>
        <p:spPr>
          <a:xfrm xmlns:a="http://schemas.openxmlformats.org/drawingml/2006/main">
            <a:off x="4038600" y="399097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3692"/>
          </a:bodyPr>
          <a:lstStyle xmlns:a="http://schemas.openxmlformats.org/drawingml/2006/main">
            <a:defPPr algn="ctr">
              <a:defRPr sz="1425" b="1">
                <a:solidFill>
                  <a:srgbClr val="101C33"/>
                </a:solidFill>
                <a:latin typeface="Segoe UI"/>
                <a:ea typeface="Segoe UI"/>
                <a:cs typeface="Segoe UI"/>
              </a:defRPr>
            </a:defPPr>
          </a:lstStyle>
          <a:p xmlns:a="http://schemas.openxmlformats.org/drawingml/2006/main">
            <a:pPr algn="ctr">
              <a:defRPr sz="1425" b="1">
                <a:solidFill>
                  <a:srgbClr val="101C33"/>
                </a:solidFill>
                <a:latin typeface="Segoe UI"/>
                <a:ea typeface="Segoe UI"/>
                <a:cs typeface="Segoe UI"/>
              </a:defRPr>
            </a:pPr>
            <a:r>
              <a:rPr sz="1425" b="1">
                <a:solidFill>
                  <a:srgbClr val="101C33"/>
                </a:solidFill>
                <a:latin typeface="Segoe UI"/>
                <a:ea typeface="Segoe UI"/>
                <a:cs typeface="Segoe UI"/>
              </a:rPr>
              <a:t>∞</a:t>
            </a:r>
          </a:p>
        </p:txBody>
      </p:sp>
      <p:sp>
        <p:nvSpPr>
          <p:cNvPr id="38" name="">
            <a:extLst xmlns:a="http://schemas.openxmlformats.org/drawingml/2006/main">
              <a:ext uri="{FF2B5EF4-FFF2-40B4-BE49-F238E27FC236}">
                <a16:creationId xmlns:a16="http://schemas.microsoft.com/office/drawing/2014/main" id="{691142D7-123E-4B6B-BC8C-F7F7846493DE}"/>
              </a:ext>
            </a:extLst>
          </p:cNvPr>
          <p:cNvSpPr>
            <a:spLocks xmlns:a="http://schemas.openxmlformats.org/drawingml/2006/main" noGrp="1"/>
          </p:cNvSpPr>
          <p:nvPr/>
        </p:nvSpPr>
        <p:spPr>
          <a:xfrm xmlns:a="http://schemas.openxmlformats.org/drawingml/2006/main">
            <a:off x="3448050" y="432435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0">
                <a:solidFill>
                  <a:srgbClr val="56657A"/>
                </a:solidFill>
                <a:latin typeface="Segoe UI"/>
                <a:ea typeface="Segoe UI"/>
                <a:cs typeface="Segoe UI"/>
              </a:defRPr>
            </a:defPPr>
          </a:lstStyle>
          <a:p xmlns:a="http://schemas.openxmlformats.org/drawingml/2006/main">
            <a:pPr algn="ctr">
              <a:defRPr sz="900" b="0">
                <a:solidFill>
                  <a:srgbClr val="56657A"/>
                </a:solidFill>
                <a:latin typeface="Segoe UI"/>
                <a:ea typeface="Segoe UI"/>
                <a:cs typeface="Segoe UI"/>
              </a:defRPr>
            </a:pPr>
            <a:r>
              <a:rPr sz="900" b="0">
                <a:solidFill>
                  <a:srgbClr val="56657A"/>
                </a:solidFill>
                <a:latin typeface="Segoe UI"/>
                <a:ea typeface="Segoe UI"/>
                <a:cs typeface="Segoe UI"/>
              </a:rPr>
              <a:t>customer_key</a:t>
            </a:r>
          </a:p>
        </p:txBody>
      </p:sp>
      <p:sp>
        <p:nvSpPr>
          <p:cNvPr id="39" name="">
            <a:extLst xmlns:a="http://schemas.openxmlformats.org/drawingml/2006/main">
              <a:ext uri="{FF2B5EF4-FFF2-40B4-BE49-F238E27FC236}">
                <a16:creationId xmlns:a16="http://schemas.microsoft.com/office/drawing/2014/main" id="{AAEBA270-61A1-46AE-A04B-F1FF22945565}"/>
              </a:ext>
            </a:extLst>
          </p:cNvPr>
          <p:cNvSpPr>
            <a:spLocks xmlns:a="http://schemas.openxmlformats.org/drawingml/2006/main" noGrp="1"/>
          </p:cNvSpPr>
          <p:nvPr/>
        </p:nvSpPr>
        <p:spPr>
          <a:xfrm xmlns:a="http://schemas.openxmlformats.org/drawingml/2006/main">
            <a:off x="7867650" y="2266950"/>
            <a:ext cx="857250" cy="38100"/>
          </a:xfrm>
          <a:prstGeom xmlns:a="http://schemas.openxmlformats.org/drawingml/2006/main" prst="rect">
            <a:avLst/>
          </a:prstGeom>
          <a:solidFill xmlns:a="http://schemas.openxmlformats.org/drawingml/2006/main">
            <a:srgbClr val="F2A03D"/>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DD2475C-BE45-4766-BFD6-BC1BD01B8013}"/>
              </a:ext>
            </a:extLst>
          </p:cNvPr>
          <p:cNvSpPr>
            <a:spLocks xmlns:a="http://schemas.openxmlformats.org/drawingml/2006/main" noGrp="1"/>
          </p:cNvSpPr>
          <p:nvPr/>
        </p:nvSpPr>
        <p:spPr>
          <a:xfrm xmlns:a="http://schemas.openxmlformats.org/drawingml/2006/main">
            <a:off x="7924800" y="200977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3692"/>
          </a:bodyPr>
          <a:lstStyle xmlns:a="http://schemas.openxmlformats.org/drawingml/2006/main">
            <a:defPPr algn="ctr">
              <a:defRPr sz="1425" b="1">
                <a:solidFill>
                  <a:srgbClr val="101C33"/>
                </a:solidFill>
                <a:latin typeface="Segoe UI"/>
                <a:ea typeface="Segoe UI"/>
                <a:cs typeface="Segoe UI"/>
              </a:defRPr>
            </a:defPPr>
          </a:lstStyle>
          <a:p xmlns:a="http://schemas.openxmlformats.org/drawingml/2006/main">
            <a:pPr algn="ctr">
              <a:defRPr sz="1425" b="1">
                <a:solidFill>
                  <a:srgbClr val="101C33"/>
                </a:solidFill>
                <a:latin typeface="Segoe UI"/>
                <a:ea typeface="Segoe UI"/>
                <a:cs typeface="Segoe UI"/>
              </a:defRPr>
            </a:pPr>
            <a:r>
              <a:rPr sz="1425" b="1">
                <a:solidFill>
                  <a:srgbClr val="101C33"/>
                </a:solidFill>
                <a:latin typeface="Segoe UI"/>
                <a:ea typeface="Segoe UI"/>
                <a:cs typeface="Segoe UI"/>
              </a:rPr>
              <a:t>∞</a:t>
            </a:r>
          </a:p>
        </p:txBody>
      </p:sp>
      <p:sp>
        <p:nvSpPr>
          <p:cNvPr id="41" name="">
            <a:extLst xmlns:a="http://schemas.openxmlformats.org/drawingml/2006/main">
              <a:ext uri="{FF2B5EF4-FFF2-40B4-BE49-F238E27FC236}">
                <a16:creationId xmlns:a16="http://schemas.microsoft.com/office/drawing/2014/main" id="{7394209F-235A-4D5E-A84B-877884CBA0C4}"/>
              </a:ext>
            </a:extLst>
          </p:cNvPr>
          <p:cNvSpPr>
            <a:spLocks xmlns:a="http://schemas.openxmlformats.org/drawingml/2006/main" noGrp="1"/>
          </p:cNvSpPr>
          <p:nvPr/>
        </p:nvSpPr>
        <p:spPr>
          <a:xfrm xmlns:a="http://schemas.openxmlformats.org/drawingml/2006/main">
            <a:off x="8439150" y="20097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4997"/>
          </a:bodyPr>
          <a:lstStyle xmlns:a="http://schemas.openxmlformats.org/drawingml/2006/main">
            <a:defPPr algn="ctr">
              <a:defRPr sz="1125" b="1">
                <a:solidFill>
                  <a:srgbClr val="F2A03D"/>
                </a:solidFill>
                <a:latin typeface="Segoe UI"/>
                <a:ea typeface="Segoe UI"/>
                <a:cs typeface="Segoe UI"/>
              </a:defRPr>
            </a:defPPr>
          </a:lstStyle>
          <a:p xmlns:a="http://schemas.openxmlformats.org/drawingml/2006/main">
            <a:pPr algn="ctr">
              <a:defRPr sz="1125" b="1">
                <a:solidFill>
                  <a:srgbClr val="F2A03D"/>
                </a:solidFill>
                <a:latin typeface="Segoe UI"/>
                <a:ea typeface="Segoe UI"/>
                <a:cs typeface="Segoe UI"/>
              </a:defRPr>
            </a:pPr>
            <a:r>
              <a:rPr sz="1125" b="1">
                <a:solidFill>
                  <a:srgbClr val="F2A03D"/>
                </a:solidFill>
                <a:latin typeface="Segoe UI"/>
                <a:ea typeface="Segoe UI"/>
                <a:cs typeface="Segoe UI"/>
              </a:rPr>
              <a:t>1</a:t>
            </a:r>
          </a:p>
        </p:txBody>
      </p:sp>
      <p:sp>
        <p:nvSpPr>
          <p:cNvPr id="42" name="">
            <a:extLst xmlns:a="http://schemas.openxmlformats.org/drawingml/2006/main">
              <a:ext uri="{FF2B5EF4-FFF2-40B4-BE49-F238E27FC236}">
                <a16:creationId xmlns:a16="http://schemas.microsoft.com/office/drawing/2014/main" id="{23EED691-06B7-4F78-87C0-0C9A66329DA5}"/>
              </a:ext>
            </a:extLst>
          </p:cNvPr>
          <p:cNvSpPr>
            <a:spLocks xmlns:a="http://schemas.openxmlformats.org/drawingml/2006/main" noGrp="1"/>
          </p:cNvSpPr>
          <p:nvPr/>
        </p:nvSpPr>
        <p:spPr>
          <a:xfrm xmlns:a="http://schemas.openxmlformats.org/drawingml/2006/main">
            <a:off x="7905750" y="23431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0">
                <a:solidFill>
                  <a:srgbClr val="56657A"/>
                </a:solidFill>
                <a:latin typeface="Segoe UI"/>
                <a:ea typeface="Segoe UI"/>
                <a:cs typeface="Segoe UI"/>
              </a:defRPr>
            </a:defPPr>
          </a:lstStyle>
          <a:p xmlns:a="http://schemas.openxmlformats.org/drawingml/2006/main">
            <a:pPr algn="ctr">
              <a:defRPr sz="900" b="0">
                <a:solidFill>
                  <a:srgbClr val="56657A"/>
                </a:solidFill>
                <a:latin typeface="Segoe UI"/>
                <a:ea typeface="Segoe UI"/>
                <a:cs typeface="Segoe UI"/>
              </a:defRPr>
            </a:pPr>
            <a:r>
              <a:rPr sz="900" b="0">
                <a:solidFill>
                  <a:srgbClr val="56657A"/>
                </a:solidFill>
                <a:latin typeface="Segoe UI"/>
                <a:ea typeface="Segoe UI"/>
                <a:cs typeface="Segoe UI"/>
              </a:rPr>
              <a:t>product_key</a:t>
            </a:r>
          </a:p>
        </p:txBody>
      </p:sp>
      <p:sp>
        <p:nvSpPr>
          <p:cNvPr id="43" name="">
            <a:extLst xmlns:a="http://schemas.openxmlformats.org/drawingml/2006/main">
              <a:ext uri="{FF2B5EF4-FFF2-40B4-BE49-F238E27FC236}">
                <a16:creationId xmlns:a16="http://schemas.microsoft.com/office/drawing/2014/main" id="{3F2C4070-42D9-4118-BC4F-D4DA15D706E9}"/>
              </a:ext>
            </a:extLst>
          </p:cNvPr>
          <p:cNvSpPr>
            <a:spLocks xmlns:a="http://schemas.openxmlformats.org/drawingml/2006/main" noGrp="1"/>
          </p:cNvSpPr>
          <p:nvPr/>
        </p:nvSpPr>
        <p:spPr>
          <a:xfrm xmlns:a="http://schemas.openxmlformats.org/drawingml/2006/main">
            <a:off x="609600" y="5219700"/>
            <a:ext cx="109728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CE2EA"/>
            </a:solidFill>
            <a:prstDash val="solid"/>
          </a:ln>
        </p:spPr>
      </p:sp>
      <p:sp>
        <p:nvSpPr>
          <p:cNvPr id="44" name="">
            <a:extLst xmlns:a="http://schemas.openxmlformats.org/drawingml/2006/main">
              <a:ext uri="{FF2B5EF4-FFF2-40B4-BE49-F238E27FC236}">
                <a16:creationId xmlns:a16="http://schemas.microsoft.com/office/drawing/2014/main" id="{D286DAEB-CB7E-4DD9-AB2A-CE77F1F8542F}"/>
              </a:ext>
            </a:extLst>
          </p:cNvPr>
          <p:cNvSpPr>
            <a:spLocks xmlns:a="http://schemas.openxmlformats.org/drawingml/2006/main" noGrp="1"/>
          </p:cNvSpPr>
          <p:nvPr/>
        </p:nvSpPr>
        <p:spPr>
          <a:xfrm xmlns:a="http://schemas.openxmlformats.org/drawingml/2006/main">
            <a:off x="781050" y="538162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a:solidFill>
                  <a:srgbClr val="56657A"/>
                </a:solidFill>
                <a:latin typeface="Segoe UI"/>
                <a:ea typeface="Segoe UI"/>
                <a:cs typeface="Segoe UI"/>
              </a:defRPr>
            </a:defPPr>
          </a:lstStyle>
          <a:p xmlns:a="http://schemas.openxmlformats.org/drawingml/2006/main">
            <a:pPr algn="l">
              <a:defRPr sz="1200" b="1">
                <a:solidFill>
                  <a:srgbClr val="56657A"/>
                </a:solidFill>
                <a:latin typeface="Segoe UI"/>
                <a:ea typeface="Segoe UI"/>
                <a:cs typeface="Segoe UI"/>
              </a:defRPr>
            </a:pPr>
            <a:r>
              <a:rPr sz="1200" b="1">
                <a:solidFill>
                  <a:srgbClr val="56657A"/>
                </a:solidFill>
                <a:latin typeface="Segoe UI"/>
                <a:ea typeface="Segoe UI"/>
                <a:cs typeface="Segoe UI"/>
              </a:rPr>
              <a:t>ETL FLOW</a:t>
            </a:r>
          </a:p>
        </p:txBody>
      </p:sp>
      <p:sp>
        <p:nvSpPr>
          <p:cNvPr id="45" name="">
            <a:extLst xmlns:a="http://schemas.openxmlformats.org/drawingml/2006/main">
              <a:ext uri="{FF2B5EF4-FFF2-40B4-BE49-F238E27FC236}">
                <a16:creationId xmlns:a16="http://schemas.microsoft.com/office/drawing/2014/main" id="{214E51CB-FAF5-42D1-81EC-633B541D89D5}"/>
              </a:ext>
            </a:extLst>
          </p:cNvPr>
          <p:cNvSpPr>
            <a:spLocks xmlns:a="http://schemas.openxmlformats.org/drawingml/2006/main" noGrp="1"/>
          </p:cNvSpPr>
          <p:nvPr/>
        </p:nvSpPr>
        <p:spPr>
          <a:xfrm xmlns:a="http://schemas.openxmlformats.org/drawingml/2006/main">
            <a:off x="1809750" y="5295900"/>
            <a:ext cx="1524000" cy="666750"/>
          </a:xfrm>
          <a:prstGeom xmlns:a="http://schemas.openxmlformats.org/drawingml/2006/main" prst="roundRect">
            <a:avLst>
              <a:gd name="adj" fmla="val 11429"/>
            </a:avLst>
          </a:prstGeom>
          <a:solidFill xmlns:a="http://schemas.openxmlformats.org/drawingml/2006/main">
            <a:srgbClr val="E8EBFC"/>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726BE01F-8E75-46D4-8229-9F004510F1D1}"/>
              </a:ext>
            </a:extLst>
          </p:cNvPr>
          <p:cNvSpPr>
            <a:spLocks xmlns:a="http://schemas.openxmlformats.org/drawingml/2006/main" noGrp="1"/>
          </p:cNvSpPr>
          <p:nvPr/>
        </p:nvSpPr>
        <p:spPr>
          <a:xfrm xmlns:a="http://schemas.openxmlformats.org/drawingml/2006/main">
            <a:off x="1924050" y="539115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172033"/>
                </a:solidFill>
                <a:latin typeface="Segoe UI"/>
                <a:ea typeface="Segoe UI"/>
                <a:cs typeface="Segoe UI"/>
              </a:defRPr>
            </a:defPPr>
          </a:lstStyle>
          <a:p xmlns:a="http://schemas.openxmlformats.org/drawingml/2006/main">
            <a:pPr algn="ctr">
              <a:defRPr sz="1500" b="1">
                <a:solidFill>
                  <a:srgbClr val="172033"/>
                </a:solidFill>
                <a:latin typeface="Segoe UI"/>
                <a:ea typeface="Segoe UI"/>
                <a:cs typeface="Segoe UI"/>
              </a:defRPr>
            </a:pPr>
            <a:r>
              <a:rPr sz="1500" b="1">
                <a:solidFill>
                  <a:srgbClr val="172033"/>
                </a:solidFill>
                <a:latin typeface="Segoe UI"/>
                <a:ea typeface="Segoe UI"/>
                <a:cs typeface="Segoe UI"/>
              </a:rPr>
              <a:t>raw_orders</a:t>
            </a:r>
          </a:p>
        </p:txBody>
      </p:sp>
      <p:sp>
        <p:nvSpPr>
          <p:cNvPr id="47" name="">
            <a:extLst xmlns:a="http://schemas.openxmlformats.org/drawingml/2006/main">
              <a:ext uri="{FF2B5EF4-FFF2-40B4-BE49-F238E27FC236}">
                <a16:creationId xmlns:a16="http://schemas.microsoft.com/office/drawing/2014/main" id="{5CE6E739-7D2A-4266-BBCE-701C9D054725}"/>
              </a:ext>
            </a:extLst>
          </p:cNvPr>
          <p:cNvSpPr>
            <a:spLocks xmlns:a="http://schemas.openxmlformats.org/drawingml/2006/main" noGrp="1"/>
          </p:cNvSpPr>
          <p:nvPr/>
        </p:nvSpPr>
        <p:spPr>
          <a:xfrm xmlns:a="http://schemas.openxmlformats.org/drawingml/2006/main">
            <a:off x="1905000" y="56959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0784"/>
          </a:bodyPr>
          <a:lstStyle xmlns:a="http://schemas.openxmlformats.org/drawingml/2006/main">
            <a:defPPr algn="ctr">
              <a:defRPr sz="1275" b="0">
                <a:solidFill>
                  <a:srgbClr val="172033"/>
                </a:solidFill>
                <a:latin typeface="Segoe UI"/>
                <a:ea typeface="Segoe UI"/>
                <a:cs typeface="Segoe UI"/>
              </a:defRPr>
            </a:defPPr>
          </a:lstStyle>
          <a:p xmlns:a="http://schemas.openxmlformats.org/drawingml/2006/main">
            <a:pPr algn="ctr">
              <a:defRPr sz="1275" b="0">
                <a:solidFill>
                  <a:srgbClr val="172033"/>
                </a:solidFill>
                <a:latin typeface="Segoe UI"/>
                <a:ea typeface="Segoe UI"/>
                <a:cs typeface="Segoe UI"/>
              </a:defRPr>
            </a:pPr>
            <a:r>
              <a:rPr sz="1275" b="0">
                <a:solidFill>
                  <a:srgbClr val="172033"/>
                </a:solidFill>
                <a:latin typeface="Segoe UI"/>
                <a:ea typeface="Segoe UI"/>
                <a:cs typeface="Segoe UI"/>
              </a:rPr>
              <a:t>CSV landing</a:t>
            </a:r>
          </a:p>
        </p:txBody>
      </p:sp>
      <p:sp>
        <p:nvSpPr>
          <p:cNvPr id="48" name="">
            <a:extLst xmlns:a="http://schemas.openxmlformats.org/drawingml/2006/main">
              <a:ext uri="{FF2B5EF4-FFF2-40B4-BE49-F238E27FC236}">
                <a16:creationId xmlns:a16="http://schemas.microsoft.com/office/drawing/2014/main" id="{849B954B-91D8-4F7A-AB88-6A79DC9981B2}"/>
              </a:ext>
            </a:extLst>
          </p:cNvPr>
          <p:cNvSpPr>
            <a:spLocks xmlns:a="http://schemas.openxmlformats.org/drawingml/2006/main" noGrp="1"/>
          </p:cNvSpPr>
          <p:nvPr/>
        </p:nvSpPr>
        <p:spPr>
          <a:xfrm xmlns:a="http://schemas.openxmlformats.org/drawingml/2006/main">
            <a:off x="3352800" y="5610225"/>
            <a:ext cx="342900" cy="38100"/>
          </a:xfrm>
          <a:prstGeom xmlns:a="http://schemas.openxmlformats.org/drawingml/2006/main" prst="rect">
            <a:avLst/>
          </a:prstGeom>
          <a:solidFill xmlns:a="http://schemas.openxmlformats.org/drawingml/2006/main">
            <a:srgbClr val="5267D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196CF673-847A-41AD-BD0D-8F93AA70AA4F}"/>
              </a:ext>
            </a:extLst>
          </p:cNvPr>
          <p:cNvSpPr>
            <a:spLocks xmlns:a="http://schemas.openxmlformats.org/drawingml/2006/main" noGrp="1"/>
          </p:cNvSpPr>
          <p:nvPr/>
        </p:nvSpPr>
        <p:spPr>
          <a:xfrm xmlns:a="http://schemas.openxmlformats.org/drawingml/2006/main">
            <a:off x="3676650" y="5543550"/>
            <a:ext cx="171450" cy="171450"/>
          </a:xfrm>
          <a:prstGeom xmlns:a="http://schemas.openxmlformats.org/drawingml/2006/main" prst="chevron">
            <a:avLst/>
          </a:prstGeom>
          <a:solidFill xmlns:a="http://schemas.openxmlformats.org/drawingml/2006/main">
            <a:srgbClr val="5267D7"/>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9C54EBC2-A69E-4E87-9ECD-98C99E65F6F5}"/>
              </a:ext>
            </a:extLst>
          </p:cNvPr>
          <p:cNvSpPr>
            <a:spLocks xmlns:a="http://schemas.openxmlformats.org/drawingml/2006/main" noGrp="1"/>
          </p:cNvSpPr>
          <p:nvPr/>
        </p:nvSpPr>
        <p:spPr>
          <a:xfrm xmlns:a="http://schemas.openxmlformats.org/drawingml/2006/main">
            <a:off x="3867150" y="5295900"/>
            <a:ext cx="1657350" cy="666750"/>
          </a:xfrm>
          <a:prstGeom xmlns:a="http://schemas.openxmlformats.org/drawingml/2006/main" prst="roundRect">
            <a:avLst>
              <a:gd name="adj" fmla="val 11429"/>
            </a:avLst>
          </a:prstGeom>
          <a:solidFill xmlns:a="http://schemas.openxmlformats.org/drawingml/2006/main">
            <a:srgbClr val="DDF6F2"/>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45D16D86-4E18-4A78-98A0-C5B8D540A27A}"/>
              </a:ext>
            </a:extLst>
          </p:cNvPr>
          <p:cNvSpPr>
            <a:spLocks xmlns:a="http://schemas.openxmlformats.org/drawingml/2006/main" noGrp="1"/>
          </p:cNvSpPr>
          <p:nvPr/>
        </p:nvSpPr>
        <p:spPr>
          <a:xfrm xmlns:a="http://schemas.openxmlformats.org/drawingml/2006/main">
            <a:off x="3981450" y="53911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172033"/>
                </a:solidFill>
                <a:latin typeface="Segoe UI"/>
                <a:ea typeface="Segoe UI"/>
                <a:cs typeface="Segoe UI"/>
              </a:defRPr>
            </a:defPPr>
          </a:lstStyle>
          <a:p xmlns:a="http://schemas.openxmlformats.org/drawingml/2006/main">
            <a:pPr algn="ctr">
              <a:defRPr sz="1500" b="1">
                <a:solidFill>
                  <a:srgbClr val="172033"/>
                </a:solidFill>
                <a:latin typeface="Segoe UI"/>
                <a:ea typeface="Segoe UI"/>
                <a:cs typeface="Segoe UI"/>
              </a:defRPr>
            </a:pPr>
            <a:r>
              <a:rPr sz="1500" b="1">
                <a:solidFill>
                  <a:srgbClr val="172033"/>
                </a:solidFill>
                <a:latin typeface="Segoe UI"/>
                <a:ea typeface="Segoe UI"/>
                <a:cs typeface="Segoe UI"/>
              </a:rPr>
              <a:t>stg_orders</a:t>
            </a:r>
          </a:p>
        </p:txBody>
      </p:sp>
      <p:sp>
        <p:nvSpPr>
          <p:cNvPr id="52" name="">
            <a:extLst xmlns:a="http://schemas.openxmlformats.org/drawingml/2006/main">
              <a:ext uri="{FF2B5EF4-FFF2-40B4-BE49-F238E27FC236}">
                <a16:creationId xmlns:a16="http://schemas.microsoft.com/office/drawing/2014/main" id="{79CF6381-51C3-496A-A0A2-BD87192BE2E8}"/>
              </a:ext>
            </a:extLst>
          </p:cNvPr>
          <p:cNvSpPr>
            <a:spLocks xmlns:a="http://schemas.openxmlformats.org/drawingml/2006/main" noGrp="1"/>
          </p:cNvSpPr>
          <p:nvPr/>
        </p:nvSpPr>
        <p:spPr>
          <a:xfrm xmlns:a="http://schemas.openxmlformats.org/drawingml/2006/main">
            <a:off x="3962400" y="5695950"/>
            <a:ext cx="1466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0784"/>
          </a:bodyPr>
          <a:lstStyle xmlns:a="http://schemas.openxmlformats.org/drawingml/2006/main">
            <a:defPPr algn="ctr">
              <a:defRPr sz="1275" b="0">
                <a:solidFill>
                  <a:srgbClr val="172033"/>
                </a:solidFill>
                <a:latin typeface="Segoe UI"/>
                <a:ea typeface="Segoe UI"/>
                <a:cs typeface="Segoe UI"/>
              </a:defRPr>
            </a:defPPr>
          </a:lstStyle>
          <a:p xmlns:a="http://schemas.openxmlformats.org/drawingml/2006/main">
            <a:pPr algn="ctr">
              <a:defRPr sz="1275" b="0">
                <a:solidFill>
                  <a:srgbClr val="172033"/>
                </a:solidFill>
                <a:latin typeface="Segoe UI"/>
                <a:ea typeface="Segoe UI"/>
                <a:cs typeface="Segoe UI"/>
              </a:defRPr>
            </a:pPr>
            <a:r>
              <a:rPr sz="1275" b="0">
                <a:solidFill>
                  <a:srgbClr val="172033"/>
                </a:solidFill>
                <a:latin typeface="Segoe UI"/>
                <a:ea typeface="Segoe UI"/>
                <a:cs typeface="Segoe UI"/>
              </a:rPr>
              <a:t>typed + deduped</a:t>
            </a:r>
          </a:p>
        </p:txBody>
      </p:sp>
      <p:sp>
        <p:nvSpPr>
          <p:cNvPr id="53" name="">
            <a:extLst xmlns:a="http://schemas.openxmlformats.org/drawingml/2006/main">
              <a:ext uri="{FF2B5EF4-FFF2-40B4-BE49-F238E27FC236}">
                <a16:creationId xmlns:a16="http://schemas.microsoft.com/office/drawing/2014/main" id="{6E63E59B-EB12-472C-86BA-0F1089B6735A}"/>
              </a:ext>
            </a:extLst>
          </p:cNvPr>
          <p:cNvSpPr>
            <a:spLocks xmlns:a="http://schemas.openxmlformats.org/drawingml/2006/main" noGrp="1"/>
          </p:cNvSpPr>
          <p:nvPr/>
        </p:nvSpPr>
        <p:spPr>
          <a:xfrm xmlns:a="http://schemas.openxmlformats.org/drawingml/2006/main">
            <a:off x="5543550" y="5610225"/>
            <a:ext cx="342900" cy="38100"/>
          </a:xfrm>
          <a:prstGeom xmlns:a="http://schemas.openxmlformats.org/drawingml/2006/main" prst="rect">
            <a:avLst/>
          </a:prstGeom>
          <a:solidFill xmlns:a="http://schemas.openxmlformats.org/drawingml/2006/main">
            <a:srgbClr val="16B8A6"/>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E3DD1B46-D657-485C-AF21-F27B68F2C920}"/>
              </a:ext>
            </a:extLst>
          </p:cNvPr>
          <p:cNvSpPr>
            <a:spLocks xmlns:a="http://schemas.openxmlformats.org/drawingml/2006/main" noGrp="1"/>
          </p:cNvSpPr>
          <p:nvPr/>
        </p:nvSpPr>
        <p:spPr>
          <a:xfrm xmlns:a="http://schemas.openxmlformats.org/drawingml/2006/main">
            <a:off x="5867400" y="5543550"/>
            <a:ext cx="171450" cy="171450"/>
          </a:xfrm>
          <a:prstGeom xmlns:a="http://schemas.openxmlformats.org/drawingml/2006/main" prst="chevron">
            <a:avLst/>
          </a:prstGeom>
          <a:solidFill xmlns:a="http://schemas.openxmlformats.org/drawingml/2006/main">
            <a:srgbClr val="16B8A6"/>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C2F16BF1-1C00-40D4-B166-08E7391D20D9}"/>
              </a:ext>
            </a:extLst>
          </p:cNvPr>
          <p:cNvSpPr>
            <a:spLocks xmlns:a="http://schemas.openxmlformats.org/drawingml/2006/main" noGrp="1"/>
          </p:cNvSpPr>
          <p:nvPr/>
        </p:nvSpPr>
        <p:spPr>
          <a:xfrm xmlns:a="http://schemas.openxmlformats.org/drawingml/2006/main">
            <a:off x="6057900" y="5295900"/>
            <a:ext cx="1657350" cy="666750"/>
          </a:xfrm>
          <a:prstGeom xmlns:a="http://schemas.openxmlformats.org/drawingml/2006/main" prst="roundRect">
            <a:avLst>
              <a:gd name="adj" fmla="val 11429"/>
            </a:avLst>
          </a:prstGeom>
          <a:solidFill xmlns:a="http://schemas.openxmlformats.org/drawingml/2006/main">
            <a:srgbClr val="FFF0DB"/>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308EBE60-78D0-4FF0-89B9-F3810975432A}"/>
              </a:ext>
            </a:extLst>
          </p:cNvPr>
          <p:cNvSpPr>
            <a:spLocks xmlns:a="http://schemas.openxmlformats.org/drawingml/2006/main" noGrp="1"/>
          </p:cNvSpPr>
          <p:nvPr/>
        </p:nvSpPr>
        <p:spPr>
          <a:xfrm xmlns:a="http://schemas.openxmlformats.org/drawingml/2006/main">
            <a:off x="6172200" y="53911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172033"/>
                </a:solidFill>
                <a:latin typeface="Segoe UI"/>
                <a:ea typeface="Segoe UI"/>
                <a:cs typeface="Segoe UI"/>
              </a:defRPr>
            </a:defPPr>
          </a:lstStyle>
          <a:p xmlns:a="http://schemas.openxmlformats.org/drawingml/2006/main">
            <a:pPr algn="ctr">
              <a:defRPr sz="1500" b="1">
                <a:solidFill>
                  <a:srgbClr val="172033"/>
                </a:solidFill>
                <a:latin typeface="Segoe UI"/>
                <a:ea typeface="Segoe UI"/>
                <a:cs typeface="Segoe UI"/>
              </a:defRPr>
            </a:pPr>
            <a:r>
              <a:rPr sz="1500" b="1">
                <a:solidFill>
                  <a:srgbClr val="172033"/>
                </a:solidFill>
                <a:latin typeface="Segoe UI"/>
                <a:ea typeface="Segoe UI"/>
                <a:cs typeface="Segoe UI"/>
              </a:rPr>
              <a:t>dimensions</a:t>
            </a:r>
          </a:p>
        </p:txBody>
      </p:sp>
      <p:sp>
        <p:nvSpPr>
          <p:cNvPr id="57" name="">
            <a:extLst xmlns:a="http://schemas.openxmlformats.org/drawingml/2006/main">
              <a:ext uri="{FF2B5EF4-FFF2-40B4-BE49-F238E27FC236}">
                <a16:creationId xmlns:a16="http://schemas.microsoft.com/office/drawing/2014/main" id="{B604FAB5-AB12-4214-B774-2A6BB346DDD0}"/>
              </a:ext>
            </a:extLst>
          </p:cNvPr>
          <p:cNvSpPr>
            <a:spLocks xmlns:a="http://schemas.openxmlformats.org/drawingml/2006/main" noGrp="1"/>
          </p:cNvSpPr>
          <p:nvPr/>
        </p:nvSpPr>
        <p:spPr>
          <a:xfrm xmlns:a="http://schemas.openxmlformats.org/drawingml/2006/main">
            <a:off x="6153150" y="5695950"/>
            <a:ext cx="1466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0784"/>
          </a:bodyPr>
          <a:lstStyle xmlns:a="http://schemas.openxmlformats.org/drawingml/2006/main">
            <a:defPPr algn="ctr">
              <a:defRPr sz="1275" b="0">
                <a:solidFill>
                  <a:srgbClr val="172033"/>
                </a:solidFill>
                <a:latin typeface="Segoe UI"/>
                <a:ea typeface="Segoe UI"/>
                <a:cs typeface="Segoe UI"/>
              </a:defRPr>
            </a:defPPr>
          </a:lstStyle>
          <a:p xmlns:a="http://schemas.openxmlformats.org/drawingml/2006/main">
            <a:pPr algn="ctr">
              <a:defRPr sz="1275" b="0">
                <a:solidFill>
                  <a:srgbClr val="172033"/>
                </a:solidFill>
                <a:latin typeface="Segoe UI"/>
                <a:ea typeface="Segoe UI"/>
                <a:cs typeface="Segoe UI"/>
              </a:defRPr>
            </a:pPr>
            <a:r>
              <a:rPr sz="1275" b="0">
                <a:solidFill>
                  <a:srgbClr val="172033"/>
                </a:solidFill>
                <a:latin typeface="Segoe UI"/>
                <a:ea typeface="Segoe UI"/>
                <a:cs typeface="Segoe UI"/>
              </a:rPr>
              <a:t>surrogate keys</a:t>
            </a:r>
          </a:p>
        </p:txBody>
      </p:sp>
      <p:sp>
        <p:nvSpPr>
          <p:cNvPr id="58" name="">
            <a:extLst xmlns:a="http://schemas.openxmlformats.org/drawingml/2006/main">
              <a:ext uri="{FF2B5EF4-FFF2-40B4-BE49-F238E27FC236}">
                <a16:creationId xmlns:a16="http://schemas.microsoft.com/office/drawing/2014/main" id="{926228AE-8575-4284-8EF5-FFEB179FBFC6}"/>
              </a:ext>
            </a:extLst>
          </p:cNvPr>
          <p:cNvSpPr>
            <a:spLocks xmlns:a="http://schemas.openxmlformats.org/drawingml/2006/main" noGrp="1"/>
          </p:cNvSpPr>
          <p:nvPr/>
        </p:nvSpPr>
        <p:spPr>
          <a:xfrm xmlns:a="http://schemas.openxmlformats.org/drawingml/2006/main">
            <a:off x="7734300" y="5610225"/>
            <a:ext cx="342900" cy="38100"/>
          </a:xfrm>
          <a:prstGeom xmlns:a="http://schemas.openxmlformats.org/drawingml/2006/main" prst="rect">
            <a:avLst/>
          </a:prstGeom>
          <a:solidFill xmlns:a="http://schemas.openxmlformats.org/drawingml/2006/main">
            <a:srgbClr val="F2A03D"/>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97F13DFB-2489-45CF-97D4-BB9F88B3FE7D}"/>
              </a:ext>
            </a:extLst>
          </p:cNvPr>
          <p:cNvSpPr>
            <a:spLocks xmlns:a="http://schemas.openxmlformats.org/drawingml/2006/main" noGrp="1"/>
          </p:cNvSpPr>
          <p:nvPr/>
        </p:nvSpPr>
        <p:spPr>
          <a:xfrm xmlns:a="http://schemas.openxmlformats.org/drawingml/2006/main">
            <a:off x="8058150" y="5543550"/>
            <a:ext cx="171450" cy="171450"/>
          </a:xfrm>
          <a:prstGeom xmlns:a="http://schemas.openxmlformats.org/drawingml/2006/main" prst="chevron">
            <a:avLst/>
          </a:prstGeom>
          <a:solidFill xmlns:a="http://schemas.openxmlformats.org/drawingml/2006/main">
            <a:srgbClr val="F2A03D"/>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EA2F8840-CF63-487B-A4DF-DBF5565E3F4A}"/>
              </a:ext>
            </a:extLst>
          </p:cNvPr>
          <p:cNvSpPr>
            <a:spLocks xmlns:a="http://schemas.openxmlformats.org/drawingml/2006/main" noGrp="1"/>
          </p:cNvSpPr>
          <p:nvPr/>
        </p:nvSpPr>
        <p:spPr>
          <a:xfrm xmlns:a="http://schemas.openxmlformats.org/drawingml/2006/main">
            <a:off x="8248650" y="5295900"/>
            <a:ext cx="1524000" cy="666750"/>
          </a:xfrm>
          <a:prstGeom xmlns:a="http://schemas.openxmlformats.org/drawingml/2006/main" prst="roundRect">
            <a:avLst>
              <a:gd name="adj" fmla="val 11429"/>
            </a:avLst>
          </a:prstGeom>
          <a:solidFill xmlns:a="http://schemas.openxmlformats.org/drawingml/2006/main">
            <a:srgbClr val="101C33"/>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8AEA85D6-F668-4135-A149-8AFF465B391B}"/>
              </a:ext>
            </a:extLst>
          </p:cNvPr>
          <p:cNvSpPr>
            <a:spLocks xmlns:a="http://schemas.openxmlformats.org/drawingml/2006/main" noGrp="1"/>
          </p:cNvSpPr>
          <p:nvPr/>
        </p:nvSpPr>
        <p:spPr>
          <a:xfrm xmlns:a="http://schemas.openxmlformats.org/drawingml/2006/main">
            <a:off x="8362950" y="539115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FFFFFF"/>
                </a:solidFill>
                <a:latin typeface="Segoe UI"/>
                <a:ea typeface="Segoe UI"/>
                <a:cs typeface="Segoe UI"/>
              </a:defRPr>
            </a:defPPr>
          </a:lstStyle>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fact_sales</a:t>
            </a:r>
          </a:p>
        </p:txBody>
      </p:sp>
      <p:sp>
        <p:nvSpPr>
          <p:cNvPr id="62" name="">
            <a:extLst xmlns:a="http://schemas.openxmlformats.org/drawingml/2006/main">
              <a:ext uri="{FF2B5EF4-FFF2-40B4-BE49-F238E27FC236}">
                <a16:creationId xmlns:a16="http://schemas.microsoft.com/office/drawing/2014/main" id="{324FCB6C-4D50-4CDB-A7A0-B1F80AA1EFE6}"/>
              </a:ext>
            </a:extLst>
          </p:cNvPr>
          <p:cNvSpPr>
            <a:spLocks xmlns:a="http://schemas.openxmlformats.org/drawingml/2006/main" noGrp="1"/>
          </p:cNvSpPr>
          <p:nvPr/>
        </p:nvSpPr>
        <p:spPr>
          <a:xfrm xmlns:a="http://schemas.openxmlformats.org/drawingml/2006/main">
            <a:off x="8343900" y="56959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0784"/>
          </a:bodyPr>
          <a:lstStyle xmlns:a="http://schemas.openxmlformats.org/drawingml/2006/main">
            <a:defPPr algn="ctr">
              <a:defRPr sz="1275" b="0">
                <a:solidFill>
                  <a:srgbClr val="FFFFFF"/>
                </a:solidFill>
                <a:latin typeface="Segoe UI"/>
                <a:ea typeface="Segoe UI"/>
                <a:cs typeface="Segoe UI"/>
              </a:defRPr>
            </a:defPPr>
          </a:lstStyle>
          <a:p xmlns:a="http://schemas.openxmlformats.org/drawingml/2006/main">
            <a:pPr algn="ctr">
              <a:defRPr sz="1275" b="0">
                <a:solidFill>
                  <a:srgbClr val="FFFFFF"/>
                </a:solidFill>
                <a:latin typeface="Segoe UI"/>
                <a:ea typeface="Segoe UI"/>
                <a:cs typeface="Segoe UI"/>
              </a:defRPr>
            </a:pPr>
            <a:r>
              <a:rPr sz="1275" b="0">
                <a:solidFill>
                  <a:srgbClr val="FFFFFF"/>
                </a:solidFill>
                <a:latin typeface="Segoe UI"/>
                <a:ea typeface="Segoe UI"/>
                <a:cs typeface="Segoe UI"/>
              </a:rPr>
              <a:t>clean metrics</a:t>
            </a:r>
          </a:p>
        </p:txBody>
      </p:sp>
      <p:sp>
        <p:nvSpPr>
          <p:cNvPr id="63" name="">
            <a:extLst xmlns:a="http://schemas.openxmlformats.org/drawingml/2006/main">
              <a:ext uri="{FF2B5EF4-FFF2-40B4-BE49-F238E27FC236}">
                <a16:creationId xmlns:a16="http://schemas.microsoft.com/office/drawing/2014/main" id="{6DFFB12E-A18C-47BC-A058-94B79EC0AA20}"/>
              </a:ext>
            </a:extLst>
          </p:cNvPr>
          <p:cNvSpPr>
            <a:spLocks xmlns:a="http://schemas.openxmlformats.org/drawingml/2006/main" noGrp="1"/>
          </p:cNvSpPr>
          <p:nvPr/>
        </p:nvSpPr>
        <p:spPr>
          <a:xfrm xmlns:a="http://schemas.openxmlformats.org/drawingml/2006/main">
            <a:off x="9791700" y="5610225"/>
            <a:ext cx="342900" cy="38100"/>
          </a:xfrm>
          <a:prstGeom xmlns:a="http://schemas.openxmlformats.org/drawingml/2006/main" prst="rect">
            <a:avLst/>
          </a:prstGeom>
          <a:solidFill xmlns:a="http://schemas.openxmlformats.org/drawingml/2006/main">
            <a:srgbClr val="5267D7"/>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C59D7FA4-66DD-4A19-8F16-8F4B27C3A146}"/>
              </a:ext>
            </a:extLst>
          </p:cNvPr>
          <p:cNvSpPr>
            <a:spLocks xmlns:a="http://schemas.openxmlformats.org/drawingml/2006/main" noGrp="1"/>
          </p:cNvSpPr>
          <p:nvPr/>
        </p:nvSpPr>
        <p:spPr>
          <a:xfrm xmlns:a="http://schemas.openxmlformats.org/drawingml/2006/main">
            <a:off x="10115550" y="5543550"/>
            <a:ext cx="171450" cy="171450"/>
          </a:xfrm>
          <a:prstGeom xmlns:a="http://schemas.openxmlformats.org/drawingml/2006/main" prst="chevron">
            <a:avLst/>
          </a:prstGeom>
          <a:solidFill xmlns:a="http://schemas.openxmlformats.org/drawingml/2006/main">
            <a:srgbClr val="5267D7"/>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85AEC2E1-A711-4968-BD76-EC348E8F12D8}"/>
              </a:ext>
            </a:extLst>
          </p:cNvPr>
          <p:cNvSpPr>
            <a:spLocks xmlns:a="http://schemas.openxmlformats.org/drawingml/2006/main" noGrp="1"/>
          </p:cNvSpPr>
          <p:nvPr/>
        </p:nvSpPr>
        <p:spPr>
          <a:xfrm xmlns:a="http://schemas.openxmlformats.org/drawingml/2006/main">
            <a:off x="10306050" y="5295900"/>
            <a:ext cx="1104900" cy="666750"/>
          </a:xfrm>
          <a:prstGeom xmlns:a="http://schemas.openxmlformats.org/drawingml/2006/main" prst="roundRect">
            <a:avLst>
              <a:gd name="adj" fmla="val 11429"/>
            </a:avLst>
          </a:prstGeom>
          <a:solidFill xmlns:a="http://schemas.openxmlformats.org/drawingml/2006/main">
            <a:srgbClr val="E8EBFC"/>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3C1C90F1-3154-4FA8-858D-492057E8FF5D}"/>
              </a:ext>
            </a:extLst>
          </p:cNvPr>
          <p:cNvSpPr>
            <a:spLocks xmlns:a="http://schemas.openxmlformats.org/drawingml/2006/main" noGrp="1"/>
          </p:cNvSpPr>
          <p:nvPr/>
        </p:nvSpPr>
        <p:spPr>
          <a:xfrm xmlns:a="http://schemas.openxmlformats.org/drawingml/2006/main">
            <a:off x="10420350" y="5391150"/>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172033"/>
                </a:solidFill>
                <a:latin typeface="Segoe UI"/>
                <a:ea typeface="Segoe UI"/>
                <a:cs typeface="Segoe UI"/>
              </a:defRPr>
            </a:defPPr>
          </a:lstStyle>
          <a:p xmlns:a="http://schemas.openxmlformats.org/drawingml/2006/main">
            <a:pPr algn="ctr">
              <a:defRPr sz="1500" b="1">
                <a:solidFill>
                  <a:srgbClr val="172033"/>
                </a:solidFill>
                <a:latin typeface="Segoe UI"/>
                <a:ea typeface="Segoe UI"/>
                <a:cs typeface="Segoe UI"/>
              </a:defRPr>
            </a:pPr>
            <a:r>
              <a:rPr sz="1500" b="1">
                <a:solidFill>
                  <a:srgbClr val="172033"/>
                </a:solidFill>
                <a:latin typeface="Segoe UI"/>
                <a:ea typeface="Segoe UI"/>
                <a:cs typeface="Segoe UI"/>
              </a:rPr>
              <a:t>Parquet</a:t>
            </a:r>
          </a:p>
        </p:txBody>
      </p:sp>
      <p:sp>
        <p:nvSpPr>
          <p:cNvPr id="67" name="">
            <a:extLst xmlns:a="http://schemas.openxmlformats.org/drawingml/2006/main">
              <a:ext uri="{FF2B5EF4-FFF2-40B4-BE49-F238E27FC236}">
                <a16:creationId xmlns:a16="http://schemas.microsoft.com/office/drawing/2014/main" id="{D10C3B14-DCDF-42CF-925E-A0595BF4718E}"/>
              </a:ext>
            </a:extLst>
          </p:cNvPr>
          <p:cNvSpPr>
            <a:spLocks xmlns:a="http://schemas.openxmlformats.org/drawingml/2006/main" noGrp="1"/>
          </p:cNvSpPr>
          <p:nvPr/>
        </p:nvSpPr>
        <p:spPr>
          <a:xfrm xmlns:a="http://schemas.openxmlformats.org/drawingml/2006/main">
            <a:off x="10401300" y="5695950"/>
            <a:ext cx="914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0784"/>
          </a:bodyPr>
          <a:lstStyle xmlns:a="http://schemas.openxmlformats.org/drawingml/2006/main">
            <a:defPPr algn="ctr">
              <a:defRPr sz="1275" b="0">
                <a:solidFill>
                  <a:srgbClr val="172033"/>
                </a:solidFill>
                <a:latin typeface="Segoe UI"/>
                <a:ea typeface="Segoe UI"/>
                <a:cs typeface="Segoe UI"/>
              </a:defRPr>
            </a:defPPr>
          </a:lstStyle>
          <a:p xmlns:a="http://schemas.openxmlformats.org/drawingml/2006/main">
            <a:pPr algn="ctr">
              <a:defRPr sz="1275" b="0">
                <a:solidFill>
                  <a:srgbClr val="172033"/>
                </a:solidFill>
                <a:latin typeface="Segoe UI"/>
                <a:ea typeface="Segoe UI"/>
                <a:cs typeface="Segoe UI"/>
              </a:defRPr>
            </a:pPr>
            <a:r>
              <a:rPr sz="1275" b="0">
                <a:solidFill>
                  <a:srgbClr val="172033"/>
                </a:solidFill>
                <a:latin typeface="Segoe UI"/>
                <a:ea typeface="Segoe UI"/>
                <a:cs typeface="Segoe UI"/>
              </a:rPr>
              <a:t>year / month</a:t>
            </a:r>
          </a:p>
        </p:txBody>
      </p:sp>
      <p:sp>
        <p:nvSpPr>
          <p:cNvPr id="68" name="">
            <a:extLst xmlns:a="http://schemas.openxmlformats.org/drawingml/2006/main">
              <a:ext uri="{FF2B5EF4-FFF2-40B4-BE49-F238E27FC236}">
                <a16:creationId xmlns:a16="http://schemas.microsoft.com/office/drawing/2014/main" id="{BECDAFF7-3F40-4CD8-9433-0C471C264B09}"/>
              </a:ext>
            </a:extLst>
          </p:cNvPr>
          <p:cNvSpPr>
            <a:spLocks xmlns:a="http://schemas.openxmlformats.org/drawingml/2006/main" noGrp="1"/>
          </p:cNvSpPr>
          <p:nvPr/>
        </p:nvSpPr>
        <p:spPr>
          <a:xfrm xmlns:a="http://schemas.openxmlformats.org/drawingml/2006/main">
            <a:off x="1809750" y="6038850"/>
            <a:ext cx="866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1667"/>
          </a:bodyPr>
          <a:lstStyle xmlns:a="http://schemas.openxmlformats.org/drawingml/2006/main">
            <a:defPPr algn="ctr">
              <a:defRPr sz="1500" b="0">
                <a:solidFill>
                  <a:srgbClr val="E65B65"/>
                </a:solidFill>
                <a:latin typeface="Segoe UI"/>
                <a:ea typeface="Segoe UI"/>
                <a:cs typeface="Segoe UI"/>
              </a:defRPr>
            </a:defPPr>
          </a:lstStyle>
          <a:p xmlns:a="http://schemas.openxmlformats.org/drawingml/2006/main">
            <a:pPr algn="ctr">
              <a:defRPr sz="1500" b="0">
                <a:solidFill>
                  <a:srgbClr val="E65B65"/>
                </a:solidFill>
                <a:latin typeface="Segoe UI"/>
                <a:ea typeface="Segoe UI"/>
                <a:cs typeface="Segoe UI"/>
              </a:defRPr>
            </a:pPr>
            <a:r>
              <a:rPr sz="1500" b="0">
                <a:solidFill>
                  <a:srgbClr val="E65B65"/>
                </a:solidFill>
                <a:latin typeface="Segoe UI"/>
                <a:ea typeface="Segoe UI"/>
                <a:cs typeface="Segoe UI"/>
              </a:rPr>
              <a:t>Why: stable grain prevents double counting, dimensions reuse descriptions and rejects protect KPIs.</a:t>
            </a:r>
          </a:p>
        </p:txBody>
      </p:sp>
    </p:spTree>
    <p:extLst>
      <p:ext uri="{BB962C8B-B14F-4D97-AF65-F5344CB8AC3E}">
        <p14:creationId xmlns:p14="http://schemas.microsoft.com/office/powerpoint/2010/main" val="1866531587"/>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D8931C8-369C-45E1-823F-83C0D0028D28}"/>
              </a:ext>
            </a:extLst>
          </p:cNvPr>
          <p:cNvSpPr>
            <a:spLocks xmlns:a="http://schemas.openxmlformats.org/drawingml/2006/main" noGrp="1"/>
          </p:cNvSpPr>
          <p:nvPr/>
        </p:nvSpPr>
        <p:spPr>
          <a:xfrm xmlns:a="http://schemas.openxmlformats.org/drawingml/2006/main">
            <a:off x="609600" y="3238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1">
                <a:solidFill>
                  <a:srgbClr val="F2A03D"/>
                </a:solidFill>
                <a:latin typeface="Segoe UI"/>
                <a:ea typeface="Segoe UI"/>
                <a:cs typeface="Segoe UI"/>
              </a:defRPr>
            </a:defPPr>
          </a:lstStyle>
          <a:p xmlns:a="http://schemas.openxmlformats.org/drawingml/2006/main">
            <a:pPr algn="l">
              <a:defRPr sz="1275" b="1">
                <a:solidFill>
                  <a:srgbClr val="F2A03D"/>
                </a:solidFill>
                <a:latin typeface="Segoe UI"/>
                <a:ea typeface="Segoe UI"/>
                <a:cs typeface="Segoe UI"/>
              </a:defRPr>
            </a:pPr>
            <a:r>
              <a:rPr sz="1275" b="1">
                <a:solidFill>
                  <a:srgbClr val="F2A03D"/>
                </a:solidFill>
                <a:latin typeface="Segoe UI"/>
                <a:ea typeface="Segoe UI"/>
                <a:cs typeface="Segoe UI"/>
              </a:rPr>
              <a:t>06</a:t>
            </a:r>
          </a:p>
        </p:txBody>
      </p:sp>
      <p:sp>
        <p:nvSpPr>
          <p:cNvPr id="2" name="">
            <a:extLst xmlns:a="http://schemas.openxmlformats.org/drawingml/2006/main">
              <a:ext uri="{FF2B5EF4-FFF2-40B4-BE49-F238E27FC236}">
                <a16:creationId xmlns:a16="http://schemas.microsoft.com/office/drawing/2014/main" id="{83725BD2-AAF8-440C-ADFF-EE7F1BEBB6F0}"/>
              </a:ext>
            </a:extLst>
          </p:cNvPr>
          <p:cNvSpPr>
            <a:spLocks xmlns:a="http://schemas.openxmlformats.org/drawingml/2006/main" noGrp="1"/>
          </p:cNvSpPr>
          <p:nvPr/>
        </p:nvSpPr>
        <p:spPr>
          <a:xfrm xmlns:a="http://schemas.openxmlformats.org/drawingml/2006/main">
            <a:off x="1181100" y="26670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defPPr algn="l">
              <a:defRPr sz="3150" b="1">
                <a:solidFill>
                  <a:srgbClr val="172033"/>
                </a:solidFill>
                <a:latin typeface="Segoe UI"/>
                <a:ea typeface="Segoe UI"/>
                <a:cs typeface="Segoe UI"/>
              </a:defRPr>
            </a:defPPr>
          </a:lstStyle>
          <a:p xmlns:a="http://schemas.openxmlformats.org/drawingml/2006/main">
            <a:pPr algn="l">
              <a:defRPr sz="3150" b="1">
                <a:solidFill>
                  <a:srgbClr val="172033"/>
                </a:solidFill>
                <a:latin typeface="Segoe UI"/>
                <a:ea typeface="Segoe UI"/>
                <a:cs typeface="Segoe UI"/>
              </a:defRPr>
            </a:pPr>
            <a:r>
              <a:rPr sz="3150" b="1">
                <a:solidFill>
                  <a:srgbClr val="172033"/>
                </a:solidFill>
                <a:latin typeface="Segoe UI"/>
                <a:ea typeface="Segoe UI"/>
                <a:cs typeface="Segoe UI"/>
              </a:rPr>
              <a:t>Views and OLAP reuse one business definition</a:t>
            </a:r>
          </a:p>
        </p:txBody>
      </p:sp>
      <p:sp>
        <p:nvSpPr>
          <p:cNvPr id="3" name="">
            <a:extLst xmlns:a="http://schemas.openxmlformats.org/drawingml/2006/main">
              <a:ext uri="{FF2B5EF4-FFF2-40B4-BE49-F238E27FC236}">
                <a16:creationId xmlns:a16="http://schemas.microsoft.com/office/drawing/2014/main" id="{B5638FF0-50D6-43B9-BAD5-73DEFA91FE09}"/>
              </a:ext>
            </a:extLst>
          </p:cNvPr>
          <p:cNvSpPr>
            <a:spLocks xmlns:a="http://schemas.openxmlformats.org/drawingml/2006/main" noGrp="1"/>
          </p:cNvSpPr>
          <p:nvPr/>
        </p:nvSpPr>
        <p:spPr>
          <a:xfrm xmlns:a="http://schemas.openxmlformats.org/drawingml/2006/main">
            <a:off x="609600" y="914400"/>
            <a:ext cx="10972800" cy="19050"/>
          </a:xfrm>
          <a:prstGeom xmlns:a="http://schemas.openxmlformats.org/drawingml/2006/main" prst="rect">
            <a:avLst/>
          </a:prstGeom>
          <a:solidFill xmlns:a="http://schemas.openxmlformats.org/drawingml/2006/main">
            <a:srgbClr val="DCE2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6C5BFAA-D0EA-4892-9A5E-08BDACFB4057}"/>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0">
                <a:solidFill>
                  <a:srgbClr val="56657A"/>
                </a:solidFill>
                <a:latin typeface="Segoe UI"/>
                <a:ea typeface="Segoe UI"/>
                <a:cs typeface="Segoe UI"/>
              </a:defRPr>
            </a:defPPr>
          </a:lstStyle>
          <a:p xmlns:a="http://schemas.openxmlformats.org/drawingml/2006/main">
            <a:pPr algn="l">
              <a:defRPr sz="1050" b="0">
                <a:solidFill>
                  <a:srgbClr val="56657A"/>
                </a:solidFill>
                <a:latin typeface="Segoe UI"/>
                <a:ea typeface="Segoe UI"/>
                <a:cs typeface="Segoe UI"/>
              </a:defRPr>
            </a:pPr>
            <a:r>
              <a:rPr sz="1050" b="0">
                <a:solidFill>
                  <a:srgbClr val="56657A"/>
                </a:solidFill>
                <a:latin typeface="Segoe UI"/>
                <a:ea typeface="Segoe UI"/>
                <a:cs typeface="Segoe UI"/>
              </a:rPr>
              <a:t>Presenter: Aayush Chavanke</a:t>
            </a:r>
          </a:p>
        </p:txBody>
      </p:sp>
      <p:sp>
        <p:nvSpPr>
          <p:cNvPr id="5" name="">
            <a:extLst xmlns:a="http://schemas.openxmlformats.org/drawingml/2006/main">
              <a:ext uri="{FF2B5EF4-FFF2-40B4-BE49-F238E27FC236}">
                <a16:creationId xmlns:a16="http://schemas.microsoft.com/office/drawing/2014/main" id="{DC5E742E-AE13-4EE8-85A6-845F0165899C}"/>
              </a:ext>
            </a:extLst>
          </p:cNvPr>
          <p:cNvSpPr>
            <a:spLocks xmlns:a="http://schemas.openxmlformats.org/drawingml/2006/main" noGrp="1"/>
          </p:cNvSpPr>
          <p:nvPr/>
        </p:nvSpPr>
        <p:spPr>
          <a:xfrm xmlns:a="http://schemas.openxmlformats.org/drawingml/2006/main">
            <a:off x="7810500" y="6477000"/>
            <a:ext cx="3771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r">
              <a:defRPr sz="1050" b="0">
                <a:solidFill>
                  <a:srgbClr val="56657A"/>
                </a:solidFill>
                <a:latin typeface="Segoe UI"/>
                <a:ea typeface="Segoe UI"/>
                <a:cs typeface="Segoe UI"/>
              </a:defRPr>
            </a:defPPr>
          </a:lstStyle>
          <a:p xmlns:a="http://schemas.openxmlformats.org/drawingml/2006/main">
            <a:pPr algn="r">
              <a:defRPr sz="1050" b="0">
                <a:solidFill>
                  <a:srgbClr val="56657A"/>
                </a:solidFill>
                <a:latin typeface="Segoe UI"/>
                <a:ea typeface="Segoe UI"/>
                <a:cs typeface="Segoe UI"/>
              </a:defRPr>
            </a:pPr>
            <a:r>
              <a:rPr sz="1050" b="0">
                <a:solidFill>
                  <a:srgbClr val="56657A"/>
                </a:solidFill>
                <a:latin typeface="Segoe UI"/>
                <a:ea typeface="Segoe UI"/>
                <a:cs typeface="Segoe UI"/>
              </a:rPr>
              <a:t>E-Commerce Sales Analytics · DuckDB + RabbitMQ</a:t>
            </a:r>
          </a:p>
        </p:txBody>
      </p:sp>
      <p:sp>
        <p:nvSpPr>
          <p:cNvPr id="6" name="">
            <a:extLst xmlns:a="http://schemas.openxmlformats.org/drawingml/2006/main">
              <a:ext uri="{FF2B5EF4-FFF2-40B4-BE49-F238E27FC236}">
                <a16:creationId xmlns:a16="http://schemas.microsoft.com/office/drawing/2014/main" id="{0314DD4D-5168-41AA-AC67-DAD216BFE794}"/>
              </a:ext>
            </a:extLst>
          </p:cNvPr>
          <p:cNvSpPr>
            <a:spLocks xmlns:a="http://schemas.openxmlformats.org/drawingml/2006/main" noGrp="1"/>
          </p:cNvSpPr>
          <p:nvPr/>
        </p:nvSpPr>
        <p:spPr>
          <a:xfrm xmlns:a="http://schemas.openxmlformats.org/drawingml/2006/main">
            <a:off x="609600" y="11811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205"/>
          </a:bodyPr>
          <a:lstStyle xmlns:a="http://schemas.openxmlformats.org/drawingml/2006/main">
            <a:defPPr algn="l">
              <a:defRPr sz="1950" b="1">
                <a:solidFill>
                  <a:srgbClr val="101C33"/>
                </a:solidFill>
                <a:latin typeface="Segoe UI"/>
                <a:ea typeface="Segoe UI"/>
                <a:cs typeface="Segoe UI"/>
              </a:defRPr>
            </a:defPPr>
          </a:lstStyle>
          <a:p xmlns:a="http://schemas.openxmlformats.org/drawingml/2006/main">
            <a:pPr algn="l">
              <a:defRPr sz="1950" b="1">
                <a:solidFill>
                  <a:srgbClr val="101C33"/>
                </a:solidFill>
                <a:latin typeface="Segoe UI"/>
                <a:ea typeface="Segoe UI"/>
                <a:cs typeface="Segoe UI"/>
              </a:defRPr>
            </a:pPr>
            <a:r>
              <a:rPr sz="1950" b="1">
                <a:solidFill>
                  <a:srgbClr val="101C33"/>
                </a:solidFill>
                <a:latin typeface="Segoe UI"/>
                <a:ea typeface="Segoe UI"/>
                <a:cs typeface="Segoe UI"/>
              </a:rPr>
              <a:t>Why SQL views are used</a:t>
            </a:r>
          </a:p>
        </p:txBody>
      </p:sp>
      <p:sp>
        <p:nvSpPr>
          <p:cNvPr id="7" name="">
            <a:extLst xmlns:a="http://schemas.openxmlformats.org/drawingml/2006/main">
              <a:ext uri="{FF2B5EF4-FFF2-40B4-BE49-F238E27FC236}">
                <a16:creationId xmlns:a16="http://schemas.microsoft.com/office/drawing/2014/main" id="{A4659FFC-4835-4873-BB54-8F618A115789}"/>
              </a:ext>
            </a:extLst>
          </p:cNvPr>
          <p:cNvSpPr>
            <a:spLocks xmlns:a="http://schemas.openxmlformats.org/drawingml/2006/main" noGrp="1"/>
          </p:cNvSpPr>
          <p:nvPr/>
        </p:nvSpPr>
        <p:spPr>
          <a:xfrm xmlns:a="http://schemas.openxmlformats.org/drawingml/2006/main">
            <a:off x="609600" y="1676400"/>
            <a:ext cx="76200" cy="647700"/>
          </a:xfrm>
          <a:prstGeom xmlns:a="http://schemas.openxmlformats.org/drawingml/2006/main" prst="rect">
            <a:avLst/>
          </a:prstGeom>
          <a:solidFill xmlns:a="http://schemas.openxmlformats.org/drawingml/2006/main">
            <a:srgbClr val="16B8A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60613BB-DD24-4A32-8B99-9270EFFB51E8}"/>
              </a:ext>
            </a:extLst>
          </p:cNvPr>
          <p:cNvSpPr>
            <a:spLocks xmlns:a="http://schemas.openxmlformats.org/drawingml/2006/main" noGrp="1"/>
          </p:cNvSpPr>
          <p:nvPr/>
        </p:nvSpPr>
        <p:spPr>
          <a:xfrm xmlns:a="http://schemas.openxmlformats.org/drawingml/2006/main">
            <a:off x="876300" y="16764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697"/>
          </a:bodyPr>
          <a:lstStyle xmlns:a="http://schemas.openxmlformats.org/drawingml/2006/main">
            <a:defPPr algn="l">
              <a:defRPr sz="1650" b="1">
                <a:solidFill>
                  <a:srgbClr val="172033"/>
                </a:solidFill>
                <a:latin typeface="Segoe UI"/>
                <a:ea typeface="Segoe UI"/>
                <a:cs typeface="Segoe UI"/>
              </a:defRPr>
            </a:defPPr>
          </a:lstStyle>
          <a:p xmlns:a="http://schemas.openxmlformats.org/drawingml/2006/main">
            <a:pPr algn="l">
              <a:defRPr sz="1650" b="1">
                <a:solidFill>
                  <a:srgbClr val="172033"/>
                </a:solidFill>
                <a:latin typeface="Segoe UI"/>
                <a:ea typeface="Segoe UI"/>
                <a:cs typeface="Segoe UI"/>
              </a:defRPr>
            </a:pPr>
            <a:r>
              <a:rPr sz="1650" b="1">
                <a:solidFill>
                  <a:srgbClr val="172033"/>
                </a:solidFill>
                <a:latin typeface="Segoe UI"/>
                <a:ea typeface="Segoe UI"/>
                <a:cs typeface="Segoe UI"/>
              </a:rPr>
              <a:t>vw_daily_revenue</a:t>
            </a:r>
          </a:p>
        </p:txBody>
      </p:sp>
      <p:sp>
        <p:nvSpPr>
          <p:cNvPr id="9" name="">
            <a:extLst xmlns:a="http://schemas.openxmlformats.org/drawingml/2006/main">
              <a:ext uri="{FF2B5EF4-FFF2-40B4-BE49-F238E27FC236}">
                <a16:creationId xmlns:a16="http://schemas.microsoft.com/office/drawing/2014/main" id="{5BBFEF4A-DDC7-485E-8345-5E134F0A0189}"/>
              </a:ext>
            </a:extLst>
          </p:cNvPr>
          <p:cNvSpPr>
            <a:spLocks xmlns:a="http://schemas.openxmlformats.org/drawingml/2006/main" noGrp="1"/>
          </p:cNvSpPr>
          <p:nvPr/>
        </p:nvSpPr>
        <p:spPr>
          <a:xfrm xmlns:a="http://schemas.openxmlformats.org/drawingml/2006/main">
            <a:off x="876300" y="20002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defPPr algn="l">
              <a:defRPr sz="1350" b="0">
                <a:solidFill>
                  <a:srgbClr val="56657A"/>
                </a:solidFill>
                <a:latin typeface="Segoe UI"/>
                <a:ea typeface="Segoe UI"/>
                <a:cs typeface="Segoe UI"/>
              </a:defRPr>
            </a:defPPr>
          </a:lstStyle>
          <a:p xmlns:a="http://schemas.openxmlformats.org/drawingml/2006/main">
            <a:pPr algn="l">
              <a:defRPr sz="1350" b="0">
                <a:solidFill>
                  <a:srgbClr val="56657A"/>
                </a:solidFill>
                <a:latin typeface="Segoe UI"/>
                <a:ea typeface="Segoe UI"/>
                <a:cs typeface="Segoe UI"/>
              </a:defRPr>
            </a:pPr>
            <a:r>
              <a:rPr sz="1350" b="0">
                <a:solidFill>
                  <a:srgbClr val="56657A"/>
                </a:solidFill>
                <a:latin typeface="Segoe UI"/>
                <a:ea typeface="Segoe UI"/>
                <a:cs typeface="Segoe UI"/>
              </a:rPr>
              <a:t>date · revenue · orders · customers</a:t>
            </a:r>
          </a:p>
        </p:txBody>
      </p:sp>
      <p:sp>
        <p:nvSpPr>
          <p:cNvPr id="10" name="">
            <a:extLst xmlns:a="http://schemas.openxmlformats.org/drawingml/2006/main">
              <a:ext uri="{FF2B5EF4-FFF2-40B4-BE49-F238E27FC236}">
                <a16:creationId xmlns:a16="http://schemas.microsoft.com/office/drawing/2014/main" id="{F397E793-6628-4F6B-9887-2BE980106983}"/>
              </a:ext>
            </a:extLst>
          </p:cNvPr>
          <p:cNvSpPr>
            <a:spLocks xmlns:a="http://schemas.openxmlformats.org/drawingml/2006/main" noGrp="1"/>
          </p:cNvSpPr>
          <p:nvPr/>
        </p:nvSpPr>
        <p:spPr>
          <a:xfrm xmlns:a="http://schemas.openxmlformats.org/drawingml/2006/main">
            <a:off x="609600" y="2552700"/>
            <a:ext cx="76200" cy="647700"/>
          </a:xfrm>
          <a:prstGeom xmlns:a="http://schemas.openxmlformats.org/drawingml/2006/main" prst="rect">
            <a:avLst/>
          </a:prstGeom>
          <a:solidFill xmlns:a="http://schemas.openxmlformats.org/drawingml/2006/main">
            <a:srgbClr val="5267D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7B68B65-AA4D-45F5-9025-E0F36B8C3B07}"/>
              </a:ext>
            </a:extLst>
          </p:cNvPr>
          <p:cNvSpPr>
            <a:spLocks xmlns:a="http://schemas.openxmlformats.org/drawingml/2006/main" noGrp="1"/>
          </p:cNvSpPr>
          <p:nvPr/>
        </p:nvSpPr>
        <p:spPr>
          <a:xfrm xmlns:a="http://schemas.openxmlformats.org/drawingml/2006/main">
            <a:off x="876300" y="25527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697"/>
          </a:bodyPr>
          <a:lstStyle xmlns:a="http://schemas.openxmlformats.org/drawingml/2006/main">
            <a:defPPr algn="l">
              <a:defRPr sz="1650" b="1">
                <a:solidFill>
                  <a:srgbClr val="172033"/>
                </a:solidFill>
                <a:latin typeface="Segoe UI"/>
                <a:ea typeface="Segoe UI"/>
                <a:cs typeface="Segoe UI"/>
              </a:defRPr>
            </a:defPPr>
          </a:lstStyle>
          <a:p xmlns:a="http://schemas.openxmlformats.org/drawingml/2006/main">
            <a:pPr algn="l">
              <a:defRPr sz="1650" b="1">
                <a:solidFill>
                  <a:srgbClr val="172033"/>
                </a:solidFill>
                <a:latin typeface="Segoe UI"/>
                <a:ea typeface="Segoe UI"/>
                <a:cs typeface="Segoe UI"/>
              </a:defRPr>
            </a:pPr>
            <a:r>
              <a:rPr sz="1650" b="1">
                <a:solidFill>
                  <a:srgbClr val="172033"/>
                </a:solidFill>
                <a:latin typeface="Segoe UI"/>
                <a:ea typeface="Segoe UI"/>
                <a:cs typeface="Segoe UI"/>
              </a:rPr>
              <a:t>vw_monthly_growth</a:t>
            </a:r>
          </a:p>
        </p:txBody>
      </p:sp>
      <p:sp>
        <p:nvSpPr>
          <p:cNvPr id="12" name="">
            <a:extLst xmlns:a="http://schemas.openxmlformats.org/drawingml/2006/main">
              <a:ext uri="{FF2B5EF4-FFF2-40B4-BE49-F238E27FC236}">
                <a16:creationId xmlns:a16="http://schemas.microsoft.com/office/drawing/2014/main" id="{DE302F35-0A6A-4BA9-93F8-305A4BFF824E}"/>
              </a:ext>
            </a:extLst>
          </p:cNvPr>
          <p:cNvSpPr>
            <a:spLocks xmlns:a="http://schemas.openxmlformats.org/drawingml/2006/main" noGrp="1"/>
          </p:cNvSpPr>
          <p:nvPr/>
        </p:nvSpPr>
        <p:spPr>
          <a:xfrm xmlns:a="http://schemas.openxmlformats.org/drawingml/2006/main">
            <a:off x="876300" y="28765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defPPr algn="l">
              <a:defRPr sz="1350" b="0">
                <a:solidFill>
                  <a:srgbClr val="56657A"/>
                </a:solidFill>
                <a:latin typeface="Segoe UI"/>
                <a:ea typeface="Segoe UI"/>
                <a:cs typeface="Segoe UI"/>
              </a:defRPr>
            </a:defPPr>
          </a:lstStyle>
          <a:p xmlns:a="http://schemas.openxmlformats.org/drawingml/2006/main">
            <a:pPr algn="l">
              <a:defRPr sz="1350" b="0">
                <a:solidFill>
                  <a:srgbClr val="56657A"/>
                </a:solidFill>
                <a:latin typeface="Segoe UI"/>
                <a:ea typeface="Segoe UI"/>
                <a:cs typeface="Segoe UI"/>
              </a:defRPr>
            </a:pPr>
            <a:r>
              <a:rPr sz="1350" b="0">
                <a:solidFill>
                  <a:srgbClr val="56657A"/>
                </a:solidFill>
                <a:latin typeface="Segoe UI"/>
                <a:ea typeface="Segoe UI"/>
                <a:cs typeface="Segoe UI"/>
              </a:rPr>
              <a:t>LAG revenue · month-over-month growth</a:t>
            </a:r>
          </a:p>
        </p:txBody>
      </p:sp>
      <p:sp>
        <p:nvSpPr>
          <p:cNvPr id="13" name="">
            <a:extLst xmlns:a="http://schemas.openxmlformats.org/drawingml/2006/main">
              <a:ext uri="{FF2B5EF4-FFF2-40B4-BE49-F238E27FC236}">
                <a16:creationId xmlns:a16="http://schemas.microsoft.com/office/drawing/2014/main" id="{8C53D4C0-C0CE-40B2-9BAB-D384EE39FE33}"/>
              </a:ext>
            </a:extLst>
          </p:cNvPr>
          <p:cNvSpPr>
            <a:spLocks xmlns:a="http://schemas.openxmlformats.org/drawingml/2006/main" noGrp="1"/>
          </p:cNvSpPr>
          <p:nvPr/>
        </p:nvSpPr>
        <p:spPr>
          <a:xfrm xmlns:a="http://schemas.openxmlformats.org/drawingml/2006/main">
            <a:off x="609600" y="3429000"/>
            <a:ext cx="76200" cy="647700"/>
          </a:xfrm>
          <a:prstGeom xmlns:a="http://schemas.openxmlformats.org/drawingml/2006/main" prst="rect">
            <a:avLst/>
          </a:prstGeom>
          <a:solidFill xmlns:a="http://schemas.openxmlformats.org/drawingml/2006/main">
            <a:srgbClr val="F2A03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A2086C9-5F90-4D41-9FCB-E7EA866B3A9D}"/>
              </a:ext>
            </a:extLst>
          </p:cNvPr>
          <p:cNvSpPr>
            <a:spLocks xmlns:a="http://schemas.openxmlformats.org/drawingml/2006/main" noGrp="1"/>
          </p:cNvSpPr>
          <p:nvPr/>
        </p:nvSpPr>
        <p:spPr>
          <a:xfrm xmlns:a="http://schemas.openxmlformats.org/drawingml/2006/main">
            <a:off x="876300" y="34290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697"/>
          </a:bodyPr>
          <a:lstStyle xmlns:a="http://schemas.openxmlformats.org/drawingml/2006/main">
            <a:defPPr algn="l">
              <a:defRPr sz="1650" b="1">
                <a:solidFill>
                  <a:srgbClr val="172033"/>
                </a:solidFill>
                <a:latin typeface="Segoe UI"/>
                <a:ea typeface="Segoe UI"/>
                <a:cs typeface="Segoe UI"/>
              </a:defRPr>
            </a:defPPr>
          </a:lstStyle>
          <a:p xmlns:a="http://schemas.openxmlformats.org/drawingml/2006/main">
            <a:pPr algn="l">
              <a:defRPr sz="1650" b="1">
                <a:solidFill>
                  <a:srgbClr val="172033"/>
                </a:solidFill>
                <a:latin typeface="Segoe UI"/>
                <a:ea typeface="Segoe UI"/>
                <a:cs typeface="Segoe UI"/>
              </a:defRPr>
            </a:pPr>
            <a:r>
              <a:rPr sz="1650" b="1">
                <a:solidFill>
                  <a:srgbClr val="172033"/>
                </a:solidFill>
                <a:latin typeface="Segoe UI"/>
                <a:ea typeface="Segoe UI"/>
                <a:cs typeface="Segoe UI"/>
              </a:rPr>
              <a:t>vw_repeat_customer_pct</a:t>
            </a:r>
          </a:p>
        </p:txBody>
      </p:sp>
      <p:sp>
        <p:nvSpPr>
          <p:cNvPr id="15" name="">
            <a:extLst xmlns:a="http://schemas.openxmlformats.org/drawingml/2006/main">
              <a:ext uri="{FF2B5EF4-FFF2-40B4-BE49-F238E27FC236}">
                <a16:creationId xmlns:a16="http://schemas.microsoft.com/office/drawing/2014/main" id="{2B720BCE-2F6F-4EA6-8533-4FA74416D826}"/>
              </a:ext>
            </a:extLst>
          </p:cNvPr>
          <p:cNvSpPr>
            <a:spLocks xmlns:a="http://schemas.openxmlformats.org/drawingml/2006/main" noGrp="1"/>
          </p:cNvSpPr>
          <p:nvPr/>
        </p:nvSpPr>
        <p:spPr>
          <a:xfrm xmlns:a="http://schemas.openxmlformats.org/drawingml/2006/main">
            <a:off x="876300" y="37528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defPPr algn="l">
              <a:defRPr sz="1350" b="0">
                <a:solidFill>
                  <a:srgbClr val="56657A"/>
                </a:solidFill>
                <a:latin typeface="Segoe UI"/>
                <a:ea typeface="Segoe UI"/>
                <a:cs typeface="Segoe UI"/>
              </a:defRPr>
            </a:defPPr>
          </a:lstStyle>
          <a:p xmlns:a="http://schemas.openxmlformats.org/drawingml/2006/main">
            <a:pPr algn="l">
              <a:defRPr sz="1350" b="0">
                <a:solidFill>
                  <a:srgbClr val="56657A"/>
                </a:solidFill>
                <a:latin typeface="Segoe UI"/>
                <a:ea typeface="Segoe UI"/>
                <a:cs typeface="Segoe UI"/>
              </a:defRPr>
            </a:pPr>
            <a:r>
              <a:rPr sz="1350" b="0">
                <a:solidFill>
                  <a:srgbClr val="56657A"/>
                </a:solidFill>
                <a:latin typeface="Segoe UI"/>
                <a:ea typeface="Segoe UI"/>
                <a:cs typeface="Segoe UI"/>
              </a:rPr>
              <a:t>customers with more than one realized order</a:t>
            </a:r>
          </a:p>
        </p:txBody>
      </p:sp>
      <p:sp>
        <p:nvSpPr>
          <p:cNvPr id="16" name="">
            <a:extLst xmlns:a="http://schemas.openxmlformats.org/drawingml/2006/main">
              <a:ext uri="{FF2B5EF4-FFF2-40B4-BE49-F238E27FC236}">
                <a16:creationId xmlns:a16="http://schemas.microsoft.com/office/drawing/2014/main" id="{AC5CAF12-515E-42B4-8A41-C5EEBCE793FA}"/>
              </a:ext>
            </a:extLst>
          </p:cNvPr>
          <p:cNvSpPr>
            <a:spLocks xmlns:a="http://schemas.openxmlformats.org/drawingml/2006/main" noGrp="1"/>
          </p:cNvSpPr>
          <p:nvPr/>
        </p:nvSpPr>
        <p:spPr>
          <a:xfrm xmlns:a="http://schemas.openxmlformats.org/drawingml/2006/main">
            <a:off x="609600" y="45720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795"/>
          </a:bodyPr>
          <a:lstStyle xmlns:a="http://schemas.openxmlformats.org/drawingml/2006/main">
            <a:defPPr algn="l">
              <a:defRPr sz="1950" b="1">
                <a:solidFill>
                  <a:srgbClr val="101C33"/>
                </a:solidFill>
                <a:latin typeface="Segoe UI"/>
                <a:ea typeface="Segoe UI"/>
                <a:cs typeface="Segoe UI"/>
              </a:defRPr>
            </a:defPPr>
          </a:lstStyle>
          <a:p xmlns:a="http://schemas.openxmlformats.org/drawingml/2006/main">
            <a:pPr algn="l">
              <a:defRPr sz="1950" b="1">
                <a:solidFill>
                  <a:srgbClr val="101C33"/>
                </a:solidFill>
                <a:latin typeface="Segoe UI"/>
                <a:ea typeface="Segoe UI"/>
                <a:cs typeface="Segoe UI"/>
              </a:defRPr>
            </a:pPr>
            <a:r>
              <a:rPr sz="1950" b="1">
                <a:solidFill>
                  <a:srgbClr val="101C33"/>
                </a:solidFill>
                <a:latin typeface="Segoe UI"/>
                <a:ea typeface="Segoe UI"/>
                <a:cs typeface="Segoe UI"/>
              </a:rPr>
              <a:t>Why analytical patterns matter</a:t>
            </a:r>
          </a:p>
        </p:txBody>
      </p:sp>
      <p:sp>
        <p:nvSpPr>
          <p:cNvPr id="17" name="">
            <a:extLst xmlns:a="http://schemas.openxmlformats.org/drawingml/2006/main">
              <a:ext uri="{FF2B5EF4-FFF2-40B4-BE49-F238E27FC236}">
                <a16:creationId xmlns:a16="http://schemas.microsoft.com/office/drawing/2014/main" id="{73C74B72-C6A4-44DB-B4A7-008EF27B5C24}"/>
              </a:ext>
            </a:extLst>
          </p:cNvPr>
          <p:cNvSpPr>
            <a:spLocks xmlns:a="http://schemas.openxmlformats.org/drawingml/2006/main" noGrp="1"/>
          </p:cNvSpPr>
          <p:nvPr/>
        </p:nvSpPr>
        <p:spPr>
          <a:xfrm xmlns:a="http://schemas.openxmlformats.org/drawingml/2006/main">
            <a:off x="609600" y="5010150"/>
            <a:ext cx="4762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333"/>
          </a:bodyPr>
          <a:lstStyle xmlns:a="http://schemas.openxmlformats.org/drawingml/2006/main">
            <a:defPPr algn="l">
              <a:defRPr sz="1500" b="0">
                <a:solidFill>
                  <a:srgbClr val="172033"/>
                </a:solidFill>
                <a:latin typeface="Segoe UI"/>
                <a:ea typeface="Segoe UI"/>
                <a:cs typeface="Segoe UI"/>
              </a:defRPr>
            </a:defPPr>
          </a:lstStyle>
          <a:p xmlns:a="http://schemas.openxmlformats.org/drawingml/2006/main">
            <a:pPr algn="l">
              <a:defRPr sz="1500" b="0">
                <a:solidFill>
                  <a:srgbClr val="172033"/>
                </a:solidFill>
                <a:latin typeface="Segoe UI"/>
                <a:ea typeface="Segoe UI"/>
                <a:cs typeface="Segoe UI"/>
              </a:defRPr>
            </a:pPr>
            <a:r>
              <a:rPr sz="1500" b="0">
                <a:solidFill>
                  <a:srgbClr val="172033"/>
                </a:solidFill>
                <a:latin typeface="Segoe UI"/>
                <a:ea typeface="Segoe UI"/>
                <a:cs typeface="Segoe UI"/>
              </a:rPr>
              <a:t>LAG compares one month with the previous month. ROLLUP builds hierarchical totals. CUBE explores every selected dimension combination. GROUPING SETS returns only the totals the business needs.</a:t>
            </a:r>
          </a:p>
        </p:txBody>
      </p:sp>
      <p:sp>
        <p:nvSpPr>
          <p:cNvPr id="18" name="">
            <a:extLst xmlns:a="http://schemas.openxmlformats.org/drawingml/2006/main">
              <a:ext uri="{FF2B5EF4-FFF2-40B4-BE49-F238E27FC236}">
                <a16:creationId xmlns:a16="http://schemas.microsoft.com/office/drawing/2014/main" id="{5D604BFC-C120-47C7-B8BF-393F8FDE51AA}"/>
              </a:ext>
            </a:extLst>
          </p:cNvPr>
          <p:cNvSpPr>
            <a:spLocks xmlns:a="http://schemas.openxmlformats.org/drawingml/2006/main" noGrp="1"/>
          </p:cNvSpPr>
          <p:nvPr/>
        </p:nvSpPr>
        <p:spPr>
          <a:xfrm xmlns:a="http://schemas.openxmlformats.org/drawingml/2006/main">
            <a:off x="5791200" y="1352550"/>
            <a:ext cx="5619750" cy="2895600"/>
          </a:xfrm>
          <a:prstGeom xmlns:a="http://schemas.openxmlformats.org/drawingml/2006/main" prst="roundRect">
            <a:avLst>
              <a:gd name="adj" fmla="val 2632"/>
            </a:avLst>
          </a:prstGeom>
          <a:solidFill xmlns:a="http://schemas.openxmlformats.org/drawingml/2006/main">
            <a:srgbClr val="101C33"/>
          </a:solidFill>
          <a:ln xmlns:a="http://schemas.openxmlformats.org/drawingml/2006/main" w="9525">
            <a:solidFill>
              <a:srgbClr val="2A3B59"/>
            </a:solidFill>
            <a:prstDash val="solid"/>
          </a:ln>
        </p:spPr>
      </p:sp>
      <p:sp>
        <p:nvSpPr>
          <p:cNvPr id="19" name="">
            <a:extLst xmlns:a="http://schemas.openxmlformats.org/drawingml/2006/main">
              <a:ext uri="{FF2B5EF4-FFF2-40B4-BE49-F238E27FC236}">
                <a16:creationId xmlns:a16="http://schemas.microsoft.com/office/drawing/2014/main" id="{A049DED2-06E8-42EF-ABEB-F03699ED715E}"/>
              </a:ext>
            </a:extLst>
          </p:cNvPr>
          <p:cNvSpPr>
            <a:spLocks xmlns:a="http://schemas.openxmlformats.org/drawingml/2006/main" noGrp="1"/>
          </p:cNvSpPr>
          <p:nvPr/>
        </p:nvSpPr>
        <p:spPr>
          <a:xfrm xmlns:a="http://schemas.openxmlformats.org/drawingml/2006/main">
            <a:off x="5791200" y="1352550"/>
            <a:ext cx="57150" cy="2895600"/>
          </a:xfrm>
          <a:prstGeom xmlns:a="http://schemas.openxmlformats.org/drawingml/2006/main" prst="rect">
            <a:avLst/>
          </a:prstGeom>
          <a:solidFill xmlns:a="http://schemas.openxmlformats.org/drawingml/2006/main">
            <a:srgbClr val="5267D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0EA653D-7E35-4372-8DC9-191AD53246CF}"/>
              </a:ext>
            </a:extLst>
          </p:cNvPr>
          <p:cNvSpPr>
            <a:spLocks xmlns:a="http://schemas.openxmlformats.org/drawingml/2006/main" noGrp="1"/>
          </p:cNvSpPr>
          <p:nvPr/>
        </p:nvSpPr>
        <p:spPr>
          <a:xfrm xmlns:a="http://schemas.openxmlformats.org/drawingml/2006/main">
            <a:off x="5981700" y="1504950"/>
            <a:ext cx="5276850" cy="2628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350" b="0">
                <a:solidFill>
                  <a:srgbClr val="EAF0F8"/>
                </a:solidFill>
                <a:latin typeface="Consolas"/>
                <a:ea typeface="Consolas"/>
                <a:cs typeface="Consolas"/>
              </a:defRPr>
            </a:defPPr>
          </a:lstStyle>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LAG(revenue) OVER (ORDER BY sales_month)</a:t>
            </a:r>
          </a:p>
          <a:p xmlns:a="http://schemas.openxmlformats.org/drawingml/2006/main">
            <a:r>
              <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GROUP BY CUBE (region, sales_channel)</a:t>
            </a:r>
          </a:p>
          <a:p xmlns:a="http://schemas.openxmlformats.org/drawingml/2006/main">
            <a:r>
              <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GROUP BY GROUPING SETS (</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  (region, category), (region), (category), ()</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a:t>
            </a:r>
          </a:p>
        </p:txBody>
      </p:sp>
      <p:sp>
        <p:nvSpPr>
          <p:cNvPr id="21" name="">
            <a:extLst xmlns:a="http://schemas.openxmlformats.org/drawingml/2006/main">
              <a:ext uri="{FF2B5EF4-FFF2-40B4-BE49-F238E27FC236}">
                <a16:creationId xmlns:a16="http://schemas.microsoft.com/office/drawing/2014/main" id="{2486A220-2EBB-42A7-ACA6-E8A002887836}"/>
              </a:ext>
            </a:extLst>
          </p:cNvPr>
          <p:cNvSpPr>
            <a:spLocks xmlns:a="http://schemas.openxmlformats.org/drawingml/2006/main" noGrp="1"/>
          </p:cNvSpPr>
          <p:nvPr/>
        </p:nvSpPr>
        <p:spPr>
          <a:xfrm xmlns:a="http://schemas.openxmlformats.org/drawingml/2006/main">
            <a:off x="5791200" y="4514850"/>
            <a:ext cx="5619750" cy="1371600"/>
          </a:xfrm>
          <a:prstGeom xmlns:a="http://schemas.openxmlformats.org/drawingml/2006/main" prst="roundRect">
            <a:avLst>
              <a:gd name="adj" fmla="val 5556"/>
            </a:avLst>
          </a:prstGeom>
          <a:solidFill xmlns:a="http://schemas.openxmlformats.org/drawingml/2006/main">
            <a:srgbClr val="18294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A74610C-63EE-465B-970B-2B6EB0DF64D7}"/>
              </a:ext>
            </a:extLst>
          </p:cNvPr>
          <p:cNvSpPr>
            <a:spLocks xmlns:a="http://schemas.openxmlformats.org/drawingml/2006/main" noGrp="1"/>
          </p:cNvSpPr>
          <p:nvPr/>
        </p:nvSpPr>
        <p:spPr>
          <a:xfrm xmlns:a="http://schemas.openxmlformats.org/drawingml/2006/main">
            <a:off x="6057900" y="4705350"/>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314"/>
          </a:bodyPr>
          <a:lstStyle xmlns:a="http://schemas.openxmlformats.org/drawingml/2006/main">
            <a:defPPr algn="l">
              <a:defRPr sz="2550" b="1">
                <a:solidFill>
                  <a:srgbClr val="FFFFFF"/>
                </a:solidFill>
                <a:latin typeface="Segoe UI"/>
                <a:ea typeface="Segoe UI"/>
                <a:cs typeface="Segoe UI"/>
              </a:defRPr>
            </a:defPPr>
          </a:lstStyle>
          <a:p xmlns:a="http://schemas.openxmlformats.org/drawingml/2006/main">
            <a:pPr algn="l">
              <a:defRPr sz="2550" b="1">
                <a:solidFill>
                  <a:srgbClr val="FFFFFF"/>
                </a:solidFill>
                <a:latin typeface="Segoe UI"/>
                <a:ea typeface="Segoe UI"/>
                <a:cs typeface="Segoe UI"/>
              </a:defRPr>
            </a:pPr>
            <a:r>
              <a:rPr sz="2550" b="1">
                <a:solidFill>
                  <a:srgbClr val="FFFFFF"/>
                </a:solidFill>
                <a:latin typeface="Segoe UI"/>
                <a:ea typeface="Segoe UI"/>
                <a:cs typeface="Segoe UI"/>
              </a:rPr>
              <a:t>$28.777M</a:t>
            </a:r>
          </a:p>
        </p:txBody>
      </p:sp>
      <p:sp>
        <p:nvSpPr>
          <p:cNvPr id="23" name="">
            <a:extLst xmlns:a="http://schemas.openxmlformats.org/drawingml/2006/main">
              <a:ext uri="{FF2B5EF4-FFF2-40B4-BE49-F238E27FC236}">
                <a16:creationId xmlns:a16="http://schemas.microsoft.com/office/drawing/2014/main" id="{8F0AA04B-C7A6-435B-8D71-2D01132FDBA3}"/>
              </a:ext>
            </a:extLst>
          </p:cNvPr>
          <p:cNvSpPr>
            <a:spLocks xmlns:a="http://schemas.openxmlformats.org/drawingml/2006/main" noGrp="1"/>
          </p:cNvSpPr>
          <p:nvPr/>
        </p:nvSpPr>
        <p:spPr>
          <a:xfrm xmlns:a="http://schemas.openxmlformats.org/drawingml/2006/main">
            <a:off x="6057900" y="5143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l">
              <a:defRPr sz="1275" b="0">
                <a:solidFill>
                  <a:srgbClr val="C9D4E5"/>
                </a:solidFill>
                <a:latin typeface="Segoe UI"/>
                <a:ea typeface="Segoe UI"/>
                <a:cs typeface="Segoe UI"/>
              </a:defRPr>
            </a:defPPr>
          </a:lstStyle>
          <a:p xmlns:a="http://schemas.openxmlformats.org/drawingml/2006/main">
            <a:pPr algn="l">
              <a:defRPr sz="1275" b="0">
                <a:solidFill>
                  <a:srgbClr val="C9D4E5"/>
                </a:solidFill>
                <a:latin typeface="Segoe UI"/>
                <a:ea typeface="Segoe UI"/>
                <a:cs typeface="Segoe UI"/>
              </a:defRPr>
            </a:pPr>
            <a:r>
              <a:rPr sz="1275" b="0">
                <a:solidFill>
                  <a:srgbClr val="C9D4E5"/>
                </a:solidFill>
                <a:latin typeface="Segoe UI"/>
                <a:ea typeface="Segoe UI"/>
                <a:cs typeface="Segoe UI"/>
              </a:rPr>
              <a:t>realized revenue</a:t>
            </a:r>
          </a:p>
        </p:txBody>
      </p:sp>
      <p:sp>
        <p:nvSpPr>
          <p:cNvPr id="24" name="">
            <a:extLst xmlns:a="http://schemas.openxmlformats.org/drawingml/2006/main">
              <a:ext uri="{FF2B5EF4-FFF2-40B4-BE49-F238E27FC236}">
                <a16:creationId xmlns:a16="http://schemas.microsoft.com/office/drawing/2014/main" id="{078CF740-5793-4B5C-B404-1E5EA66FE939}"/>
              </a:ext>
            </a:extLst>
          </p:cNvPr>
          <p:cNvSpPr>
            <a:spLocks xmlns:a="http://schemas.openxmlformats.org/drawingml/2006/main" noGrp="1"/>
          </p:cNvSpPr>
          <p:nvPr/>
        </p:nvSpPr>
        <p:spPr>
          <a:xfrm xmlns:a="http://schemas.openxmlformats.org/drawingml/2006/main">
            <a:off x="8115300" y="470535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314"/>
          </a:bodyPr>
          <a:lstStyle xmlns:a="http://schemas.openxmlformats.org/drawingml/2006/main">
            <a:defPPr algn="l">
              <a:defRPr sz="2550" b="1">
                <a:solidFill>
                  <a:srgbClr val="16B8A6"/>
                </a:solidFill>
                <a:latin typeface="Segoe UI"/>
                <a:ea typeface="Segoe UI"/>
                <a:cs typeface="Segoe UI"/>
              </a:defRPr>
            </a:defPPr>
          </a:lstStyle>
          <a:p xmlns:a="http://schemas.openxmlformats.org/drawingml/2006/main">
            <a:pPr algn="l">
              <a:defRPr sz="2550" b="1">
                <a:solidFill>
                  <a:srgbClr val="16B8A6"/>
                </a:solidFill>
                <a:latin typeface="Segoe UI"/>
                <a:ea typeface="Segoe UI"/>
                <a:cs typeface="Segoe UI"/>
              </a:defRPr>
            </a:pPr>
            <a:r>
              <a:rPr sz="2550" b="1">
                <a:solidFill>
                  <a:srgbClr val="16B8A6"/>
                </a:solidFill>
                <a:latin typeface="Segoe UI"/>
                <a:ea typeface="Segoe UI"/>
                <a:cs typeface="Segoe UI"/>
              </a:rPr>
              <a:t>77.51%</a:t>
            </a:r>
          </a:p>
        </p:txBody>
      </p:sp>
      <p:sp>
        <p:nvSpPr>
          <p:cNvPr id="25" name="">
            <a:extLst xmlns:a="http://schemas.openxmlformats.org/drawingml/2006/main">
              <a:ext uri="{FF2B5EF4-FFF2-40B4-BE49-F238E27FC236}">
                <a16:creationId xmlns:a16="http://schemas.microsoft.com/office/drawing/2014/main" id="{9842FF93-7884-454F-AF16-BBCB0C6BF653}"/>
              </a:ext>
            </a:extLst>
          </p:cNvPr>
          <p:cNvSpPr>
            <a:spLocks xmlns:a="http://schemas.openxmlformats.org/drawingml/2006/main" noGrp="1"/>
          </p:cNvSpPr>
          <p:nvPr/>
        </p:nvSpPr>
        <p:spPr>
          <a:xfrm xmlns:a="http://schemas.openxmlformats.org/drawingml/2006/main">
            <a:off x="8115300" y="5143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l">
              <a:defRPr sz="1275" b="0">
                <a:solidFill>
                  <a:srgbClr val="C9D4E5"/>
                </a:solidFill>
                <a:latin typeface="Segoe UI"/>
                <a:ea typeface="Segoe UI"/>
                <a:cs typeface="Segoe UI"/>
              </a:defRPr>
            </a:defPPr>
          </a:lstStyle>
          <a:p xmlns:a="http://schemas.openxmlformats.org/drawingml/2006/main">
            <a:pPr algn="l">
              <a:defRPr sz="1275" b="0">
                <a:solidFill>
                  <a:srgbClr val="C9D4E5"/>
                </a:solidFill>
                <a:latin typeface="Segoe UI"/>
                <a:ea typeface="Segoe UI"/>
                <a:cs typeface="Segoe UI"/>
              </a:defRPr>
            </a:pPr>
            <a:r>
              <a:rPr sz="1275" b="0">
                <a:solidFill>
                  <a:srgbClr val="C9D4E5"/>
                </a:solidFill>
                <a:latin typeface="Segoe UI"/>
                <a:ea typeface="Segoe UI"/>
                <a:cs typeface="Segoe UI"/>
              </a:rPr>
              <a:t>repeat customers</a:t>
            </a:r>
          </a:p>
        </p:txBody>
      </p:sp>
      <p:sp>
        <p:nvSpPr>
          <p:cNvPr id="26" name="">
            <a:extLst xmlns:a="http://schemas.openxmlformats.org/drawingml/2006/main">
              <a:ext uri="{FF2B5EF4-FFF2-40B4-BE49-F238E27FC236}">
                <a16:creationId xmlns:a16="http://schemas.microsoft.com/office/drawing/2014/main" id="{E1E5211C-F1AB-4E3A-ADCF-3C419D0A5D45}"/>
              </a:ext>
            </a:extLst>
          </p:cNvPr>
          <p:cNvSpPr>
            <a:spLocks xmlns:a="http://schemas.openxmlformats.org/drawingml/2006/main" noGrp="1"/>
          </p:cNvSpPr>
          <p:nvPr/>
        </p:nvSpPr>
        <p:spPr>
          <a:xfrm xmlns:a="http://schemas.openxmlformats.org/drawingml/2006/main">
            <a:off x="10096500" y="4705350"/>
            <a:ext cx="76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314"/>
          </a:bodyPr>
          <a:lstStyle xmlns:a="http://schemas.openxmlformats.org/drawingml/2006/main">
            <a:defPPr algn="l">
              <a:defRPr sz="2550" b="1">
                <a:solidFill>
                  <a:srgbClr val="F2A03D"/>
                </a:solidFill>
                <a:latin typeface="Segoe UI"/>
                <a:ea typeface="Segoe UI"/>
                <a:cs typeface="Segoe UI"/>
              </a:defRPr>
            </a:defPPr>
          </a:lstStyle>
          <a:p xmlns:a="http://schemas.openxmlformats.org/drawingml/2006/main">
            <a:pPr algn="l">
              <a:defRPr sz="2550" b="1">
                <a:solidFill>
                  <a:srgbClr val="F2A03D"/>
                </a:solidFill>
                <a:latin typeface="Segoe UI"/>
                <a:ea typeface="Segoe UI"/>
                <a:cs typeface="Segoe UI"/>
              </a:defRPr>
            </a:pPr>
            <a:r>
              <a:rPr sz="2550" b="1">
                <a:solidFill>
                  <a:srgbClr val="F2A03D"/>
                </a:solidFill>
                <a:latin typeface="Segoe UI"/>
                <a:ea typeface="Segoe UI"/>
                <a:cs typeface="Segoe UI"/>
              </a:rPr>
              <a:t>42</a:t>
            </a:r>
          </a:p>
        </p:txBody>
      </p:sp>
      <p:sp>
        <p:nvSpPr>
          <p:cNvPr id="27" name="">
            <a:extLst xmlns:a="http://schemas.openxmlformats.org/drawingml/2006/main">
              <a:ext uri="{FF2B5EF4-FFF2-40B4-BE49-F238E27FC236}">
                <a16:creationId xmlns:a16="http://schemas.microsoft.com/office/drawing/2014/main" id="{4F18E8CC-BD48-47CC-8A9B-25F5B0D2E666}"/>
              </a:ext>
            </a:extLst>
          </p:cNvPr>
          <p:cNvSpPr>
            <a:spLocks xmlns:a="http://schemas.openxmlformats.org/drawingml/2006/main" noGrp="1"/>
          </p:cNvSpPr>
          <p:nvPr/>
        </p:nvSpPr>
        <p:spPr>
          <a:xfrm xmlns:a="http://schemas.openxmlformats.org/drawingml/2006/main">
            <a:off x="9829800" y="514350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0">
                <a:solidFill>
                  <a:srgbClr val="C9D4E5"/>
                </a:solidFill>
                <a:latin typeface="Segoe UI"/>
                <a:ea typeface="Segoe UI"/>
                <a:cs typeface="Segoe UI"/>
              </a:defRPr>
            </a:defPPr>
          </a:lstStyle>
          <a:p xmlns:a="http://schemas.openxmlformats.org/drawingml/2006/main">
            <a:pPr algn="ctr">
              <a:defRPr sz="1275" b="0">
                <a:solidFill>
                  <a:srgbClr val="C9D4E5"/>
                </a:solidFill>
                <a:latin typeface="Segoe UI"/>
                <a:ea typeface="Segoe UI"/>
                <a:cs typeface="Segoe UI"/>
              </a:defRPr>
            </a:pPr>
            <a:r>
              <a:rPr sz="1275" b="0">
                <a:solidFill>
                  <a:srgbClr val="C9D4E5"/>
                </a:solidFill>
                <a:latin typeface="Segoe UI"/>
                <a:ea typeface="Segoe UI"/>
                <a:cs typeface="Segoe UI"/>
              </a:rPr>
              <a:t>grouping rows</a:t>
            </a:r>
          </a:p>
        </p:txBody>
      </p:sp>
    </p:spTree>
    <p:extLst>
      <p:ext uri="{BB962C8B-B14F-4D97-AF65-F5344CB8AC3E}">
        <p14:creationId xmlns:p14="http://schemas.microsoft.com/office/powerpoint/2010/main" val="1294296372"/>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87B8224-AD39-4712-9133-0A4F7D2EF1A4}"/>
              </a:ext>
            </a:extLst>
          </p:cNvPr>
          <p:cNvSpPr>
            <a:spLocks xmlns:a="http://schemas.openxmlformats.org/drawingml/2006/main" noGrp="1"/>
          </p:cNvSpPr>
          <p:nvPr/>
        </p:nvSpPr>
        <p:spPr>
          <a:xfrm xmlns:a="http://schemas.openxmlformats.org/drawingml/2006/main">
            <a:off x="609600" y="3238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1">
                <a:solidFill>
                  <a:srgbClr val="F2A03D"/>
                </a:solidFill>
                <a:latin typeface="Segoe UI"/>
                <a:ea typeface="Segoe UI"/>
                <a:cs typeface="Segoe UI"/>
              </a:defRPr>
            </a:defPPr>
          </a:lstStyle>
          <a:p xmlns:a="http://schemas.openxmlformats.org/drawingml/2006/main">
            <a:pPr algn="l">
              <a:defRPr sz="1275" b="1">
                <a:solidFill>
                  <a:srgbClr val="F2A03D"/>
                </a:solidFill>
                <a:latin typeface="Segoe UI"/>
                <a:ea typeface="Segoe UI"/>
                <a:cs typeface="Segoe UI"/>
              </a:defRPr>
            </a:pPr>
            <a:r>
              <a:rPr sz="1275" b="1">
                <a:solidFill>
                  <a:srgbClr val="F2A03D"/>
                </a:solidFill>
                <a:latin typeface="Segoe UI"/>
                <a:ea typeface="Segoe UI"/>
                <a:cs typeface="Segoe UI"/>
              </a:rPr>
              <a:t>07</a:t>
            </a:r>
          </a:p>
        </p:txBody>
      </p:sp>
      <p:sp>
        <p:nvSpPr>
          <p:cNvPr id="2" name="">
            <a:extLst xmlns:a="http://schemas.openxmlformats.org/drawingml/2006/main">
              <a:ext uri="{FF2B5EF4-FFF2-40B4-BE49-F238E27FC236}">
                <a16:creationId xmlns:a16="http://schemas.microsoft.com/office/drawing/2014/main" id="{93F23278-CA6B-454F-8563-7D8A33D08F91}"/>
              </a:ext>
            </a:extLst>
          </p:cNvPr>
          <p:cNvSpPr>
            <a:spLocks xmlns:a="http://schemas.openxmlformats.org/drawingml/2006/main" noGrp="1"/>
          </p:cNvSpPr>
          <p:nvPr/>
        </p:nvSpPr>
        <p:spPr>
          <a:xfrm xmlns:a="http://schemas.openxmlformats.org/drawingml/2006/main">
            <a:off x="1181100" y="26670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defPPr algn="l">
              <a:defRPr sz="3150" b="1">
                <a:solidFill>
                  <a:srgbClr val="172033"/>
                </a:solidFill>
                <a:latin typeface="Segoe UI"/>
                <a:ea typeface="Segoe UI"/>
                <a:cs typeface="Segoe UI"/>
              </a:defRPr>
            </a:defPPr>
          </a:lstStyle>
          <a:p xmlns:a="http://schemas.openxmlformats.org/drawingml/2006/main">
            <a:pPr algn="l">
              <a:defRPr sz="3150" b="1">
                <a:solidFill>
                  <a:srgbClr val="172033"/>
                </a:solidFill>
                <a:latin typeface="Segoe UI"/>
                <a:ea typeface="Segoe UI"/>
                <a:cs typeface="Segoe UI"/>
              </a:defRPr>
            </a:pPr>
            <a:r>
              <a:rPr sz="3150" b="1">
                <a:solidFill>
                  <a:srgbClr val="172033"/>
                </a:solidFill>
                <a:latin typeface="Segoe UI"/>
                <a:ea typeface="Segoe UI"/>
                <a:cs typeface="Segoe UI"/>
              </a:rPr>
              <a:t>Columnar storage and threads reduce query time</a:t>
            </a:r>
          </a:p>
        </p:txBody>
      </p:sp>
      <p:sp>
        <p:nvSpPr>
          <p:cNvPr id="3" name="">
            <a:extLst xmlns:a="http://schemas.openxmlformats.org/drawingml/2006/main">
              <a:ext uri="{FF2B5EF4-FFF2-40B4-BE49-F238E27FC236}">
                <a16:creationId xmlns:a16="http://schemas.microsoft.com/office/drawing/2014/main" id="{1C1192D8-8F5E-470D-A476-242163BAB101}"/>
              </a:ext>
            </a:extLst>
          </p:cNvPr>
          <p:cNvSpPr>
            <a:spLocks xmlns:a="http://schemas.openxmlformats.org/drawingml/2006/main" noGrp="1"/>
          </p:cNvSpPr>
          <p:nvPr/>
        </p:nvSpPr>
        <p:spPr>
          <a:xfrm xmlns:a="http://schemas.openxmlformats.org/drawingml/2006/main">
            <a:off x="609600" y="914400"/>
            <a:ext cx="10972800" cy="19050"/>
          </a:xfrm>
          <a:prstGeom xmlns:a="http://schemas.openxmlformats.org/drawingml/2006/main" prst="rect">
            <a:avLst/>
          </a:prstGeom>
          <a:solidFill xmlns:a="http://schemas.openxmlformats.org/drawingml/2006/main">
            <a:srgbClr val="DCE2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7772E61-A52F-483C-9774-3C203079D951}"/>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0">
                <a:solidFill>
                  <a:srgbClr val="56657A"/>
                </a:solidFill>
                <a:latin typeface="Segoe UI"/>
                <a:ea typeface="Segoe UI"/>
                <a:cs typeface="Segoe UI"/>
              </a:defRPr>
            </a:defPPr>
          </a:lstStyle>
          <a:p xmlns:a="http://schemas.openxmlformats.org/drawingml/2006/main">
            <a:pPr algn="l">
              <a:defRPr sz="1050" b="0">
                <a:solidFill>
                  <a:srgbClr val="56657A"/>
                </a:solidFill>
                <a:latin typeface="Segoe UI"/>
                <a:ea typeface="Segoe UI"/>
                <a:cs typeface="Segoe UI"/>
              </a:defRPr>
            </a:pPr>
            <a:r>
              <a:rPr sz="1050" b="0">
                <a:solidFill>
                  <a:srgbClr val="56657A"/>
                </a:solidFill>
                <a:latin typeface="Segoe UI"/>
                <a:ea typeface="Segoe UI"/>
                <a:cs typeface="Segoe UI"/>
              </a:rPr>
              <a:t>Presenter: Aniket Nikam</a:t>
            </a:r>
          </a:p>
        </p:txBody>
      </p:sp>
      <p:sp>
        <p:nvSpPr>
          <p:cNvPr id="5" name="">
            <a:extLst xmlns:a="http://schemas.openxmlformats.org/drawingml/2006/main">
              <a:ext uri="{FF2B5EF4-FFF2-40B4-BE49-F238E27FC236}">
                <a16:creationId xmlns:a16="http://schemas.microsoft.com/office/drawing/2014/main" id="{0983FCD9-E66C-4B19-8919-CCFDEBA13798}"/>
              </a:ext>
            </a:extLst>
          </p:cNvPr>
          <p:cNvSpPr>
            <a:spLocks xmlns:a="http://schemas.openxmlformats.org/drawingml/2006/main" noGrp="1"/>
          </p:cNvSpPr>
          <p:nvPr/>
        </p:nvSpPr>
        <p:spPr>
          <a:xfrm xmlns:a="http://schemas.openxmlformats.org/drawingml/2006/main">
            <a:off x="7810500" y="6477000"/>
            <a:ext cx="3771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r">
              <a:defRPr sz="1050" b="0">
                <a:solidFill>
                  <a:srgbClr val="56657A"/>
                </a:solidFill>
                <a:latin typeface="Segoe UI"/>
                <a:ea typeface="Segoe UI"/>
                <a:cs typeface="Segoe UI"/>
              </a:defRPr>
            </a:defPPr>
          </a:lstStyle>
          <a:p xmlns:a="http://schemas.openxmlformats.org/drawingml/2006/main">
            <a:pPr algn="r">
              <a:defRPr sz="1050" b="0">
                <a:solidFill>
                  <a:srgbClr val="56657A"/>
                </a:solidFill>
                <a:latin typeface="Segoe UI"/>
                <a:ea typeface="Segoe UI"/>
                <a:cs typeface="Segoe UI"/>
              </a:defRPr>
            </a:pPr>
            <a:r>
              <a:rPr sz="1050" b="0">
                <a:solidFill>
                  <a:srgbClr val="56657A"/>
                </a:solidFill>
                <a:latin typeface="Segoe UI"/>
                <a:ea typeface="Segoe UI"/>
                <a:cs typeface="Segoe UI"/>
              </a:rPr>
              <a:t>E-Commerce Sales Analytics · DuckDB + RabbitMQ</a:t>
            </a:r>
          </a:p>
        </p:txBody>
      </p:sp>
      <p:sp>
        <p:nvSpPr>
          <p:cNvPr id="6" name="">
            <a:extLst xmlns:a="http://schemas.openxmlformats.org/drawingml/2006/main">
              <a:ext uri="{FF2B5EF4-FFF2-40B4-BE49-F238E27FC236}">
                <a16:creationId xmlns:a16="http://schemas.microsoft.com/office/drawing/2014/main" id="{48A16A4F-1915-45A6-9C82-A43ABB959F3B}"/>
              </a:ext>
            </a:extLst>
          </p:cNvPr>
          <p:cNvSpPr>
            <a:spLocks xmlns:a="http://schemas.openxmlformats.org/drawingml/2006/main" noGrp="1"/>
          </p:cNvSpPr>
          <p:nvPr/>
        </p:nvSpPr>
        <p:spPr>
          <a:xfrm xmlns:a="http://schemas.openxmlformats.org/drawingml/2006/main">
            <a:off x="609600" y="1162050"/>
            <a:ext cx="533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defPPr algn="l">
              <a:defRPr sz="1800" b="1">
                <a:solidFill>
                  <a:srgbClr val="101C33"/>
                </a:solidFill>
                <a:latin typeface="Segoe UI"/>
                <a:ea typeface="Segoe UI"/>
                <a:cs typeface="Segoe UI"/>
              </a:defRPr>
            </a:defPPr>
          </a:lstStyle>
          <a:p xmlns:a="http://schemas.openxmlformats.org/drawingml/2006/main">
            <a:pPr algn="l">
              <a:defRPr sz="1800" b="1">
                <a:solidFill>
                  <a:srgbClr val="101C33"/>
                </a:solidFill>
                <a:latin typeface="Segoe UI"/>
                <a:ea typeface="Segoe UI"/>
                <a:cs typeface="Segoe UI"/>
              </a:defRPr>
            </a:pPr>
            <a:r>
              <a:rPr sz="1800" b="1">
                <a:solidFill>
                  <a:srgbClr val="101C33"/>
                </a:solidFill>
                <a:latin typeface="Segoe UI"/>
                <a:ea typeface="Segoe UI"/>
                <a:cs typeface="Segoe UI"/>
              </a:rPr>
              <a:t>Same aggregation, median of five runs</a:t>
            </a:r>
          </a:p>
        </p:txBody>
      </p:sp>
      <p:graphicFrame>
        <p:nvGraphicFramePr>
          <p:cNvPr id="7" name="Chart">
            <a:extLst xmlns:a="http://schemas.openxmlformats.org/drawingml/2006/main">
              <a:ext uri="{FF2B5EF4-FFF2-40B4-BE49-F238E27FC236}">
                <a16:creationId xmlns:a16="http://schemas.microsoft.com/office/drawing/2014/main" id="{67984833-52B1-486D-BF2B-D37DC9100036}"/>
              </a:ext>
            </a:extLst>
          </p:cNvPr>
          <p:cNvGraphicFramePr/>
          <p:nvPr/>
        </p:nvGraphicFramePr>
        <p:xfrm>
          <a:off xmlns:a="http://schemas.openxmlformats.org/drawingml/2006/main" x="533400" y="1543050"/>
          <a:ext xmlns:a="http://schemas.openxmlformats.org/drawingml/2006/main" cx="7239000" cy="3943350"/>
        </p:xfrm>
        <a:graphic xmlns:a="http://schemas.openxmlformats.org/drawingml/2006/main">
          <a:graphicData uri="http://schemas.openxmlformats.org/drawingml/2006/chart">
            <c:chart xmlns:r="http://schemas.openxmlformats.org/officeDocument/2006/relationships" xmlns:c="http://schemas.openxmlformats.org/drawingml/2006/chart" r:id="R68ff78ee885144b7"/>
          </a:graphicData>
        </a:graphic>
      </p:graphicFrame>
      <p:sp>
        <p:nvSpPr>
          <p:cNvPr id="8" name="">
            <a:extLst xmlns:a="http://schemas.openxmlformats.org/drawingml/2006/main">
              <a:ext uri="{FF2B5EF4-FFF2-40B4-BE49-F238E27FC236}">
                <a16:creationId xmlns:a16="http://schemas.microsoft.com/office/drawing/2014/main" id="{A50EF2BC-03C6-4D65-BB04-3B67FE337D7D}"/>
              </a:ext>
            </a:extLst>
          </p:cNvPr>
          <p:cNvSpPr>
            <a:spLocks xmlns:a="http://schemas.openxmlformats.org/drawingml/2006/main" noGrp="1"/>
          </p:cNvSpPr>
          <p:nvPr/>
        </p:nvSpPr>
        <p:spPr>
          <a:xfrm xmlns:a="http://schemas.openxmlformats.org/drawingml/2006/main">
            <a:off x="8096250" y="1352550"/>
            <a:ext cx="19050" cy="4476750"/>
          </a:xfrm>
          <a:prstGeom xmlns:a="http://schemas.openxmlformats.org/drawingml/2006/main" prst="rect">
            <a:avLst/>
          </a:prstGeom>
          <a:solidFill xmlns:a="http://schemas.openxmlformats.org/drawingml/2006/main">
            <a:srgbClr val="DCE2E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EE15C95-2639-44C9-8385-267D5426F1B7}"/>
              </a:ext>
            </a:extLst>
          </p:cNvPr>
          <p:cNvSpPr>
            <a:spLocks xmlns:a="http://schemas.openxmlformats.org/drawingml/2006/main" noGrp="1"/>
          </p:cNvSpPr>
          <p:nvPr/>
        </p:nvSpPr>
        <p:spPr>
          <a:xfrm xmlns:a="http://schemas.openxmlformats.org/drawingml/2006/main">
            <a:off x="8477250" y="13525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795"/>
          </a:bodyPr>
          <a:lstStyle xmlns:a="http://schemas.openxmlformats.org/drawingml/2006/main">
            <a:defPPr algn="l">
              <a:defRPr sz="1950" b="1">
                <a:solidFill>
                  <a:srgbClr val="101C33"/>
                </a:solidFill>
                <a:latin typeface="Segoe UI"/>
                <a:ea typeface="Segoe UI"/>
                <a:cs typeface="Segoe UI"/>
              </a:defRPr>
            </a:defPPr>
          </a:lstStyle>
          <a:p xmlns:a="http://schemas.openxmlformats.org/drawingml/2006/main">
            <a:pPr algn="l">
              <a:defRPr sz="1950" b="1">
                <a:solidFill>
                  <a:srgbClr val="101C33"/>
                </a:solidFill>
                <a:latin typeface="Segoe UI"/>
                <a:ea typeface="Segoe UI"/>
                <a:cs typeface="Segoe UI"/>
              </a:defRPr>
            </a:pPr>
            <a:r>
              <a:rPr sz="1950" b="1">
                <a:solidFill>
                  <a:srgbClr val="101C33"/>
                </a:solidFill>
                <a:latin typeface="Segoe UI"/>
                <a:ea typeface="Segoe UI"/>
                <a:cs typeface="Segoe UI"/>
              </a:rPr>
              <a:t>Why performance improves</a:t>
            </a:r>
          </a:p>
        </p:txBody>
      </p:sp>
      <p:sp>
        <p:nvSpPr>
          <p:cNvPr id="10" name="">
            <a:extLst xmlns:a="http://schemas.openxmlformats.org/drawingml/2006/main">
              <a:ext uri="{FF2B5EF4-FFF2-40B4-BE49-F238E27FC236}">
                <a16:creationId xmlns:a16="http://schemas.microsoft.com/office/drawing/2014/main" id="{CE4DCD1B-9155-4B98-8234-59A34F236F69}"/>
              </a:ext>
            </a:extLst>
          </p:cNvPr>
          <p:cNvSpPr>
            <a:spLocks xmlns:a="http://schemas.openxmlformats.org/drawingml/2006/main" noGrp="1"/>
          </p:cNvSpPr>
          <p:nvPr/>
        </p:nvSpPr>
        <p:spPr>
          <a:xfrm xmlns:a="http://schemas.openxmlformats.org/drawingml/2006/main">
            <a:off x="8477250" y="1809750"/>
            <a:ext cx="2952750" cy="2724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097"/>
          </a:bodyPr>
          <a:lstStyle xmlns:a="http://schemas.openxmlformats.org/drawingml/2006/main">
            <a:defPPr>
              <a:defRPr sz="1500">
                <a:solidFill>
                  <a:srgbClr val="172033"/>
                </a:solidFill>
                <a:latin typeface="Segoe UI"/>
                <a:ea typeface="Segoe UI"/>
                <a:cs typeface="Segoe UI"/>
              </a:defRPr>
            </a:defPPr>
          </a:lstStyle>
          <a:p xmlns:a="http://schemas.openxmlformats.org/drawingml/2006/main">
            <a:pPr marL="228600" indent="-114300">
              <a:spcAft>
                <a:spcPts val="700"/>
              </a:spcAft>
              <a:buChar char="•"/>
              <a:defRPr sz="1500">
                <a:solidFill>
                  <a:srgbClr val="172033"/>
                </a:solidFill>
                <a:latin typeface="Segoe UI"/>
                <a:ea typeface="Segoe UI"/>
                <a:cs typeface="Segoe UI"/>
              </a:defRPr>
            </a:pPr>
            <a:r>
              <a:rPr sz="1500">
                <a:solidFill>
                  <a:srgbClr val="172033"/>
                </a:solidFill>
                <a:latin typeface="Segoe UI"/>
                <a:ea typeface="Segoe UI"/>
                <a:cs typeface="Segoe UI"/>
              </a:rPr>
              <a:t>Parquet reads only required columns and skips irrelevant partitions</a:t>
            </a:r>
          </a:p>
          <a:p xmlns:a="http://schemas.openxmlformats.org/drawingml/2006/main">
            <a:pPr marL="228600" indent="-114300">
              <a:spcAft>
                <a:spcPts val="700"/>
              </a:spcAft>
              <a:buChar char="•"/>
              <a:defRPr sz="1500">
                <a:solidFill>
                  <a:srgbClr val="172033"/>
                </a:solidFill>
                <a:latin typeface="Segoe UI"/>
                <a:ea typeface="Segoe UI"/>
                <a:cs typeface="Segoe UI"/>
              </a:defRPr>
            </a:pPr>
            <a:r>
              <a:rPr sz="1500">
                <a:solidFill>
                  <a:srgbClr val="172033"/>
                </a:solidFill>
                <a:latin typeface="Segoe UI"/>
                <a:ea typeface="Segoe UI"/>
                <a:cs typeface="Segoe UI"/>
              </a:rPr>
              <a:t>DuckDB tables avoid parsing CSV text for every query</a:t>
            </a:r>
          </a:p>
          <a:p xmlns:a="http://schemas.openxmlformats.org/drawingml/2006/main">
            <a:pPr marL="228600" indent="-114300">
              <a:spcAft>
                <a:spcPts val="700"/>
              </a:spcAft>
              <a:buChar char="•"/>
              <a:defRPr sz="1500">
                <a:solidFill>
                  <a:srgbClr val="172033"/>
                </a:solidFill>
                <a:latin typeface="Segoe UI"/>
                <a:ea typeface="Segoe UI"/>
                <a:cs typeface="Segoe UI"/>
              </a:defRPr>
            </a:pPr>
            <a:r>
              <a:rPr sz="1500">
                <a:solidFill>
                  <a:srgbClr val="172033"/>
                </a:solidFill>
                <a:latin typeface="Segoe UI"/>
                <a:ea typeface="Segoe UI"/>
                <a:cs typeface="Segoe UI"/>
              </a:rPr>
              <a:t>Four threads scan and aggregate independent data blocks in parallel</a:t>
            </a:r>
          </a:p>
          <a:p xmlns:a="http://schemas.openxmlformats.org/drawingml/2006/main">
            <a:pPr marL="228600" indent="-114300">
              <a:spcAft>
                <a:spcPts val="700"/>
              </a:spcAft>
              <a:buChar char="•"/>
              <a:defRPr sz="1500">
                <a:solidFill>
                  <a:srgbClr val="172033"/>
                </a:solidFill>
                <a:latin typeface="Segoe UI"/>
                <a:ea typeface="Segoe UI"/>
                <a:cs typeface="Segoe UI"/>
              </a:defRPr>
            </a:pPr>
            <a:r>
              <a:rPr sz="1500">
                <a:solidFill>
                  <a:srgbClr val="172033"/>
                </a:solidFill>
                <a:latin typeface="Segoe UI"/>
                <a:ea typeface="Segoe UI"/>
                <a:cs typeface="Segoe UI"/>
              </a:rPr>
              <a:t>Indexes help key lookups used by joins and filters</a:t>
            </a:r>
          </a:p>
          <a:p xmlns:a="http://schemas.openxmlformats.org/drawingml/2006/main">
            <a:pPr marL="228600" indent="-114300">
              <a:spcAft>
                <a:spcPts val="700"/>
              </a:spcAft>
              <a:buChar char="•"/>
              <a:defRPr sz="1500">
                <a:solidFill>
                  <a:srgbClr val="172033"/>
                </a:solidFill>
                <a:latin typeface="Segoe UI"/>
                <a:ea typeface="Segoe UI"/>
                <a:cs typeface="Segoe UI"/>
              </a:defRPr>
            </a:pPr>
            <a:r>
              <a:rPr sz="1500">
                <a:solidFill>
                  <a:srgbClr val="172033"/>
                </a:solidFill>
                <a:latin typeface="Segoe UI"/>
                <a:ea typeface="Segoe UI"/>
                <a:cs typeface="Segoe UI"/>
              </a:rPr>
              <a:t>EXPLAIN ANALYZE shows where the query spends time</a:t>
            </a:r>
          </a:p>
        </p:txBody>
      </p:sp>
      <p:sp>
        <p:nvSpPr>
          <p:cNvPr id="11" name="">
            <a:extLst xmlns:a="http://schemas.openxmlformats.org/drawingml/2006/main">
              <a:ext uri="{FF2B5EF4-FFF2-40B4-BE49-F238E27FC236}">
                <a16:creationId xmlns:a16="http://schemas.microsoft.com/office/drawing/2014/main" id="{CEB14060-ABA3-49EB-9F68-046F8FAB7195}"/>
              </a:ext>
            </a:extLst>
          </p:cNvPr>
          <p:cNvSpPr>
            <a:spLocks xmlns:a="http://schemas.openxmlformats.org/drawingml/2006/main" noGrp="1"/>
          </p:cNvSpPr>
          <p:nvPr/>
        </p:nvSpPr>
        <p:spPr>
          <a:xfrm xmlns:a="http://schemas.openxmlformats.org/drawingml/2006/main">
            <a:off x="8477250" y="4762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697"/>
          </a:bodyPr>
          <a:lstStyle xmlns:a="http://schemas.openxmlformats.org/drawingml/2006/main">
            <a:defPPr algn="l">
              <a:defRPr sz="1650" b="1">
                <a:solidFill>
                  <a:srgbClr val="101C33"/>
                </a:solidFill>
                <a:latin typeface="Segoe UI"/>
                <a:ea typeface="Segoe UI"/>
                <a:cs typeface="Segoe UI"/>
              </a:defRPr>
            </a:defPPr>
          </a:lstStyle>
          <a:p xmlns:a="http://schemas.openxmlformats.org/drawingml/2006/main">
            <a:pPr algn="l">
              <a:defRPr sz="1650" b="1">
                <a:solidFill>
                  <a:srgbClr val="101C33"/>
                </a:solidFill>
                <a:latin typeface="Segoe UI"/>
                <a:ea typeface="Segoe UI"/>
                <a:cs typeface="Segoe UI"/>
              </a:defRPr>
            </a:pPr>
            <a:r>
              <a:rPr sz="1650" b="1">
                <a:solidFill>
                  <a:srgbClr val="101C33"/>
                </a:solidFill>
                <a:latin typeface="Segoe UI"/>
                <a:ea typeface="Segoe UI"/>
                <a:cs typeface="Segoe UI"/>
              </a:rPr>
              <a:t>Measured plan</a:t>
            </a:r>
          </a:p>
        </p:txBody>
      </p:sp>
      <p:sp>
        <p:nvSpPr>
          <p:cNvPr id="12" name="">
            <a:extLst xmlns:a="http://schemas.openxmlformats.org/drawingml/2006/main">
              <a:ext uri="{FF2B5EF4-FFF2-40B4-BE49-F238E27FC236}">
                <a16:creationId xmlns:a16="http://schemas.microsoft.com/office/drawing/2014/main" id="{68D70CDC-7EB3-4E06-B99B-73DDC8C54F67}"/>
              </a:ext>
            </a:extLst>
          </p:cNvPr>
          <p:cNvSpPr>
            <a:spLocks xmlns:a="http://schemas.openxmlformats.org/drawingml/2006/main" noGrp="1"/>
          </p:cNvSpPr>
          <p:nvPr/>
        </p:nvSpPr>
        <p:spPr>
          <a:xfrm xmlns:a="http://schemas.openxmlformats.org/drawingml/2006/main">
            <a:off x="8477250" y="5124450"/>
            <a:ext cx="285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086"/>
          </a:bodyPr>
          <a:lstStyle xmlns:a="http://schemas.openxmlformats.org/drawingml/2006/main">
            <a:defPPr algn="l">
              <a:defRPr sz="1350" b="0">
                <a:solidFill>
                  <a:srgbClr val="56657A"/>
                </a:solidFill>
                <a:latin typeface="Segoe UI"/>
                <a:ea typeface="Segoe UI"/>
                <a:cs typeface="Segoe UI"/>
              </a:defRPr>
            </a:defPPr>
          </a:lstStyle>
          <a:p xmlns:a="http://schemas.openxmlformats.org/drawingml/2006/main">
            <a:pPr algn="l">
              <a:defRPr sz="1350" b="0">
                <a:solidFill>
                  <a:srgbClr val="56657A"/>
                </a:solidFill>
                <a:latin typeface="Segoe UI"/>
                <a:ea typeface="Segoe UI"/>
                <a:cs typeface="Segoe UI"/>
              </a:defRPr>
            </a:pPr>
            <a:r>
              <a:rPr sz="1350" b="0">
                <a:solidFill>
                  <a:srgbClr val="56657A"/>
                </a:solidFill>
                <a:latin typeface="Segoe UI"/>
                <a:ea typeface="Segoe UI"/>
                <a:cs typeface="Segoe UI"/>
              </a:rPr>
              <a:t>0.0249 s total. HASH_JOIN combines dimensions and HASH_GROUP_BY calculates category totals.</a:t>
            </a:r>
          </a:p>
        </p:txBody>
      </p:sp>
      <p:sp>
        <p:nvSpPr>
          <p:cNvPr id="13" name="">
            <a:extLst xmlns:a="http://schemas.openxmlformats.org/drawingml/2006/main">
              <a:ext uri="{FF2B5EF4-FFF2-40B4-BE49-F238E27FC236}">
                <a16:creationId xmlns:a16="http://schemas.microsoft.com/office/drawing/2014/main" id="{0D9AC90C-ECA7-489E-B495-30918B2AFA28}"/>
              </a:ext>
            </a:extLst>
          </p:cNvPr>
          <p:cNvSpPr>
            <a:spLocks xmlns:a="http://schemas.openxmlformats.org/drawingml/2006/main" noGrp="1"/>
          </p:cNvSpPr>
          <p:nvPr/>
        </p:nvSpPr>
        <p:spPr>
          <a:xfrm xmlns:a="http://schemas.openxmlformats.org/drawingml/2006/main">
            <a:off x="609600" y="57340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a:solidFill>
                  <a:srgbClr val="2D9D78"/>
                </a:solidFill>
                <a:latin typeface="Segoe UI"/>
                <a:ea typeface="Segoe UI"/>
                <a:cs typeface="Segoe UI"/>
              </a:defRPr>
            </a:defPPr>
          </a:lstStyle>
          <a:p xmlns:a="http://schemas.openxmlformats.org/drawingml/2006/main">
            <a:pPr algn="ctr">
              <a:defRPr sz="1650" b="1">
                <a:solidFill>
                  <a:srgbClr val="2D9D78"/>
                </a:solidFill>
                <a:latin typeface="Segoe UI"/>
                <a:ea typeface="Segoe UI"/>
                <a:cs typeface="Segoe UI"/>
              </a:defRPr>
            </a:pPr>
            <a:r>
              <a:rPr sz="1650" b="1">
                <a:solidFill>
                  <a:srgbClr val="2D9D78"/>
                </a:solidFill>
                <a:latin typeface="Segoe UI"/>
                <a:ea typeface="Segoe UI"/>
                <a:cs typeface="Segoe UI"/>
              </a:rPr>
              <a:t>DuckDB, 4 threads: 29.319 ms median</a:t>
            </a:r>
          </a:p>
        </p:txBody>
      </p:sp>
    </p:spTree>
    <p:extLst>
      <p:ext uri="{BB962C8B-B14F-4D97-AF65-F5344CB8AC3E}">
        <p14:creationId xmlns:p14="http://schemas.microsoft.com/office/powerpoint/2010/main" val="202868828"/>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CB50C1D-85CB-4DCE-93E0-BE5FD74274D7}"/>
              </a:ext>
            </a:extLst>
          </p:cNvPr>
          <p:cNvSpPr>
            <a:spLocks xmlns:a="http://schemas.openxmlformats.org/drawingml/2006/main" noGrp="1"/>
          </p:cNvSpPr>
          <p:nvPr/>
        </p:nvSpPr>
        <p:spPr>
          <a:xfrm xmlns:a="http://schemas.openxmlformats.org/drawingml/2006/main">
            <a:off x="609600" y="3238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1">
                <a:solidFill>
                  <a:srgbClr val="F2A03D"/>
                </a:solidFill>
                <a:latin typeface="Segoe UI"/>
                <a:ea typeface="Segoe UI"/>
                <a:cs typeface="Segoe UI"/>
              </a:defRPr>
            </a:defPPr>
          </a:lstStyle>
          <a:p xmlns:a="http://schemas.openxmlformats.org/drawingml/2006/main">
            <a:pPr algn="l">
              <a:defRPr sz="1275" b="1">
                <a:solidFill>
                  <a:srgbClr val="F2A03D"/>
                </a:solidFill>
                <a:latin typeface="Segoe UI"/>
                <a:ea typeface="Segoe UI"/>
                <a:cs typeface="Segoe UI"/>
              </a:defRPr>
            </a:pPr>
            <a:r>
              <a:rPr sz="1275" b="1">
                <a:solidFill>
                  <a:srgbClr val="F2A03D"/>
                </a:solidFill>
                <a:latin typeface="Segoe UI"/>
                <a:ea typeface="Segoe UI"/>
                <a:cs typeface="Segoe UI"/>
              </a:rPr>
              <a:t>08</a:t>
            </a:r>
          </a:p>
        </p:txBody>
      </p:sp>
      <p:sp>
        <p:nvSpPr>
          <p:cNvPr id="2" name="">
            <a:extLst xmlns:a="http://schemas.openxmlformats.org/drawingml/2006/main">
              <a:ext uri="{FF2B5EF4-FFF2-40B4-BE49-F238E27FC236}">
                <a16:creationId xmlns:a16="http://schemas.microsoft.com/office/drawing/2014/main" id="{A7E5D6BF-6AB8-4737-9BA8-507C2A349C3D}"/>
              </a:ext>
            </a:extLst>
          </p:cNvPr>
          <p:cNvSpPr>
            <a:spLocks xmlns:a="http://schemas.openxmlformats.org/drawingml/2006/main" noGrp="1"/>
          </p:cNvSpPr>
          <p:nvPr/>
        </p:nvSpPr>
        <p:spPr>
          <a:xfrm xmlns:a="http://schemas.openxmlformats.org/drawingml/2006/main">
            <a:off x="1181100" y="26670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defPPr algn="l">
              <a:defRPr sz="3150" b="1">
                <a:solidFill>
                  <a:srgbClr val="172033"/>
                </a:solidFill>
                <a:latin typeface="Segoe UI"/>
                <a:ea typeface="Segoe UI"/>
                <a:cs typeface="Segoe UI"/>
              </a:defRPr>
            </a:defPPr>
          </a:lstStyle>
          <a:p xmlns:a="http://schemas.openxmlformats.org/drawingml/2006/main">
            <a:pPr algn="l">
              <a:defRPr sz="3150" b="1">
                <a:solidFill>
                  <a:srgbClr val="172033"/>
                </a:solidFill>
                <a:latin typeface="Segoe UI"/>
                <a:ea typeface="Segoe UI"/>
                <a:cs typeface="Segoe UI"/>
              </a:defRPr>
            </a:pPr>
            <a:r>
              <a:rPr sz="3150" b="1">
                <a:solidFill>
                  <a:srgbClr val="172033"/>
                </a:solidFill>
                <a:latin typeface="Segoe UI"/>
                <a:ea typeface="Segoe UI"/>
                <a:cs typeface="Segoe UI"/>
              </a:rPr>
              <a:t>The dashboard turns warehouse data into decisions</a:t>
            </a:r>
          </a:p>
        </p:txBody>
      </p:sp>
      <p:sp>
        <p:nvSpPr>
          <p:cNvPr id="3" name="">
            <a:extLst xmlns:a="http://schemas.openxmlformats.org/drawingml/2006/main">
              <a:ext uri="{FF2B5EF4-FFF2-40B4-BE49-F238E27FC236}">
                <a16:creationId xmlns:a16="http://schemas.microsoft.com/office/drawing/2014/main" id="{BDC64CB9-2435-4678-BABB-44585199B1A5}"/>
              </a:ext>
            </a:extLst>
          </p:cNvPr>
          <p:cNvSpPr>
            <a:spLocks xmlns:a="http://schemas.openxmlformats.org/drawingml/2006/main" noGrp="1"/>
          </p:cNvSpPr>
          <p:nvPr/>
        </p:nvSpPr>
        <p:spPr>
          <a:xfrm xmlns:a="http://schemas.openxmlformats.org/drawingml/2006/main">
            <a:off x="609600" y="914400"/>
            <a:ext cx="10972800" cy="19050"/>
          </a:xfrm>
          <a:prstGeom xmlns:a="http://schemas.openxmlformats.org/drawingml/2006/main" prst="rect">
            <a:avLst/>
          </a:prstGeom>
          <a:solidFill xmlns:a="http://schemas.openxmlformats.org/drawingml/2006/main">
            <a:srgbClr val="DCE2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F29302D-3FC9-4950-8C93-E586FBCF4905}"/>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0">
                <a:solidFill>
                  <a:srgbClr val="56657A"/>
                </a:solidFill>
                <a:latin typeface="Segoe UI"/>
                <a:ea typeface="Segoe UI"/>
                <a:cs typeface="Segoe UI"/>
              </a:defRPr>
            </a:defPPr>
          </a:lstStyle>
          <a:p xmlns:a="http://schemas.openxmlformats.org/drawingml/2006/main">
            <a:pPr algn="l">
              <a:defRPr sz="1050" b="0">
                <a:solidFill>
                  <a:srgbClr val="56657A"/>
                </a:solidFill>
                <a:latin typeface="Segoe UI"/>
                <a:ea typeface="Segoe UI"/>
                <a:cs typeface="Segoe UI"/>
              </a:defRPr>
            </a:pPr>
            <a:r>
              <a:rPr sz="1050" b="0">
                <a:solidFill>
                  <a:srgbClr val="56657A"/>
                </a:solidFill>
                <a:latin typeface="Segoe UI"/>
                <a:ea typeface="Segoe UI"/>
                <a:cs typeface="Segoe UI"/>
              </a:rPr>
              <a:t>Presenter: Aniket Nikam</a:t>
            </a:r>
          </a:p>
        </p:txBody>
      </p:sp>
      <p:sp>
        <p:nvSpPr>
          <p:cNvPr id="5" name="">
            <a:extLst xmlns:a="http://schemas.openxmlformats.org/drawingml/2006/main">
              <a:ext uri="{FF2B5EF4-FFF2-40B4-BE49-F238E27FC236}">
                <a16:creationId xmlns:a16="http://schemas.microsoft.com/office/drawing/2014/main" id="{74D3E85B-3BE0-4B53-A454-01BC2D778CAD}"/>
              </a:ext>
            </a:extLst>
          </p:cNvPr>
          <p:cNvSpPr>
            <a:spLocks xmlns:a="http://schemas.openxmlformats.org/drawingml/2006/main" noGrp="1"/>
          </p:cNvSpPr>
          <p:nvPr/>
        </p:nvSpPr>
        <p:spPr>
          <a:xfrm xmlns:a="http://schemas.openxmlformats.org/drawingml/2006/main">
            <a:off x="7810500" y="6477000"/>
            <a:ext cx="3771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r">
              <a:defRPr sz="1050" b="0">
                <a:solidFill>
                  <a:srgbClr val="56657A"/>
                </a:solidFill>
                <a:latin typeface="Segoe UI"/>
                <a:ea typeface="Segoe UI"/>
                <a:cs typeface="Segoe UI"/>
              </a:defRPr>
            </a:defPPr>
          </a:lstStyle>
          <a:p xmlns:a="http://schemas.openxmlformats.org/drawingml/2006/main">
            <a:pPr algn="r">
              <a:defRPr sz="1050" b="0">
                <a:solidFill>
                  <a:srgbClr val="56657A"/>
                </a:solidFill>
                <a:latin typeface="Segoe UI"/>
                <a:ea typeface="Segoe UI"/>
                <a:cs typeface="Segoe UI"/>
              </a:defRPr>
            </a:pPr>
            <a:r>
              <a:rPr sz="1050" b="0">
                <a:solidFill>
                  <a:srgbClr val="56657A"/>
                </a:solidFill>
                <a:latin typeface="Segoe UI"/>
                <a:ea typeface="Segoe UI"/>
                <a:cs typeface="Segoe UI"/>
              </a:rPr>
              <a:t>E-Commerce Sales Analytics · DuckDB + RabbitMQ</a:t>
            </a:r>
          </a:p>
        </p:txBody>
      </p:sp>
      <p:sp>
        <p:nvSpPr>
          <p:cNvPr id="6" name="">
            <a:extLst xmlns:a="http://schemas.openxmlformats.org/drawingml/2006/main">
              <a:ext uri="{FF2B5EF4-FFF2-40B4-BE49-F238E27FC236}">
                <a16:creationId xmlns:a16="http://schemas.microsoft.com/office/drawing/2014/main" id="{9CE02B99-62CD-4803-A2AF-FF2E5CCB2425}"/>
              </a:ext>
            </a:extLst>
          </p:cNvPr>
          <p:cNvSpPr>
            <a:spLocks xmlns:a="http://schemas.openxmlformats.org/drawingml/2006/main" noGrp="1"/>
          </p:cNvSpPr>
          <p:nvPr/>
        </p:nvSpPr>
        <p:spPr>
          <a:xfrm xmlns:a="http://schemas.openxmlformats.org/drawingml/2006/main">
            <a:off x="609600" y="1219200"/>
            <a:ext cx="6838950" cy="4762500"/>
          </a:xfrm>
          <a:prstGeom xmlns:a="http://schemas.openxmlformats.org/drawingml/2006/main" prst="roundRect">
            <a:avLst>
              <a:gd name="adj" fmla="val 1600"/>
            </a:avLst>
          </a:prstGeom>
          <a:solidFill xmlns:a="http://schemas.openxmlformats.org/drawingml/2006/main">
            <a:srgbClr val="FFFFFF"/>
          </a:solidFill>
          <a:ln xmlns:a="http://schemas.openxmlformats.org/drawingml/2006/main" w="9525">
            <a:solidFill>
              <a:srgbClr val="DCE2EA"/>
            </a:solidFill>
            <a:prstDash val="solid"/>
          </a:ln>
        </p:spPr>
      </p:sp>
      <p:pic>
        <p:nvPicPr>
          <p:cNvPr id="7" name="">
            <a:extLst xmlns:a="http://schemas.openxmlformats.org/drawingml/2006/main">
              <a:ext uri="{FF2B5EF4-FFF2-40B4-BE49-F238E27FC236}">
                <a16:creationId xmlns:a16="http://schemas.microsoft.com/office/drawing/2014/main" id="{5C6C542E-512D-4FAF-B608-3CA5E7AF10E5}"/>
              </a:ext>
            </a:extLst>
          </p:cNvPr>
          <p:cNvPicPr>
            <a:picLocks xmlns:a="http://schemas.openxmlformats.org/drawingml/2006/main" noChangeAspect="1"/>
          </p:cNvPicPr>
          <p:nvPr/>
        </p:nvPicPr>
        <p:blipFill>
          <a:blip xmlns:r="http://schemas.openxmlformats.org/officeDocument/2006/relationships" xmlns:a="http://schemas.openxmlformats.org/drawingml/2006/main" r:embed="R9c1418f4e8924d81"/>
          <a:stretch xmlns:a="http://schemas.openxmlformats.org/drawingml/2006/main"/>
        </p:blipFill>
        <p:spPr>
          <a:xfrm xmlns:a="http://schemas.openxmlformats.org/drawingml/2006/main">
            <a:off x="1290271" y="1333500"/>
            <a:ext cx="5477608" cy="4533900"/>
          </a:xfrm>
          <a:prstGeom xmlns:a="http://schemas.openxmlformats.org/drawingml/2006/main" prst="roundRect">
            <a:avLst>
              <a:gd name="adj" fmla="val 1681"/>
            </a:avLst>
          </a:prstGeom>
        </p:spPr>
      </p:pic>
      <p:sp>
        <p:nvSpPr>
          <p:cNvPr id="8" name="">
            <a:extLst xmlns:a="http://schemas.openxmlformats.org/drawingml/2006/main">
              <a:ext uri="{FF2B5EF4-FFF2-40B4-BE49-F238E27FC236}">
                <a16:creationId xmlns:a16="http://schemas.microsoft.com/office/drawing/2014/main" id="{485E2B5C-96AD-486A-BA4D-CD4E0A26EA60}"/>
              </a:ext>
            </a:extLst>
          </p:cNvPr>
          <p:cNvSpPr>
            <a:spLocks xmlns:a="http://schemas.openxmlformats.org/drawingml/2006/main" noGrp="1"/>
          </p:cNvSpPr>
          <p:nvPr/>
        </p:nvSpPr>
        <p:spPr>
          <a:xfrm xmlns:a="http://schemas.openxmlformats.org/drawingml/2006/main">
            <a:off x="7867650" y="12192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795"/>
          </a:bodyPr>
          <a:lstStyle xmlns:a="http://schemas.openxmlformats.org/drawingml/2006/main">
            <a:defPPr algn="l">
              <a:defRPr sz="1950" b="1">
                <a:solidFill>
                  <a:srgbClr val="101C33"/>
                </a:solidFill>
                <a:latin typeface="Segoe UI"/>
                <a:ea typeface="Segoe UI"/>
                <a:cs typeface="Segoe UI"/>
              </a:defRPr>
            </a:defPPr>
          </a:lstStyle>
          <a:p xmlns:a="http://schemas.openxmlformats.org/drawingml/2006/main">
            <a:pPr algn="l">
              <a:defRPr sz="1950" b="1">
                <a:solidFill>
                  <a:srgbClr val="101C33"/>
                </a:solidFill>
                <a:latin typeface="Segoe UI"/>
                <a:ea typeface="Segoe UI"/>
                <a:cs typeface="Segoe UI"/>
              </a:defRPr>
            </a:pPr>
            <a:r>
              <a:rPr sz="1950" b="1">
                <a:solidFill>
                  <a:srgbClr val="101C33"/>
                </a:solidFill>
                <a:latin typeface="Segoe UI"/>
                <a:ea typeface="Segoe UI"/>
                <a:cs typeface="Segoe UI"/>
              </a:rPr>
              <a:t>Measured KPIs</a:t>
            </a:r>
          </a:p>
        </p:txBody>
      </p:sp>
      <p:sp>
        <p:nvSpPr>
          <p:cNvPr id="9" name="">
            <a:extLst xmlns:a="http://schemas.openxmlformats.org/drawingml/2006/main">
              <a:ext uri="{FF2B5EF4-FFF2-40B4-BE49-F238E27FC236}">
                <a16:creationId xmlns:a16="http://schemas.microsoft.com/office/drawing/2014/main" id="{78B32CAA-8083-4411-B4B6-72C3F61ED096}"/>
              </a:ext>
            </a:extLst>
          </p:cNvPr>
          <p:cNvSpPr>
            <a:spLocks xmlns:a="http://schemas.openxmlformats.org/drawingml/2006/main" noGrp="1"/>
          </p:cNvSpPr>
          <p:nvPr/>
        </p:nvSpPr>
        <p:spPr>
          <a:xfrm xmlns:a="http://schemas.openxmlformats.org/drawingml/2006/main">
            <a:off x="7867650" y="1676400"/>
            <a:ext cx="1581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889"/>
          </a:bodyPr>
          <a:lstStyle xmlns:a="http://schemas.openxmlformats.org/drawingml/2006/main">
            <a:defPPr algn="l">
              <a:defRPr sz="2250" b="1">
                <a:solidFill>
                  <a:srgbClr val="2D9D78"/>
                </a:solidFill>
                <a:latin typeface="Segoe UI"/>
                <a:ea typeface="Segoe UI"/>
                <a:cs typeface="Segoe UI"/>
              </a:defRPr>
            </a:defPPr>
          </a:lstStyle>
          <a:p xmlns:a="http://schemas.openxmlformats.org/drawingml/2006/main">
            <a:pPr algn="l">
              <a:defRPr sz="2250" b="1">
                <a:solidFill>
                  <a:srgbClr val="2D9D78"/>
                </a:solidFill>
                <a:latin typeface="Segoe UI"/>
                <a:ea typeface="Segoe UI"/>
                <a:cs typeface="Segoe UI"/>
              </a:defRPr>
            </a:pPr>
            <a:r>
              <a:rPr sz="2250" b="1">
                <a:solidFill>
                  <a:srgbClr val="2D9D78"/>
                </a:solidFill>
                <a:latin typeface="Segoe UI"/>
                <a:ea typeface="Segoe UI"/>
                <a:cs typeface="Segoe UI"/>
              </a:rPr>
              <a:t>$28.777M</a:t>
            </a:r>
          </a:p>
        </p:txBody>
      </p:sp>
      <p:sp>
        <p:nvSpPr>
          <p:cNvPr id="10" name="">
            <a:extLst xmlns:a="http://schemas.openxmlformats.org/drawingml/2006/main">
              <a:ext uri="{FF2B5EF4-FFF2-40B4-BE49-F238E27FC236}">
                <a16:creationId xmlns:a16="http://schemas.microsoft.com/office/drawing/2014/main" id="{F6DE1D31-DD8D-48A1-953B-F99F8A121F48}"/>
              </a:ext>
            </a:extLst>
          </p:cNvPr>
          <p:cNvSpPr>
            <a:spLocks xmlns:a="http://schemas.openxmlformats.org/drawingml/2006/main" noGrp="1"/>
          </p:cNvSpPr>
          <p:nvPr/>
        </p:nvSpPr>
        <p:spPr>
          <a:xfrm xmlns:a="http://schemas.openxmlformats.org/drawingml/2006/main">
            <a:off x="9505950" y="17240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0">
                <a:solidFill>
                  <a:srgbClr val="56657A"/>
                </a:solidFill>
                <a:latin typeface="Segoe UI"/>
                <a:ea typeface="Segoe UI"/>
                <a:cs typeface="Segoe UI"/>
              </a:defRPr>
            </a:defPPr>
          </a:lstStyle>
          <a:p xmlns:a="http://schemas.openxmlformats.org/drawingml/2006/main">
            <a:pPr algn="l">
              <a:defRPr sz="1425" b="0">
                <a:solidFill>
                  <a:srgbClr val="56657A"/>
                </a:solidFill>
                <a:latin typeface="Segoe UI"/>
                <a:ea typeface="Segoe UI"/>
                <a:cs typeface="Segoe UI"/>
              </a:defRPr>
            </a:pPr>
            <a:r>
              <a:rPr sz="1425" b="0">
                <a:solidFill>
                  <a:srgbClr val="56657A"/>
                </a:solidFill>
                <a:latin typeface="Segoe UI"/>
                <a:ea typeface="Segoe UI"/>
                <a:cs typeface="Segoe UI"/>
              </a:rPr>
              <a:t>realized revenue</a:t>
            </a:r>
          </a:p>
        </p:txBody>
      </p:sp>
      <p:sp>
        <p:nvSpPr>
          <p:cNvPr id="11" name="">
            <a:extLst xmlns:a="http://schemas.openxmlformats.org/drawingml/2006/main">
              <a:ext uri="{FF2B5EF4-FFF2-40B4-BE49-F238E27FC236}">
                <a16:creationId xmlns:a16="http://schemas.microsoft.com/office/drawing/2014/main" id="{28E28E02-B652-40C1-8DE4-6E6A321FAD10}"/>
              </a:ext>
            </a:extLst>
          </p:cNvPr>
          <p:cNvSpPr>
            <a:spLocks xmlns:a="http://schemas.openxmlformats.org/drawingml/2006/main" noGrp="1"/>
          </p:cNvSpPr>
          <p:nvPr/>
        </p:nvSpPr>
        <p:spPr>
          <a:xfrm xmlns:a="http://schemas.openxmlformats.org/drawingml/2006/main">
            <a:off x="7867650" y="2419350"/>
            <a:ext cx="1581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889"/>
          </a:bodyPr>
          <a:lstStyle xmlns:a="http://schemas.openxmlformats.org/drawingml/2006/main">
            <a:defPPr algn="l">
              <a:defRPr sz="2250" b="1">
                <a:solidFill>
                  <a:srgbClr val="5267D7"/>
                </a:solidFill>
                <a:latin typeface="Segoe UI"/>
                <a:ea typeface="Segoe UI"/>
                <a:cs typeface="Segoe UI"/>
              </a:defRPr>
            </a:defPPr>
          </a:lstStyle>
          <a:p xmlns:a="http://schemas.openxmlformats.org/drawingml/2006/main">
            <a:pPr algn="l">
              <a:defRPr sz="2250" b="1">
                <a:solidFill>
                  <a:srgbClr val="5267D7"/>
                </a:solidFill>
                <a:latin typeface="Segoe UI"/>
                <a:ea typeface="Segoe UI"/>
                <a:cs typeface="Segoe UI"/>
              </a:defRPr>
            </a:pPr>
            <a:r>
              <a:rPr sz="2250" b="1">
                <a:solidFill>
                  <a:srgbClr val="5267D7"/>
                </a:solidFill>
                <a:latin typeface="Segoe UI"/>
                <a:ea typeface="Segoe UI"/>
                <a:cs typeface="Segoe UI"/>
              </a:rPr>
              <a:t>119,044</a:t>
            </a:r>
          </a:p>
        </p:txBody>
      </p:sp>
      <p:sp>
        <p:nvSpPr>
          <p:cNvPr id="12" name="">
            <a:extLst xmlns:a="http://schemas.openxmlformats.org/drawingml/2006/main">
              <a:ext uri="{FF2B5EF4-FFF2-40B4-BE49-F238E27FC236}">
                <a16:creationId xmlns:a16="http://schemas.microsoft.com/office/drawing/2014/main" id="{D0579F23-ABFA-47E6-998B-81CEA89B2EE2}"/>
              </a:ext>
            </a:extLst>
          </p:cNvPr>
          <p:cNvSpPr>
            <a:spLocks xmlns:a="http://schemas.openxmlformats.org/drawingml/2006/main" noGrp="1"/>
          </p:cNvSpPr>
          <p:nvPr/>
        </p:nvSpPr>
        <p:spPr>
          <a:xfrm xmlns:a="http://schemas.openxmlformats.org/drawingml/2006/main">
            <a:off x="9505950" y="24669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0">
                <a:solidFill>
                  <a:srgbClr val="56657A"/>
                </a:solidFill>
                <a:latin typeface="Segoe UI"/>
                <a:ea typeface="Segoe UI"/>
                <a:cs typeface="Segoe UI"/>
              </a:defRPr>
            </a:defPPr>
          </a:lstStyle>
          <a:p xmlns:a="http://schemas.openxmlformats.org/drawingml/2006/main">
            <a:pPr algn="l">
              <a:defRPr sz="1425" b="0">
                <a:solidFill>
                  <a:srgbClr val="56657A"/>
                </a:solidFill>
                <a:latin typeface="Segoe UI"/>
                <a:ea typeface="Segoe UI"/>
                <a:cs typeface="Segoe UI"/>
              </a:defRPr>
            </a:pPr>
            <a:r>
              <a:rPr sz="1425" b="0">
                <a:solidFill>
                  <a:srgbClr val="56657A"/>
                </a:solidFill>
                <a:latin typeface="Segoe UI"/>
                <a:ea typeface="Segoe UI"/>
                <a:cs typeface="Segoe UI"/>
              </a:rPr>
              <a:t>distinct orders</a:t>
            </a:r>
          </a:p>
        </p:txBody>
      </p:sp>
      <p:sp>
        <p:nvSpPr>
          <p:cNvPr id="13" name="">
            <a:extLst xmlns:a="http://schemas.openxmlformats.org/drawingml/2006/main">
              <a:ext uri="{FF2B5EF4-FFF2-40B4-BE49-F238E27FC236}">
                <a16:creationId xmlns:a16="http://schemas.microsoft.com/office/drawing/2014/main" id="{4ADB7FAE-D0BC-4F4B-954B-DC2F5A52B09E}"/>
              </a:ext>
            </a:extLst>
          </p:cNvPr>
          <p:cNvSpPr>
            <a:spLocks xmlns:a="http://schemas.openxmlformats.org/drawingml/2006/main" noGrp="1"/>
          </p:cNvSpPr>
          <p:nvPr/>
        </p:nvSpPr>
        <p:spPr>
          <a:xfrm xmlns:a="http://schemas.openxmlformats.org/drawingml/2006/main">
            <a:off x="7867650" y="3162300"/>
            <a:ext cx="1581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889"/>
          </a:bodyPr>
          <a:lstStyle xmlns:a="http://schemas.openxmlformats.org/drawingml/2006/main">
            <a:defPPr algn="l">
              <a:defRPr sz="2250" b="1">
                <a:solidFill>
                  <a:srgbClr val="16B8A6"/>
                </a:solidFill>
                <a:latin typeface="Segoe UI"/>
                <a:ea typeface="Segoe UI"/>
                <a:cs typeface="Segoe UI"/>
              </a:defRPr>
            </a:defPPr>
          </a:lstStyle>
          <a:p xmlns:a="http://schemas.openxmlformats.org/drawingml/2006/main">
            <a:pPr algn="l">
              <a:defRPr sz="2250" b="1">
                <a:solidFill>
                  <a:srgbClr val="16B8A6"/>
                </a:solidFill>
                <a:latin typeface="Segoe UI"/>
                <a:ea typeface="Segoe UI"/>
                <a:cs typeface="Segoe UI"/>
              </a:defRPr>
            </a:pPr>
            <a:r>
              <a:rPr sz="2250" b="1">
                <a:solidFill>
                  <a:srgbClr val="16B8A6"/>
                </a:solidFill>
                <a:latin typeface="Segoe UI"/>
                <a:ea typeface="Segoe UI"/>
                <a:cs typeface="Segoe UI"/>
              </a:rPr>
              <a:t>37,114</a:t>
            </a:r>
          </a:p>
        </p:txBody>
      </p:sp>
      <p:sp>
        <p:nvSpPr>
          <p:cNvPr id="14" name="">
            <a:extLst xmlns:a="http://schemas.openxmlformats.org/drawingml/2006/main">
              <a:ext uri="{FF2B5EF4-FFF2-40B4-BE49-F238E27FC236}">
                <a16:creationId xmlns:a16="http://schemas.microsoft.com/office/drawing/2014/main" id="{BB972F25-DD4B-419C-88BE-3FF2EB31BC37}"/>
              </a:ext>
            </a:extLst>
          </p:cNvPr>
          <p:cNvSpPr>
            <a:spLocks xmlns:a="http://schemas.openxmlformats.org/drawingml/2006/main" noGrp="1"/>
          </p:cNvSpPr>
          <p:nvPr/>
        </p:nvSpPr>
        <p:spPr>
          <a:xfrm xmlns:a="http://schemas.openxmlformats.org/drawingml/2006/main">
            <a:off x="9505950" y="32099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0">
                <a:solidFill>
                  <a:srgbClr val="56657A"/>
                </a:solidFill>
                <a:latin typeface="Segoe UI"/>
                <a:ea typeface="Segoe UI"/>
                <a:cs typeface="Segoe UI"/>
              </a:defRPr>
            </a:defPPr>
          </a:lstStyle>
          <a:p xmlns:a="http://schemas.openxmlformats.org/drawingml/2006/main">
            <a:pPr algn="l">
              <a:defRPr sz="1425" b="0">
                <a:solidFill>
                  <a:srgbClr val="56657A"/>
                </a:solidFill>
                <a:latin typeface="Segoe UI"/>
                <a:ea typeface="Segoe UI"/>
                <a:cs typeface="Segoe UI"/>
              </a:defRPr>
            </a:pPr>
            <a:r>
              <a:rPr sz="1425" b="0">
                <a:solidFill>
                  <a:srgbClr val="56657A"/>
                </a:solidFill>
                <a:latin typeface="Segoe UI"/>
                <a:ea typeface="Segoe UI"/>
                <a:cs typeface="Segoe UI"/>
              </a:rPr>
              <a:t>customers</a:t>
            </a:r>
          </a:p>
        </p:txBody>
      </p:sp>
      <p:sp>
        <p:nvSpPr>
          <p:cNvPr id="15" name="">
            <a:extLst xmlns:a="http://schemas.openxmlformats.org/drawingml/2006/main">
              <a:ext uri="{FF2B5EF4-FFF2-40B4-BE49-F238E27FC236}">
                <a16:creationId xmlns:a16="http://schemas.microsoft.com/office/drawing/2014/main" id="{F4492235-3675-4220-8973-17A2A64B3368}"/>
              </a:ext>
            </a:extLst>
          </p:cNvPr>
          <p:cNvSpPr>
            <a:spLocks xmlns:a="http://schemas.openxmlformats.org/drawingml/2006/main" noGrp="1"/>
          </p:cNvSpPr>
          <p:nvPr/>
        </p:nvSpPr>
        <p:spPr>
          <a:xfrm xmlns:a="http://schemas.openxmlformats.org/drawingml/2006/main">
            <a:off x="7867650" y="3905250"/>
            <a:ext cx="1581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889"/>
          </a:bodyPr>
          <a:lstStyle xmlns:a="http://schemas.openxmlformats.org/drawingml/2006/main">
            <a:defPPr algn="l">
              <a:defRPr sz="2250" b="1">
                <a:solidFill>
                  <a:srgbClr val="E65B65"/>
                </a:solidFill>
                <a:latin typeface="Segoe UI"/>
                <a:ea typeface="Segoe UI"/>
                <a:cs typeface="Segoe UI"/>
              </a:defRPr>
            </a:defPPr>
          </a:lstStyle>
          <a:p xmlns:a="http://schemas.openxmlformats.org/drawingml/2006/main">
            <a:pPr algn="l">
              <a:defRPr sz="2250" b="1">
                <a:solidFill>
                  <a:srgbClr val="E65B65"/>
                </a:solidFill>
                <a:latin typeface="Segoe UI"/>
                <a:ea typeface="Segoe UI"/>
                <a:cs typeface="Segoe UI"/>
              </a:defRPr>
            </a:pPr>
            <a:r>
              <a:rPr sz="2250" b="1">
                <a:solidFill>
                  <a:srgbClr val="E65B65"/>
                </a:solidFill>
                <a:latin typeface="Segoe UI"/>
                <a:ea typeface="Segoe UI"/>
                <a:cs typeface="Segoe UI"/>
              </a:rPr>
              <a:t>7.11%</a:t>
            </a:r>
          </a:p>
        </p:txBody>
      </p:sp>
      <p:sp>
        <p:nvSpPr>
          <p:cNvPr id="16" name="">
            <a:extLst xmlns:a="http://schemas.openxmlformats.org/drawingml/2006/main">
              <a:ext uri="{FF2B5EF4-FFF2-40B4-BE49-F238E27FC236}">
                <a16:creationId xmlns:a16="http://schemas.microsoft.com/office/drawing/2014/main" id="{9B40CD53-DC36-407C-9F07-A980F2268FD6}"/>
              </a:ext>
            </a:extLst>
          </p:cNvPr>
          <p:cNvSpPr>
            <a:spLocks xmlns:a="http://schemas.openxmlformats.org/drawingml/2006/main" noGrp="1"/>
          </p:cNvSpPr>
          <p:nvPr/>
        </p:nvSpPr>
        <p:spPr>
          <a:xfrm xmlns:a="http://schemas.openxmlformats.org/drawingml/2006/main">
            <a:off x="9505950" y="39528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0">
                <a:solidFill>
                  <a:srgbClr val="56657A"/>
                </a:solidFill>
                <a:latin typeface="Segoe UI"/>
                <a:ea typeface="Segoe UI"/>
                <a:cs typeface="Segoe UI"/>
              </a:defRPr>
            </a:defPPr>
          </a:lstStyle>
          <a:p xmlns:a="http://schemas.openxmlformats.org/drawingml/2006/main">
            <a:pPr algn="l">
              <a:defRPr sz="1425" b="0">
                <a:solidFill>
                  <a:srgbClr val="56657A"/>
                </a:solidFill>
                <a:latin typeface="Segoe UI"/>
                <a:ea typeface="Segoe UI"/>
                <a:cs typeface="Segoe UI"/>
              </a:defRPr>
            </a:pPr>
            <a:r>
              <a:rPr sz="1425" b="0">
                <a:solidFill>
                  <a:srgbClr val="56657A"/>
                </a:solidFill>
                <a:latin typeface="Segoe UI"/>
                <a:ea typeface="Segoe UI"/>
                <a:cs typeface="Segoe UI"/>
              </a:rPr>
              <a:t>return rate</a:t>
            </a:r>
          </a:p>
        </p:txBody>
      </p:sp>
      <p:sp>
        <p:nvSpPr>
          <p:cNvPr id="17" name="">
            <a:extLst xmlns:a="http://schemas.openxmlformats.org/drawingml/2006/main">
              <a:ext uri="{FF2B5EF4-FFF2-40B4-BE49-F238E27FC236}">
                <a16:creationId xmlns:a16="http://schemas.microsoft.com/office/drawing/2014/main" id="{B7038C82-4DDD-468A-A5F5-4D3C67B3F934}"/>
              </a:ext>
            </a:extLst>
          </p:cNvPr>
          <p:cNvSpPr>
            <a:spLocks xmlns:a="http://schemas.openxmlformats.org/drawingml/2006/main" noGrp="1"/>
          </p:cNvSpPr>
          <p:nvPr/>
        </p:nvSpPr>
        <p:spPr>
          <a:xfrm xmlns:a="http://schemas.openxmlformats.org/drawingml/2006/main">
            <a:off x="7867650" y="48196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795"/>
          </a:bodyPr>
          <a:lstStyle xmlns:a="http://schemas.openxmlformats.org/drawingml/2006/main">
            <a:defPPr algn="l">
              <a:defRPr sz="1950" b="1">
                <a:solidFill>
                  <a:srgbClr val="101C33"/>
                </a:solidFill>
                <a:latin typeface="Segoe UI"/>
                <a:ea typeface="Segoe UI"/>
                <a:cs typeface="Segoe UI"/>
              </a:defRPr>
            </a:defPPr>
          </a:lstStyle>
          <a:p xmlns:a="http://schemas.openxmlformats.org/drawingml/2006/main">
            <a:pPr algn="l">
              <a:defRPr sz="1950" b="1">
                <a:solidFill>
                  <a:srgbClr val="101C33"/>
                </a:solidFill>
                <a:latin typeface="Segoe UI"/>
                <a:ea typeface="Segoe UI"/>
                <a:cs typeface="Segoe UI"/>
              </a:defRPr>
            </a:pPr>
            <a:r>
              <a:rPr sz="1950" b="1">
                <a:solidFill>
                  <a:srgbClr val="101C33"/>
                </a:solidFill>
                <a:latin typeface="Segoe UI"/>
                <a:ea typeface="Segoe UI"/>
                <a:cs typeface="Segoe UI"/>
              </a:rPr>
              <a:t>Why this view matters</a:t>
            </a:r>
          </a:p>
        </p:txBody>
      </p:sp>
      <p:sp>
        <p:nvSpPr>
          <p:cNvPr id="18" name="">
            <a:extLst xmlns:a="http://schemas.openxmlformats.org/drawingml/2006/main">
              <a:ext uri="{FF2B5EF4-FFF2-40B4-BE49-F238E27FC236}">
                <a16:creationId xmlns:a16="http://schemas.microsoft.com/office/drawing/2014/main" id="{4DE0357B-7C62-4D49-8272-8E9034A2D3C5}"/>
              </a:ext>
            </a:extLst>
          </p:cNvPr>
          <p:cNvSpPr>
            <a:spLocks xmlns:a="http://schemas.openxmlformats.org/drawingml/2006/main" noGrp="1"/>
          </p:cNvSpPr>
          <p:nvPr/>
        </p:nvSpPr>
        <p:spPr>
          <a:xfrm xmlns:a="http://schemas.openxmlformats.org/drawingml/2006/main">
            <a:off x="7867650" y="5219700"/>
            <a:ext cx="3429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1919"/>
          </a:bodyPr>
          <a:lstStyle xmlns:a="http://schemas.openxmlformats.org/drawingml/2006/main">
            <a:defPPr>
              <a:defRPr sz="1350">
                <a:solidFill>
                  <a:srgbClr val="172033"/>
                </a:solidFill>
                <a:latin typeface="Segoe UI"/>
                <a:ea typeface="Segoe UI"/>
                <a:cs typeface="Segoe UI"/>
              </a:defRPr>
            </a:defPPr>
          </a:lstStyle>
          <a:p xmlns:a="http://schemas.openxmlformats.org/drawingml/2006/main">
            <a:pPr marL="228600" indent="-114300">
              <a:spcAft>
                <a:spcPts val="500"/>
              </a:spcAft>
              <a:buChar char="•"/>
              <a:defRPr sz="1350">
                <a:solidFill>
                  <a:srgbClr val="172033"/>
                </a:solidFill>
                <a:latin typeface="Segoe UI"/>
                <a:ea typeface="Segoe UI"/>
                <a:cs typeface="Segoe UI"/>
              </a:defRPr>
            </a:pPr>
            <a:r>
              <a:rPr sz="1350">
                <a:solidFill>
                  <a:srgbClr val="172033"/>
                </a:solidFill>
                <a:latin typeface="Segoe UI"/>
                <a:ea typeface="Segoe UI"/>
                <a:cs typeface="Segoe UI"/>
              </a:rPr>
              <a:t>Filters update every KPI and chart together</a:t>
            </a:r>
          </a:p>
          <a:p xmlns:a="http://schemas.openxmlformats.org/drawingml/2006/main">
            <a:pPr marL="228600" indent="-114300">
              <a:spcAft>
                <a:spcPts val="500"/>
              </a:spcAft>
              <a:buChar char="•"/>
              <a:defRPr sz="1350">
                <a:solidFill>
                  <a:srgbClr val="172033"/>
                </a:solidFill>
                <a:latin typeface="Segoe UI"/>
                <a:ea typeface="Segoe UI"/>
                <a:cs typeface="Segoe UI"/>
              </a:defRPr>
            </a:pPr>
            <a:r>
              <a:rPr sz="1350">
                <a:solidFill>
                  <a:srgbClr val="172033"/>
                </a:solidFill>
                <a:latin typeface="Segoe UI"/>
                <a:ea typeface="Segoe UI"/>
                <a:cs typeface="Segoe UI"/>
              </a:rPr>
              <a:t>Electronics and South lead realized revenue</a:t>
            </a:r>
          </a:p>
          <a:p xmlns:a="http://schemas.openxmlformats.org/drawingml/2006/main">
            <a:pPr marL="228600" indent="-114300">
              <a:spcAft>
                <a:spcPts val="500"/>
              </a:spcAft>
              <a:buChar char="•"/>
              <a:defRPr sz="1350">
                <a:solidFill>
                  <a:srgbClr val="172033"/>
                </a:solidFill>
                <a:latin typeface="Segoe UI"/>
                <a:ea typeface="Segoe UI"/>
                <a:cs typeface="Segoe UI"/>
              </a:defRPr>
            </a:pPr>
            <a:r>
              <a:rPr sz="1350">
                <a:solidFill>
                  <a:srgbClr val="172033"/>
                </a:solidFill>
                <a:latin typeface="Segoe UI"/>
                <a:ea typeface="Segoe UI"/>
                <a:cs typeface="Segoe UI"/>
              </a:rPr>
              <a:t>The 77.51% repeat rate supports retention planning</a:t>
            </a:r>
          </a:p>
        </p:txBody>
      </p:sp>
    </p:spTree>
    <p:extLst>
      <p:ext uri="{BB962C8B-B14F-4D97-AF65-F5344CB8AC3E}">
        <p14:creationId xmlns:p14="http://schemas.microsoft.com/office/powerpoint/2010/main" val="96661641"/>
      </p:ext>
    </p:extLst>
  </p:cSld>
</p:sld>
</file>

<file path=ppt/slides/slide9.xml><?xml version="1.0" encoding="utf-8"?>
<p:sld xmlns:p="http://schemas.openxmlformats.org/presentationml/2006/main">
  <p:cSld>
    <p:bg>
      <p:bgPr>
        <a:solidFill xmlns:a="http://schemas.openxmlformats.org/drawingml/2006/main">
          <a:srgbClr val="101C33"/>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4CF81D97-987B-453D-B2E3-F53B92B1D7C8}"/>
              </a:ext>
            </a:extLst>
          </p:cNvPr>
          <p:cNvSpPr>
            <a:spLocks xmlns:a="http://schemas.openxmlformats.org/drawingml/2006/main" noGrp="1"/>
          </p:cNvSpPr>
          <p:nvPr/>
        </p:nvSpPr>
        <p:spPr>
          <a:xfrm xmlns:a="http://schemas.openxmlformats.org/drawingml/2006/main">
            <a:off x="609600" y="3238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1">
                <a:solidFill>
                  <a:srgbClr val="F2A03D"/>
                </a:solidFill>
                <a:latin typeface="Segoe UI"/>
                <a:ea typeface="Segoe UI"/>
                <a:cs typeface="Segoe UI"/>
              </a:defRPr>
            </a:defPPr>
          </a:lstStyle>
          <a:p xmlns:a="http://schemas.openxmlformats.org/drawingml/2006/main">
            <a:pPr algn="l">
              <a:defRPr sz="1275" b="1">
                <a:solidFill>
                  <a:srgbClr val="F2A03D"/>
                </a:solidFill>
                <a:latin typeface="Segoe UI"/>
                <a:ea typeface="Segoe UI"/>
                <a:cs typeface="Segoe UI"/>
              </a:defRPr>
            </a:pPr>
            <a:r>
              <a:rPr sz="1275" b="1">
                <a:solidFill>
                  <a:srgbClr val="F2A03D"/>
                </a:solidFill>
                <a:latin typeface="Segoe UI"/>
                <a:ea typeface="Segoe UI"/>
                <a:cs typeface="Segoe UI"/>
              </a:rPr>
              <a:t>09</a:t>
            </a:r>
          </a:p>
        </p:txBody>
      </p:sp>
      <p:sp>
        <p:nvSpPr>
          <p:cNvPr id="2" name="">
            <a:extLst xmlns:a="http://schemas.openxmlformats.org/drawingml/2006/main">
              <a:ext uri="{FF2B5EF4-FFF2-40B4-BE49-F238E27FC236}">
                <a16:creationId xmlns:a16="http://schemas.microsoft.com/office/drawing/2014/main" id="{9117C136-8193-490E-9AE6-7E0080E67F83}"/>
              </a:ext>
            </a:extLst>
          </p:cNvPr>
          <p:cNvSpPr>
            <a:spLocks xmlns:a="http://schemas.openxmlformats.org/drawingml/2006/main" noGrp="1"/>
          </p:cNvSpPr>
          <p:nvPr/>
        </p:nvSpPr>
        <p:spPr>
          <a:xfrm xmlns:a="http://schemas.openxmlformats.org/drawingml/2006/main">
            <a:off x="1181100" y="26670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defPPr algn="l">
              <a:defRPr sz="3150" b="1">
                <a:solidFill>
                  <a:srgbClr val="FFFFFF"/>
                </a:solidFill>
                <a:latin typeface="Segoe UI"/>
                <a:ea typeface="Segoe UI"/>
                <a:cs typeface="Segoe UI"/>
              </a:defRPr>
            </a:defPPr>
          </a:lstStyle>
          <a:p xmlns:a="http://schemas.openxmlformats.org/drawingml/2006/main">
            <a:pPr algn="l">
              <a:defRPr sz="3150" b="1">
                <a:solidFill>
                  <a:srgbClr val="FFFFFF"/>
                </a:solidFill>
                <a:latin typeface="Segoe UI"/>
                <a:ea typeface="Segoe UI"/>
                <a:cs typeface="Segoe UI"/>
              </a:defRPr>
            </a:pPr>
            <a:r>
              <a:rPr sz="3150" b="1">
                <a:solidFill>
                  <a:srgbClr val="FFFFFF"/>
                </a:solidFill>
                <a:latin typeface="Segoe UI"/>
                <a:ea typeface="Segoe UI"/>
                <a:cs typeface="Segoe UI"/>
              </a:rPr>
              <a:t>RabbitMQ protects live orders between services</a:t>
            </a:r>
          </a:p>
        </p:txBody>
      </p:sp>
      <p:sp>
        <p:nvSpPr>
          <p:cNvPr id="3" name="">
            <a:extLst xmlns:a="http://schemas.openxmlformats.org/drawingml/2006/main">
              <a:ext uri="{FF2B5EF4-FFF2-40B4-BE49-F238E27FC236}">
                <a16:creationId xmlns:a16="http://schemas.microsoft.com/office/drawing/2014/main" id="{60AD26BA-3170-48AA-ABFC-698DEB942E39}"/>
              </a:ext>
            </a:extLst>
          </p:cNvPr>
          <p:cNvSpPr>
            <a:spLocks xmlns:a="http://schemas.openxmlformats.org/drawingml/2006/main" noGrp="1"/>
          </p:cNvSpPr>
          <p:nvPr/>
        </p:nvSpPr>
        <p:spPr>
          <a:xfrm xmlns:a="http://schemas.openxmlformats.org/drawingml/2006/main">
            <a:off x="609600" y="914400"/>
            <a:ext cx="10972800" cy="19050"/>
          </a:xfrm>
          <a:prstGeom xmlns:a="http://schemas.openxmlformats.org/drawingml/2006/main" prst="rect">
            <a:avLst/>
          </a:prstGeom>
          <a:solidFill xmlns:a="http://schemas.openxmlformats.org/drawingml/2006/main">
            <a:srgbClr val="34445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07CEE1F-FA04-444F-9595-B0BE0B84A08B}"/>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0">
                <a:solidFill>
                  <a:srgbClr val="B7C3D6"/>
                </a:solidFill>
                <a:latin typeface="Segoe UI"/>
                <a:ea typeface="Segoe UI"/>
                <a:cs typeface="Segoe UI"/>
              </a:defRPr>
            </a:defPPr>
          </a:lstStyle>
          <a:p xmlns:a="http://schemas.openxmlformats.org/drawingml/2006/main">
            <a:pPr algn="l">
              <a:defRPr sz="1050" b="0">
                <a:solidFill>
                  <a:srgbClr val="B7C3D6"/>
                </a:solidFill>
                <a:latin typeface="Segoe UI"/>
                <a:ea typeface="Segoe UI"/>
                <a:cs typeface="Segoe UI"/>
              </a:defRPr>
            </a:pPr>
            <a:r>
              <a:rPr sz="1050" b="0">
                <a:solidFill>
                  <a:srgbClr val="B7C3D6"/>
                </a:solidFill>
                <a:latin typeface="Segoe UI"/>
                <a:ea typeface="Segoe UI"/>
                <a:cs typeface="Segoe UI"/>
              </a:rPr>
              <a:t>Presenter: Aniket Nikam</a:t>
            </a:r>
          </a:p>
        </p:txBody>
      </p:sp>
      <p:sp>
        <p:nvSpPr>
          <p:cNvPr id="5" name="">
            <a:extLst xmlns:a="http://schemas.openxmlformats.org/drawingml/2006/main">
              <a:ext uri="{FF2B5EF4-FFF2-40B4-BE49-F238E27FC236}">
                <a16:creationId xmlns:a16="http://schemas.microsoft.com/office/drawing/2014/main" id="{1DFBF7E1-C41D-474C-BC58-A4A794E868CD}"/>
              </a:ext>
            </a:extLst>
          </p:cNvPr>
          <p:cNvSpPr>
            <a:spLocks xmlns:a="http://schemas.openxmlformats.org/drawingml/2006/main" noGrp="1"/>
          </p:cNvSpPr>
          <p:nvPr/>
        </p:nvSpPr>
        <p:spPr>
          <a:xfrm xmlns:a="http://schemas.openxmlformats.org/drawingml/2006/main">
            <a:off x="7810500" y="6477000"/>
            <a:ext cx="3771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r">
              <a:defRPr sz="1050" b="0">
                <a:solidFill>
                  <a:srgbClr val="B7C3D6"/>
                </a:solidFill>
                <a:latin typeface="Segoe UI"/>
                <a:ea typeface="Segoe UI"/>
                <a:cs typeface="Segoe UI"/>
              </a:defRPr>
            </a:defPPr>
          </a:lstStyle>
          <a:p xmlns:a="http://schemas.openxmlformats.org/drawingml/2006/main">
            <a:pPr algn="r">
              <a:defRPr sz="1050" b="0">
                <a:solidFill>
                  <a:srgbClr val="B7C3D6"/>
                </a:solidFill>
                <a:latin typeface="Segoe UI"/>
                <a:ea typeface="Segoe UI"/>
                <a:cs typeface="Segoe UI"/>
              </a:defRPr>
            </a:pPr>
            <a:r>
              <a:rPr sz="1050" b="0">
                <a:solidFill>
                  <a:srgbClr val="B7C3D6"/>
                </a:solidFill>
                <a:latin typeface="Segoe UI"/>
                <a:ea typeface="Segoe UI"/>
                <a:cs typeface="Segoe UI"/>
              </a:rPr>
              <a:t>E-Commerce Sales Analytics · DuckDB + RabbitMQ</a:t>
            </a:r>
          </a:p>
        </p:txBody>
      </p:sp>
      <p:sp>
        <p:nvSpPr>
          <p:cNvPr id="6" name="">
            <a:extLst xmlns:a="http://schemas.openxmlformats.org/drawingml/2006/main">
              <a:ext uri="{FF2B5EF4-FFF2-40B4-BE49-F238E27FC236}">
                <a16:creationId xmlns:a16="http://schemas.microsoft.com/office/drawing/2014/main" id="{3637E2C5-C3EB-4DA3-BDB8-DDAA2ECF1C37}"/>
              </a:ext>
            </a:extLst>
          </p:cNvPr>
          <p:cNvSpPr>
            <a:spLocks xmlns:a="http://schemas.openxmlformats.org/drawingml/2006/main" noGrp="1"/>
          </p:cNvSpPr>
          <p:nvPr/>
        </p:nvSpPr>
        <p:spPr>
          <a:xfrm xmlns:a="http://schemas.openxmlformats.org/drawingml/2006/main">
            <a:off x="609600" y="11811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833"/>
          </a:bodyPr>
          <a:lstStyle xmlns:a="http://schemas.openxmlformats.org/drawingml/2006/main">
            <a:defPPr algn="l">
              <a:defRPr sz="1800" b="1">
                <a:solidFill>
                  <a:srgbClr val="FFFFFF"/>
                </a:solidFill>
                <a:latin typeface="Segoe UI"/>
                <a:ea typeface="Segoe UI"/>
                <a:cs typeface="Segoe UI"/>
              </a:defRPr>
            </a:defPPr>
          </a:lstStyle>
          <a:p xmlns:a="http://schemas.openxmlformats.org/drawingml/2006/main">
            <a:pPr algn="l">
              <a:defRPr sz="1800" b="1">
                <a:solidFill>
                  <a:srgbClr val="FFFFFF"/>
                </a:solidFill>
                <a:latin typeface="Segoe UI"/>
                <a:ea typeface="Segoe UI"/>
                <a:cs typeface="Segoe UI"/>
              </a:defRPr>
            </a:pPr>
            <a:r>
              <a:rPr sz="1800" b="1">
                <a:solidFill>
                  <a:srgbClr val="FFFFFF"/>
                </a:solidFill>
                <a:latin typeface="Segoe UI"/>
                <a:ea typeface="Segoe UI"/>
                <a:cs typeface="Segoe UI"/>
              </a:rPr>
              <a:t>One event moves through five controlled stages</a:t>
            </a:r>
          </a:p>
        </p:txBody>
      </p:sp>
      <p:sp>
        <p:nvSpPr>
          <p:cNvPr id="7" name="">
            <a:extLst xmlns:a="http://schemas.openxmlformats.org/drawingml/2006/main">
              <a:ext uri="{FF2B5EF4-FFF2-40B4-BE49-F238E27FC236}">
                <a16:creationId xmlns:a16="http://schemas.microsoft.com/office/drawing/2014/main" id="{726F27BD-9D6F-4E47-A38A-BFB569A3E54E}"/>
              </a:ext>
            </a:extLst>
          </p:cNvPr>
          <p:cNvSpPr>
            <a:spLocks xmlns:a="http://schemas.openxmlformats.org/drawingml/2006/main" noGrp="1"/>
          </p:cNvSpPr>
          <p:nvPr/>
        </p:nvSpPr>
        <p:spPr>
          <a:xfrm xmlns:a="http://schemas.openxmlformats.org/drawingml/2006/main">
            <a:off x="609600" y="1676400"/>
            <a:ext cx="1809750" cy="876300"/>
          </a:xfrm>
          <a:prstGeom xmlns:a="http://schemas.openxmlformats.org/drawingml/2006/main" prst="roundRect">
            <a:avLst>
              <a:gd name="adj" fmla="val 8696"/>
            </a:avLst>
          </a:prstGeom>
          <a:solidFill xmlns:a="http://schemas.openxmlformats.org/drawingml/2006/main">
            <a:srgbClr val="1829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DEFD7D8-11C7-4ECE-917E-B7B29C8CD84E}"/>
              </a:ext>
            </a:extLst>
          </p:cNvPr>
          <p:cNvSpPr>
            <a:spLocks xmlns:a="http://schemas.openxmlformats.org/drawingml/2006/main" noGrp="1"/>
          </p:cNvSpPr>
          <p:nvPr/>
        </p:nvSpPr>
        <p:spPr>
          <a:xfrm xmlns:a="http://schemas.openxmlformats.org/drawingml/2006/main">
            <a:off x="723900" y="177165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FFFFFF"/>
                </a:solidFill>
                <a:latin typeface="Segoe UI"/>
                <a:ea typeface="Segoe UI"/>
                <a:cs typeface="Segoe UI"/>
              </a:defRPr>
            </a:defPPr>
          </a:lstStyle>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POST /orders</a:t>
            </a:r>
          </a:p>
        </p:txBody>
      </p:sp>
      <p:sp>
        <p:nvSpPr>
          <p:cNvPr id="9" name="">
            <a:extLst xmlns:a="http://schemas.openxmlformats.org/drawingml/2006/main">
              <a:ext uri="{FF2B5EF4-FFF2-40B4-BE49-F238E27FC236}">
                <a16:creationId xmlns:a16="http://schemas.microsoft.com/office/drawing/2014/main" id="{1A12B46F-DE5E-49F0-9C93-FEA18926C47F}"/>
              </a:ext>
            </a:extLst>
          </p:cNvPr>
          <p:cNvSpPr>
            <a:spLocks xmlns:a="http://schemas.openxmlformats.org/drawingml/2006/main" noGrp="1"/>
          </p:cNvSpPr>
          <p:nvPr/>
        </p:nvSpPr>
        <p:spPr>
          <a:xfrm xmlns:a="http://schemas.openxmlformats.org/drawingml/2006/main">
            <a:off x="704850" y="2076450"/>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75" b="0">
                <a:solidFill>
                  <a:srgbClr val="FFFFFF"/>
                </a:solidFill>
                <a:latin typeface="Segoe UI"/>
                <a:ea typeface="Segoe UI"/>
                <a:cs typeface="Segoe UI"/>
              </a:defRPr>
            </a:defPPr>
          </a:lstStyle>
          <a:p xmlns:a="http://schemas.openxmlformats.org/drawingml/2006/main">
            <a:pPr algn="ctr">
              <a:defRPr sz="1275" b="0">
                <a:solidFill>
                  <a:srgbClr val="FFFFFF"/>
                </a:solidFill>
                <a:latin typeface="Segoe UI"/>
                <a:ea typeface="Segoe UI"/>
                <a:cs typeface="Segoe UI"/>
              </a:defRPr>
            </a:pPr>
            <a:r>
              <a:rPr sz="1275" b="0">
                <a:solidFill>
                  <a:srgbClr val="FFFFFF"/>
                </a:solidFill>
                <a:latin typeface="Segoe UI"/>
                <a:ea typeface="Segoe UI"/>
                <a:cs typeface="Segoe UI"/>
              </a:rPr>
              <a:t>Pydantic validation</a:t>
            </a:r>
          </a:p>
        </p:txBody>
      </p:sp>
      <p:sp>
        <p:nvSpPr>
          <p:cNvPr id="10" name="">
            <a:extLst xmlns:a="http://schemas.openxmlformats.org/drawingml/2006/main">
              <a:ext uri="{FF2B5EF4-FFF2-40B4-BE49-F238E27FC236}">
                <a16:creationId xmlns:a16="http://schemas.microsoft.com/office/drawing/2014/main" id="{2E07527B-58F4-47A9-BD74-1832262B6BCE}"/>
              </a:ext>
            </a:extLst>
          </p:cNvPr>
          <p:cNvSpPr>
            <a:spLocks xmlns:a="http://schemas.openxmlformats.org/drawingml/2006/main" noGrp="1"/>
          </p:cNvSpPr>
          <p:nvPr/>
        </p:nvSpPr>
        <p:spPr>
          <a:xfrm xmlns:a="http://schemas.openxmlformats.org/drawingml/2006/main">
            <a:off x="685800" y="1581150"/>
            <a:ext cx="285750" cy="285750"/>
          </a:xfrm>
          <a:prstGeom xmlns:a="http://schemas.openxmlformats.org/drawingml/2006/main" prst="ellipse">
            <a:avLst/>
          </a:prstGeom>
          <a:solidFill xmlns:a="http://schemas.openxmlformats.org/drawingml/2006/main">
            <a:srgbClr val="F2A03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45E5D16-F7C0-487D-91D9-F7910602D1BC}"/>
              </a:ext>
            </a:extLst>
          </p:cNvPr>
          <p:cNvSpPr>
            <a:spLocks xmlns:a="http://schemas.openxmlformats.org/drawingml/2006/main" noGrp="1"/>
          </p:cNvSpPr>
          <p:nvPr/>
        </p:nvSpPr>
        <p:spPr>
          <a:xfrm xmlns:a="http://schemas.openxmlformats.org/drawingml/2006/main">
            <a:off x="685800" y="1609725"/>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7778"/>
          </a:bodyPr>
          <a:lstStyle xmlns:a="http://schemas.openxmlformats.org/drawingml/2006/main">
            <a:defPPr algn="ctr">
              <a:defRPr sz="1125" b="1">
                <a:solidFill>
                  <a:srgbClr val="101C33"/>
                </a:solidFill>
                <a:latin typeface="Segoe UI"/>
                <a:ea typeface="Segoe UI"/>
                <a:cs typeface="Segoe UI"/>
              </a:defRPr>
            </a:defPPr>
          </a:lstStyle>
          <a:p xmlns:a="http://schemas.openxmlformats.org/drawingml/2006/main">
            <a:pPr algn="ctr">
              <a:defRPr sz="1125" b="1">
                <a:solidFill>
                  <a:srgbClr val="101C33"/>
                </a:solidFill>
                <a:latin typeface="Segoe UI"/>
                <a:ea typeface="Segoe UI"/>
                <a:cs typeface="Segoe UI"/>
              </a:defRPr>
            </a:pPr>
            <a:r>
              <a:rPr sz="1125" b="1">
                <a:solidFill>
                  <a:srgbClr val="101C33"/>
                </a:solidFill>
                <a:latin typeface="Segoe UI"/>
                <a:ea typeface="Segoe UI"/>
                <a:cs typeface="Segoe UI"/>
              </a:rPr>
              <a:t>1</a:t>
            </a:r>
          </a:p>
        </p:txBody>
      </p:sp>
      <p:sp>
        <p:nvSpPr>
          <p:cNvPr id="12" name="">
            <a:extLst xmlns:a="http://schemas.openxmlformats.org/drawingml/2006/main">
              <a:ext uri="{FF2B5EF4-FFF2-40B4-BE49-F238E27FC236}">
                <a16:creationId xmlns:a16="http://schemas.microsoft.com/office/drawing/2014/main" id="{1D736B54-5257-43BE-9416-7A8CF45C4D83}"/>
              </a:ext>
            </a:extLst>
          </p:cNvPr>
          <p:cNvSpPr>
            <a:spLocks xmlns:a="http://schemas.openxmlformats.org/drawingml/2006/main" noGrp="1"/>
          </p:cNvSpPr>
          <p:nvPr/>
        </p:nvSpPr>
        <p:spPr>
          <a:xfrm xmlns:a="http://schemas.openxmlformats.org/drawingml/2006/main">
            <a:off x="2419350" y="2085975"/>
            <a:ext cx="190500" cy="38100"/>
          </a:xfrm>
          <a:prstGeom xmlns:a="http://schemas.openxmlformats.org/drawingml/2006/main" prst="rect">
            <a:avLst/>
          </a:prstGeom>
          <a:solidFill xmlns:a="http://schemas.openxmlformats.org/drawingml/2006/main">
            <a:srgbClr val="F2A03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918F06D-B36E-4EFA-9698-B86E93F631E3}"/>
              </a:ext>
            </a:extLst>
          </p:cNvPr>
          <p:cNvSpPr>
            <a:spLocks xmlns:a="http://schemas.openxmlformats.org/drawingml/2006/main" noGrp="1"/>
          </p:cNvSpPr>
          <p:nvPr/>
        </p:nvSpPr>
        <p:spPr>
          <a:xfrm xmlns:a="http://schemas.openxmlformats.org/drawingml/2006/main">
            <a:off x="2590800" y="2019300"/>
            <a:ext cx="171450" cy="171450"/>
          </a:xfrm>
          <a:prstGeom xmlns:a="http://schemas.openxmlformats.org/drawingml/2006/main" prst="chevron">
            <a:avLst/>
          </a:prstGeom>
          <a:solidFill xmlns:a="http://schemas.openxmlformats.org/drawingml/2006/main">
            <a:srgbClr val="F2A03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06971F7-381E-47CB-A0E5-76536E0B8248}"/>
              </a:ext>
            </a:extLst>
          </p:cNvPr>
          <p:cNvSpPr>
            <a:spLocks xmlns:a="http://schemas.openxmlformats.org/drawingml/2006/main" noGrp="1"/>
          </p:cNvSpPr>
          <p:nvPr/>
        </p:nvSpPr>
        <p:spPr>
          <a:xfrm xmlns:a="http://schemas.openxmlformats.org/drawingml/2006/main">
            <a:off x="2762250" y="1676400"/>
            <a:ext cx="1809750" cy="876300"/>
          </a:xfrm>
          <a:prstGeom xmlns:a="http://schemas.openxmlformats.org/drawingml/2006/main" prst="roundRect">
            <a:avLst>
              <a:gd name="adj" fmla="val 8696"/>
            </a:avLst>
          </a:prstGeom>
          <a:solidFill xmlns:a="http://schemas.openxmlformats.org/drawingml/2006/main">
            <a:srgbClr val="F2A03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8E45737-DFC3-4068-9141-191A523CE4EC}"/>
              </a:ext>
            </a:extLst>
          </p:cNvPr>
          <p:cNvSpPr>
            <a:spLocks xmlns:a="http://schemas.openxmlformats.org/drawingml/2006/main" noGrp="1"/>
          </p:cNvSpPr>
          <p:nvPr/>
        </p:nvSpPr>
        <p:spPr>
          <a:xfrm xmlns:a="http://schemas.openxmlformats.org/drawingml/2006/main">
            <a:off x="2876550" y="177165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FFFFFF"/>
                </a:solidFill>
                <a:latin typeface="Segoe UI"/>
                <a:ea typeface="Segoe UI"/>
                <a:cs typeface="Segoe UI"/>
              </a:defRPr>
            </a:defPPr>
          </a:lstStyle>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RabbitMQ</a:t>
            </a:r>
          </a:p>
        </p:txBody>
      </p:sp>
      <p:sp>
        <p:nvSpPr>
          <p:cNvPr id="16" name="">
            <a:extLst xmlns:a="http://schemas.openxmlformats.org/drawingml/2006/main">
              <a:ext uri="{FF2B5EF4-FFF2-40B4-BE49-F238E27FC236}">
                <a16:creationId xmlns:a16="http://schemas.microsoft.com/office/drawing/2014/main" id="{DB69091F-B866-4463-888C-7C95C79AEB5B}"/>
              </a:ext>
            </a:extLst>
          </p:cNvPr>
          <p:cNvSpPr>
            <a:spLocks xmlns:a="http://schemas.openxmlformats.org/drawingml/2006/main" noGrp="1"/>
          </p:cNvSpPr>
          <p:nvPr/>
        </p:nvSpPr>
        <p:spPr>
          <a:xfrm xmlns:a="http://schemas.openxmlformats.org/drawingml/2006/main">
            <a:off x="2857500" y="2076450"/>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75" b="0">
                <a:solidFill>
                  <a:srgbClr val="FFFFFF"/>
                </a:solidFill>
                <a:latin typeface="Segoe UI"/>
                <a:ea typeface="Segoe UI"/>
                <a:cs typeface="Segoe UI"/>
              </a:defRPr>
            </a:defPPr>
          </a:lstStyle>
          <a:p xmlns:a="http://schemas.openxmlformats.org/drawingml/2006/main">
            <a:pPr algn="ctr">
              <a:defRPr sz="1275" b="0">
                <a:solidFill>
                  <a:srgbClr val="FFFFFF"/>
                </a:solidFill>
                <a:latin typeface="Segoe UI"/>
                <a:ea typeface="Segoe UI"/>
                <a:cs typeface="Segoe UI"/>
              </a:defRPr>
            </a:pPr>
            <a:r>
              <a:rPr sz="1275" b="0">
                <a:solidFill>
                  <a:srgbClr val="FFFFFF"/>
                </a:solidFill>
                <a:latin typeface="Segoe UI"/>
                <a:ea typeface="Segoe UI"/>
                <a:cs typeface="Segoe UI"/>
              </a:rPr>
              <a:t>durable queue</a:t>
            </a:r>
          </a:p>
        </p:txBody>
      </p:sp>
      <p:sp>
        <p:nvSpPr>
          <p:cNvPr id="17" name="">
            <a:extLst xmlns:a="http://schemas.openxmlformats.org/drawingml/2006/main">
              <a:ext uri="{FF2B5EF4-FFF2-40B4-BE49-F238E27FC236}">
                <a16:creationId xmlns:a16="http://schemas.microsoft.com/office/drawing/2014/main" id="{8BF0CE43-E33A-4123-B217-0E956266CFFA}"/>
              </a:ext>
            </a:extLst>
          </p:cNvPr>
          <p:cNvSpPr>
            <a:spLocks xmlns:a="http://schemas.openxmlformats.org/drawingml/2006/main" noGrp="1"/>
          </p:cNvSpPr>
          <p:nvPr/>
        </p:nvSpPr>
        <p:spPr>
          <a:xfrm xmlns:a="http://schemas.openxmlformats.org/drawingml/2006/main">
            <a:off x="2838450" y="1581150"/>
            <a:ext cx="285750" cy="285750"/>
          </a:xfrm>
          <a:prstGeom xmlns:a="http://schemas.openxmlformats.org/drawingml/2006/main" prst="ellipse">
            <a:avLst/>
          </a:prstGeom>
          <a:solidFill xmlns:a="http://schemas.openxmlformats.org/drawingml/2006/main">
            <a:srgbClr val="F2A03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2F4934C-514F-4CB3-85A2-1AFBCA5431E0}"/>
              </a:ext>
            </a:extLst>
          </p:cNvPr>
          <p:cNvSpPr>
            <a:spLocks xmlns:a="http://schemas.openxmlformats.org/drawingml/2006/main" noGrp="1"/>
          </p:cNvSpPr>
          <p:nvPr/>
        </p:nvSpPr>
        <p:spPr>
          <a:xfrm xmlns:a="http://schemas.openxmlformats.org/drawingml/2006/main">
            <a:off x="2838450" y="1609725"/>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7778"/>
          </a:bodyPr>
          <a:lstStyle xmlns:a="http://schemas.openxmlformats.org/drawingml/2006/main">
            <a:defPPr algn="ctr">
              <a:defRPr sz="1125" b="1">
                <a:solidFill>
                  <a:srgbClr val="101C33"/>
                </a:solidFill>
                <a:latin typeface="Segoe UI"/>
                <a:ea typeface="Segoe UI"/>
                <a:cs typeface="Segoe UI"/>
              </a:defRPr>
            </a:defPPr>
          </a:lstStyle>
          <a:p xmlns:a="http://schemas.openxmlformats.org/drawingml/2006/main">
            <a:pPr algn="ctr">
              <a:defRPr sz="1125" b="1">
                <a:solidFill>
                  <a:srgbClr val="101C33"/>
                </a:solidFill>
                <a:latin typeface="Segoe UI"/>
                <a:ea typeface="Segoe UI"/>
                <a:cs typeface="Segoe UI"/>
              </a:defRPr>
            </a:pPr>
            <a:r>
              <a:rPr sz="1125" b="1">
                <a:solidFill>
                  <a:srgbClr val="101C33"/>
                </a:solidFill>
                <a:latin typeface="Segoe UI"/>
                <a:ea typeface="Segoe UI"/>
                <a:cs typeface="Segoe UI"/>
              </a:rPr>
              <a:t>2</a:t>
            </a:r>
          </a:p>
        </p:txBody>
      </p:sp>
      <p:sp>
        <p:nvSpPr>
          <p:cNvPr id="19" name="">
            <a:extLst xmlns:a="http://schemas.openxmlformats.org/drawingml/2006/main">
              <a:ext uri="{FF2B5EF4-FFF2-40B4-BE49-F238E27FC236}">
                <a16:creationId xmlns:a16="http://schemas.microsoft.com/office/drawing/2014/main" id="{1FA8C91C-911D-4E8F-A4C8-DAF48F22BD67}"/>
              </a:ext>
            </a:extLst>
          </p:cNvPr>
          <p:cNvSpPr>
            <a:spLocks xmlns:a="http://schemas.openxmlformats.org/drawingml/2006/main" noGrp="1"/>
          </p:cNvSpPr>
          <p:nvPr/>
        </p:nvSpPr>
        <p:spPr>
          <a:xfrm xmlns:a="http://schemas.openxmlformats.org/drawingml/2006/main">
            <a:off x="4572000" y="2085975"/>
            <a:ext cx="190500" cy="38100"/>
          </a:xfrm>
          <a:prstGeom xmlns:a="http://schemas.openxmlformats.org/drawingml/2006/main" prst="rect">
            <a:avLst/>
          </a:prstGeom>
          <a:solidFill xmlns:a="http://schemas.openxmlformats.org/drawingml/2006/main">
            <a:srgbClr val="F2A03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3BE38C3-BA17-41F9-8FB7-BF1EC5D84202}"/>
              </a:ext>
            </a:extLst>
          </p:cNvPr>
          <p:cNvSpPr>
            <a:spLocks xmlns:a="http://schemas.openxmlformats.org/drawingml/2006/main" noGrp="1"/>
          </p:cNvSpPr>
          <p:nvPr/>
        </p:nvSpPr>
        <p:spPr>
          <a:xfrm xmlns:a="http://schemas.openxmlformats.org/drawingml/2006/main">
            <a:off x="4743450" y="2019300"/>
            <a:ext cx="171450" cy="171450"/>
          </a:xfrm>
          <a:prstGeom xmlns:a="http://schemas.openxmlformats.org/drawingml/2006/main" prst="chevron">
            <a:avLst/>
          </a:prstGeom>
          <a:solidFill xmlns:a="http://schemas.openxmlformats.org/drawingml/2006/main">
            <a:srgbClr val="F2A03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D329172-5757-4A17-8828-4BE0E9287F98}"/>
              </a:ext>
            </a:extLst>
          </p:cNvPr>
          <p:cNvSpPr>
            <a:spLocks xmlns:a="http://schemas.openxmlformats.org/drawingml/2006/main" noGrp="1"/>
          </p:cNvSpPr>
          <p:nvPr/>
        </p:nvSpPr>
        <p:spPr>
          <a:xfrm xmlns:a="http://schemas.openxmlformats.org/drawingml/2006/main">
            <a:off x="4914900" y="1676400"/>
            <a:ext cx="1809750" cy="876300"/>
          </a:xfrm>
          <a:prstGeom xmlns:a="http://schemas.openxmlformats.org/drawingml/2006/main" prst="roundRect">
            <a:avLst>
              <a:gd name="adj" fmla="val 8696"/>
            </a:avLst>
          </a:prstGeom>
          <a:solidFill xmlns:a="http://schemas.openxmlformats.org/drawingml/2006/main">
            <a:srgbClr val="18294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AF2D833-E6E1-4B67-A6E6-B0B400C7FBF7}"/>
              </a:ext>
            </a:extLst>
          </p:cNvPr>
          <p:cNvSpPr>
            <a:spLocks xmlns:a="http://schemas.openxmlformats.org/drawingml/2006/main" noGrp="1"/>
          </p:cNvSpPr>
          <p:nvPr/>
        </p:nvSpPr>
        <p:spPr>
          <a:xfrm xmlns:a="http://schemas.openxmlformats.org/drawingml/2006/main">
            <a:off x="5029200" y="177165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FFFFFF"/>
                </a:solidFill>
                <a:latin typeface="Segoe UI"/>
                <a:ea typeface="Segoe UI"/>
                <a:cs typeface="Segoe UI"/>
              </a:defRPr>
            </a:defPPr>
          </a:lstStyle>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Consumer</a:t>
            </a:r>
          </a:p>
        </p:txBody>
      </p:sp>
      <p:sp>
        <p:nvSpPr>
          <p:cNvPr id="23" name="">
            <a:extLst xmlns:a="http://schemas.openxmlformats.org/drawingml/2006/main">
              <a:ext uri="{FF2B5EF4-FFF2-40B4-BE49-F238E27FC236}">
                <a16:creationId xmlns:a16="http://schemas.microsoft.com/office/drawing/2014/main" id="{2B361C79-D767-40A3-841B-4E0E29753BA3}"/>
              </a:ext>
            </a:extLst>
          </p:cNvPr>
          <p:cNvSpPr>
            <a:spLocks xmlns:a="http://schemas.openxmlformats.org/drawingml/2006/main" noGrp="1"/>
          </p:cNvSpPr>
          <p:nvPr/>
        </p:nvSpPr>
        <p:spPr>
          <a:xfrm xmlns:a="http://schemas.openxmlformats.org/drawingml/2006/main">
            <a:off x="5010150" y="2076450"/>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75" b="0">
                <a:solidFill>
                  <a:srgbClr val="FFFFFF"/>
                </a:solidFill>
                <a:latin typeface="Segoe UI"/>
                <a:ea typeface="Segoe UI"/>
                <a:cs typeface="Segoe UI"/>
              </a:defRPr>
            </a:defPPr>
          </a:lstStyle>
          <a:p xmlns:a="http://schemas.openxmlformats.org/drawingml/2006/main">
            <a:pPr algn="ctr">
              <a:defRPr sz="1275" b="0">
                <a:solidFill>
                  <a:srgbClr val="FFFFFF"/>
                </a:solidFill>
                <a:latin typeface="Segoe UI"/>
                <a:ea typeface="Segoe UI"/>
                <a:cs typeface="Segoe UI"/>
              </a:defRPr>
            </a:pPr>
            <a:r>
              <a:rPr sz="1275" b="0">
                <a:solidFill>
                  <a:srgbClr val="FFFFFF"/>
                </a:solidFill>
                <a:latin typeface="Segoe UI"/>
                <a:ea typeface="Segoe UI"/>
                <a:cs typeface="Segoe UI"/>
              </a:rPr>
              <a:t>manual ACK</a:t>
            </a:r>
          </a:p>
        </p:txBody>
      </p:sp>
      <p:sp>
        <p:nvSpPr>
          <p:cNvPr id="24" name="">
            <a:extLst xmlns:a="http://schemas.openxmlformats.org/drawingml/2006/main">
              <a:ext uri="{FF2B5EF4-FFF2-40B4-BE49-F238E27FC236}">
                <a16:creationId xmlns:a16="http://schemas.microsoft.com/office/drawing/2014/main" id="{B47794D6-4D43-400E-A035-493DC03CF39F}"/>
              </a:ext>
            </a:extLst>
          </p:cNvPr>
          <p:cNvSpPr>
            <a:spLocks xmlns:a="http://schemas.openxmlformats.org/drawingml/2006/main" noGrp="1"/>
          </p:cNvSpPr>
          <p:nvPr/>
        </p:nvSpPr>
        <p:spPr>
          <a:xfrm xmlns:a="http://schemas.openxmlformats.org/drawingml/2006/main">
            <a:off x="4991100" y="1581150"/>
            <a:ext cx="285750" cy="285750"/>
          </a:xfrm>
          <a:prstGeom xmlns:a="http://schemas.openxmlformats.org/drawingml/2006/main" prst="ellipse">
            <a:avLst/>
          </a:prstGeom>
          <a:solidFill xmlns:a="http://schemas.openxmlformats.org/drawingml/2006/main">
            <a:srgbClr val="F2A03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E47DAC1-098E-4217-9B3D-E87BB8698B46}"/>
              </a:ext>
            </a:extLst>
          </p:cNvPr>
          <p:cNvSpPr>
            <a:spLocks xmlns:a="http://schemas.openxmlformats.org/drawingml/2006/main" noGrp="1"/>
          </p:cNvSpPr>
          <p:nvPr/>
        </p:nvSpPr>
        <p:spPr>
          <a:xfrm xmlns:a="http://schemas.openxmlformats.org/drawingml/2006/main">
            <a:off x="4991100" y="1609725"/>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7778"/>
          </a:bodyPr>
          <a:lstStyle xmlns:a="http://schemas.openxmlformats.org/drawingml/2006/main">
            <a:defPPr algn="ctr">
              <a:defRPr sz="1125" b="1">
                <a:solidFill>
                  <a:srgbClr val="101C33"/>
                </a:solidFill>
                <a:latin typeface="Segoe UI"/>
                <a:ea typeface="Segoe UI"/>
                <a:cs typeface="Segoe UI"/>
              </a:defRPr>
            </a:defPPr>
          </a:lstStyle>
          <a:p xmlns:a="http://schemas.openxmlformats.org/drawingml/2006/main">
            <a:pPr algn="ctr">
              <a:defRPr sz="1125" b="1">
                <a:solidFill>
                  <a:srgbClr val="101C33"/>
                </a:solidFill>
                <a:latin typeface="Segoe UI"/>
                <a:ea typeface="Segoe UI"/>
                <a:cs typeface="Segoe UI"/>
              </a:defRPr>
            </a:pPr>
            <a:r>
              <a:rPr sz="1125" b="1">
                <a:solidFill>
                  <a:srgbClr val="101C33"/>
                </a:solidFill>
                <a:latin typeface="Segoe UI"/>
                <a:ea typeface="Segoe UI"/>
                <a:cs typeface="Segoe UI"/>
              </a:rPr>
              <a:t>3</a:t>
            </a:r>
          </a:p>
        </p:txBody>
      </p:sp>
      <p:sp>
        <p:nvSpPr>
          <p:cNvPr id="26" name="">
            <a:extLst xmlns:a="http://schemas.openxmlformats.org/drawingml/2006/main">
              <a:ext uri="{FF2B5EF4-FFF2-40B4-BE49-F238E27FC236}">
                <a16:creationId xmlns:a16="http://schemas.microsoft.com/office/drawing/2014/main" id="{B41AA03C-EC9D-49EF-BEB3-56D525FC3ABB}"/>
              </a:ext>
            </a:extLst>
          </p:cNvPr>
          <p:cNvSpPr>
            <a:spLocks xmlns:a="http://schemas.openxmlformats.org/drawingml/2006/main" noGrp="1"/>
          </p:cNvSpPr>
          <p:nvPr/>
        </p:nvSpPr>
        <p:spPr>
          <a:xfrm xmlns:a="http://schemas.openxmlformats.org/drawingml/2006/main">
            <a:off x="6724650" y="2085975"/>
            <a:ext cx="190500" cy="38100"/>
          </a:xfrm>
          <a:prstGeom xmlns:a="http://schemas.openxmlformats.org/drawingml/2006/main" prst="rect">
            <a:avLst/>
          </a:prstGeom>
          <a:solidFill xmlns:a="http://schemas.openxmlformats.org/drawingml/2006/main">
            <a:srgbClr val="F2A03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7D7F863-0AB9-4D22-B21D-6FBAF120FBF0}"/>
              </a:ext>
            </a:extLst>
          </p:cNvPr>
          <p:cNvSpPr>
            <a:spLocks xmlns:a="http://schemas.openxmlformats.org/drawingml/2006/main" noGrp="1"/>
          </p:cNvSpPr>
          <p:nvPr/>
        </p:nvSpPr>
        <p:spPr>
          <a:xfrm xmlns:a="http://schemas.openxmlformats.org/drawingml/2006/main">
            <a:off x="6896100" y="2019300"/>
            <a:ext cx="171450" cy="171450"/>
          </a:xfrm>
          <a:prstGeom xmlns:a="http://schemas.openxmlformats.org/drawingml/2006/main" prst="chevron">
            <a:avLst/>
          </a:prstGeom>
          <a:solidFill xmlns:a="http://schemas.openxmlformats.org/drawingml/2006/main">
            <a:srgbClr val="F2A03D"/>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69D7464-01AA-4DF7-967C-30DF4B838D52}"/>
              </a:ext>
            </a:extLst>
          </p:cNvPr>
          <p:cNvSpPr>
            <a:spLocks xmlns:a="http://schemas.openxmlformats.org/drawingml/2006/main" noGrp="1"/>
          </p:cNvSpPr>
          <p:nvPr/>
        </p:nvSpPr>
        <p:spPr>
          <a:xfrm xmlns:a="http://schemas.openxmlformats.org/drawingml/2006/main">
            <a:off x="7067550" y="1676400"/>
            <a:ext cx="1809750" cy="876300"/>
          </a:xfrm>
          <a:prstGeom xmlns:a="http://schemas.openxmlformats.org/drawingml/2006/main" prst="roundRect">
            <a:avLst>
              <a:gd name="adj" fmla="val 8696"/>
            </a:avLst>
          </a:prstGeom>
          <a:solidFill xmlns:a="http://schemas.openxmlformats.org/drawingml/2006/main">
            <a:srgbClr val="18294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72D1206-009A-4418-865B-7E166B5A49DF}"/>
              </a:ext>
            </a:extLst>
          </p:cNvPr>
          <p:cNvSpPr>
            <a:spLocks xmlns:a="http://schemas.openxmlformats.org/drawingml/2006/main" noGrp="1"/>
          </p:cNvSpPr>
          <p:nvPr/>
        </p:nvSpPr>
        <p:spPr>
          <a:xfrm xmlns:a="http://schemas.openxmlformats.org/drawingml/2006/main">
            <a:off x="7181850" y="177165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FFFFFF"/>
                </a:solidFill>
                <a:latin typeface="Segoe UI"/>
                <a:ea typeface="Segoe UI"/>
                <a:cs typeface="Segoe UI"/>
              </a:defRPr>
            </a:defPPr>
          </a:lstStyle>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DuckDB</a:t>
            </a:r>
          </a:p>
        </p:txBody>
      </p:sp>
      <p:sp>
        <p:nvSpPr>
          <p:cNvPr id="30" name="">
            <a:extLst xmlns:a="http://schemas.openxmlformats.org/drawingml/2006/main">
              <a:ext uri="{FF2B5EF4-FFF2-40B4-BE49-F238E27FC236}">
                <a16:creationId xmlns:a16="http://schemas.microsoft.com/office/drawing/2014/main" id="{628F6EC5-F829-454A-B47F-DB4454C53E82}"/>
              </a:ext>
            </a:extLst>
          </p:cNvPr>
          <p:cNvSpPr>
            <a:spLocks xmlns:a="http://schemas.openxmlformats.org/drawingml/2006/main" noGrp="1"/>
          </p:cNvSpPr>
          <p:nvPr/>
        </p:nvSpPr>
        <p:spPr>
          <a:xfrm xmlns:a="http://schemas.openxmlformats.org/drawingml/2006/main">
            <a:off x="7162800" y="2076450"/>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75" b="0">
                <a:solidFill>
                  <a:srgbClr val="FFFFFF"/>
                </a:solidFill>
                <a:latin typeface="Segoe UI"/>
                <a:ea typeface="Segoe UI"/>
                <a:cs typeface="Segoe UI"/>
              </a:defRPr>
            </a:defPPr>
          </a:lstStyle>
          <a:p xmlns:a="http://schemas.openxmlformats.org/drawingml/2006/main">
            <a:pPr algn="ctr">
              <a:defRPr sz="1275" b="0">
                <a:solidFill>
                  <a:srgbClr val="FFFFFF"/>
                </a:solidFill>
                <a:latin typeface="Segoe UI"/>
                <a:ea typeface="Segoe UI"/>
                <a:cs typeface="Segoe UI"/>
              </a:defRPr>
            </a:pPr>
            <a:r>
              <a:rPr sz="1275" b="0">
                <a:solidFill>
                  <a:srgbClr val="FFFFFF"/>
                </a:solidFill>
                <a:latin typeface="Segoe UI"/>
                <a:ea typeface="Segoe UI"/>
                <a:cs typeface="Segoe UI"/>
              </a:rPr>
              <a:t>ON CONFLICT</a:t>
            </a:r>
          </a:p>
        </p:txBody>
      </p:sp>
      <p:sp>
        <p:nvSpPr>
          <p:cNvPr id="31" name="">
            <a:extLst xmlns:a="http://schemas.openxmlformats.org/drawingml/2006/main">
              <a:ext uri="{FF2B5EF4-FFF2-40B4-BE49-F238E27FC236}">
                <a16:creationId xmlns:a16="http://schemas.microsoft.com/office/drawing/2014/main" id="{51025806-0260-466B-BB49-49798E36A844}"/>
              </a:ext>
            </a:extLst>
          </p:cNvPr>
          <p:cNvSpPr>
            <a:spLocks xmlns:a="http://schemas.openxmlformats.org/drawingml/2006/main" noGrp="1"/>
          </p:cNvSpPr>
          <p:nvPr/>
        </p:nvSpPr>
        <p:spPr>
          <a:xfrm xmlns:a="http://schemas.openxmlformats.org/drawingml/2006/main">
            <a:off x="7143750" y="1581150"/>
            <a:ext cx="285750" cy="285750"/>
          </a:xfrm>
          <a:prstGeom xmlns:a="http://schemas.openxmlformats.org/drawingml/2006/main" prst="ellipse">
            <a:avLst/>
          </a:prstGeom>
          <a:solidFill xmlns:a="http://schemas.openxmlformats.org/drawingml/2006/main">
            <a:srgbClr val="F2A03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0850106-2DF0-4D06-837C-8D8B45D829DF}"/>
              </a:ext>
            </a:extLst>
          </p:cNvPr>
          <p:cNvSpPr>
            <a:spLocks xmlns:a="http://schemas.openxmlformats.org/drawingml/2006/main" noGrp="1"/>
          </p:cNvSpPr>
          <p:nvPr/>
        </p:nvSpPr>
        <p:spPr>
          <a:xfrm xmlns:a="http://schemas.openxmlformats.org/drawingml/2006/main">
            <a:off x="7143750" y="1609725"/>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7778"/>
          </a:bodyPr>
          <a:lstStyle xmlns:a="http://schemas.openxmlformats.org/drawingml/2006/main">
            <a:defPPr algn="ctr">
              <a:defRPr sz="1125" b="1">
                <a:solidFill>
                  <a:srgbClr val="101C33"/>
                </a:solidFill>
                <a:latin typeface="Segoe UI"/>
                <a:ea typeface="Segoe UI"/>
                <a:cs typeface="Segoe UI"/>
              </a:defRPr>
            </a:defPPr>
          </a:lstStyle>
          <a:p xmlns:a="http://schemas.openxmlformats.org/drawingml/2006/main">
            <a:pPr algn="ctr">
              <a:defRPr sz="1125" b="1">
                <a:solidFill>
                  <a:srgbClr val="101C33"/>
                </a:solidFill>
                <a:latin typeface="Segoe UI"/>
                <a:ea typeface="Segoe UI"/>
                <a:cs typeface="Segoe UI"/>
              </a:defRPr>
            </a:pPr>
            <a:r>
              <a:rPr sz="1125" b="1">
                <a:solidFill>
                  <a:srgbClr val="101C33"/>
                </a:solidFill>
                <a:latin typeface="Segoe UI"/>
                <a:ea typeface="Segoe UI"/>
                <a:cs typeface="Segoe UI"/>
              </a:rPr>
              <a:t>4</a:t>
            </a:r>
          </a:p>
        </p:txBody>
      </p:sp>
      <p:sp>
        <p:nvSpPr>
          <p:cNvPr id="33" name="">
            <a:extLst xmlns:a="http://schemas.openxmlformats.org/drawingml/2006/main">
              <a:ext uri="{FF2B5EF4-FFF2-40B4-BE49-F238E27FC236}">
                <a16:creationId xmlns:a16="http://schemas.microsoft.com/office/drawing/2014/main" id="{FD9B2302-E5F2-4755-B089-1FCDD185BE7B}"/>
              </a:ext>
            </a:extLst>
          </p:cNvPr>
          <p:cNvSpPr>
            <a:spLocks xmlns:a="http://schemas.openxmlformats.org/drawingml/2006/main" noGrp="1"/>
          </p:cNvSpPr>
          <p:nvPr/>
        </p:nvSpPr>
        <p:spPr>
          <a:xfrm xmlns:a="http://schemas.openxmlformats.org/drawingml/2006/main">
            <a:off x="8877300" y="2085975"/>
            <a:ext cx="190500" cy="38100"/>
          </a:xfrm>
          <a:prstGeom xmlns:a="http://schemas.openxmlformats.org/drawingml/2006/main" prst="rect">
            <a:avLst/>
          </a:prstGeom>
          <a:solidFill xmlns:a="http://schemas.openxmlformats.org/drawingml/2006/main">
            <a:srgbClr val="F2A03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AD6014BC-3370-4B76-8DF5-51B4B5083781}"/>
              </a:ext>
            </a:extLst>
          </p:cNvPr>
          <p:cNvSpPr>
            <a:spLocks xmlns:a="http://schemas.openxmlformats.org/drawingml/2006/main" noGrp="1"/>
          </p:cNvSpPr>
          <p:nvPr/>
        </p:nvSpPr>
        <p:spPr>
          <a:xfrm xmlns:a="http://schemas.openxmlformats.org/drawingml/2006/main">
            <a:off x="9048750" y="2019300"/>
            <a:ext cx="171450" cy="171450"/>
          </a:xfrm>
          <a:prstGeom xmlns:a="http://schemas.openxmlformats.org/drawingml/2006/main" prst="chevron">
            <a:avLst/>
          </a:prstGeom>
          <a:solidFill xmlns:a="http://schemas.openxmlformats.org/drawingml/2006/main">
            <a:srgbClr val="F2A03D"/>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9170D746-803A-454C-871D-897F7E6850DF}"/>
              </a:ext>
            </a:extLst>
          </p:cNvPr>
          <p:cNvSpPr>
            <a:spLocks xmlns:a="http://schemas.openxmlformats.org/drawingml/2006/main" noGrp="1"/>
          </p:cNvSpPr>
          <p:nvPr/>
        </p:nvSpPr>
        <p:spPr>
          <a:xfrm xmlns:a="http://schemas.openxmlformats.org/drawingml/2006/main">
            <a:off x="9220200" y="1676400"/>
            <a:ext cx="1809750" cy="876300"/>
          </a:xfrm>
          <a:prstGeom xmlns:a="http://schemas.openxmlformats.org/drawingml/2006/main" prst="roundRect">
            <a:avLst>
              <a:gd name="adj" fmla="val 8696"/>
            </a:avLst>
          </a:prstGeom>
          <a:solidFill xmlns:a="http://schemas.openxmlformats.org/drawingml/2006/main">
            <a:srgbClr val="182945"/>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A0DE520-FAA3-4DB0-9B95-8CE38FEEB02B}"/>
              </a:ext>
            </a:extLst>
          </p:cNvPr>
          <p:cNvSpPr>
            <a:spLocks xmlns:a="http://schemas.openxmlformats.org/drawingml/2006/main" noGrp="1"/>
          </p:cNvSpPr>
          <p:nvPr/>
        </p:nvSpPr>
        <p:spPr>
          <a:xfrm xmlns:a="http://schemas.openxmlformats.org/drawingml/2006/main">
            <a:off x="9334500" y="177165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FFFFFF"/>
                </a:solidFill>
                <a:latin typeface="Segoe UI"/>
                <a:ea typeface="Segoe UI"/>
                <a:cs typeface="Segoe UI"/>
              </a:defRPr>
            </a:defPPr>
          </a:lstStyle>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Dashboard</a:t>
            </a:r>
          </a:p>
        </p:txBody>
      </p:sp>
      <p:sp>
        <p:nvSpPr>
          <p:cNvPr id="37" name="">
            <a:extLst xmlns:a="http://schemas.openxmlformats.org/drawingml/2006/main">
              <a:ext uri="{FF2B5EF4-FFF2-40B4-BE49-F238E27FC236}">
                <a16:creationId xmlns:a16="http://schemas.microsoft.com/office/drawing/2014/main" id="{910730AD-CF15-4ED9-8B98-8F52018C9CFC}"/>
              </a:ext>
            </a:extLst>
          </p:cNvPr>
          <p:cNvSpPr>
            <a:spLocks xmlns:a="http://schemas.openxmlformats.org/drawingml/2006/main" noGrp="1"/>
          </p:cNvSpPr>
          <p:nvPr/>
        </p:nvSpPr>
        <p:spPr>
          <a:xfrm xmlns:a="http://schemas.openxmlformats.org/drawingml/2006/main">
            <a:off x="9315450" y="2076450"/>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75" b="0">
                <a:solidFill>
                  <a:srgbClr val="FFFFFF"/>
                </a:solidFill>
                <a:latin typeface="Segoe UI"/>
                <a:ea typeface="Segoe UI"/>
                <a:cs typeface="Segoe UI"/>
              </a:defRPr>
            </a:defPPr>
          </a:lstStyle>
          <a:p xmlns:a="http://schemas.openxmlformats.org/drawingml/2006/main">
            <a:pPr algn="ctr">
              <a:defRPr sz="1275" b="0">
                <a:solidFill>
                  <a:srgbClr val="FFFFFF"/>
                </a:solidFill>
                <a:latin typeface="Segoe UI"/>
                <a:ea typeface="Segoe UI"/>
                <a:cs typeface="Segoe UI"/>
              </a:defRPr>
            </a:pPr>
            <a:r>
              <a:rPr sz="1275" b="0">
                <a:solidFill>
                  <a:srgbClr val="FFFFFF"/>
                </a:solidFill>
                <a:latin typeface="Segoe UI"/>
                <a:ea typeface="Segoe UI"/>
                <a:cs typeface="Segoe UI"/>
              </a:rPr>
              <a:t>refresh 5 sec</a:t>
            </a:r>
          </a:p>
        </p:txBody>
      </p:sp>
      <p:sp>
        <p:nvSpPr>
          <p:cNvPr id="38" name="">
            <a:extLst xmlns:a="http://schemas.openxmlformats.org/drawingml/2006/main">
              <a:ext uri="{FF2B5EF4-FFF2-40B4-BE49-F238E27FC236}">
                <a16:creationId xmlns:a16="http://schemas.microsoft.com/office/drawing/2014/main" id="{3EE0DE3C-C456-43FD-B523-EFB54C48C19E}"/>
              </a:ext>
            </a:extLst>
          </p:cNvPr>
          <p:cNvSpPr>
            <a:spLocks xmlns:a="http://schemas.openxmlformats.org/drawingml/2006/main" noGrp="1"/>
          </p:cNvSpPr>
          <p:nvPr/>
        </p:nvSpPr>
        <p:spPr>
          <a:xfrm xmlns:a="http://schemas.openxmlformats.org/drawingml/2006/main">
            <a:off x="9296400" y="1581150"/>
            <a:ext cx="285750" cy="285750"/>
          </a:xfrm>
          <a:prstGeom xmlns:a="http://schemas.openxmlformats.org/drawingml/2006/main" prst="ellipse">
            <a:avLst/>
          </a:prstGeom>
          <a:solidFill xmlns:a="http://schemas.openxmlformats.org/drawingml/2006/main">
            <a:srgbClr val="F2A03D"/>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6A2BBE55-B50E-4811-965D-1B66640C7449}"/>
              </a:ext>
            </a:extLst>
          </p:cNvPr>
          <p:cNvSpPr>
            <a:spLocks xmlns:a="http://schemas.openxmlformats.org/drawingml/2006/main" noGrp="1"/>
          </p:cNvSpPr>
          <p:nvPr/>
        </p:nvSpPr>
        <p:spPr>
          <a:xfrm xmlns:a="http://schemas.openxmlformats.org/drawingml/2006/main">
            <a:off x="9296400" y="1609725"/>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7778"/>
          </a:bodyPr>
          <a:lstStyle xmlns:a="http://schemas.openxmlformats.org/drawingml/2006/main">
            <a:defPPr algn="ctr">
              <a:defRPr sz="1125" b="1">
                <a:solidFill>
                  <a:srgbClr val="101C33"/>
                </a:solidFill>
                <a:latin typeface="Segoe UI"/>
                <a:ea typeface="Segoe UI"/>
                <a:cs typeface="Segoe UI"/>
              </a:defRPr>
            </a:defPPr>
          </a:lstStyle>
          <a:p xmlns:a="http://schemas.openxmlformats.org/drawingml/2006/main">
            <a:pPr algn="ctr">
              <a:defRPr sz="1125" b="1">
                <a:solidFill>
                  <a:srgbClr val="101C33"/>
                </a:solidFill>
                <a:latin typeface="Segoe UI"/>
                <a:ea typeface="Segoe UI"/>
                <a:cs typeface="Segoe UI"/>
              </a:defRPr>
            </a:pPr>
            <a:r>
              <a:rPr sz="1125" b="1">
                <a:solidFill>
                  <a:srgbClr val="101C33"/>
                </a:solidFill>
                <a:latin typeface="Segoe UI"/>
                <a:ea typeface="Segoe UI"/>
                <a:cs typeface="Segoe UI"/>
              </a:rPr>
              <a:t>5</a:t>
            </a:r>
          </a:p>
        </p:txBody>
      </p:sp>
      <p:sp>
        <p:nvSpPr>
          <p:cNvPr id="40" name="">
            <a:extLst xmlns:a="http://schemas.openxmlformats.org/drawingml/2006/main">
              <a:ext uri="{FF2B5EF4-FFF2-40B4-BE49-F238E27FC236}">
                <a16:creationId xmlns:a16="http://schemas.microsoft.com/office/drawing/2014/main" id="{224D00A4-A707-41EC-ADE1-428C3AD8D77F}"/>
              </a:ext>
            </a:extLst>
          </p:cNvPr>
          <p:cNvSpPr>
            <a:spLocks xmlns:a="http://schemas.openxmlformats.org/drawingml/2006/main" noGrp="1"/>
          </p:cNvSpPr>
          <p:nvPr/>
        </p:nvSpPr>
        <p:spPr>
          <a:xfrm xmlns:a="http://schemas.openxmlformats.org/drawingml/2006/main">
            <a:off x="609600" y="31242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795"/>
          </a:bodyPr>
          <a:lstStyle xmlns:a="http://schemas.openxmlformats.org/drawingml/2006/main">
            <a:defPPr algn="l">
              <a:defRPr sz="1950" b="1">
                <a:solidFill>
                  <a:srgbClr val="FFFFFF"/>
                </a:solidFill>
                <a:latin typeface="Segoe UI"/>
                <a:ea typeface="Segoe UI"/>
                <a:cs typeface="Segoe UI"/>
              </a:defRPr>
            </a:defPPr>
          </a:lstStyle>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Reliability rule and purpose</a:t>
            </a:r>
          </a:p>
        </p:txBody>
      </p:sp>
      <p:sp>
        <p:nvSpPr>
          <p:cNvPr id="41" name="">
            <a:extLst xmlns:a="http://schemas.openxmlformats.org/drawingml/2006/main">
              <a:ext uri="{FF2B5EF4-FFF2-40B4-BE49-F238E27FC236}">
                <a16:creationId xmlns:a16="http://schemas.microsoft.com/office/drawing/2014/main" id="{A667102F-D215-4883-AE0E-F82DCDD27F92}"/>
              </a:ext>
            </a:extLst>
          </p:cNvPr>
          <p:cNvSpPr>
            <a:spLocks xmlns:a="http://schemas.openxmlformats.org/drawingml/2006/main" noGrp="1"/>
          </p:cNvSpPr>
          <p:nvPr/>
        </p:nvSpPr>
        <p:spPr>
          <a:xfrm xmlns:a="http://schemas.openxmlformats.org/drawingml/2006/main">
            <a:off x="609600" y="3562350"/>
            <a:ext cx="495300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defRPr sz="1500">
                <a:solidFill>
                  <a:srgbClr val="D7E0EC"/>
                </a:solidFill>
                <a:latin typeface="Segoe UI"/>
                <a:ea typeface="Segoe UI"/>
                <a:cs typeface="Segoe UI"/>
              </a:defRPr>
            </a:defPPr>
          </a:lstStyle>
          <a:p xmlns:a="http://schemas.openxmlformats.org/drawingml/2006/main">
            <a:pPr marL="228600" indent="-114300">
              <a:spcAft>
                <a:spcPts val="600"/>
              </a:spcAft>
              <a:buChar char="•"/>
              <a:defRPr sz="1500">
                <a:solidFill>
                  <a:srgbClr val="D7E0EC"/>
                </a:solidFill>
                <a:latin typeface="Segoe UI"/>
                <a:ea typeface="Segoe UI"/>
                <a:cs typeface="Segoe UI"/>
              </a:defRPr>
            </a:pPr>
            <a:r>
              <a:rPr sz="1500">
                <a:solidFill>
                  <a:srgbClr val="D7E0EC"/>
                </a:solidFill>
                <a:latin typeface="Segoe UI"/>
                <a:ea typeface="Segoe UI"/>
                <a:cs typeface="Segoe UI"/>
              </a:rPr>
              <a:t>Queue survives broker restart because durable=True</a:t>
            </a:r>
          </a:p>
          <a:p xmlns:a="http://schemas.openxmlformats.org/drawingml/2006/main">
            <a:pPr marL="228600" indent="-114300">
              <a:spcAft>
                <a:spcPts val="600"/>
              </a:spcAft>
              <a:buChar char="•"/>
              <a:defRPr sz="1500">
                <a:solidFill>
                  <a:srgbClr val="D7E0EC"/>
                </a:solidFill>
                <a:latin typeface="Segoe UI"/>
                <a:ea typeface="Segoe UI"/>
                <a:cs typeface="Segoe UI"/>
              </a:defRPr>
            </a:pPr>
            <a:r>
              <a:rPr sz="1500">
                <a:solidFill>
                  <a:srgbClr val="D7E0EC"/>
                </a:solidFill>
                <a:latin typeface="Segoe UI"/>
                <a:ea typeface="Segoe UI"/>
                <a:cs typeface="Segoe UI"/>
              </a:rPr>
              <a:t>Message survives because delivery_mode is Persistent</a:t>
            </a:r>
          </a:p>
          <a:p xmlns:a="http://schemas.openxmlformats.org/drawingml/2006/main">
            <a:pPr marL="228600" indent="-114300">
              <a:spcAft>
                <a:spcPts val="600"/>
              </a:spcAft>
              <a:buChar char="•"/>
              <a:defRPr sz="1500">
                <a:solidFill>
                  <a:srgbClr val="D7E0EC"/>
                </a:solidFill>
                <a:latin typeface="Segoe UI"/>
                <a:ea typeface="Segoe UI"/>
                <a:cs typeface="Segoe UI"/>
              </a:defRPr>
            </a:pPr>
            <a:r>
              <a:rPr sz="1500">
                <a:solidFill>
                  <a:srgbClr val="D7E0EC"/>
                </a:solidFill>
                <a:latin typeface="Segoe UI"/>
                <a:ea typeface="Segoe UI"/>
                <a:cs typeface="Segoe UI"/>
              </a:rPr>
              <a:t>Publisher confirms before FastAPI returns HTTP 202</a:t>
            </a:r>
          </a:p>
          <a:p xmlns:a="http://schemas.openxmlformats.org/drawingml/2006/main">
            <a:pPr marL="228600" indent="-114300">
              <a:spcAft>
                <a:spcPts val="600"/>
              </a:spcAft>
              <a:buChar char="•"/>
              <a:defRPr sz="1500">
                <a:solidFill>
                  <a:srgbClr val="D7E0EC"/>
                </a:solidFill>
                <a:latin typeface="Segoe UI"/>
                <a:ea typeface="Segoe UI"/>
                <a:cs typeface="Segoe UI"/>
              </a:defRPr>
            </a:pPr>
            <a:r>
              <a:rPr sz="1500">
                <a:solidFill>
                  <a:srgbClr val="D7E0EC"/>
                </a:solidFill>
                <a:latin typeface="Segoe UI"/>
                <a:ea typeface="Segoe UI"/>
                <a:cs typeface="Segoe UI"/>
              </a:rPr>
              <a:t>Consumer ACKs only after a successful insert</a:t>
            </a:r>
          </a:p>
          <a:p xmlns:a="http://schemas.openxmlformats.org/drawingml/2006/main">
            <a:pPr marL="228600" indent="-114300">
              <a:spcAft>
                <a:spcPts val="600"/>
              </a:spcAft>
              <a:buChar char="•"/>
              <a:defRPr sz="1500">
                <a:solidFill>
                  <a:srgbClr val="D7E0EC"/>
                </a:solidFill>
                <a:latin typeface="Segoe UI"/>
                <a:ea typeface="Segoe UI"/>
                <a:cs typeface="Segoe UI"/>
              </a:defRPr>
            </a:pPr>
            <a:r>
              <a:rPr sz="1500">
                <a:solidFill>
                  <a:srgbClr val="D7E0EC"/>
                </a:solidFill>
                <a:latin typeface="Segoe UI"/>
                <a:ea typeface="Segoe UI"/>
                <a:cs typeface="Segoe UI"/>
              </a:rPr>
              <a:t>event_id primary key makes redelivery idempotent</a:t>
            </a:r>
          </a:p>
          <a:p xmlns:a="http://schemas.openxmlformats.org/drawingml/2006/main">
            <a:pPr marL="228600" indent="-114300">
              <a:spcAft>
                <a:spcPts val="600"/>
              </a:spcAft>
              <a:buChar char="•"/>
              <a:defRPr sz="1500">
                <a:solidFill>
                  <a:srgbClr val="D7E0EC"/>
                </a:solidFill>
                <a:latin typeface="Segoe UI"/>
                <a:ea typeface="Segoe UI"/>
                <a:cs typeface="Segoe UI"/>
              </a:defRPr>
            </a:pPr>
            <a:r>
              <a:rPr sz="1500">
                <a:solidFill>
                  <a:srgbClr val="D7E0EC"/>
                </a:solidFill>
                <a:latin typeface="Segoe UI"/>
                <a:ea typeface="Segoe UI"/>
                <a:cs typeface="Segoe UI"/>
              </a:rPr>
              <a:t>Invalid queued JSON is logged and rejected without requeue</a:t>
            </a:r>
          </a:p>
        </p:txBody>
      </p:sp>
      <p:sp>
        <p:nvSpPr>
          <p:cNvPr id="42" name="">
            <a:extLst xmlns:a="http://schemas.openxmlformats.org/drawingml/2006/main">
              <a:ext uri="{FF2B5EF4-FFF2-40B4-BE49-F238E27FC236}">
                <a16:creationId xmlns:a16="http://schemas.microsoft.com/office/drawing/2014/main" id="{686D5035-69A3-4A3D-B1D0-5EBB05D88CDB}"/>
              </a:ext>
            </a:extLst>
          </p:cNvPr>
          <p:cNvSpPr>
            <a:spLocks xmlns:a="http://schemas.openxmlformats.org/drawingml/2006/main" noGrp="1"/>
          </p:cNvSpPr>
          <p:nvPr/>
        </p:nvSpPr>
        <p:spPr>
          <a:xfrm xmlns:a="http://schemas.openxmlformats.org/drawingml/2006/main">
            <a:off x="6096000" y="3105150"/>
            <a:ext cx="5162550" cy="2800350"/>
          </a:xfrm>
          <a:prstGeom xmlns:a="http://schemas.openxmlformats.org/drawingml/2006/main" prst="roundRect">
            <a:avLst>
              <a:gd name="adj" fmla="val 2721"/>
            </a:avLst>
          </a:prstGeom>
          <a:solidFill xmlns:a="http://schemas.openxmlformats.org/drawingml/2006/main">
            <a:srgbClr val="101C33"/>
          </a:solidFill>
          <a:ln xmlns:a="http://schemas.openxmlformats.org/drawingml/2006/main" w="9525">
            <a:solidFill>
              <a:srgbClr val="2A3B59"/>
            </a:solidFill>
            <a:prstDash val="solid"/>
          </a:ln>
        </p:spPr>
      </p:sp>
      <p:sp>
        <p:nvSpPr>
          <p:cNvPr id="43" name="">
            <a:extLst xmlns:a="http://schemas.openxmlformats.org/drawingml/2006/main">
              <a:ext uri="{FF2B5EF4-FFF2-40B4-BE49-F238E27FC236}">
                <a16:creationId xmlns:a16="http://schemas.microsoft.com/office/drawing/2014/main" id="{8CF9D477-D6C2-4B52-8010-C76C56A2CE3E}"/>
              </a:ext>
            </a:extLst>
          </p:cNvPr>
          <p:cNvSpPr>
            <a:spLocks xmlns:a="http://schemas.openxmlformats.org/drawingml/2006/main" noGrp="1"/>
          </p:cNvSpPr>
          <p:nvPr/>
        </p:nvSpPr>
        <p:spPr>
          <a:xfrm xmlns:a="http://schemas.openxmlformats.org/drawingml/2006/main">
            <a:off x="6096000" y="3105150"/>
            <a:ext cx="57150" cy="2800350"/>
          </a:xfrm>
          <a:prstGeom xmlns:a="http://schemas.openxmlformats.org/drawingml/2006/main" prst="rect">
            <a:avLst/>
          </a:prstGeom>
          <a:solidFill xmlns:a="http://schemas.openxmlformats.org/drawingml/2006/main">
            <a:srgbClr val="F2A03D"/>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D41FAB29-1524-414E-A83C-41663812F46C}"/>
              </a:ext>
            </a:extLst>
          </p:cNvPr>
          <p:cNvSpPr>
            <a:spLocks xmlns:a="http://schemas.openxmlformats.org/drawingml/2006/main" noGrp="1"/>
          </p:cNvSpPr>
          <p:nvPr/>
        </p:nvSpPr>
        <p:spPr>
          <a:xfrm xmlns:a="http://schemas.openxmlformats.org/drawingml/2006/main">
            <a:off x="6286500" y="3257550"/>
            <a:ext cx="481965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350" b="0">
                <a:solidFill>
                  <a:srgbClr val="EAF0F8"/>
                </a:solidFill>
                <a:latin typeface="Consolas"/>
                <a:ea typeface="Consolas"/>
                <a:cs typeface="Consolas"/>
              </a:defRPr>
            </a:defPPr>
          </a:lstStyle>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channel.queue_declare(</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  queue=queue_name, durable=True</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channel.confirm_delivery()</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properties = BasicProperties(</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  delivery_mode=Persistent,</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  message_id=str(event.event_id)</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a:t>
            </a:r>
          </a:p>
          <a:p xmlns:a="http://schemas.openxmlformats.org/drawingml/2006/main">
            <a:r>
              <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 consumer</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ch.basic_ack(delivery_tag=tag)</a:t>
            </a:r>
          </a:p>
        </p:txBody>
      </p:sp>
    </p:spTree>
    <p:extLst>
      <p:ext uri="{BB962C8B-B14F-4D97-AF65-F5344CB8AC3E}">
        <p14:creationId xmlns:p14="http://schemas.microsoft.com/office/powerpoint/2010/main" val="1551724458"/>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94DE24C-B0E9-45B3-9E5E-6AC85C0DDFB5}"/>
              </a:ext>
            </a:extLst>
          </p:cNvPr>
          <p:cNvSpPr>
            <a:spLocks xmlns:a="http://schemas.openxmlformats.org/drawingml/2006/main" noGrp="1"/>
          </p:cNvSpPr>
          <p:nvPr/>
        </p:nvSpPr>
        <p:spPr>
          <a:xfrm xmlns:a="http://schemas.openxmlformats.org/drawingml/2006/main">
            <a:off x="609600" y="3238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1">
                <a:solidFill>
                  <a:srgbClr val="F2A03D"/>
                </a:solidFill>
                <a:latin typeface="Segoe UI"/>
                <a:ea typeface="Segoe UI"/>
                <a:cs typeface="Segoe UI"/>
              </a:defRPr>
            </a:defPPr>
          </a:lstStyle>
          <a:p xmlns:a="http://schemas.openxmlformats.org/drawingml/2006/main">
            <a:pPr algn="l">
              <a:defRPr sz="1275" b="1">
                <a:solidFill>
                  <a:srgbClr val="F2A03D"/>
                </a:solidFill>
                <a:latin typeface="Segoe UI"/>
                <a:ea typeface="Segoe UI"/>
                <a:cs typeface="Segoe UI"/>
              </a:defRPr>
            </a:pPr>
            <a:r>
              <a:rPr sz="1275" b="1">
                <a:solidFill>
                  <a:srgbClr val="F2A03D"/>
                </a:solidFill>
                <a:latin typeface="Segoe UI"/>
                <a:ea typeface="Segoe UI"/>
                <a:cs typeface="Segoe UI"/>
              </a:rPr>
              <a:t>10</a:t>
            </a:r>
          </a:p>
        </p:txBody>
      </p:sp>
      <p:sp>
        <p:nvSpPr>
          <p:cNvPr id="2" name="">
            <a:extLst xmlns:a="http://schemas.openxmlformats.org/drawingml/2006/main">
              <a:ext uri="{FF2B5EF4-FFF2-40B4-BE49-F238E27FC236}">
                <a16:creationId xmlns:a16="http://schemas.microsoft.com/office/drawing/2014/main" id="{580ADEAF-1C26-4E81-9E5E-F6970C6A4BFE}"/>
              </a:ext>
            </a:extLst>
          </p:cNvPr>
          <p:cNvSpPr>
            <a:spLocks xmlns:a="http://schemas.openxmlformats.org/drawingml/2006/main" noGrp="1"/>
          </p:cNvSpPr>
          <p:nvPr/>
        </p:nvSpPr>
        <p:spPr>
          <a:xfrm xmlns:a="http://schemas.openxmlformats.org/drawingml/2006/main">
            <a:off x="1181100" y="26670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defPPr algn="l">
              <a:defRPr sz="3150" b="1">
                <a:solidFill>
                  <a:srgbClr val="172033"/>
                </a:solidFill>
                <a:latin typeface="Segoe UI"/>
                <a:ea typeface="Segoe UI"/>
                <a:cs typeface="Segoe UI"/>
              </a:defRPr>
            </a:defPPr>
          </a:lstStyle>
          <a:p xmlns:a="http://schemas.openxmlformats.org/drawingml/2006/main">
            <a:pPr algn="l">
              <a:defRPr sz="3150" b="1">
                <a:solidFill>
                  <a:srgbClr val="172033"/>
                </a:solidFill>
                <a:latin typeface="Segoe UI"/>
                <a:ea typeface="Segoe UI"/>
                <a:cs typeface="Segoe UI"/>
              </a:defRPr>
            </a:pPr>
            <a:r>
              <a:rPr sz="3150" b="1">
                <a:solidFill>
                  <a:srgbClr val="172033"/>
                </a:solidFill>
                <a:latin typeface="Segoe UI"/>
                <a:ea typeface="Segoe UI"/>
                <a:cs typeface="Segoe UI"/>
              </a:rPr>
              <a:t>FastAPI validates every live order before queueing</a:t>
            </a:r>
          </a:p>
        </p:txBody>
      </p:sp>
      <p:sp>
        <p:nvSpPr>
          <p:cNvPr id="3" name="">
            <a:extLst xmlns:a="http://schemas.openxmlformats.org/drawingml/2006/main">
              <a:ext uri="{FF2B5EF4-FFF2-40B4-BE49-F238E27FC236}">
                <a16:creationId xmlns:a16="http://schemas.microsoft.com/office/drawing/2014/main" id="{C9BEA8E6-5357-41B1-BB34-8FCE5AC37FC8}"/>
              </a:ext>
            </a:extLst>
          </p:cNvPr>
          <p:cNvSpPr>
            <a:spLocks xmlns:a="http://schemas.openxmlformats.org/drawingml/2006/main" noGrp="1"/>
          </p:cNvSpPr>
          <p:nvPr/>
        </p:nvSpPr>
        <p:spPr>
          <a:xfrm xmlns:a="http://schemas.openxmlformats.org/drawingml/2006/main">
            <a:off x="609600" y="914400"/>
            <a:ext cx="10972800" cy="19050"/>
          </a:xfrm>
          <a:prstGeom xmlns:a="http://schemas.openxmlformats.org/drawingml/2006/main" prst="rect">
            <a:avLst/>
          </a:prstGeom>
          <a:solidFill xmlns:a="http://schemas.openxmlformats.org/drawingml/2006/main">
            <a:srgbClr val="DCE2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0E9D52F-067B-4FCA-A9A4-B2B1379C64EA}"/>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0">
                <a:solidFill>
                  <a:srgbClr val="56657A"/>
                </a:solidFill>
                <a:latin typeface="Segoe UI"/>
                <a:ea typeface="Segoe UI"/>
                <a:cs typeface="Segoe UI"/>
              </a:defRPr>
            </a:defPPr>
          </a:lstStyle>
          <a:p xmlns:a="http://schemas.openxmlformats.org/drawingml/2006/main">
            <a:pPr algn="l">
              <a:defRPr sz="1050" b="0">
                <a:solidFill>
                  <a:srgbClr val="56657A"/>
                </a:solidFill>
                <a:latin typeface="Segoe UI"/>
                <a:ea typeface="Segoe UI"/>
                <a:cs typeface="Segoe UI"/>
              </a:defRPr>
            </a:pPr>
            <a:r>
              <a:rPr sz="1050" b="0">
                <a:solidFill>
                  <a:srgbClr val="56657A"/>
                </a:solidFill>
                <a:latin typeface="Segoe UI"/>
                <a:ea typeface="Segoe UI"/>
                <a:cs typeface="Segoe UI"/>
              </a:rPr>
              <a:t>Presenter: Lokesh Ture</a:t>
            </a:r>
          </a:p>
        </p:txBody>
      </p:sp>
      <p:sp>
        <p:nvSpPr>
          <p:cNvPr id="5" name="">
            <a:extLst xmlns:a="http://schemas.openxmlformats.org/drawingml/2006/main">
              <a:ext uri="{FF2B5EF4-FFF2-40B4-BE49-F238E27FC236}">
                <a16:creationId xmlns:a16="http://schemas.microsoft.com/office/drawing/2014/main" id="{40689737-0E36-47B6-9F4C-F2C095A2ABB1}"/>
              </a:ext>
            </a:extLst>
          </p:cNvPr>
          <p:cNvSpPr>
            <a:spLocks xmlns:a="http://schemas.openxmlformats.org/drawingml/2006/main" noGrp="1"/>
          </p:cNvSpPr>
          <p:nvPr/>
        </p:nvSpPr>
        <p:spPr>
          <a:xfrm xmlns:a="http://schemas.openxmlformats.org/drawingml/2006/main">
            <a:off x="7810500" y="6477000"/>
            <a:ext cx="3771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r">
              <a:defRPr sz="1050" b="0">
                <a:solidFill>
                  <a:srgbClr val="56657A"/>
                </a:solidFill>
                <a:latin typeface="Segoe UI"/>
                <a:ea typeface="Segoe UI"/>
                <a:cs typeface="Segoe UI"/>
              </a:defRPr>
            </a:defPPr>
          </a:lstStyle>
          <a:p xmlns:a="http://schemas.openxmlformats.org/drawingml/2006/main">
            <a:pPr algn="r">
              <a:defRPr sz="1050" b="0">
                <a:solidFill>
                  <a:srgbClr val="56657A"/>
                </a:solidFill>
                <a:latin typeface="Segoe UI"/>
                <a:ea typeface="Segoe UI"/>
                <a:cs typeface="Segoe UI"/>
              </a:defRPr>
            </a:pPr>
            <a:r>
              <a:rPr sz="1050" b="0">
                <a:solidFill>
                  <a:srgbClr val="56657A"/>
                </a:solidFill>
                <a:latin typeface="Segoe UI"/>
                <a:ea typeface="Segoe UI"/>
                <a:cs typeface="Segoe UI"/>
              </a:rPr>
              <a:t>E-Commerce Sales Analytics · DuckDB + RabbitMQ</a:t>
            </a:r>
          </a:p>
        </p:txBody>
      </p:sp>
      <p:sp>
        <p:nvSpPr>
          <p:cNvPr id="6" name="">
            <a:extLst xmlns:a="http://schemas.openxmlformats.org/drawingml/2006/main">
              <a:ext uri="{FF2B5EF4-FFF2-40B4-BE49-F238E27FC236}">
                <a16:creationId xmlns:a16="http://schemas.microsoft.com/office/drawing/2014/main" id="{7660F4B1-22FF-47EC-BF1B-C7258AD50030}"/>
              </a:ext>
            </a:extLst>
          </p:cNvPr>
          <p:cNvSpPr>
            <a:spLocks xmlns:a="http://schemas.openxmlformats.org/drawingml/2006/main" noGrp="1"/>
          </p:cNvSpPr>
          <p:nvPr/>
        </p:nvSpPr>
        <p:spPr>
          <a:xfrm xmlns:a="http://schemas.openxmlformats.org/drawingml/2006/main">
            <a:off x="609600" y="11811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795"/>
          </a:bodyPr>
          <a:lstStyle xmlns:a="http://schemas.openxmlformats.org/drawingml/2006/main">
            <a:defPPr algn="l">
              <a:defRPr sz="1950" b="1">
                <a:solidFill>
                  <a:srgbClr val="101C33"/>
                </a:solidFill>
                <a:latin typeface="Segoe UI"/>
                <a:ea typeface="Segoe UI"/>
                <a:cs typeface="Segoe UI"/>
              </a:defRPr>
            </a:defPPr>
          </a:lstStyle>
          <a:p xmlns:a="http://schemas.openxmlformats.org/drawingml/2006/main">
            <a:pPr algn="l">
              <a:defRPr sz="1950" b="1">
                <a:solidFill>
                  <a:srgbClr val="101C33"/>
                </a:solidFill>
                <a:latin typeface="Segoe UI"/>
                <a:ea typeface="Segoe UI"/>
                <a:cs typeface="Segoe UI"/>
              </a:defRPr>
            </a:pPr>
            <a:r>
              <a:rPr sz="1950" b="1">
                <a:solidFill>
                  <a:srgbClr val="101C33"/>
                </a:solidFill>
                <a:latin typeface="Segoe UI"/>
                <a:ea typeface="Segoe UI"/>
                <a:cs typeface="Segoe UI"/>
              </a:rPr>
              <a:t>Validated JSON contract</a:t>
            </a:r>
          </a:p>
        </p:txBody>
      </p:sp>
      <p:sp>
        <p:nvSpPr>
          <p:cNvPr id="7" name="">
            <a:extLst xmlns:a="http://schemas.openxmlformats.org/drawingml/2006/main">
              <a:ext uri="{FF2B5EF4-FFF2-40B4-BE49-F238E27FC236}">
                <a16:creationId xmlns:a16="http://schemas.microsoft.com/office/drawing/2014/main" id="{67A85320-3E11-4BE6-B2B4-431A290C2D0D}"/>
              </a:ext>
            </a:extLst>
          </p:cNvPr>
          <p:cNvSpPr>
            <a:spLocks xmlns:a="http://schemas.openxmlformats.org/drawingml/2006/main" noGrp="1"/>
          </p:cNvSpPr>
          <p:nvPr/>
        </p:nvSpPr>
        <p:spPr>
          <a:xfrm xmlns:a="http://schemas.openxmlformats.org/drawingml/2006/main">
            <a:off x="609600" y="1619250"/>
            <a:ext cx="4476750" cy="3333750"/>
          </a:xfrm>
          <a:prstGeom xmlns:a="http://schemas.openxmlformats.org/drawingml/2006/main" prst="roundRect">
            <a:avLst>
              <a:gd name="adj" fmla="val 2286"/>
            </a:avLst>
          </a:prstGeom>
          <a:solidFill xmlns:a="http://schemas.openxmlformats.org/drawingml/2006/main">
            <a:srgbClr val="101C33"/>
          </a:solidFill>
          <a:ln xmlns:a="http://schemas.openxmlformats.org/drawingml/2006/main" w="9525">
            <a:solidFill>
              <a:srgbClr val="2A3B59"/>
            </a:solidFill>
            <a:prstDash val="solid"/>
          </a:ln>
        </p:spPr>
      </p:sp>
      <p:sp>
        <p:nvSpPr>
          <p:cNvPr id="8" name="">
            <a:extLst xmlns:a="http://schemas.openxmlformats.org/drawingml/2006/main">
              <a:ext uri="{FF2B5EF4-FFF2-40B4-BE49-F238E27FC236}">
                <a16:creationId xmlns:a16="http://schemas.microsoft.com/office/drawing/2014/main" id="{76DD7FAB-943C-49CF-B9C1-C1B557E87E46}"/>
              </a:ext>
            </a:extLst>
          </p:cNvPr>
          <p:cNvSpPr>
            <a:spLocks xmlns:a="http://schemas.openxmlformats.org/drawingml/2006/main" noGrp="1"/>
          </p:cNvSpPr>
          <p:nvPr/>
        </p:nvSpPr>
        <p:spPr>
          <a:xfrm xmlns:a="http://schemas.openxmlformats.org/drawingml/2006/main">
            <a:off x="609600" y="1619250"/>
            <a:ext cx="57150" cy="3333750"/>
          </a:xfrm>
          <a:prstGeom xmlns:a="http://schemas.openxmlformats.org/drawingml/2006/main" prst="rect">
            <a:avLst/>
          </a:prstGeom>
          <a:solidFill xmlns:a="http://schemas.openxmlformats.org/drawingml/2006/main">
            <a:srgbClr val="16B8A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3BB91C9-BA4B-49BF-8DDD-BBBA086437C3}"/>
              </a:ext>
            </a:extLst>
          </p:cNvPr>
          <p:cNvSpPr>
            <a:spLocks xmlns:a="http://schemas.openxmlformats.org/drawingml/2006/main" noGrp="1"/>
          </p:cNvSpPr>
          <p:nvPr/>
        </p:nvSpPr>
        <p:spPr>
          <a:xfrm xmlns:a="http://schemas.openxmlformats.org/drawingml/2006/main">
            <a:off x="800100" y="1771650"/>
            <a:ext cx="4133850" cy="3067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350" b="0">
                <a:solidFill>
                  <a:srgbClr val="EAF0F8"/>
                </a:solidFill>
                <a:latin typeface="Consolas"/>
                <a:ea typeface="Consolas"/>
                <a:cs typeface="Consolas"/>
              </a:defRPr>
            </a:defPPr>
          </a:lstStyle>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  "order_id": "LIVE-...",</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  "customer_id": "C004281",</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  "product_id": "P017",</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  "category": "Electronics",</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  "quantity": 2,</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  "unit_price": 499.90,</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  "discount_pct": 0.10,</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  "region": "West"</a:t>
            </a:r>
          </a:p>
          <a:p xmlns:a="http://schemas.openxmlformats.org/drawingml/2006/main">
            <a:pPr algn="l">
              <a:defRPr sz="1350" b="0">
                <a:solidFill>
                  <a:srgbClr val="EAF0F8"/>
                </a:solidFill>
                <a:latin typeface="Consolas"/>
                <a:ea typeface="Consolas"/>
                <a:cs typeface="Consolas"/>
              </a:defRPr>
            </a:pPr>
            <a:r>
              <a:rPr sz="1350" b="0">
                <a:solidFill>
                  <a:srgbClr val="EAF0F8"/>
                </a:solidFill>
                <a:latin typeface="Consolas"/>
                <a:ea typeface="Consolas"/>
                <a:cs typeface="Consolas"/>
              </a:rPr>
              <a:t>}</a:t>
            </a:r>
          </a:p>
        </p:txBody>
      </p:sp>
      <p:sp>
        <p:nvSpPr>
          <p:cNvPr id="10" name="">
            <a:extLst xmlns:a="http://schemas.openxmlformats.org/drawingml/2006/main">
              <a:ext uri="{FF2B5EF4-FFF2-40B4-BE49-F238E27FC236}">
                <a16:creationId xmlns:a16="http://schemas.microsoft.com/office/drawing/2014/main" id="{F4DD76AA-13AB-432A-A389-B6E24D4D6302}"/>
              </a:ext>
            </a:extLst>
          </p:cNvPr>
          <p:cNvSpPr>
            <a:spLocks xmlns:a="http://schemas.openxmlformats.org/drawingml/2006/main" noGrp="1"/>
          </p:cNvSpPr>
          <p:nvPr/>
        </p:nvSpPr>
        <p:spPr>
          <a:xfrm xmlns:a="http://schemas.openxmlformats.org/drawingml/2006/main">
            <a:off x="609600" y="5143500"/>
            <a:ext cx="4476750" cy="800100"/>
          </a:xfrm>
          <a:prstGeom xmlns:a="http://schemas.openxmlformats.org/drawingml/2006/main" prst="roundRect">
            <a:avLst>
              <a:gd name="adj" fmla="val 9524"/>
            </a:avLst>
          </a:prstGeom>
          <a:solidFill xmlns:a="http://schemas.openxmlformats.org/drawingml/2006/main">
            <a:srgbClr val="DDF6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A2D22FF-67D7-424F-A2D7-F485B1D9BE69}"/>
              </a:ext>
            </a:extLst>
          </p:cNvPr>
          <p:cNvSpPr>
            <a:spLocks xmlns:a="http://schemas.openxmlformats.org/drawingml/2006/main" noGrp="1"/>
          </p:cNvSpPr>
          <p:nvPr/>
        </p:nvSpPr>
        <p:spPr>
          <a:xfrm xmlns:a="http://schemas.openxmlformats.org/drawingml/2006/main">
            <a:off x="781050" y="5238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333"/>
          </a:bodyPr>
          <a:lstStyle xmlns:a="http://schemas.openxmlformats.org/drawingml/2006/main">
            <a:defPPr algn="l">
              <a:defRPr sz="1500" b="1">
                <a:solidFill>
                  <a:srgbClr val="16B8A6"/>
                </a:solidFill>
                <a:latin typeface="Segoe UI"/>
                <a:ea typeface="Segoe UI"/>
                <a:cs typeface="Segoe UI"/>
              </a:defRPr>
            </a:defPPr>
          </a:lstStyle>
          <a:p xmlns:a="http://schemas.openxmlformats.org/drawingml/2006/main">
            <a:pPr algn="l">
              <a:defRPr sz="1500" b="1">
                <a:solidFill>
                  <a:srgbClr val="16B8A6"/>
                </a:solidFill>
                <a:latin typeface="Segoe UI"/>
                <a:ea typeface="Segoe UI"/>
                <a:cs typeface="Segoe UI"/>
              </a:defRPr>
            </a:pPr>
            <a:r>
              <a:rPr sz="1500" b="1">
                <a:solidFill>
                  <a:srgbClr val="16B8A6"/>
                </a:solidFill>
                <a:latin typeface="Segoe UI"/>
                <a:ea typeface="Segoe UI"/>
                <a:cs typeface="Segoe UI"/>
              </a:rPr>
              <a:t>Why validate first</a:t>
            </a:r>
          </a:p>
        </p:txBody>
      </p:sp>
      <p:sp>
        <p:nvSpPr>
          <p:cNvPr id="12" name="">
            <a:extLst xmlns:a="http://schemas.openxmlformats.org/drawingml/2006/main">
              <a:ext uri="{FF2B5EF4-FFF2-40B4-BE49-F238E27FC236}">
                <a16:creationId xmlns:a16="http://schemas.microsoft.com/office/drawing/2014/main" id="{774F7175-94DC-4875-8595-11D8281D5F33}"/>
              </a:ext>
            </a:extLst>
          </p:cNvPr>
          <p:cNvSpPr>
            <a:spLocks xmlns:a="http://schemas.openxmlformats.org/drawingml/2006/main" noGrp="1"/>
          </p:cNvSpPr>
          <p:nvPr/>
        </p:nvSpPr>
        <p:spPr>
          <a:xfrm xmlns:a="http://schemas.openxmlformats.org/drawingml/2006/main">
            <a:off x="781050" y="55245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5741"/>
          </a:bodyPr>
          <a:lstStyle xmlns:a="http://schemas.openxmlformats.org/drawingml/2006/main">
            <a:defPPr algn="l">
              <a:defRPr sz="1350" b="0">
                <a:solidFill>
                  <a:srgbClr val="172033"/>
                </a:solidFill>
                <a:latin typeface="Segoe UI"/>
                <a:ea typeface="Segoe UI"/>
                <a:cs typeface="Segoe UI"/>
              </a:defRPr>
            </a:defPPr>
          </a:lstStyle>
          <a:p xmlns:a="http://schemas.openxmlformats.org/drawingml/2006/main">
            <a:pPr algn="l">
              <a:defRPr sz="1350" b="0">
                <a:solidFill>
                  <a:srgbClr val="172033"/>
                </a:solidFill>
                <a:latin typeface="Segoe UI"/>
                <a:ea typeface="Segoe UI"/>
                <a:cs typeface="Segoe UI"/>
              </a:defRPr>
            </a:pPr>
            <a:r>
              <a:rPr sz="1350" b="0">
                <a:solidFill>
                  <a:srgbClr val="172033"/>
                </a:solidFill>
                <a:latin typeface="Segoe UI"/>
                <a:ea typeface="Segoe UI"/>
                <a:cs typeface="Segoe UI"/>
              </a:rPr>
              <a:t>Validation blocks bad types and impossible values before the broker, then calculates revenue from the accepted contract.</a:t>
            </a:r>
          </a:p>
        </p:txBody>
      </p:sp>
      <p:sp>
        <p:nvSpPr>
          <p:cNvPr id="13" name="">
            <a:extLst xmlns:a="http://schemas.openxmlformats.org/drawingml/2006/main">
              <a:ext uri="{FF2B5EF4-FFF2-40B4-BE49-F238E27FC236}">
                <a16:creationId xmlns:a16="http://schemas.microsoft.com/office/drawing/2014/main" id="{23578CEC-4F10-49FA-80F3-D4227ECE4520}"/>
              </a:ext>
            </a:extLst>
          </p:cNvPr>
          <p:cNvSpPr>
            <a:spLocks xmlns:a="http://schemas.openxmlformats.org/drawingml/2006/main" noGrp="1"/>
          </p:cNvSpPr>
          <p:nvPr/>
        </p:nvSpPr>
        <p:spPr>
          <a:xfrm xmlns:a="http://schemas.openxmlformats.org/drawingml/2006/main">
            <a:off x="5467350" y="1181100"/>
            <a:ext cx="19050" cy="4762500"/>
          </a:xfrm>
          <a:prstGeom xmlns:a="http://schemas.openxmlformats.org/drawingml/2006/main" prst="rect">
            <a:avLst/>
          </a:prstGeom>
          <a:solidFill xmlns:a="http://schemas.openxmlformats.org/drawingml/2006/main">
            <a:srgbClr val="DCE2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F7733D4-941D-4628-B09A-0A8FE90C74FF}"/>
              </a:ext>
            </a:extLst>
          </p:cNvPr>
          <p:cNvSpPr>
            <a:spLocks xmlns:a="http://schemas.openxmlformats.org/drawingml/2006/main" noGrp="1"/>
          </p:cNvSpPr>
          <p:nvPr/>
        </p:nvSpPr>
        <p:spPr>
          <a:xfrm xmlns:a="http://schemas.openxmlformats.org/drawingml/2006/main">
            <a:off x="5905500" y="11811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795"/>
          </a:bodyPr>
          <a:lstStyle xmlns:a="http://schemas.openxmlformats.org/drawingml/2006/main">
            <a:defPPr algn="l">
              <a:defRPr sz="1950" b="1">
                <a:solidFill>
                  <a:srgbClr val="101C33"/>
                </a:solidFill>
                <a:latin typeface="Segoe UI"/>
                <a:ea typeface="Segoe UI"/>
                <a:cs typeface="Segoe UI"/>
              </a:defRPr>
            </a:defPPr>
          </a:lstStyle>
          <a:p xmlns:a="http://schemas.openxmlformats.org/drawingml/2006/main">
            <a:pPr algn="l">
              <a:defRPr sz="1950" b="1">
                <a:solidFill>
                  <a:srgbClr val="101C33"/>
                </a:solidFill>
                <a:latin typeface="Segoe UI"/>
                <a:ea typeface="Segoe UI"/>
                <a:cs typeface="Segoe UI"/>
              </a:defRPr>
            </a:pPr>
            <a:r>
              <a:rPr sz="1950" b="1">
                <a:solidFill>
                  <a:srgbClr val="101C33"/>
                </a:solidFill>
                <a:latin typeface="Segoe UI"/>
                <a:ea typeface="Segoe UI"/>
                <a:cs typeface="Segoe UI"/>
              </a:rPr>
              <a:t>Endpoints and purpose</a:t>
            </a:r>
          </a:p>
        </p:txBody>
      </p:sp>
      <p:sp>
        <p:nvSpPr>
          <p:cNvPr id="15" name="">
            <a:extLst xmlns:a="http://schemas.openxmlformats.org/drawingml/2006/main">
              <a:ext uri="{FF2B5EF4-FFF2-40B4-BE49-F238E27FC236}">
                <a16:creationId xmlns:a16="http://schemas.microsoft.com/office/drawing/2014/main" id="{4E80A20D-A908-4EDE-AFFC-07C574DE20CF}"/>
              </a:ext>
            </a:extLst>
          </p:cNvPr>
          <p:cNvSpPr>
            <a:spLocks xmlns:a="http://schemas.openxmlformats.org/drawingml/2006/main" noGrp="1"/>
          </p:cNvSpPr>
          <p:nvPr/>
        </p:nvSpPr>
        <p:spPr>
          <a:xfrm xmlns:a="http://schemas.openxmlformats.org/drawingml/2006/main">
            <a:off x="5905500" y="1638300"/>
            <a:ext cx="76200" cy="552450"/>
          </a:xfrm>
          <a:prstGeom xmlns:a="http://schemas.openxmlformats.org/drawingml/2006/main" prst="rect">
            <a:avLst/>
          </a:prstGeom>
          <a:solidFill xmlns:a="http://schemas.openxmlformats.org/drawingml/2006/main">
            <a:srgbClr val="F2A03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58A57B0-E79E-4068-9D70-E8EDEFE1103C}"/>
              </a:ext>
            </a:extLst>
          </p:cNvPr>
          <p:cNvSpPr>
            <a:spLocks xmlns:a="http://schemas.openxmlformats.org/drawingml/2006/main" noGrp="1"/>
          </p:cNvSpPr>
          <p:nvPr/>
        </p:nvSpPr>
        <p:spPr>
          <a:xfrm xmlns:a="http://schemas.openxmlformats.org/drawingml/2006/main">
            <a:off x="6191250" y="16383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l">
              <a:defRPr sz="1500" b="1">
                <a:solidFill>
                  <a:srgbClr val="172033"/>
                </a:solidFill>
                <a:latin typeface="Segoe UI"/>
                <a:ea typeface="Segoe UI"/>
                <a:cs typeface="Segoe UI"/>
              </a:defRPr>
            </a:defPPr>
          </a:lstStyle>
          <a:p xmlns:a="http://schemas.openxmlformats.org/drawingml/2006/main">
            <a:pPr algn="l">
              <a:defRPr sz="1500" b="1">
                <a:solidFill>
                  <a:srgbClr val="172033"/>
                </a:solidFill>
                <a:latin typeface="Segoe UI"/>
                <a:ea typeface="Segoe UI"/>
                <a:cs typeface="Segoe UI"/>
              </a:defRPr>
            </a:pPr>
            <a:r>
              <a:rPr sz="1500" b="1">
                <a:solidFill>
                  <a:srgbClr val="172033"/>
                </a:solidFill>
                <a:latin typeface="Segoe UI"/>
                <a:ea typeface="Segoe UI"/>
                <a:cs typeface="Segoe UI"/>
              </a:rPr>
              <a:t>POST /orders</a:t>
            </a:r>
          </a:p>
        </p:txBody>
      </p:sp>
      <p:sp>
        <p:nvSpPr>
          <p:cNvPr id="17" name="">
            <a:extLst xmlns:a="http://schemas.openxmlformats.org/drawingml/2006/main">
              <a:ext uri="{FF2B5EF4-FFF2-40B4-BE49-F238E27FC236}">
                <a16:creationId xmlns:a16="http://schemas.microsoft.com/office/drawing/2014/main" id="{FCD55059-9F49-48E3-A1BA-FFCE4D454849}"/>
              </a:ext>
            </a:extLst>
          </p:cNvPr>
          <p:cNvSpPr>
            <a:spLocks xmlns:a="http://schemas.openxmlformats.org/drawingml/2006/main" noGrp="1"/>
          </p:cNvSpPr>
          <p:nvPr/>
        </p:nvSpPr>
        <p:spPr>
          <a:xfrm xmlns:a="http://schemas.openxmlformats.org/drawingml/2006/main">
            <a:off x="8191500" y="1638300"/>
            <a:ext cx="3124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1275" b="0">
                <a:solidFill>
                  <a:srgbClr val="56657A"/>
                </a:solidFill>
                <a:latin typeface="Segoe UI"/>
                <a:ea typeface="Segoe UI"/>
                <a:cs typeface="Segoe UI"/>
              </a:defRPr>
            </a:defPPr>
          </a:lstStyle>
          <a:p xmlns:a="http://schemas.openxmlformats.org/drawingml/2006/main">
            <a:pPr algn="l">
              <a:defRPr sz="1275" b="0">
                <a:solidFill>
                  <a:srgbClr val="56657A"/>
                </a:solidFill>
                <a:latin typeface="Segoe UI"/>
                <a:ea typeface="Segoe UI"/>
                <a:cs typeface="Segoe UI"/>
              </a:defRPr>
            </a:pPr>
            <a:r>
              <a:rPr sz="1275" b="0">
                <a:solidFill>
                  <a:srgbClr val="56657A"/>
                </a:solidFill>
                <a:latin typeface="Segoe UI"/>
                <a:ea typeface="Segoe UI"/>
                <a:cs typeface="Segoe UI"/>
              </a:rPr>
              <a:t>Validate, publish and return 202 after broker confirmation</a:t>
            </a:r>
          </a:p>
        </p:txBody>
      </p:sp>
      <p:sp>
        <p:nvSpPr>
          <p:cNvPr id="18" name="">
            <a:extLst xmlns:a="http://schemas.openxmlformats.org/drawingml/2006/main">
              <a:ext uri="{FF2B5EF4-FFF2-40B4-BE49-F238E27FC236}">
                <a16:creationId xmlns:a16="http://schemas.microsoft.com/office/drawing/2014/main" id="{E5D0DAF9-8E22-4DD2-B278-66ECD4973512}"/>
              </a:ext>
            </a:extLst>
          </p:cNvPr>
          <p:cNvSpPr>
            <a:spLocks xmlns:a="http://schemas.openxmlformats.org/drawingml/2006/main" noGrp="1"/>
          </p:cNvSpPr>
          <p:nvPr/>
        </p:nvSpPr>
        <p:spPr>
          <a:xfrm xmlns:a="http://schemas.openxmlformats.org/drawingml/2006/main">
            <a:off x="5905500" y="2362200"/>
            <a:ext cx="76200" cy="552450"/>
          </a:xfrm>
          <a:prstGeom xmlns:a="http://schemas.openxmlformats.org/drawingml/2006/main" prst="rect">
            <a:avLst/>
          </a:prstGeom>
          <a:solidFill xmlns:a="http://schemas.openxmlformats.org/drawingml/2006/main">
            <a:srgbClr val="16B8A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24515FB-B209-429D-9B89-178ABC6D8421}"/>
              </a:ext>
            </a:extLst>
          </p:cNvPr>
          <p:cNvSpPr>
            <a:spLocks xmlns:a="http://schemas.openxmlformats.org/drawingml/2006/main" noGrp="1"/>
          </p:cNvSpPr>
          <p:nvPr/>
        </p:nvSpPr>
        <p:spPr>
          <a:xfrm xmlns:a="http://schemas.openxmlformats.org/drawingml/2006/main">
            <a:off x="6191250" y="23622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l">
              <a:defRPr sz="1500" b="1">
                <a:solidFill>
                  <a:srgbClr val="172033"/>
                </a:solidFill>
                <a:latin typeface="Segoe UI"/>
                <a:ea typeface="Segoe UI"/>
                <a:cs typeface="Segoe UI"/>
              </a:defRPr>
            </a:defPPr>
          </a:lstStyle>
          <a:p xmlns:a="http://schemas.openxmlformats.org/drawingml/2006/main">
            <a:pPr algn="l">
              <a:defRPr sz="1500" b="1">
                <a:solidFill>
                  <a:srgbClr val="172033"/>
                </a:solidFill>
                <a:latin typeface="Segoe UI"/>
                <a:ea typeface="Segoe UI"/>
                <a:cs typeface="Segoe UI"/>
              </a:defRPr>
            </a:pPr>
            <a:r>
              <a:rPr sz="1500" b="1">
                <a:solidFill>
                  <a:srgbClr val="172033"/>
                </a:solidFill>
                <a:latin typeface="Segoe UI"/>
                <a:ea typeface="Segoe UI"/>
                <a:cs typeface="Segoe UI"/>
              </a:rPr>
              <a:t>GET /health</a:t>
            </a:r>
          </a:p>
        </p:txBody>
      </p:sp>
      <p:sp>
        <p:nvSpPr>
          <p:cNvPr id="20" name="">
            <a:extLst xmlns:a="http://schemas.openxmlformats.org/drawingml/2006/main">
              <a:ext uri="{FF2B5EF4-FFF2-40B4-BE49-F238E27FC236}">
                <a16:creationId xmlns:a16="http://schemas.microsoft.com/office/drawing/2014/main" id="{5EEA517E-46DB-42A0-9F96-FCDA2CEBF337}"/>
              </a:ext>
            </a:extLst>
          </p:cNvPr>
          <p:cNvSpPr>
            <a:spLocks xmlns:a="http://schemas.openxmlformats.org/drawingml/2006/main" noGrp="1"/>
          </p:cNvSpPr>
          <p:nvPr/>
        </p:nvSpPr>
        <p:spPr>
          <a:xfrm xmlns:a="http://schemas.openxmlformats.org/drawingml/2006/main">
            <a:off x="8191500" y="2362200"/>
            <a:ext cx="3124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1275" b="0">
                <a:solidFill>
                  <a:srgbClr val="56657A"/>
                </a:solidFill>
                <a:latin typeface="Segoe UI"/>
                <a:ea typeface="Segoe UI"/>
                <a:cs typeface="Segoe UI"/>
              </a:defRPr>
            </a:defPPr>
          </a:lstStyle>
          <a:p xmlns:a="http://schemas.openxmlformats.org/drawingml/2006/main">
            <a:pPr algn="l">
              <a:defRPr sz="1275" b="0">
                <a:solidFill>
                  <a:srgbClr val="56657A"/>
                </a:solidFill>
                <a:latin typeface="Segoe UI"/>
                <a:ea typeface="Segoe UI"/>
                <a:cs typeface="Segoe UI"/>
              </a:defRPr>
            </a:pPr>
            <a:r>
              <a:rPr sz="1275" b="0">
                <a:solidFill>
                  <a:srgbClr val="56657A"/>
                </a:solidFill>
                <a:latin typeface="Segoe UI"/>
                <a:ea typeface="Segoe UI"/>
                <a:cs typeface="Segoe UI"/>
              </a:rPr>
              <a:t>Confirm that the API and consumer path are available</a:t>
            </a:r>
          </a:p>
        </p:txBody>
      </p:sp>
      <p:sp>
        <p:nvSpPr>
          <p:cNvPr id="21" name="">
            <a:extLst xmlns:a="http://schemas.openxmlformats.org/drawingml/2006/main">
              <a:ext uri="{FF2B5EF4-FFF2-40B4-BE49-F238E27FC236}">
                <a16:creationId xmlns:a16="http://schemas.microsoft.com/office/drawing/2014/main" id="{E3126EA6-A862-48D6-BC23-A48F220DA338}"/>
              </a:ext>
            </a:extLst>
          </p:cNvPr>
          <p:cNvSpPr>
            <a:spLocks xmlns:a="http://schemas.openxmlformats.org/drawingml/2006/main" noGrp="1"/>
          </p:cNvSpPr>
          <p:nvPr/>
        </p:nvSpPr>
        <p:spPr>
          <a:xfrm xmlns:a="http://schemas.openxmlformats.org/drawingml/2006/main">
            <a:off x="5905500" y="3086100"/>
            <a:ext cx="76200" cy="552450"/>
          </a:xfrm>
          <a:prstGeom xmlns:a="http://schemas.openxmlformats.org/drawingml/2006/main" prst="rect">
            <a:avLst/>
          </a:prstGeom>
          <a:solidFill xmlns:a="http://schemas.openxmlformats.org/drawingml/2006/main">
            <a:srgbClr val="5267D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59F4948-8B96-4E51-B017-53F3FCF39579}"/>
              </a:ext>
            </a:extLst>
          </p:cNvPr>
          <p:cNvSpPr>
            <a:spLocks xmlns:a="http://schemas.openxmlformats.org/drawingml/2006/main" noGrp="1"/>
          </p:cNvSpPr>
          <p:nvPr/>
        </p:nvSpPr>
        <p:spPr>
          <a:xfrm xmlns:a="http://schemas.openxmlformats.org/drawingml/2006/main">
            <a:off x="6191250" y="30861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l">
              <a:defRPr sz="1500" b="1">
                <a:solidFill>
                  <a:srgbClr val="172033"/>
                </a:solidFill>
                <a:latin typeface="Segoe UI"/>
                <a:ea typeface="Segoe UI"/>
                <a:cs typeface="Segoe UI"/>
              </a:defRPr>
            </a:defPPr>
          </a:lstStyle>
          <a:p xmlns:a="http://schemas.openxmlformats.org/drawingml/2006/main">
            <a:pPr algn="l">
              <a:defRPr sz="1500" b="1">
                <a:solidFill>
                  <a:srgbClr val="172033"/>
                </a:solidFill>
                <a:latin typeface="Segoe UI"/>
                <a:ea typeface="Segoe UI"/>
                <a:cs typeface="Segoe UI"/>
              </a:defRPr>
            </a:pPr>
            <a:r>
              <a:rPr sz="1500" b="1">
                <a:solidFill>
                  <a:srgbClr val="172033"/>
                </a:solidFill>
                <a:latin typeface="Segoe UI"/>
                <a:ea typeface="Segoe UI"/>
                <a:cs typeface="Segoe UI"/>
              </a:rPr>
              <a:t>GET /metrics</a:t>
            </a:r>
          </a:p>
        </p:txBody>
      </p:sp>
      <p:sp>
        <p:nvSpPr>
          <p:cNvPr id="23" name="">
            <a:extLst xmlns:a="http://schemas.openxmlformats.org/drawingml/2006/main">
              <a:ext uri="{FF2B5EF4-FFF2-40B4-BE49-F238E27FC236}">
                <a16:creationId xmlns:a16="http://schemas.microsoft.com/office/drawing/2014/main" id="{DE794B74-D0B0-4398-9AB0-720E0AF895C8}"/>
              </a:ext>
            </a:extLst>
          </p:cNvPr>
          <p:cNvSpPr>
            <a:spLocks xmlns:a="http://schemas.openxmlformats.org/drawingml/2006/main" noGrp="1"/>
          </p:cNvSpPr>
          <p:nvPr/>
        </p:nvSpPr>
        <p:spPr>
          <a:xfrm xmlns:a="http://schemas.openxmlformats.org/drawingml/2006/main">
            <a:off x="8191500" y="3086100"/>
            <a:ext cx="3124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1275" b="0">
                <a:solidFill>
                  <a:srgbClr val="56657A"/>
                </a:solidFill>
                <a:latin typeface="Segoe UI"/>
                <a:ea typeface="Segoe UI"/>
                <a:cs typeface="Segoe UI"/>
              </a:defRPr>
            </a:defPPr>
          </a:lstStyle>
          <a:p xmlns:a="http://schemas.openxmlformats.org/drawingml/2006/main">
            <a:pPr algn="l">
              <a:defRPr sz="1275" b="0">
                <a:solidFill>
                  <a:srgbClr val="56657A"/>
                </a:solidFill>
                <a:latin typeface="Segoe UI"/>
                <a:ea typeface="Segoe UI"/>
                <a:cs typeface="Segoe UI"/>
              </a:defRPr>
            </a:pPr>
            <a:r>
              <a:rPr sz="1275" b="0">
                <a:solidFill>
                  <a:srgbClr val="56657A"/>
                </a:solidFill>
                <a:latin typeface="Segoe UI"/>
                <a:ea typeface="Segoe UI"/>
                <a:cs typeface="Segoe UI"/>
              </a:rPr>
              <a:t>Return live event count, customers and revenue</a:t>
            </a:r>
          </a:p>
        </p:txBody>
      </p:sp>
      <p:sp>
        <p:nvSpPr>
          <p:cNvPr id="24" name="">
            <a:extLst xmlns:a="http://schemas.openxmlformats.org/drawingml/2006/main">
              <a:ext uri="{FF2B5EF4-FFF2-40B4-BE49-F238E27FC236}">
                <a16:creationId xmlns:a16="http://schemas.microsoft.com/office/drawing/2014/main" id="{17E5B210-D6FA-4C02-84DA-E0183C2E8000}"/>
              </a:ext>
            </a:extLst>
          </p:cNvPr>
          <p:cNvSpPr>
            <a:spLocks xmlns:a="http://schemas.openxmlformats.org/drawingml/2006/main" noGrp="1"/>
          </p:cNvSpPr>
          <p:nvPr/>
        </p:nvSpPr>
        <p:spPr>
          <a:xfrm xmlns:a="http://schemas.openxmlformats.org/drawingml/2006/main">
            <a:off x="5905500" y="3810000"/>
            <a:ext cx="76200" cy="552450"/>
          </a:xfrm>
          <a:prstGeom xmlns:a="http://schemas.openxmlformats.org/drawingml/2006/main" prst="rect">
            <a:avLst/>
          </a:prstGeom>
          <a:solidFill xmlns:a="http://schemas.openxmlformats.org/drawingml/2006/main">
            <a:srgbClr val="2D9D7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1E1D3EE-DC5D-4A8E-A0AE-AF62570E6BAF}"/>
              </a:ext>
            </a:extLst>
          </p:cNvPr>
          <p:cNvSpPr>
            <a:spLocks xmlns:a="http://schemas.openxmlformats.org/drawingml/2006/main" noGrp="1"/>
          </p:cNvSpPr>
          <p:nvPr/>
        </p:nvSpPr>
        <p:spPr>
          <a:xfrm xmlns:a="http://schemas.openxmlformats.org/drawingml/2006/main">
            <a:off x="6191250" y="38100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l">
              <a:defRPr sz="1500" b="1">
                <a:solidFill>
                  <a:srgbClr val="172033"/>
                </a:solidFill>
                <a:latin typeface="Segoe UI"/>
                <a:ea typeface="Segoe UI"/>
                <a:cs typeface="Segoe UI"/>
              </a:defRPr>
            </a:defPPr>
          </a:lstStyle>
          <a:p xmlns:a="http://schemas.openxmlformats.org/drawingml/2006/main">
            <a:pPr algn="l">
              <a:defRPr sz="1500" b="1">
                <a:solidFill>
                  <a:srgbClr val="172033"/>
                </a:solidFill>
                <a:latin typeface="Segoe UI"/>
                <a:ea typeface="Segoe UI"/>
                <a:cs typeface="Segoe UI"/>
              </a:defRPr>
            </a:pPr>
            <a:r>
              <a:rPr sz="1500" b="1">
                <a:solidFill>
                  <a:srgbClr val="172033"/>
                </a:solidFill>
                <a:latin typeface="Segoe UI"/>
                <a:ea typeface="Segoe UI"/>
                <a:cs typeface="Segoe UI"/>
              </a:rPr>
              <a:t>GET /orders/recent</a:t>
            </a:r>
          </a:p>
        </p:txBody>
      </p:sp>
      <p:sp>
        <p:nvSpPr>
          <p:cNvPr id="26" name="">
            <a:extLst xmlns:a="http://schemas.openxmlformats.org/drawingml/2006/main">
              <a:ext uri="{FF2B5EF4-FFF2-40B4-BE49-F238E27FC236}">
                <a16:creationId xmlns:a16="http://schemas.microsoft.com/office/drawing/2014/main" id="{34E1E3A7-6EFF-4CA7-997C-8B8EBF40E7EA}"/>
              </a:ext>
            </a:extLst>
          </p:cNvPr>
          <p:cNvSpPr>
            <a:spLocks xmlns:a="http://schemas.openxmlformats.org/drawingml/2006/main" noGrp="1"/>
          </p:cNvSpPr>
          <p:nvPr/>
        </p:nvSpPr>
        <p:spPr>
          <a:xfrm xmlns:a="http://schemas.openxmlformats.org/drawingml/2006/main">
            <a:off x="8191500" y="3810000"/>
            <a:ext cx="3124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1275" b="0">
                <a:solidFill>
                  <a:srgbClr val="56657A"/>
                </a:solidFill>
                <a:latin typeface="Segoe UI"/>
                <a:ea typeface="Segoe UI"/>
                <a:cs typeface="Segoe UI"/>
              </a:defRPr>
            </a:defPPr>
          </a:lstStyle>
          <a:p xmlns:a="http://schemas.openxmlformats.org/drawingml/2006/main">
            <a:pPr algn="l">
              <a:defRPr sz="1275" b="0">
                <a:solidFill>
                  <a:srgbClr val="56657A"/>
                </a:solidFill>
                <a:latin typeface="Segoe UI"/>
                <a:ea typeface="Segoe UI"/>
                <a:cs typeface="Segoe UI"/>
              </a:defRPr>
            </a:pPr>
            <a:r>
              <a:rPr sz="1275" b="0">
                <a:solidFill>
                  <a:srgbClr val="56657A"/>
                </a:solidFill>
                <a:latin typeface="Segoe UI"/>
                <a:ea typeface="Segoe UI"/>
                <a:cs typeface="Segoe UI"/>
              </a:rPr>
              <a:t>Return the latest accepted events for the dashboard</a:t>
            </a:r>
          </a:p>
        </p:txBody>
      </p:sp>
      <p:sp>
        <p:nvSpPr>
          <p:cNvPr id="27" name="">
            <a:extLst xmlns:a="http://schemas.openxmlformats.org/drawingml/2006/main">
              <a:ext uri="{FF2B5EF4-FFF2-40B4-BE49-F238E27FC236}">
                <a16:creationId xmlns:a16="http://schemas.microsoft.com/office/drawing/2014/main" id="{98927DA5-A9CA-48F8-BCB4-A22845AE8152}"/>
              </a:ext>
            </a:extLst>
          </p:cNvPr>
          <p:cNvSpPr>
            <a:spLocks xmlns:a="http://schemas.openxmlformats.org/drawingml/2006/main" noGrp="1"/>
          </p:cNvSpPr>
          <p:nvPr/>
        </p:nvSpPr>
        <p:spPr>
          <a:xfrm xmlns:a="http://schemas.openxmlformats.org/drawingml/2006/main">
            <a:off x="5905500" y="4743450"/>
            <a:ext cx="5410200" cy="1200150"/>
          </a:xfrm>
          <a:prstGeom xmlns:a="http://schemas.openxmlformats.org/drawingml/2006/main" prst="roundRect">
            <a:avLst>
              <a:gd name="adj" fmla="val 6349"/>
            </a:avLst>
          </a:prstGeom>
          <a:solidFill xmlns:a="http://schemas.openxmlformats.org/drawingml/2006/main">
            <a:srgbClr val="FFF0D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D25B152-2CB9-4F98-AE28-E6E4159D51B2}"/>
              </a:ext>
            </a:extLst>
          </p:cNvPr>
          <p:cNvSpPr>
            <a:spLocks xmlns:a="http://schemas.openxmlformats.org/drawingml/2006/main" noGrp="1"/>
          </p:cNvSpPr>
          <p:nvPr/>
        </p:nvSpPr>
        <p:spPr>
          <a:xfrm xmlns:a="http://schemas.openxmlformats.org/drawingml/2006/main">
            <a:off x="6115050" y="48768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697"/>
          </a:bodyPr>
          <a:lstStyle xmlns:a="http://schemas.openxmlformats.org/drawingml/2006/main">
            <a:defPPr algn="l">
              <a:defRPr sz="1650" b="1">
                <a:solidFill>
                  <a:srgbClr val="F2A03D"/>
                </a:solidFill>
                <a:latin typeface="Segoe UI"/>
                <a:ea typeface="Segoe UI"/>
                <a:cs typeface="Segoe UI"/>
              </a:defRPr>
            </a:defPPr>
          </a:lstStyle>
          <a:p xmlns:a="http://schemas.openxmlformats.org/drawingml/2006/main">
            <a:pPr algn="l">
              <a:defRPr sz="1650" b="1">
                <a:solidFill>
                  <a:srgbClr val="F2A03D"/>
                </a:solidFill>
                <a:latin typeface="Segoe UI"/>
                <a:ea typeface="Segoe UI"/>
                <a:cs typeface="Segoe UI"/>
              </a:defRPr>
            </a:pPr>
            <a:r>
              <a:rPr sz="1650" b="1">
                <a:solidFill>
                  <a:srgbClr val="F2A03D"/>
                </a:solidFill>
                <a:latin typeface="Segoe UI"/>
                <a:ea typeface="Segoe UI"/>
                <a:cs typeface="Segoe UI"/>
              </a:rPr>
              <a:t>What is live in this project</a:t>
            </a:r>
          </a:p>
        </p:txBody>
      </p:sp>
      <p:sp>
        <p:nvSpPr>
          <p:cNvPr id="29" name="">
            <a:extLst xmlns:a="http://schemas.openxmlformats.org/drawingml/2006/main">
              <a:ext uri="{FF2B5EF4-FFF2-40B4-BE49-F238E27FC236}">
                <a16:creationId xmlns:a16="http://schemas.microsoft.com/office/drawing/2014/main" id="{BB380F09-03D4-447F-B815-C1D496B7B7FB}"/>
              </a:ext>
            </a:extLst>
          </p:cNvPr>
          <p:cNvSpPr>
            <a:spLocks xmlns:a="http://schemas.openxmlformats.org/drawingml/2006/main" noGrp="1"/>
          </p:cNvSpPr>
          <p:nvPr/>
        </p:nvSpPr>
        <p:spPr>
          <a:xfrm xmlns:a="http://schemas.openxmlformats.org/drawingml/2006/main">
            <a:off x="6115050" y="5219700"/>
            <a:ext cx="4953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258"/>
          </a:bodyPr>
          <a:lstStyle xmlns:a="http://schemas.openxmlformats.org/drawingml/2006/main">
            <a:defPPr algn="l">
              <a:defRPr sz="1350" b="0">
                <a:solidFill>
                  <a:srgbClr val="172033"/>
                </a:solidFill>
                <a:latin typeface="Segoe UI"/>
                <a:ea typeface="Segoe UI"/>
                <a:cs typeface="Segoe UI"/>
              </a:defRPr>
            </a:defPPr>
          </a:lstStyle>
          <a:p xmlns:a="http://schemas.openxmlformats.org/drawingml/2006/main">
            <a:pPr algn="l">
              <a:defRPr sz="1350" b="0">
                <a:solidFill>
                  <a:srgbClr val="172033"/>
                </a:solidFill>
                <a:latin typeface="Segoe UI"/>
                <a:ea typeface="Segoe UI"/>
                <a:cs typeface="Segoe UI"/>
              </a:defRPr>
            </a:pPr>
            <a:r>
              <a:rPr sz="1350" b="0">
                <a:solidFill>
                  <a:srgbClr val="172033"/>
                </a:solidFill>
                <a:latin typeface="Segoe UI"/>
                <a:ea typeface="Segoe UI"/>
                <a:cs typeface="Segoe UI"/>
              </a:rPr>
              <a:t>The simulator creates an order about every second. FastAPI, RabbitMQ, the consumer and DuckDB process each event. Streamlit refreshes every five seconds. The source is simulated, so this is a near real time demonstration.</a:t>
            </a:r>
          </a:p>
        </p:txBody>
      </p:sp>
    </p:spTree>
    <p:extLst>
      <p:ext uri="{BB962C8B-B14F-4D97-AF65-F5344CB8AC3E}">
        <p14:creationId xmlns:p14="http://schemas.microsoft.com/office/powerpoint/2010/main" val="1877379691"/>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9E9972A6-98FC-4E2B-9B6A-88AC9C17AFCD}"/>
              </a:ext>
            </a:extLst>
          </p:cNvPr>
          <p:cNvSpPr>
            <a:spLocks xmlns:a="http://schemas.openxmlformats.org/drawingml/2006/main" noGrp="1"/>
          </p:cNvSpPr>
          <p:nvPr/>
        </p:nvSpPr>
        <p:spPr>
          <a:xfrm xmlns:a="http://schemas.openxmlformats.org/drawingml/2006/main">
            <a:off x="609600" y="3238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1">
                <a:solidFill>
                  <a:srgbClr val="F2A03D"/>
                </a:solidFill>
                <a:latin typeface="Segoe UI"/>
                <a:ea typeface="Segoe UI"/>
                <a:cs typeface="Segoe UI"/>
              </a:defRPr>
            </a:defPPr>
          </a:lstStyle>
          <a:p xmlns:a="http://schemas.openxmlformats.org/drawingml/2006/main">
            <a:pPr algn="l">
              <a:defRPr sz="1275" b="1">
                <a:solidFill>
                  <a:srgbClr val="F2A03D"/>
                </a:solidFill>
                <a:latin typeface="Segoe UI"/>
                <a:ea typeface="Segoe UI"/>
                <a:cs typeface="Segoe UI"/>
              </a:defRPr>
            </a:pPr>
            <a:r>
              <a:rPr sz="1275" b="1">
                <a:solidFill>
                  <a:srgbClr val="F2A03D"/>
                </a:solidFill>
                <a:latin typeface="Segoe UI"/>
                <a:ea typeface="Segoe UI"/>
                <a:cs typeface="Segoe UI"/>
              </a:rPr>
              <a:t>11</a:t>
            </a:r>
          </a:p>
        </p:txBody>
      </p:sp>
      <p:sp>
        <p:nvSpPr>
          <p:cNvPr id="2" name="">
            <a:extLst xmlns:a="http://schemas.openxmlformats.org/drawingml/2006/main">
              <a:ext uri="{FF2B5EF4-FFF2-40B4-BE49-F238E27FC236}">
                <a16:creationId xmlns:a16="http://schemas.microsoft.com/office/drawing/2014/main" id="{71539C34-EFA4-4B1F-AAF1-E8DD1F6CFB80}"/>
              </a:ext>
            </a:extLst>
          </p:cNvPr>
          <p:cNvSpPr>
            <a:spLocks xmlns:a="http://schemas.openxmlformats.org/drawingml/2006/main" noGrp="1"/>
          </p:cNvSpPr>
          <p:nvPr/>
        </p:nvSpPr>
        <p:spPr>
          <a:xfrm xmlns:a="http://schemas.openxmlformats.org/drawingml/2006/main">
            <a:off x="1181100" y="26670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defPPr algn="l">
              <a:defRPr sz="3150" b="1">
                <a:solidFill>
                  <a:srgbClr val="172033"/>
                </a:solidFill>
                <a:latin typeface="Segoe UI"/>
                <a:ea typeface="Segoe UI"/>
                <a:cs typeface="Segoe UI"/>
              </a:defRPr>
            </a:defPPr>
          </a:lstStyle>
          <a:p xmlns:a="http://schemas.openxmlformats.org/drawingml/2006/main">
            <a:pPr algn="l">
              <a:defRPr sz="3150" b="1">
                <a:solidFill>
                  <a:srgbClr val="172033"/>
                </a:solidFill>
                <a:latin typeface="Segoe UI"/>
                <a:ea typeface="Segoe UI"/>
                <a:cs typeface="Segoe UI"/>
              </a:defRPr>
            </a:pPr>
            <a:r>
              <a:rPr sz="3150" b="1">
                <a:solidFill>
                  <a:srgbClr val="172033"/>
                </a:solidFill>
                <a:latin typeface="Segoe UI"/>
                <a:ea typeface="Segoe UI"/>
                <a:cs typeface="Segoe UI"/>
              </a:rPr>
              <a:t>Conclusion</a:t>
            </a:r>
          </a:p>
        </p:txBody>
      </p:sp>
      <p:sp>
        <p:nvSpPr>
          <p:cNvPr id="3" name="">
            <a:extLst xmlns:a="http://schemas.openxmlformats.org/drawingml/2006/main">
              <a:ext uri="{FF2B5EF4-FFF2-40B4-BE49-F238E27FC236}">
                <a16:creationId xmlns:a16="http://schemas.microsoft.com/office/drawing/2014/main" id="{A5A1670C-74C0-4C75-A249-9B8F317BB83B}"/>
              </a:ext>
            </a:extLst>
          </p:cNvPr>
          <p:cNvSpPr>
            <a:spLocks xmlns:a="http://schemas.openxmlformats.org/drawingml/2006/main" noGrp="1"/>
          </p:cNvSpPr>
          <p:nvPr/>
        </p:nvSpPr>
        <p:spPr>
          <a:xfrm xmlns:a="http://schemas.openxmlformats.org/drawingml/2006/main">
            <a:off x="609600" y="914400"/>
            <a:ext cx="10972800" cy="19050"/>
          </a:xfrm>
          <a:prstGeom xmlns:a="http://schemas.openxmlformats.org/drawingml/2006/main" prst="rect">
            <a:avLst/>
          </a:prstGeom>
          <a:solidFill xmlns:a="http://schemas.openxmlformats.org/drawingml/2006/main">
            <a:srgbClr val="DCE2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4E39E5B-175A-4DE0-A401-51E8E77744DA}"/>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0">
                <a:solidFill>
                  <a:srgbClr val="56657A"/>
                </a:solidFill>
                <a:latin typeface="Segoe UI"/>
                <a:ea typeface="Segoe UI"/>
                <a:cs typeface="Segoe UI"/>
              </a:defRPr>
            </a:defPPr>
          </a:lstStyle>
          <a:p xmlns:a="http://schemas.openxmlformats.org/drawingml/2006/main">
            <a:pPr algn="l">
              <a:defRPr sz="1050" b="0">
                <a:solidFill>
                  <a:srgbClr val="56657A"/>
                </a:solidFill>
                <a:latin typeface="Segoe UI"/>
                <a:ea typeface="Segoe UI"/>
                <a:cs typeface="Segoe UI"/>
              </a:defRPr>
            </a:pPr>
            <a:r>
              <a:rPr sz="1050" b="0">
                <a:solidFill>
                  <a:srgbClr val="56657A"/>
                </a:solidFill>
                <a:latin typeface="Segoe UI"/>
                <a:ea typeface="Segoe UI"/>
                <a:cs typeface="Segoe UI"/>
              </a:rPr>
              <a:t>Presenter: Lokesh Ture</a:t>
            </a:r>
          </a:p>
        </p:txBody>
      </p:sp>
      <p:sp>
        <p:nvSpPr>
          <p:cNvPr id="5" name="">
            <a:extLst xmlns:a="http://schemas.openxmlformats.org/drawingml/2006/main">
              <a:ext uri="{FF2B5EF4-FFF2-40B4-BE49-F238E27FC236}">
                <a16:creationId xmlns:a16="http://schemas.microsoft.com/office/drawing/2014/main" id="{D8B93F4F-0750-4A25-A8F7-736B0D3440B2}"/>
              </a:ext>
            </a:extLst>
          </p:cNvPr>
          <p:cNvSpPr>
            <a:spLocks xmlns:a="http://schemas.openxmlformats.org/drawingml/2006/main" noGrp="1"/>
          </p:cNvSpPr>
          <p:nvPr/>
        </p:nvSpPr>
        <p:spPr>
          <a:xfrm xmlns:a="http://schemas.openxmlformats.org/drawingml/2006/main">
            <a:off x="7810500" y="6477000"/>
            <a:ext cx="3771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r">
              <a:defRPr sz="1050" b="0">
                <a:solidFill>
                  <a:srgbClr val="56657A"/>
                </a:solidFill>
                <a:latin typeface="Segoe UI"/>
                <a:ea typeface="Segoe UI"/>
                <a:cs typeface="Segoe UI"/>
              </a:defRPr>
            </a:defPPr>
          </a:lstStyle>
          <a:p xmlns:a="http://schemas.openxmlformats.org/drawingml/2006/main">
            <a:pPr algn="r">
              <a:defRPr sz="1050" b="0">
                <a:solidFill>
                  <a:srgbClr val="56657A"/>
                </a:solidFill>
                <a:latin typeface="Segoe UI"/>
                <a:ea typeface="Segoe UI"/>
                <a:cs typeface="Segoe UI"/>
              </a:defRPr>
            </a:pPr>
            <a:r>
              <a:rPr sz="1050" b="0">
                <a:solidFill>
                  <a:srgbClr val="56657A"/>
                </a:solidFill>
                <a:latin typeface="Segoe UI"/>
                <a:ea typeface="Segoe UI"/>
                <a:cs typeface="Segoe UI"/>
              </a:rPr>
              <a:t>E-Commerce Sales Analytics · DuckDB + RabbitMQ</a:t>
            </a:r>
          </a:p>
        </p:txBody>
      </p:sp>
      <p:sp>
        <p:nvSpPr>
          <p:cNvPr id="6" name="">
            <a:extLst xmlns:a="http://schemas.openxmlformats.org/drawingml/2006/main">
              <a:ext uri="{FF2B5EF4-FFF2-40B4-BE49-F238E27FC236}">
                <a16:creationId xmlns:a16="http://schemas.microsoft.com/office/drawing/2014/main" id="{F23067CE-EC5C-46C1-A4CE-FF0CFD056ECB}"/>
              </a:ext>
            </a:extLst>
          </p:cNvPr>
          <p:cNvSpPr>
            <a:spLocks xmlns:a="http://schemas.openxmlformats.org/drawingml/2006/main" noGrp="1"/>
          </p:cNvSpPr>
          <p:nvPr/>
        </p:nvSpPr>
        <p:spPr>
          <a:xfrm xmlns:a="http://schemas.openxmlformats.org/drawingml/2006/main">
            <a:off x="609600" y="1219200"/>
            <a:ext cx="590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571"/>
          </a:bodyPr>
          <a:lstStyle xmlns:a="http://schemas.openxmlformats.org/drawingml/2006/main">
            <a:defPPr algn="l">
              <a:defRPr sz="2100" b="1">
                <a:solidFill>
                  <a:srgbClr val="101C33"/>
                </a:solidFill>
                <a:latin typeface="Segoe UI"/>
                <a:ea typeface="Segoe UI"/>
                <a:cs typeface="Segoe UI"/>
              </a:defRPr>
            </a:defPPr>
          </a:lstStyle>
          <a:p xmlns:a="http://schemas.openxmlformats.org/drawingml/2006/main">
            <a:pPr algn="l">
              <a:defRPr sz="2100" b="1">
                <a:solidFill>
                  <a:srgbClr val="101C33"/>
                </a:solidFill>
                <a:latin typeface="Segoe UI"/>
                <a:ea typeface="Segoe UI"/>
                <a:cs typeface="Segoe UI"/>
              </a:defRPr>
            </a:pPr>
            <a:r>
              <a:rPr sz="2100" b="1">
                <a:solidFill>
                  <a:srgbClr val="101C33"/>
                </a:solidFill>
                <a:latin typeface="Segoe UI"/>
                <a:ea typeface="Segoe UI"/>
                <a:cs typeface="Segoe UI"/>
              </a:rPr>
              <a:t>A complete data engineering lifecycle</a:t>
            </a:r>
          </a:p>
        </p:txBody>
      </p:sp>
      <p:sp>
        <p:nvSpPr>
          <p:cNvPr id="7" name="">
            <a:extLst xmlns:a="http://schemas.openxmlformats.org/drawingml/2006/main">
              <a:ext uri="{FF2B5EF4-FFF2-40B4-BE49-F238E27FC236}">
                <a16:creationId xmlns:a16="http://schemas.microsoft.com/office/drawing/2014/main" id="{8567D2CF-0546-4C37-89D3-7DAA799FCD9D}"/>
              </a:ext>
            </a:extLst>
          </p:cNvPr>
          <p:cNvSpPr>
            <a:spLocks xmlns:a="http://schemas.openxmlformats.org/drawingml/2006/main" noGrp="1"/>
          </p:cNvSpPr>
          <p:nvPr/>
        </p:nvSpPr>
        <p:spPr>
          <a:xfrm xmlns:a="http://schemas.openxmlformats.org/drawingml/2006/main">
            <a:off x="609600" y="1657350"/>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defPPr algn="l">
              <a:defRPr sz="1575" b="0">
                <a:solidFill>
                  <a:srgbClr val="56657A"/>
                </a:solidFill>
                <a:latin typeface="Segoe UI"/>
                <a:ea typeface="Segoe UI"/>
                <a:cs typeface="Segoe UI"/>
              </a:defRPr>
            </a:defPPr>
          </a:lstStyle>
          <a:p xmlns:a="http://schemas.openxmlformats.org/drawingml/2006/main">
            <a:pPr algn="l">
              <a:defRPr sz="1575" b="0">
                <a:solidFill>
                  <a:srgbClr val="56657A"/>
                </a:solidFill>
                <a:latin typeface="Segoe UI"/>
                <a:ea typeface="Segoe UI"/>
                <a:cs typeface="Segoe UI"/>
              </a:defRPr>
            </a:pPr>
            <a:r>
              <a:rPr sz="1575" b="0">
                <a:solidFill>
                  <a:srgbClr val="56657A"/>
                </a:solidFill>
                <a:latin typeface="Segoe UI"/>
                <a:ea typeface="Segoe UI"/>
                <a:cs typeface="Segoe UI"/>
              </a:rPr>
              <a:t>The project turns imperfect e-commerce records into governed metrics and supports continuous order capture through a reliable message path.</a:t>
            </a:r>
          </a:p>
        </p:txBody>
      </p:sp>
      <p:sp>
        <p:nvSpPr>
          <p:cNvPr id="8" name="">
            <a:extLst xmlns:a="http://schemas.openxmlformats.org/drawingml/2006/main">
              <a:ext uri="{FF2B5EF4-FFF2-40B4-BE49-F238E27FC236}">
                <a16:creationId xmlns:a16="http://schemas.microsoft.com/office/drawing/2014/main" id="{019A88BB-78BE-4ED7-851E-FBBECA3727F9}"/>
              </a:ext>
            </a:extLst>
          </p:cNvPr>
          <p:cNvSpPr>
            <a:spLocks xmlns:a="http://schemas.openxmlformats.org/drawingml/2006/main" noGrp="1"/>
          </p:cNvSpPr>
          <p:nvPr/>
        </p:nvSpPr>
        <p:spPr>
          <a:xfrm xmlns:a="http://schemas.openxmlformats.org/drawingml/2006/main">
            <a:off x="609600" y="2457450"/>
            <a:ext cx="1809750" cy="876300"/>
          </a:xfrm>
          <a:prstGeom xmlns:a="http://schemas.openxmlformats.org/drawingml/2006/main" prst="roundRect">
            <a:avLst>
              <a:gd name="adj" fmla="val 8696"/>
            </a:avLst>
          </a:prstGeom>
          <a:solidFill xmlns:a="http://schemas.openxmlformats.org/drawingml/2006/main">
            <a:srgbClr val="E8EB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AAAF2B7-D07E-4B12-A296-13984CF287F1}"/>
              </a:ext>
            </a:extLst>
          </p:cNvPr>
          <p:cNvSpPr>
            <a:spLocks xmlns:a="http://schemas.openxmlformats.org/drawingml/2006/main" noGrp="1"/>
          </p:cNvSpPr>
          <p:nvPr/>
        </p:nvSpPr>
        <p:spPr>
          <a:xfrm xmlns:a="http://schemas.openxmlformats.org/drawingml/2006/main">
            <a:off x="723900" y="255270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172033"/>
                </a:solidFill>
                <a:latin typeface="Segoe UI"/>
                <a:ea typeface="Segoe UI"/>
                <a:cs typeface="Segoe UI"/>
              </a:defRPr>
            </a:defPPr>
          </a:lstStyle>
          <a:p xmlns:a="http://schemas.openxmlformats.org/drawingml/2006/main">
            <a:pPr algn="ctr">
              <a:defRPr sz="1500" b="1">
                <a:solidFill>
                  <a:srgbClr val="172033"/>
                </a:solidFill>
                <a:latin typeface="Segoe UI"/>
                <a:ea typeface="Segoe UI"/>
                <a:cs typeface="Segoe UI"/>
              </a:defRPr>
            </a:pPr>
            <a:r>
              <a:rPr sz="1500" b="1">
                <a:solidFill>
                  <a:srgbClr val="172033"/>
                </a:solidFill>
                <a:latin typeface="Segoe UI"/>
                <a:ea typeface="Segoe UI"/>
                <a:cs typeface="Segoe UI"/>
              </a:rPr>
              <a:t>Raw data</a:t>
            </a:r>
          </a:p>
        </p:txBody>
      </p:sp>
      <p:sp>
        <p:nvSpPr>
          <p:cNvPr id="10" name="">
            <a:extLst xmlns:a="http://schemas.openxmlformats.org/drawingml/2006/main">
              <a:ext uri="{FF2B5EF4-FFF2-40B4-BE49-F238E27FC236}">
                <a16:creationId xmlns:a16="http://schemas.microsoft.com/office/drawing/2014/main" id="{23230F76-0B8C-42A8-BCCA-931C566640E8}"/>
              </a:ext>
            </a:extLst>
          </p:cNvPr>
          <p:cNvSpPr>
            <a:spLocks xmlns:a="http://schemas.openxmlformats.org/drawingml/2006/main" noGrp="1"/>
          </p:cNvSpPr>
          <p:nvPr/>
        </p:nvSpPr>
        <p:spPr>
          <a:xfrm xmlns:a="http://schemas.openxmlformats.org/drawingml/2006/main">
            <a:off x="704850" y="2857500"/>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75" b="0">
                <a:solidFill>
                  <a:srgbClr val="172033"/>
                </a:solidFill>
                <a:latin typeface="Segoe UI"/>
                <a:ea typeface="Segoe UI"/>
                <a:cs typeface="Segoe UI"/>
              </a:defRPr>
            </a:defPPr>
          </a:lstStyle>
          <a:p xmlns:a="http://schemas.openxmlformats.org/drawingml/2006/main">
            <a:pPr algn="ctr">
              <a:defRPr sz="1275" b="0">
                <a:solidFill>
                  <a:srgbClr val="172033"/>
                </a:solidFill>
                <a:latin typeface="Segoe UI"/>
                <a:ea typeface="Segoe UI"/>
                <a:cs typeface="Segoe UI"/>
              </a:defRPr>
            </a:pPr>
            <a:r>
              <a:rPr sz="1275" b="0">
                <a:solidFill>
                  <a:srgbClr val="172033"/>
                </a:solidFill>
                <a:latin typeface="Segoe UI"/>
                <a:ea typeface="Segoe UI"/>
                <a:cs typeface="Segoe UI"/>
              </a:rPr>
              <a:t>CSV + public API</a:t>
            </a:r>
          </a:p>
        </p:txBody>
      </p:sp>
      <p:sp>
        <p:nvSpPr>
          <p:cNvPr id="11" name="">
            <a:extLst xmlns:a="http://schemas.openxmlformats.org/drawingml/2006/main">
              <a:ext uri="{FF2B5EF4-FFF2-40B4-BE49-F238E27FC236}">
                <a16:creationId xmlns:a16="http://schemas.microsoft.com/office/drawing/2014/main" id="{F0C80C14-F301-4788-9311-EDE0FB1BF827}"/>
              </a:ext>
            </a:extLst>
          </p:cNvPr>
          <p:cNvSpPr>
            <a:spLocks xmlns:a="http://schemas.openxmlformats.org/drawingml/2006/main" noGrp="1"/>
          </p:cNvSpPr>
          <p:nvPr/>
        </p:nvSpPr>
        <p:spPr>
          <a:xfrm xmlns:a="http://schemas.openxmlformats.org/drawingml/2006/main">
            <a:off x="2419350" y="2876550"/>
            <a:ext cx="228600" cy="38100"/>
          </a:xfrm>
          <a:prstGeom xmlns:a="http://schemas.openxmlformats.org/drawingml/2006/main" prst="rect">
            <a:avLst/>
          </a:prstGeom>
          <a:solidFill xmlns:a="http://schemas.openxmlformats.org/drawingml/2006/main">
            <a:srgbClr val="5267D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6A8F026-B4B7-4750-8CC2-9805A4A0D8FD}"/>
              </a:ext>
            </a:extLst>
          </p:cNvPr>
          <p:cNvSpPr>
            <a:spLocks xmlns:a="http://schemas.openxmlformats.org/drawingml/2006/main" noGrp="1"/>
          </p:cNvSpPr>
          <p:nvPr/>
        </p:nvSpPr>
        <p:spPr>
          <a:xfrm xmlns:a="http://schemas.openxmlformats.org/drawingml/2006/main">
            <a:off x="2628900" y="2809875"/>
            <a:ext cx="171450" cy="171450"/>
          </a:xfrm>
          <a:prstGeom xmlns:a="http://schemas.openxmlformats.org/drawingml/2006/main" prst="chevron">
            <a:avLst/>
          </a:prstGeom>
          <a:solidFill xmlns:a="http://schemas.openxmlformats.org/drawingml/2006/main">
            <a:srgbClr val="5267D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4C36076-3C57-4A76-BD20-03FEB95F7106}"/>
              </a:ext>
            </a:extLst>
          </p:cNvPr>
          <p:cNvSpPr>
            <a:spLocks xmlns:a="http://schemas.openxmlformats.org/drawingml/2006/main" noGrp="1"/>
          </p:cNvSpPr>
          <p:nvPr/>
        </p:nvSpPr>
        <p:spPr>
          <a:xfrm xmlns:a="http://schemas.openxmlformats.org/drawingml/2006/main">
            <a:off x="2800350" y="2457450"/>
            <a:ext cx="1809750" cy="876300"/>
          </a:xfrm>
          <a:prstGeom xmlns:a="http://schemas.openxmlformats.org/drawingml/2006/main" prst="roundRect">
            <a:avLst>
              <a:gd name="adj" fmla="val 8696"/>
            </a:avLst>
          </a:prstGeom>
          <a:solidFill xmlns:a="http://schemas.openxmlformats.org/drawingml/2006/main">
            <a:srgbClr val="DDF6F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1480F67-05C9-450B-B2EB-98FA2D28A794}"/>
              </a:ext>
            </a:extLst>
          </p:cNvPr>
          <p:cNvSpPr>
            <a:spLocks xmlns:a="http://schemas.openxmlformats.org/drawingml/2006/main" noGrp="1"/>
          </p:cNvSpPr>
          <p:nvPr/>
        </p:nvSpPr>
        <p:spPr>
          <a:xfrm xmlns:a="http://schemas.openxmlformats.org/drawingml/2006/main">
            <a:off x="2914650" y="255270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172033"/>
                </a:solidFill>
                <a:latin typeface="Segoe UI"/>
                <a:ea typeface="Segoe UI"/>
                <a:cs typeface="Segoe UI"/>
              </a:defRPr>
            </a:defPPr>
          </a:lstStyle>
          <a:p xmlns:a="http://schemas.openxmlformats.org/drawingml/2006/main">
            <a:pPr algn="ctr">
              <a:defRPr sz="1500" b="1">
                <a:solidFill>
                  <a:srgbClr val="172033"/>
                </a:solidFill>
                <a:latin typeface="Segoe UI"/>
                <a:ea typeface="Segoe UI"/>
                <a:cs typeface="Segoe UI"/>
              </a:defRPr>
            </a:pPr>
            <a:r>
              <a:rPr sz="1500" b="1">
                <a:solidFill>
                  <a:srgbClr val="172033"/>
                </a:solidFill>
                <a:latin typeface="Segoe UI"/>
                <a:ea typeface="Segoe UI"/>
                <a:cs typeface="Segoe UI"/>
              </a:rPr>
              <a:t>Quality</a:t>
            </a:r>
          </a:p>
        </p:txBody>
      </p:sp>
      <p:sp>
        <p:nvSpPr>
          <p:cNvPr id="15" name="">
            <a:extLst xmlns:a="http://schemas.openxmlformats.org/drawingml/2006/main">
              <a:ext uri="{FF2B5EF4-FFF2-40B4-BE49-F238E27FC236}">
                <a16:creationId xmlns:a16="http://schemas.microsoft.com/office/drawing/2014/main" id="{D419B700-B3DE-4B34-B452-644430E6F1E1}"/>
              </a:ext>
            </a:extLst>
          </p:cNvPr>
          <p:cNvSpPr>
            <a:spLocks xmlns:a="http://schemas.openxmlformats.org/drawingml/2006/main" noGrp="1"/>
          </p:cNvSpPr>
          <p:nvPr/>
        </p:nvSpPr>
        <p:spPr>
          <a:xfrm xmlns:a="http://schemas.openxmlformats.org/drawingml/2006/main">
            <a:off x="2895600" y="2857500"/>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75" b="0">
                <a:solidFill>
                  <a:srgbClr val="172033"/>
                </a:solidFill>
                <a:latin typeface="Segoe UI"/>
                <a:ea typeface="Segoe UI"/>
                <a:cs typeface="Segoe UI"/>
              </a:defRPr>
            </a:defPPr>
          </a:lstStyle>
          <a:p xmlns:a="http://schemas.openxmlformats.org/drawingml/2006/main">
            <a:pPr algn="ctr">
              <a:defRPr sz="1275" b="0">
                <a:solidFill>
                  <a:srgbClr val="172033"/>
                </a:solidFill>
                <a:latin typeface="Segoe UI"/>
                <a:ea typeface="Segoe UI"/>
                <a:cs typeface="Segoe UI"/>
              </a:defRPr>
            </a:pPr>
            <a:r>
              <a:rPr sz="1275" b="0">
                <a:solidFill>
                  <a:srgbClr val="172033"/>
                </a:solidFill>
                <a:latin typeface="Segoe UI"/>
                <a:ea typeface="Segoe UI"/>
                <a:cs typeface="Segoe UI"/>
              </a:rPr>
              <a:t>clean + quarantine</a:t>
            </a:r>
          </a:p>
        </p:txBody>
      </p:sp>
      <p:sp>
        <p:nvSpPr>
          <p:cNvPr id="16" name="">
            <a:extLst xmlns:a="http://schemas.openxmlformats.org/drawingml/2006/main">
              <a:ext uri="{FF2B5EF4-FFF2-40B4-BE49-F238E27FC236}">
                <a16:creationId xmlns:a16="http://schemas.microsoft.com/office/drawing/2014/main" id="{07CF6747-E8EB-4093-8045-EB0F1FE39E10}"/>
              </a:ext>
            </a:extLst>
          </p:cNvPr>
          <p:cNvSpPr>
            <a:spLocks xmlns:a="http://schemas.openxmlformats.org/drawingml/2006/main" noGrp="1"/>
          </p:cNvSpPr>
          <p:nvPr/>
        </p:nvSpPr>
        <p:spPr>
          <a:xfrm xmlns:a="http://schemas.openxmlformats.org/drawingml/2006/main">
            <a:off x="4610100" y="2876550"/>
            <a:ext cx="228600" cy="38100"/>
          </a:xfrm>
          <a:prstGeom xmlns:a="http://schemas.openxmlformats.org/drawingml/2006/main" prst="rect">
            <a:avLst/>
          </a:prstGeom>
          <a:solidFill xmlns:a="http://schemas.openxmlformats.org/drawingml/2006/main">
            <a:srgbClr val="5267D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A49F14C-5FF5-456D-A9AC-813697B23C65}"/>
              </a:ext>
            </a:extLst>
          </p:cNvPr>
          <p:cNvSpPr>
            <a:spLocks xmlns:a="http://schemas.openxmlformats.org/drawingml/2006/main" noGrp="1"/>
          </p:cNvSpPr>
          <p:nvPr/>
        </p:nvSpPr>
        <p:spPr>
          <a:xfrm xmlns:a="http://schemas.openxmlformats.org/drawingml/2006/main">
            <a:off x="4819650" y="2809875"/>
            <a:ext cx="171450" cy="171450"/>
          </a:xfrm>
          <a:prstGeom xmlns:a="http://schemas.openxmlformats.org/drawingml/2006/main" prst="chevron">
            <a:avLst/>
          </a:prstGeom>
          <a:solidFill xmlns:a="http://schemas.openxmlformats.org/drawingml/2006/main">
            <a:srgbClr val="5267D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E88FC07-30D9-4008-842C-881AF8D9E9E8}"/>
              </a:ext>
            </a:extLst>
          </p:cNvPr>
          <p:cNvSpPr>
            <a:spLocks xmlns:a="http://schemas.openxmlformats.org/drawingml/2006/main" noGrp="1"/>
          </p:cNvSpPr>
          <p:nvPr/>
        </p:nvSpPr>
        <p:spPr>
          <a:xfrm xmlns:a="http://schemas.openxmlformats.org/drawingml/2006/main">
            <a:off x="4991100" y="2457450"/>
            <a:ext cx="1809750" cy="876300"/>
          </a:xfrm>
          <a:prstGeom xmlns:a="http://schemas.openxmlformats.org/drawingml/2006/main" prst="roundRect">
            <a:avLst>
              <a:gd name="adj" fmla="val 8696"/>
            </a:avLst>
          </a:prstGeom>
          <a:solidFill xmlns:a="http://schemas.openxmlformats.org/drawingml/2006/main">
            <a:srgbClr val="FFF0D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7F07428-EB51-40E4-808B-E8BC330B9AC3}"/>
              </a:ext>
            </a:extLst>
          </p:cNvPr>
          <p:cNvSpPr>
            <a:spLocks xmlns:a="http://schemas.openxmlformats.org/drawingml/2006/main" noGrp="1"/>
          </p:cNvSpPr>
          <p:nvPr/>
        </p:nvSpPr>
        <p:spPr>
          <a:xfrm xmlns:a="http://schemas.openxmlformats.org/drawingml/2006/main">
            <a:off x="5105400" y="255270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172033"/>
                </a:solidFill>
                <a:latin typeface="Segoe UI"/>
                <a:ea typeface="Segoe UI"/>
                <a:cs typeface="Segoe UI"/>
              </a:defRPr>
            </a:defPPr>
          </a:lstStyle>
          <a:p xmlns:a="http://schemas.openxmlformats.org/drawingml/2006/main">
            <a:pPr algn="ctr">
              <a:defRPr sz="1500" b="1">
                <a:solidFill>
                  <a:srgbClr val="172033"/>
                </a:solidFill>
                <a:latin typeface="Segoe UI"/>
                <a:ea typeface="Segoe UI"/>
                <a:cs typeface="Segoe UI"/>
              </a:defRPr>
            </a:pPr>
            <a:r>
              <a:rPr sz="1500" b="1">
                <a:solidFill>
                  <a:srgbClr val="172033"/>
                </a:solidFill>
                <a:latin typeface="Segoe UI"/>
                <a:ea typeface="Segoe UI"/>
                <a:cs typeface="Segoe UI"/>
              </a:rPr>
              <a:t>Warehouse</a:t>
            </a:r>
          </a:p>
        </p:txBody>
      </p:sp>
      <p:sp>
        <p:nvSpPr>
          <p:cNvPr id="20" name="">
            <a:extLst xmlns:a="http://schemas.openxmlformats.org/drawingml/2006/main">
              <a:ext uri="{FF2B5EF4-FFF2-40B4-BE49-F238E27FC236}">
                <a16:creationId xmlns:a16="http://schemas.microsoft.com/office/drawing/2014/main" id="{E62C9092-0226-4653-990A-22E4C169D5F2}"/>
              </a:ext>
            </a:extLst>
          </p:cNvPr>
          <p:cNvSpPr>
            <a:spLocks xmlns:a="http://schemas.openxmlformats.org/drawingml/2006/main" noGrp="1"/>
          </p:cNvSpPr>
          <p:nvPr/>
        </p:nvSpPr>
        <p:spPr>
          <a:xfrm xmlns:a="http://schemas.openxmlformats.org/drawingml/2006/main">
            <a:off x="5086350" y="2857500"/>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75" b="0">
                <a:solidFill>
                  <a:srgbClr val="172033"/>
                </a:solidFill>
                <a:latin typeface="Segoe UI"/>
                <a:ea typeface="Segoe UI"/>
                <a:cs typeface="Segoe UI"/>
              </a:defRPr>
            </a:defPPr>
          </a:lstStyle>
          <a:p xmlns:a="http://schemas.openxmlformats.org/drawingml/2006/main">
            <a:pPr algn="ctr">
              <a:defRPr sz="1275" b="0">
                <a:solidFill>
                  <a:srgbClr val="172033"/>
                </a:solidFill>
                <a:latin typeface="Segoe UI"/>
                <a:ea typeface="Segoe UI"/>
                <a:cs typeface="Segoe UI"/>
              </a:defRPr>
            </a:pPr>
            <a:r>
              <a:rPr sz="1275" b="0">
                <a:solidFill>
                  <a:srgbClr val="172033"/>
                </a:solidFill>
                <a:latin typeface="Segoe UI"/>
                <a:ea typeface="Segoe UI"/>
                <a:cs typeface="Segoe UI"/>
              </a:rPr>
              <a:t>star schema + views</a:t>
            </a:r>
          </a:p>
        </p:txBody>
      </p:sp>
      <p:sp>
        <p:nvSpPr>
          <p:cNvPr id="21" name="">
            <a:extLst xmlns:a="http://schemas.openxmlformats.org/drawingml/2006/main">
              <a:ext uri="{FF2B5EF4-FFF2-40B4-BE49-F238E27FC236}">
                <a16:creationId xmlns:a16="http://schemas.microsoft.com/office/drawing/2014/main" id="{C5CB3B37-CA3F-4B23-80BD-1E5627B0BBFD}"/>
              </a:ext>
            </a:extLst>
          </p:cNvPr>
          <p:cNvSpPr>
            <a:spLocks xmlns:a="http://schemas.openxmlformats.org/drawingml/2006/main" noGrp="1"/>
          </p:cNvSpPr>
          <p:nvPr/>
        </p:nvSpPr>
        <p:spPr>
          <a:xfrm xmlns:a="http://schemas.openxmlformats.org/drawingml/2006/main">
            <a:off x="6800850" y="2876550"/>
            <a:ext cx="228600" cy="38100"/>
          </a:xfrm>
          <a:prstGeom xmlns:a="http://schemas.openxmlformats.org/drawingml/2006/main" prst="rect">
            <a:avLst/>
          </a:prstGeom>
          <a:solidFill xmlns:a="http://schemas.openxmlformats.org/drawingml/2006/main">
            <a:srgbClr val="F2A03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161EE99-AF57-44D6-86EB-F0A1F2050465}"/>
              </a:ext>
            </a:extLst>
          </p:cNvPr>
          <p:cNvSpPr>
            <a:spLocks xmlns:a="http://schemas.openxmlformats.org/drawingml/2006/main" noGrp="1"/>
          </p:cNvSpPr>
          <p:nvPr/>
        </p:nvSpPr>
        <p:spPr>
          <a:xfrm xmlns:a="http://schemas.openxmlformats.org/drawingml/2006/main">
            <a:off x="7010400" y="2809875"/>
            <a:ext cx="171450" cy="171450"/>
          </a:xfrm>
          <a:prstGeom xmlns:a="http://schemas.openxmlformats.org/drawingml/2006/main" prst="chevron">
            <a:avLst/>
          </a:prstGeom>
          <a:solidFill xmlns:a="http://schemas.openxmlformats.org/drawingml/2006/main">
            <a:srgbClr val="F2A0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02B4F1D-8388-40C8-976D-1F2E0F218DA0}"/>
              </a:ext>
            </a:extLst>
          </p:cNvPr>
          <p:cNvSpPr>
            <a:spLocks xmlns:a="http://schemas.openxmlformats.org/drawingml/2006/main" noGrp="1"/>
          </p:cNvSpPr>
          <p:nvPr/>
        </p:nvSpPr>
        <p:spPr>
          <a:xfrm xmlns:a="http://schemas.openxmlformats.org/drawingml/2006/main">
            <a:off x="7181850" y="2457450"/>
            <a:ext cx="1809750" cy="876300"/>
          </a:xfrm>
          <a:prstGeom xmlns:a="http://schemas.openxmlformats.org/drawingml/2006/main" prst="roundRect">
            <a:avLst>
              <a:gd name="adj" fmla="val 8696"/>
            </a:avLst>
          </a:prstGeom>
          <a:solidFill xmlns:a="http://schemas.openxmlformats.org/drawingml/2006/main">
            <a:srgbClr val="FCE8E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5BCD8C2-1A5F-4826-B0DA-7C17B87935D2}"/>
              </a:ext>
            </a:extLst>
          </p:cNvPr>
          <p:cNvSpPr>
            <a:spLocks xmlns:a="http://schemas.openxmlformats.org/drawingml/2006/main" noGrp="1"/>
          </p:cNvSpPr>
          <p:nvPr/>
        </p:nvSpPr>
        <p:spPr>
          <a:xfrm xmlns:a="http://schemas.openxmlformats.org/drawingml/2006/main">
            <a:off x="7296150" y="255270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172033"/>
                </a:solidFill>
                <a:latin typeface="Segoe UI"/>
                <a:ea typeface="Segoe UI"/>
                <a:cs typeface="Segoe UI"/>
              </a:defRPr>
            </a:defPPr>
          </a:lstStyle>
          <a:p xmlns:a="http://schemas.openxmlformats.org/drawingml/2006/main">
            <a:pPr algn="ctr">
              <a:defRPr sz="1500" b="1">
                <a:solidFill>
                  <a:srgbClr val="172033"/>
                </a:solidFill>
                <a:latin typeface="Segoe UI"/>
                <a:ea typeface="Segoe UI"/>
                <a:cs typeface="Segoe UI"/>
              </a:defRPr>
            </a:pPr>
            <a:r>
              <a:rPr sz="1500" b="1">
                <a:solidFill>
                  <a:srgbClr val="172033"/>
                </a:solidFill>
                <a:latin typeface="Segoe UI"/>
                <a:ea typeface="Segoe UI"/>
                <a:cs typeface="Segoe UI"/>
              </a:rPr>
              <a:t>Live path</a:t>
            </a:r>
          </a:p>
        </p:txBody>
      </p:sp>
      <p:sp>
        <p:nvSpPr>
          <p:cNvPr id="25" name="">
            <a:extLst xmlns:a="http://schemas.openxmlformats.org/drawingml/2006/main">
              <a:ext uri="{FF2B5EF4-FFF2-40B4-BE49-F238E27FC236}">
                <a16:creationId xmlns:a16="http://schemas.microsoft.com/office/drawing/2014/main" id="{2BA29974-C264-4778-9069-23937F9C7F19}"/>
              </a:ext>
            </a:extLst>
          </p:cNvPr>
          <p:cNvSpPr>
            <a:spLocks xmlns:a="http://schemas.openxmlformats.org/drawingml/2006/main" noGrp="1"/>
          </p:cNvSpPr>
          <p:nvPr/>
        </p:nvSpPr>
        <p:spPr>
          <a:xfrm xmlns:a="http://schemas.openxmlformats.org/drawingml/2006/main">
            <a:off x="7277100" y="2857500"/>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232"/>
          </a:bodyPr>
          <a:lstStyle xmlns:a="http://schemas.openxmlformats.org/drawingml/2006/main">
            <a:defPPr algn="ctr">
              <a:defRPr sz="1275" b="0">
                <a:solidFill>
                  <a:srgbClr val="172033"/>
                </a:solidFill>
                <a:latin typeface="Segoe UI"/>
                <a:ea typeface="Segoe UI"/>
                <a:cs typeface="Segoe UI"/>
              </a:defRPr>
            </a:defPPr>
          </a:lstStyle>
          <a:p xmlns:a="http://schemas.openxmlformats.org/drawingml/2006/main">
            <a:pPr algn="ctr">
              <a:defRPr sz="1275" b="0">
                <a:solidFill>
                  <a:srgbClr val="172033"/>
                </a:solidFill>
                <a:latin typeface="Segoe UI"/>
                <a:ea typeface="Segoe UI"/>
                <a:cs typeface="Segoe UI"/>
              </a:defRPr>
            </a:pPr>
            <a:r>
              <a:rPr sz="1275" b="0">
                <a:solidFill>
                  <a:srgbClr val="172033"/>
                </a:solidFill>
                <a:latin typeface="Segoe UI"/>
                <a:ea typeface="Segoe UI"/>
                <a:cs typeface="Segoe UI"/>
              </a:rPr>
              <a:t>FastAPI + RabbitMQ</a:t>
            </a:r>
          </a:p>
        </p:txBody>
      </p:sp>
      <p:sp>
        <p:nvSpPr>
          <p:cNvPr id="26" name="">
            <a:extLst xmlns:a="http://schemas.openxmlformats.org/drawingml/2006/main">
              <a:ext uri="{FF2B5EF4-FFF2-40B4-BE49-F238E27FC236}">
                <a16:creationId xmlns:a16="http://schemas.microsoft.com/office/drawing/2014/main" id="{6B8C98EF-D518-4D3B-BFD2-C0063C933DF2}"/>
              </a:ext>
            </a:extLst>
          </p:cNvPr>
          <p:cNvSpPr>
            <a:spLocks xmlns:a="http://schemas.openxmlformats.org/drawingml/2006/main" noGrp="1"/>
          </p:cNvSpPr>
          <p:nvPr/>
        </p:nvSpPr>
        <p:spPr>
          <a:xfrm xmlns:a="http://schemas.openxmlformats.org/drawingml/2006/main">
            <a:off x="8991600" y="2876550"/>
            <a:ext cx="228600" cy="38100"/>
          </a:xfrm>
          <a:prstGeom xmlns:a="http://schemas.openxmlformats.org/drawingml/2006/main" prst="rect">
            <a:avLst/>
          </a:prstGeom>
          <a:solidFill xmlns:a="http://schemas.openxmlformats.org/drawingml/2006/main">
            <a:srgbClr val="5267D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289D768-064B-4CB8-A43D-80C6FE5EA340}"/>
              </a:ext>
            </a:extLst>
          </p:cNvPr>
          <p:cNvSpPr>
            <a:spLocks xmlns:a="http://schemas.openxmlformats.org/drawingml/2006/main" noGrp="1"/>
          </p:cNvSpPr>
          <p:nvPr/>
        </p:nvSpPr>
        <p:spPr>
          <a:xfrm xmlns:a="http://schemas.openxmlformats.org/drawingml/2006/main">
            <a:off x="9201150" y="2809875"/>
            <a:ext cx="171450" cy="171450"/>
          </a:xfrm>
          <a:prstGeom xmlns:a="http://schemas.openxmlformats.org/drawingml/2006/main" prst="chevron">
            <a:avLst/>
          </a:prstGeom>
          <a:solidFill xmlns:a="http://schemas.openxmlformats.org/drawingml/2006/main">
            <a:srgbClr val="5267D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378BEA7-1FA2-4BEF-AF1B-ED224612EBB4}"/>
              </a:ext>
            </a:extLst>
          </p:cNvPr>
          <p:cNvSpPr>
            <a:spLocks xmlns:a="http://schemas.openxmlformats.org/drawingml/2006/main" noGrp="1"/>
          </p:cNvSpPr>
          <p:nvPr/>
        </p:nvSpPr>
        <p:spPr>
          <a:xfrm xmlns:a="http://schemas.openxmlformats.org/drawingml/2006/main">
            <a:off x="9372600" y="2457450"/>
            <a:ext cx="1809750" cy="876300"/>
          </a:xfrm>
          <a:prstGeom xmlns:a="http://schemas.openxmlformats.org/drawingml/2006/main" prst="roundRect">
            <a:avLst>
              <a:gd name="adj" fmla="val 8696"/>
            </a:avLst>
          </a:prstGeom>
          <a:solidFill xmlns:a="http://schemas.openxmlformats.org/drawingml/2006/main">
            <a:srgbClr val="E8EBFC"/>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47C281C-5FBC-494A-963C-21370AA7FD4A}"/>
              </a:ext>
            </a:extLst>
          </p:cNvPr>
          <p:cNvSpPr>
            <a:spLocks xmlns:a="http://schemas.openxmlformats.org/drawingml/2006/main" noGrp="1"/>
          </p:cNvSpPr>
          <p:nvPr/>
        </p:nvSpPr>
        <p:spPr>
          <a:xfrm xmlns:a="http://schemas.openxmlformats.org/drawingml/2006/main">
            <a:off x="9486900" y="255270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defPPr algn="ctr">
              <a:defRPr sz="1500" b="1">
                <a:solidFill>
                  <a:srgbClr val="172033"/>
                </a:solidFill>
                <a:latin typeface="Segoe UI"/>
                <a:ea typeface="Segoe UI"/>
                <a:cs typeface="Segoe UI"/>
              </a:defRPr>
            </a:defPPr>
          </a:lstStyle>
          <a:p xmlns:a="http://schemas.openxmlformats.org/drawingml/2006/main">
            <a:pPr algn="ctr">
              <a:defRPr sz="1500" b="1">
                <a:solidFill>
                  <a:srgbClr val="172033"/>
                </a:solidFill>
                <a:latin typeface="Segoe UI"/>
                <a:ea typeface="Segoe UI"/>
                <a:cs typeface="Segoe UI"/>
              </a:defRPr>
            </a:pPr>
            <a:r>
              <a:rPr sz="1500" b="1">
                <a:solidFill>
                  <a:srgbClr val="172033"/>
                </a:solidFill>
                <a:latin typeface="Segoe UI"/>
                <a:ea typeface="Segoe UI"/>
                <a:cs typeface="Segoe UI"/>
              </a:rPr>
              <a:t>Decisions</a:t>
            </a:r>
          </a:p>
        </p:txBody>
      </p:sp>
      <p:sp>
        <p:nvSpPr>
          <p:cNvPr id="30" name="">
            <a:extLst xmlns:a="http://schemas.openxmlformats.org/drawingml/2006/main">
              <a:ext uri="{FF2B5EF4-FFF2-40B4-BE49-F238E27FC236}">
                <a16:creationId xmlns:a16="http://schemas.microsoft.com/office/drawing/2014/main" id="{D214BE9C-A862-4A0A-A0AD-745EAC6FD71D}"/>
              </a:ext>
            </a:extLst>
          </p:cNvPr>
          <p:cNvSpPr>
            <a:spLocks xmlns:a="http://schemas.openxmlformats.org/drawingml/2006/main" noGrp="1"/>
          </p:cNvSpPr>
          <p:nvPr/>
        </p:nvSpPr>
        <p:spPr>
          <a:xfrm xmlns:a="http://schemas.openxmlformats.org/drawingml/2006/main">
            <a:off x="9467850" y="2857500"/>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75" b="0">
                <a:solidFill>
                  <a:srgbClr val="172033"/>
                </a:solidFill>
                <a:latin typeface="Segoe UI"/>
                <a:ea typeface="Segoe UI"/>
                <a:cs typeface="Segoe UI"/>
              </a:defRPr>
            </a:defPPr>
          </a:lstStyle>
          <a:p xmlns:a="http://schemas.openxmlformats.org/drawingml/2006/main">
            <a:pPr algn="ctr">
              <a:defRPr sz="1275" b="0">
                <a:solidFill>
                  <a:srgbClr val="172033"/>
                </a:solidFill>
                <a:latin typeface="Segoe UI"/>
                <a:ea typeface="Segoe UI"/>
                <a:cs typeface="Segoe UI"/>
              </a:defRPr>
            </a:pPr>
            <a:r>
              <a:rPr sz="1275" b="0">
                <a:solidFill>
                  <a:srgbClr val="172033"/>
                </a:solidFill>
                <a:latin typeface="Segoe UI"/>
                <a:ea typeface="Segoe UI"/>
                <a:cs typeface="Segoe UI"/>
              </a:rPr>
              <a:t>Streamlit metrics</a:t>
            </a:r>
          </a:p>
        </p:txBody>
      </p:sp>
      <p:sp>
        <p:nvSpPr>
          <p:cNvPr id="31" name="">
            <a:extLst xmlns:a="http://schemas.openxmlformats.org/drawingml/2006/main">
              <a:ext uri="{FF2B5EF4-FFF2-40B4-BE49-F238E27FC236}">
                <a16:creationId xmlns:a16="http://schemas.microsoft.com/office/drawing/2014/main" id="{35A25EDA-1B59-43BA-86DE-18801526A078}"/>
              </a:ext>
            </a:extLst>
          </p:cNvPr>
          <p:cNvSpPr>
            <a:spLocks xmlns:a="http://schemas.openxmlformats.org/drawingml/2006/main" noGrp="1"/>
          </p:cNvSpPr>
          <p:nvPr/>
        </p:nvSpPr>
        <p:spPr>
          <a:xfrm xmlns:a="http://schemas.openxmlformats.org/drawingml/2006/main">
            <a:off x="609600" y="3733800"/>
            <a:ext cx="10972800" cy="19050"/>
          </a:xfrm>
          <a:prstGeom xmlns:a="http://schemas.openxmlformats.org/drawingml/2006/main" prst="rect">
            <a:avLst/>
          </a:prstGeom>
          <a:solidFill xmlns:a="http://schemas.openxmlformats.org/drawingml/2006/main">
            <a:srgbClr val="DCE2E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6E406FF-1A36-4DC7-AA72-09BDDBE3982A}"/>
              </a:ext>
            </a:extLst>
          </p:cNvPr>
          <p:cNvSpPr>
            <a:spLocks xmlns:a="http://schemas.openxmlformats.org/drawingml/2006/main" noGrp="1"/>
          </p:cNvSpPr>
          <p:nvPr/>
        </p:nvSpPr>
        <p:spPr>
          <a:xfrm xmlns:a="http://schemas.openxmlformats.org/drawingml/2006/main">
            <a:off x="609600" y="40386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667"/>
          </a:bodyPr>
          <a:lstStyle xmlns:a="http://schemas.openxmlformats.org/drawingml/2006/main">
            <a:defPPr algn="l">
              <a:defRPr sz="1875" b="1">
                <a:solidFill>
                  <a:srgbClr val="101C33"/>
                </a:solidFill>
                <a:latin typeface="Segoe UI"/>
                <a:ea typeface="Segoe UI"/>
                <a:cs typeface="Segoe UI"/>
              </a:defRPr>
            </a:defPPr>
          </a:lstStyle>
          <a:p xmlns:a="http://schemas.openxmlformats.org/drawingml/2006/main">
            <a:pPr algn="l">
              <a:defRPr sz="1875" b="1">
                <a:solidFill>
                  <a:srgbClr val="101C33"/>
                </a:solidFill>
                <a:latin typeface="Segoe UI"/>
                <a:ea typeface="Segoe UI"/>
                <a:cs typeface="Segoe UI"/>
              </a:defRPr>
            </a:pPr>
            <a:r>
              <a:rPr sz="1875" b="1">
                <a:solidFill>
                  <a:srgbClr val="101C33"/>
                </a:solidFill>
                <a:latin typeface="Segoe UI"/>
                <a:ea typeface="Segoe UI"/>
                <a:cs typeface="Segoe UI"/>
              </a:rPr>
              <a:t>Measured outcome</a:t>
            </a:r>
          </a:p>
        </p:txBody>
      </p:sp>
      <p:sp>
        <p:nvSpPr>
          <p:cNvPr id="33" name="">
            <a:extLst xmlns:a="http://schemas.openxmlformats.org/drawingml/2006/main">
              <a:ext uri="{FF2B5EF4-FFF2-40B4-BE49-F238E27FC236}">
                <a16:creationId xmlns:a16="http://schemas.microsoft.com/office/drawing/2014/main" id="{0C711EC0-2058-43DF-BB7E-D841F9FD9609}"/>
              </a:ext>
            </a:extLst>
          </p:cNvPr>
          <p:cNvSpPr>
            <a:spLocks xmlns:a="http://schemas.openxmlformats.org/drawingml/2006/main" noGrp="1"/>
          </p:cNvSpPr>
          <p:nvPr/>
        </p:nvSpPr>
        <p:spPr>
          <a:xfrm xmlns:a="http://schemas.openxmlformats.org/drawingml/2006/main">
            <a:off x="609600" y="45339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defPPr algn="ctr">
              <a:defRPr sz="2550" b="1">
                <a:solidFill>
                  <a:srgbClr val="5267D7"/>
                </a:solidFill>
                <a:latin typeface="Segoe UI"/>
                <a:ea typeface="Segoe UI"/>
                <a:cs typeface="Segoe UI"/>
              </a:defRPr>
            </a:defPPr>
          </a:lstStyle>
          <a:p xmlns:a="http://schemas.openxmlformats.org/drawingml/2006/main">
            <a:pPr algn="ctr">
              <a:defRPr sz="2550" b="1">
                <a:solidFill>
                  <a:srgbClr val="5267D7"/>
                </a:solidFill>
                <a:latin typeface="Segoe UI"/>
                <a:ea typeface="Segoe UI"/>
                <a:cs typeface="Segoe UI"/>
              </a:defRPr>
            </a:pPr>
            <a:r>
              <a:rPr sz="2550" b="1">
                <a:solidFill>
                  <a:srgbClr val="5267D7"/>
                </a:solidFill>
                <a:latin typeface="Segoe UI"/>
                <a:ea typeface="Segoe UI"/>
                <a:cs typeface="Segoe UI"/>
              </a:rPr>
              <a:t>248,555</a:t>
            </a:r>
          </a:p>
        </p:txBody>
      </p:sp>
      <p:sp>
        <p:nvSpPr>
          <p:cNvPr id="34" name="">
            <a:extLst xmlns:a="http://schemas.openxmlformats.org/drawingml/2006/main">
              <a:ext uri="{FF2B5EF4-FFF2-40B4-BE49-F238E27FC236}">
                <a16:creationId xmlns:a16="http://schemas.microsoft.com/office/drawing/2014/main" id="{62A79730-2A6A-45F0-9D88-46F2CFA9CF13}"/>
              </a:ext>
            </a:extLst>
          </p:cNvPr>
          <p:cNvSpPr>
            <a:spLocks xmlns:a="http://schemas.openxmlformats.org/drawingml/2006/main" noGrp="1"/>
          </p:cNvSpPr>
          <p:nvPr/>
        </p:nvSpPr>
        <p:spPr>
          <a:xfrm xmlns:a="http://schemas.openxmlformats.org/drawingml/2006/main">
            <a:off x="609600" y="50101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75" b="0">
                <a:solidFill>
                  <a:srgbClr val="56657A"/>
                </a:solidFill>
                <a:latin typeface="Segoe UI"/>
                <a:ea typeface="Segoe UI"/>
                <a:cs typeface="Segoe UI"/>
              </a:defRPr>
            </a:defPPr>
          </a:lstStyle>
          <a:p xmlns:a="http://schemas.openxmlformats.org/drawingml/2006/main">
            <a:pPr algn="ctr">
              <a:defRPr sz="1275" b="0">
                <a:solidFill>
                  <a:srgbClr val="56657A"/>
                </a:solidFill>
                <a:latin typeface="Segoe UI"/>
                <a:ea typeface="Segoe UI"/>
                <a:cs typeface="Segoe UI"/>
              </a:defRPr>
            </a:pPr>
            <a:r>
              <a:rPr sz="1275" b="0">
                <a:solidFill>
                  <a:srgbClr val="56657A"/>
                </a:solidFill>
                <a:latin typeface="Segoe UI"/>
                <a:ea typeface="Segoe UI"/>
                <a:cs typeface="Segoe UI"/>
              </a:rPr>
              <a:t>clean fact rows</a:t>
            </a:r>
          </a:p>
        </p:txBody>
      </p:sp>
      <p:sp>
        <p:nvSpPr>
          <p:cNvPr id="35" name="">
            <a:extLst xmlns:a="http://schemas.openxmlformats.org/drawingml/2006/main">
              <a:ext uri="{FF2B5EF4-FFF2-40B4-BE49-F238E27FC236}">
                <a16:creationId xmlns:a16="http://schemas.microsoft.com/office/drawing/2014/main" id="{ADD7E127-08CF-4DDB-8826-1CD63AC60B9E}"/>
              </a:ext>
            </a:extLst>
          </p:cNvPr>
          <p:cNvSpPr>
            <a:spLocks xmlns:a="http://schemas.openxmlformats.org/drawingml/2006/main" noGrp="1"/>
          </p:cNvSpPr>
          <p:nvPr/>
        </p:nvSpPr>
        <p:spPr>
          <a:xfrm xmlns:a="http://schemas.openxmlformats.org/drawingml/2006/main">
            <a:off x="3352800" y="45339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defPPr algn="ctr">
              <a:defRPr sz="2550" b="1">
                <a:solidFill>
                  <a:srgbClr val="E65B65"/>
                </a:solidFill>
                <a:latin typeface="Segoe UI"/>
                <a:ea typeface="Segoe UI"/>
                <a:cs typeface="Segoe UI"/>
              </a:defRPr>
            </a:defPPr>
          </a:lstStyle>
          <a:p xmlns:a="http://schemas.openxmlformats.org/drawingml/2006/main">
            <a:pPr algn="ctr">
              <a:defRPr sz="2550" b="1">
                <a:solidFill>
                  <a:srgbClr val="E65B65"/>
                </a:solidFill>
                <a:latin typeface="Segoe UI"/>
                <a:ea typeface="Segoe UI"/>
                <a:cs typeface="Segoe UI"/>
              </a:defRPr>
            </a:pPr>
            <a:r>
              <a:rPr sz="2550" b="1">
                <a:solidFill>
                  <a:srgbClr val="E65B65"/>
                </a:solidFill>
                <a:latin typeface="Segoe UI"/>
                <a:ea typeface="Segoe UI"/>
                <a:cs typeface="Segoe UI"/>
              </a:rPr>
              <a:t>1,445</a:t>
            </a:r>
          </a:p>
        </p:txBody>
      </p:sp>
      <p:sp>
        <p:nvSpPr>
          <p:cNvPr id="36" name="">
            <a:extLst xmlns:a="http://schemas.openxmlformats.org/drawingml/2006/main">
              <a:ext uri="{FF2B5EF4-FFF2-40B4-BE49-F238E27FC236}">
                <a16:creationId xmlns:a16="http://schemas.microsoft.com/office/drawing/2014/main" id="{8FFC790B-B397-4F16-A56B-C6EFE4C16254}"/>
              </a:ext>
            </a:extLst>
          </p:cNvPr>
          <p:cNvSpPr>
            <a:spLocks xmlns:a="http://schemas.openxmlformats.org/drawingml/2006/main" noGrp="1"/>
          </p:cNvSpPr>
          <p:nvPr/>
        </p:nvSpPr>
        <p:spPr>
          <a:xfrm xmlns:a="http://schemas.openxmlformats.org/drawingml/2006/main">
            <a:off x="3352800" y="50101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75" b="0">
                <a:solidFill>
                  <a:srgbClr val="56657A"/>
                </a:solidFill>
                <a:latin typeface="Segoe UI"/>
                <a:ea typeface="Segoe UI"/>
                <a:cs typeface="Segoe UI"/>
              </a:defRPr>
            </a:defPPr>
          </a:lstStyle>
          <a:p xmlns:a="http://schemas.openxmlformats.org/drawingml/2006/main">
            <a:pPr algn="ctr">
              <a:defRPr sz="1275" b="0">
                <a:solidFill>
                  <a:srgbClr val="56657A"/>
                </a:solidFill>
                <a:latin typeface="Segoe UI"/>
                <a:ea typeface="Segoe UI"/>
                <a:cs typeface="Segoe UI"/>
              </a:defRPr>
            </a:pPr>
            <a:r>
              <a:rPr sz="1275" b="0">
                <a:solidFill>
                  <a:srgbClr val="56657A"/>
                </a:solidFill>
                <a:latin typeface="Segoe UI"/>
                <a:ea typeface="Segoe UI"/>
                <a:cs typeface="Segoe UI"/>
              </a:rPr>
              <a:t>rejected rows retained</a:t>
            </a:r>
          </a:p>
        </p:txBody>
      </p:sp>
      <p:sp>
        <p:nvSpPr>
          <p:cNvPr id="37" name="">
            <a:extLst xmlns:a="http://schemas.openxmlformats.org/drawingml/2006/main">
              <a:ext uri="{FF2B5EF4-FFF2-40B4-BE49-F238E27FC236}">
                <a16:creationId xmlns:a16="http://schemas.microsoft.com/office/drawing/2014/main" id="{680AD6C6-EAD1-4D13-89CD-630EE4654E3D}"/>
              </a:ext>
            </a:extLst>
          </p:cNvPr>
          <p:cNvSpPr>
            <a:spLocks xmlns:a="http://schemas.openxmlformats.org/drawingml/2006/main" noGrp="1"/>
          </p:cNvSpPr>
          <p:nvPr/>
        </p:nvSpPr>
        <p:spPr>
          <a:xfrm xmlns:a="http://schemas.openxmlformats.org/drawingml/2006/main">
            <a:off x="6096000" y="45339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defPPr algn="ctr">
              <a:defRPr sz="2550" b="1">
                <a:solidFill>
                  <a:srgbClr val="2D9D78"/>
                </a:solidFill>
                <a:latin typeface="Segoe UI"/>
                <a:ea typeface="Segoe UI"/>
                <a:cs typeface="Segoe UI"/>
              </a:defRPr>
            </a:defPPr>
          </a:lstStyle>
          <a:p xmlns:a="http://schemas.openxmlformats.org/drawingml/2006/main">
            <a:pPr algn="ctr">
              <a:defRPr sz="2550" b="1">
                <a:solidFill>
                  <a:srgbClr val="2D9D78"/>
                </a:solidFill>
                <a:latin typeface="Segoe UI"/>
                <a:ea typeface="Segoe UI"/>
                <a:cs typeface="Segoe UI"/>
              </a:defRPr>
            </a:pPr>
            <a:r>
              <a:rPr sz="2550" b="1">
                <a:solidFill>
                  <a:srgbClr val="2D9D78"/>
                </a:solidFill>
                <a:latin typeface="Segoe UI"/>
                <a:ea typeface="Segoe UI"/>
                <a:cs typeface="Segoe UI"/>
              </a:rPr>
              <a:t>$28.777M</a:t>
            </a:r>
          </a:p>
        </p:txBody>
      </p:sp>
      <p:sp>
        <p:nvSpPr>
          <p:cNvPr id="38" name="">
            <a:extLst xmlns:a="http://schemas.openxmlformats.org/drawingml/2006/main">
              <a:ext uri="{FF2B5EF4-FFF2-40B4-BE49-F238E27FC236}">
                <a16:creationId xmlns:a16="http://schemas.microsoft.com/office/drawing/2014/main" id="{4E520890-EC84-4892-97A6-3DAB01EA7535}"/>
              </a:ext>
            </a:extLst>
          </p:cNvPr>
          <p:cNvSpPr>
            <a:spLocks xmlns:a="http://schemas.openxmlformats.org/drawingml/2006/main" noGrp="1"/>
          </p:cNvSpPr>
          <p:nvPr/>
        </p:nvSpPr>
        <p:spPr>
          <a:xfrm xmlns:a="http://schemas.openxmlformats.org/drawingml/2006/main">
            <a:off x="6096000" y="50101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75" b="0">
                <a:solidFill>
                  <a:srgbClr val="56657A"/>
                </a:solidFill>
                <a:latin typeface="Segoe UI"/>
                <a:ea typeface="Segoe UI"/>
                <a:cs typeface="Segoe UI"/>
              </a:defRPr>
            </a:defPPr>
          </a:lstStyle>
          <a:p xmlns:a="http://schemas.openxmlformats.org/drawingml/2006/main">
            <a:pPr algn="ctr">
              <a:defRPr sz="1275" b="0">
                <a:solidFill>
                  <a:srgbClr val="56657A"/>
                </a:solidFill>
                <a:latin typeface="Segoe UI"/>
                <a:ea typeface="Segoe UI"/>
                <a:cs typeface="Segoe UI"/>
              </a:defRPr>
            </a:pPr>
            <a:r>
              <a:rPr sz="1275" b="0">
                <a:solidFill>
                  <a:srgbClr val="56657A"/>
                </a:solidFill>
                <a:latin typeface="Segoe UI"/>
                <a:ea typeface="Segoe UI"/>
                <a:cs typeface="Segoe UI"/>
              </a:rPr>
              <a:t>realized revenue</a:t>
            </a:r>
          </a:p>
        </p:txBody>
      </p:sp>
      <p:sp>
        <p:nvSpPr>
          <p:cNvPr id="39" name="">
            <a:extLst xmlns:a="http://schemas.openxmlformats.org/drawingml/2006/main">
              <a:ext uri="{FF2B5EF4-FFF2-40B4-BE49-F238E27FC236}">
                <a16:creationId xmlns:a16="http://schemas.microsoft.com/office/drawing/2014/main" id="{5DBAADFD-08A0-4893-B769-898990DBEBB0}"/>
              </a:ext>
            </a:extLst>
          </p:cNvPr>
          <p:cNvSpPr>
            <a:spLocks xmlns:a="http://schemas.openxmlformats.org/drawingml/2006/main" noGrp="1"/>
          </p:cNvSpPr>
          <p:nvPr/>
        </p:nvSpPr>
        <p:spPr>
          <a:xfrm xmlns:a="http://schemas.openxmlformats.org/drawingml/2006/main">
            <a:off x="8839200" y="45339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defPPr algn="ctr">
              <a:defRPr sz="2550" b="1">
                <a:solidFill>
                  <a:srgbClr val="16B8A6"/>
                </a:solidFill>
                <a:latin typeface="Segoe UI"/>
                <a:ea typeface="Segoe UI"/>
                <a:cs typeface="Segoe UI"/>
              </a:defRPr>
            </a:defPPr>
          </a:lstStyle>
          <a:p xmlns:a="http://schemas.openxmlformats.org/drawingml/2006/main">
            <a:pPr algn="ctr">
              <a:defRPr sz="2550" b="1">
                <a:solidFill>
                  <a:srgbClr val="16B8A6"/>
                </a:solidFill>
                <a:latin typeface="Segoe UI"/>
                <a:ea typeface="Segoe UI"/>
                <a:cs typeface="Segoe UI"/>
              </a:defRPr>
            </a:pPr>
            <a:r>
              <a:rPr sz="2550" b="1">
                <a:solidFill>
                  <a:srgbClr val="16B8A6"/>
                </a:solidFill>
                <a:latin typeface="Segoe UI"/>
                <a:ea typeface="Segoe UI"/>
                <a:cs typeface="Segoe UI"/>
              </a:rPr>
              <a:t>29.319 ms</a:t>
            </a:r>
          </a:p>
        </p:txBody>
      </p:sp>
      <p:sp>
        <p:nvSpPr>
          <p:cNvPr id="40" name="">
            <a:extLst xmlns:a="http://schemas.openxmlformats.org/drawingml/2006/main">
              <a:ext uri="{FF2B5EF4-FFF2-40B4-BE49-F238E27FC236}">
                <a16:creationId xmlns:a16="http://schemas.microsoft.com/office/drawing/2014/main" id="{69B75694-95CF-4E78-8218-9C7FE9FBDFAA}"/>
              </a:ext>
            </a:extLst>
          </p:cNvPr>
          <p:cNvSpPr>
            <a:spLocks xmlns:a="http://schemas.openxmlformats.org/drawingml/2006/main" noGrp="1"/>
          </p:cNvSpPr>
          <p:nvPr/>
        </p:nvSpPr>
        <p:spPr>
          <a:xfrm xmlns:a="http://schemas.openxmlformats.org/drawingml/2006/main">
            <a:off x="8839200" y="50101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75" b="0">
                <a:solidFill>
                  <a:srgbClr val="56657A"/>
                </a:solidFill>
                <a:latin typeface="Segoe UI"/>
                <a:ea typeface="Segoe UI"/>
                <a:cs typeface="Segoe UI"/>
              </a:defRPr>
            </a:defPPr>
          </a:lstStyle>
          <a:p xmlns:a="http://schemas.openxmlformats.org/drawingml/2006/main">
            <a:pPr algn="ctr">
              <a:defRPr sz="1275" b="0">
                <a:solidFill>
                  <a:srgbClr val="56657A"/>
                </a:solidFill>
                <a:latin typeface="Segoe UI"/>
                <a:ea typeface="Segoe UI"/>
                <a:cs typeface="Segoe UI"/>
              </a:defRPr>
            </a:pPr>
            <a:r>
              <a:rPr sz="1275" b="0">
                <a:solidFill>
                  <a:srgbClr val="56657A"/>
                </a:solidFill>
                <a:latin typeface="Segoe UI"/>
                <a:ea typeface="Segoe UI"/>
                <a:cs typeface="Segoe UI"/>
              </a:rPr>
              <a:t>DuckDB median, 4 threads</a:t>
            </a:r>
          </a:p>
        </p:txBody>
      </p:sp>
      <p:sp>
        <p:nvSpPr>
          <p:cNvPr id="41" name="">
            <a:extLst xmlns:a="http://schemas.openxmlformats.org/drawingml/2006/main">
              <a:ext uri="{FF2B5EF4-FFF2-40B4-BE49-F238E27FC236}">
                <a16:creationId xmlns:a16="http://schemas.microsoft.com/office/drawing/2014/main" id="{B528E9E9-EED9-41D6-8229-47FDC31B22E3}"/>
              </a:ext>
            </a:extLst>
          </p:cNvPr>
          <p:cNvSpPr>
            <a:spLocks xmlns:a="http://schemas.openxmlformats.org/drawingml/2006/main" noGrp="1"/>
          </p:cNvSpPr>
          <p:nvPr/>
        </p:nvSpPr>
        <p:spPr>
          <a:xfrm xmlns:a="http://schemas.openxmlformats.org/drawingml/2006/main">
            <a:off x="609600" y="5581650"/>
            <a:ext cx="10972800" cy="590550"/>
          </a:xfrm>
          <a:prstGeom xmlns:a="http://schemas.openxmlformats.org/drawingml/2006/main" prst="roundRect">
            <a:avLst>
              <a:gd name="adj" fmla="val 12903"/>
            </a:avLst>
          </a:prstGeom>
          <a:solidFill xmlns:a="http://schemas.openxmlformats.org/drawingml/2006/main">
            <a:srgbClr val="101C33"/>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37CD562F-FBF0-49CB-AEEB-F09F66A9BD84}"/>
              </a:ext>
            </a:extLst>
          </p:cNvPr>
          <p:cNvSpPr>
            <a:spLocks xmlns:a="http://schemas.openxmlformats.org/drawingml/2006/main" noGrp="1"/>
          </p:cNvSpPr>
          <p:nvPr/>
        </p:nvSpPr>
        <p:spPr>
          <a:xfrm xmlns:a="http://schemas.openxmlformats.org/drawingml/2006/main">
            <a:off x="876300" y="5715000"/>
            <a:ext cx="1043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defPPr algn="ctr">
              <a:defRPr sz="1575" b="1">
                <a:solidFill>
                  <a:srgbClr val="FFFFFF"/>
                </a:solidFill>
                <a:latin typeface="Segoe UI"/>
                <a:ea typeface="Segoe UI"/>
                <a:cs typeface="Segoe UI"/>
              </a:defRPr>
            </a:defPPr>
          </a:lstStyle>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Final result: reproducible batch analytics plus near real time order processing with validated, idempotent writes.</a:t>
            </a:r>
          </a:p>
        </p:txBody>
      </p:sp>
    </p:spTree>
    <p:extLst>
      <p:ext uri="{BB962C8B-B14F-4D97-AF65-F5344CB8AC3E}">
        <p14:creationId xmlns:p14="http://schemas.microsoft.com/office/powerpoint/2010/main" val="6828285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2026-10-12T18:31:07.6620000Z</dcterms:created>
  <dcterms:modified xsi:type="dcterms:W3CDTF">2026-10-12T18:31:07.6620000Z</dcterms:modified>
</coreProperties>
</file>